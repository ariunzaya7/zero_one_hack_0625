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charts/chart1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9.xml" ContentType="application/vnd.openxmlformats-officedocument.themeOverride+xml"/>
  <Override PartName="/ppt/charts/chart11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10.xml" ContentType="application/vnd.openxmlformats-officedocument.themeOverride+xml"/>
  <Override PartName="/ppt/notesSlides/notesSlide6.xml" ContentType="application/vnd.openxmlformats-officedocument.presentationml.notesSlide+xml"/>
  <Override PartName="/ppt/charts/chart12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11.xml" ContentType="application/vnd.openxmlformats-officedocument.themeOverride+xml"/>
  <Override PartName="/ppt/charts/chart13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12.xml" ContentType="application/vnd.openxmlformats-officedocument.themeOverride+xml"/>
  <Override PartName="/ppt/charts/chart14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heme/themeOverride13.xml" ContentType="application/vnd.openxmlformats-officedocument.themeOverride+xml"/>
  <Override PartName="/ppt/charts/chart15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heme/themeOverride14.xml" ContentType="application/vnd.openxmlformats-officedocument.themeOverride+xml"/>
  <Override PartName="/ppt/notesSlides/notesSlide7.xml" ContentType="application/vnd.openxmlformats-officedocument.presentationml.notesSlide+xml"/>
  <Override PartName="/ppt/charts/chart16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theme/themeOverride15.xml" ContentType="application/vnd.openxmlformats-officedocument.themeOverride+xml"/>
  <Override PartName="/ppt/charts/chart17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8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theme/themeOverride16.xml" ContentType="application/vnd.openxmlformats-officedocument.themeOverride+xml"/>
  <Override PartName="/ppt/charts/chart19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theme/themeOverride17.xml" ContentType="application/vnd.openxmlformats-officedocument.themeOverride+xml"/>
  <Override PartName="/ppt/notesSlides/notesSlide8.xml" ContentType="application/vnd.openxmlformats-officedocument.presentationml.notesSlide+xml"/>
  <Override PartName="/ppt/charts/chart20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theme/themeOverride18.xml" ContentType="application/vnd.openxmlformats-officedocument.themeOverride+xml"/>
  <Override PartName="/ppt/notesSlides/notesSlide9.xml" ContentType="application/vnd.openxmlformats-officedocument.presentationml.notesSlide+xml"/>
  <Override PartName="/ppt/charts/chart21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theme/themeOverride19.xml" ContentType="application/vnd.openxmlformats-officedocument.themeOverride+xml"/>
  <Override PartName="/ppt/charts/chart22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theme/themeOverride20.xml" ContentType="application/vnd.openxmlformats-officedocument.themeOverride+xml"/>
  <Override PartName="/ppt/charts/chart23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theme/themeOverride21.xml" ContentType="application/vnd.openxmlformats-officedocument.themeOverride+xml"/>
  <Override PartName="/ppt/charts/chart24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theme/themeOverride22.xml" ContentType="application/vnd.openxmlformats-officedocument.themeOverride+xml"/>
  <Override PartName="/ppt/charts/chart25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theme/themeOverride23.xml" ContentType="application/vnd.openxmlformats-officedocument.themeOverride+xml"/>
  <Override PartName="/ppt/charts/chart26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theme/themeOverride24.xml" ContentType="application/vnd.openxmlformats-officedocument.themeOverride+xml"/>
  <Override PartName="/ppt/charts/chart27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theme/themeOverride25.xml" ContentType="application/vnd.openxmlformats-officedocument.themeOverride+xml"/>
  <Override PartName="/ppt/charts/chart28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theme/themeOverride26.xml" ContentType="application/vnd.openxmlformats-officedocument.themeOverride+xml"/>
  <Override PartName="/ppt/charts/chart29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theme/themeOverride27.xml" ContentType="application/vnd.openxmlformats-officedocument.themeOverride+xml"/>
  <Override PartName="/ppt/charts/chart30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theme/themeOverride28.xml" ContentType="application/vnd.openxmlformats-officedocument.themeOverride+xml"/>
  <Override PartName="/ppt/notesSlides/notesSlide10.xml" ContentType="application/vnd.openxmlformats-officedocument.presentationml.notesSlide+xml"/>
  <Override PartName="/ppt/charts/chart31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theme/themeOverride29.xml" ContentType="application/vnd.openxmlformats-officedocument.themeOverride+xml"/>
  <Override PartName="/ppt/charts/chart32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theme/themeOverride30.xml" ContentType="application/vnd.openxmlformats-officedocument.themeOverride+xml"/>
  <Override PartName="/ppt/charts/chart33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theme/themeOverride31.xml" ContentType="application/vnd.openxmlformats-officedocument.themeOverride+xml"/>
  <Override PartName="/ppt/charts/chart34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theme/themeOverride32.xml" ContentType="application/vnd.openxmlformats-officedocument.themeOverride+xml"/>
  <Override PartName="/ppt/notesSlides/notesSlide11.xml" ContentType="application/vnd.openxmlformats-officedocument.presentationml.notesSlide+xml"/>
  <Override PartName="/ppt/charts/chart35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theme/themeOverride33.xml" ContentType="application/vnd.openxmlformats-officedocument.themeOverride+xml"/>
  <Override PartName="/ppt/charts/chart36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37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theme/themeOverride34.xml" ContentType="application/vnd.openxmlformats-officedocument.themeOverride+xml"/>
  <Override PartName="/ppt/charts/chart38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theme/themeOverride35.xml" ContentType="application/vnd.openxmlformats-officedocument.themeOverride+xml"/>
  <Override PartName="/ppt/notesSlides/notesSlide12.xml" ContentType="application/vnd.openxmlformats-officedocument.presentationml.notesSlide+xml"/>
  <Override PartName="/ppt/charts/chart39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theme/themeOverride36.xml" ContentType="application/vnd.openxmlformats-officedocument.themeOverr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40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theme/themeOverride37.xml" ContentType="application/vnd.openxmlformats-officedocument.themeOverride+xml"/>
  <Override PartName="/ppt/charts/chart41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theme/themeOverride38.xml" ContentType="application/vnd.openxmlformats-officedocument.themeOverride+xml"/>
  <Override PartName="/ppt/charts/chart42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theme/themeOverride39.xml" ContentType="application/vnd.openxmlformats-officedocument.themeOverride+xml"/>
  <Override PartName="/ppt/charts/chart43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theme/themeOverride40.xml" ContentType="application/vnd.openxmlformats-officedocument.themeOverride+xml"/>
  <Override PartName="/ppt/charts/chart44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theme/themeOverride41.xml" ContentType="application/vnd.openxmlformats-officedocument.themeOverride+xml"/>
  <Override PartName="/ppt/charts/chart45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theme/themeOverride42.xml" ContentType="application/vnd.openxmlformats-officedocument.themeOverride+xml"/>
  <Override PartName="/ppt/charts/chart46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theme/themeOverride43.xml" ContentType="application/vnd.openxmlformats-officedocument.themeOverride+xml"/>
  <Override PartName="/ppt/charts/chart47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theme/themeOverride44.xml" ContentType="application/vnd.openxmlformats-officedocument.themeOverride+xml"/>
  <Override PartName="/ppt/charts/chart48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ppt/theme/themeOverride45.xml" ContentType="application/vnd.openxmlformats-officedocument.themeOverride+xml"/>
  <Override PartName="/ppt/charts/chart49.xml" ContentType="application/vnd.openxmlformats-officedocument.drawingml.chart+xml"/>
  <Override PartName="/ppt/charts/style48.xml" ContentType="application/vnd.ms-office.chartstyle+xml"/>
  <Override PartName="/ppt/charts/colors48.xml" ContentType="application/vnd.ms-office.chartcolorstyle+xml"/>
  <Override PartName="/ppt/theme/themeOverride46.xml" ContentType="application/vnd.openxmlformats-officedocument.themeOverride+xml"/>
  <Override PartName="/ppt/notesSlides/notesSlide15.xml" ContentType="application/vnd.openxmlformats-officedocument.presentationml.notesSlide+xml"/>
  <Override PartName="/ppt/charts/chart50.xml" ContentType="application/vnd.openxmlformats-officedocument.drawingml.chart+xml"/>
  <Override PartName="/ppt/charts/style49.xml" ContentType="application/vnd.ms-office.chartstyle+xml"/>
  <Override PartName="/ppt/charts/colors49.xml" ContentType="application/vnd.ms-office.chartcolorstyle+xml"/>
  <Override PartName="/ppt/theme/themeOverride47.xml" ContentType="application/vnd.openxmlformats-officedocument.themeOverride+xml"/>
  <Override PartName="/ppt/charts/chart51.xml" ContentType="application/vnd.openxmlformats-officedocument.drawingml.chart+xml"/>
  <Override PartName="/ppt/charts/style50.xml" ContentType="application/vnd.ms-office.chartstyle+xml"/>
  <Override PartName="/ppt/charts/colors50.xml" ContentType="application/vnd.ms-office.chartcolorstyle+xml"/>
  <Override PartName="/ppt/theme/themeOverride48.xml" ContentType="application/vnd.openxmlformats-officedocument.themeOverride+xml"/>
  <Override PartName="/ppt/charts/chart52.xml" ContentType="application/vnd.openxmlformats-officedocument.drawingml.chart+xml"/>
  <Override PartName="/ppt/charts/style51.xml" ContentType="application/vnd.ms-office.chartstyle+xml"/>
  <Override PartName="/ppt/charts/colors51.xml" ContentType="application/vnd.ms-office.chartcolorstyle+xml"/>
  <Override PartName="/ppt/theme/themeOverride49.xml" ContentType="application/vnd.openxmlformats-officedocument.themeOverride+xml"/>
  <Override PartName="/ppt/charts/chart53.xml" ContentType="application/vnd.openxmlformats-officedocument.drawingml.chart+xml"/>
  <Override PartName="/ppt/charts/style52.xml" ContentType="application/vnd.ms-office.chartstyle+xml"/>
  <Override PartName="/ppt/charts/colors52.xml" ContentType="application/vnd.ms-office.chartcolorstyle+xml"/>
  <Override PartName="/ppt/theme/themeOverride50.xml" ContentType="application/vnd.openxmlformats-officedocument.themeOverride+xml"/>
  <Override PartName="/ppt/notesSlides/notesSlide16.xml" ContentType="application/vnd.openxmlformats-officedocument.presentationml.notesSlide+xml"/>
  <Override PartName="/ppt/charts/chart54.xml" ContentType="application/vnd.openxmlformats-officedocument.drawingml.chart+xml"/>
  <Override PartName="/ppt/charts/style53.xml" ContentType="application/vnd.ms-office.chartstyle+xml"/>
  <Override PartName="/ppt/charts/colors53.xml" ContentType="application/vnd.ms-office.chartcolorstyle+xml"/>
  <Override PartName="/ppt/theme/themeOverride51.xml" ContentType="application/vnd.openxmlformats-officedocument.themeOverride+xml"/>
  <Override PartName="/ppt/charts/chart55.xml" ContentType="application/vnd.openxmlformats-officedocument.drawingml.chart+xml"/>
  <Override PartName="/ppt/charts/style54.xml" ContentType="application/vnd.ms-office.chartstyle+xml"/>
  <Override PartName="/ppt/charts/colors54.xml" ContentType="application/vnd.ms-office.chartcolorstyle+xml"/>
  <Override PartName="/ppt/charts/chart56.xml" ContentType="application/vnd.openxmlformats-officedocument.drawingml.chart+xml"/>
  <Override PartName="/ppt/charts/style55.xml" ContentType="application/vnd.ms-office.chartstyle+xml"/>
  <Override PartName="/ppt/charts/colors55.xml" ContentType="application/vnd.ms-office.chartcolorstyle+xml"/>
  <Override PartName="/ppt/theme/themeOverride52.xml" ContentType="application/vnd.openxmlformats-officedocument.themeOverride+xml"/>
  <Override PartName="/ppt/charts/chart57.xml" ContentType="application/vnd.openxmlformats-officedocument.drawingml.chart+xml"/>
  <Override PartName="/ppt/charts/style56.xml" ContentType="application/vnd.ms-office.chartstyle+xml"/>
  <Override PartName="/ppt/charts/colors56.xml" ContentType="application/vnd.ms-office.chartcolorstyle+xml"/>
  <Override PartName="/ppt/theme/themeOverride53.xml" ContentType="application/vnd.openxmlformats-officedocument.themeOverride+xml"/>
  <Override PartName="/ppt/notesSlides/notesSlide17.xml" ContentType="application/vnd.openxmlformats-officedocument.presentationml.notesSlide+xml"/>
  <Override PartName="/ppt/charts/chart58.xml" ContentType="application/vnd.openxmlformats-officedocument.drawingml.chart+xml"/>
  <Override PartName="/ppt/charts/style57.xml" ContentType="application/vnd.ms-office.chartstyle+xml"/>
  <Override PartName="/ppt/charts/colors57.xml" ContentType="application/vnd.ms-office.chartcolorstyle+xml"/>
  <Override PartName="/ppt/theme/themeOverride54.xml" ContentType="application/vnd.openxmlformats-officedocument.themeOverr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5" r:id="rId4"/>
    <p:sldMasterId id="2147483959" r:id="rId5"/>
  </p:sldMasterIdLst>
  <p:notesMasterIdLst>
    <p:notesMasterId r:id="rId26"/>
  </p:notesMasterIdLst>
  <p:handoutMasterIdLst>
    <p:handoutMasterId r:id="rId27"/>
  </p:handoutMasterIdLst>
  <p:sldIdLst>
    <p:sldId id="2146848731" r:id="rId6"/>
    <p:sldId id="2146849028" r:id="rId7"/>
    <p:sldId id="2146849029" r:id="rId8"/>
    <p:sldId id="2147473575" r:id="rId9"/>
    <p:sldId id="2146849030" r:id="rId10"/>
    <p:sldId id="2146848984" r:id="rId11"/>
    <p:sldId id="2146848994" r:id="rId12"/>
    <p:sldId id="2146848995" r:id="rId13"/>
    <p:sldId id="2146848997" r:id="rId14"/>
    <p:sldId id="2146849000" r:id="rId15"/>
    <p:sldId id="2146849005" r:id="rId16"/>
    <p:sldId id="2146849001" r:id="rId17"/>
    <p:sldId id="2146849002" r:id="rId18"/>
    <p:sldId id="2146849003" r:id="rId19"/>
    <p:sldId id="2146849006" r:id="rId20"/>
    <p:sldId id="2146849007" r:id="rId21"/>
    <p:sldId id="2146849008" r:id="rId22"/>
    <p:sldId id="2146849009" r:id="rId23"/>
    <p:sldId id="2146849010" r:id="rId24"/>
    <p:sldId id="2146849011" r:id="rId25"/>
  </p:sldIdLst>
  <p:sldSz cx="12192000" cy="6858000"/>
  <p:notesSz cx="6858000" cy="9144000"/>
  <p:custDataLst>
    <p:tags r:id="rId28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C35EA4"/>
          </p15:clr>
        </p15:guide>
        <p15:guide id="2" orient="horz" pos="3792" userDrawn="1">
          <p15:clr>
            <a:srgbClr val="C35EA4"/>
          </p15:clr>
        </p15:guide>
        <p15:guide id="3" orient="horz" pos="936" userDrawn="1">
          <p15:clr>
            <a:srgbClr val="C35EA4"/>
          </p15:clr>
        </p15:guide>
        <p15:guide id="4" orient="horz" pos="2904" userDrawn="1">
          <p15:clr>
            <a:srgbClr val="C35EA4"/>
          </p15:clr>
        </p15:guide>
        <p15:guide id="5" pos="3840">
          <p15:clr>
            <a:srgbClr val="A4A3A4"/>
          </p15:clr>
        </p15:guide>
        <p15:guide id="6" orient="horz" pos="172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E2B3866-3417-64E0-A671-EDC437AAB640}" name="Martina Zöchner" initials="MZ" userId="S::martina.zoechner@reppublika.com::fc9965c7-b0af-4aed-a632-56fdf29dc5d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A685"/>
    <a:srgbClr val="F2610D"/>
    <a:srgbClr val="71ADFF"/>
    <a:srgbClr val="015CA9"/>
    <a:srgbClr val="F7FAFF"/>
    <a:srgbClr val="B3D9CB"/>
    <a:srgbClr val="FF9E66"/>
    <a:srgbClr val="005CA9"/>
    <a:srgbClr val="C0C0C0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38"/>
    <p:restoredTop sz="94814"/>
  </p:normalViewPr>
  <p:slideViewPr>
    <p:cSldViewPr snapToGrid="0">
      <p:cViewPr varScale="1">
        <p:scale>
          <a:sx n="143" d="100"/>
          <a:sy n="143" d="100"/>
        </p:scale>
        <p:origin x="1256" y="208"/>
      </p:cViewPr>
      <p:guideLst>
        <p:guide orient="horz" pos="1440"/>
        <p:guide orient="horz" pos="3792"/>
        <p:guide orient="horz" pos="936"/>
        <p:guide orient="horz" pos="2904"/>
        <p:guide pos="3840"/>
        <p:guide orient="horz" pos="17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8/10/relationships/authors" Target="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ina Stratula" userId="d9bc7251-7bf1-4771-a1b5-3899a56dbd42" providerId="ADAL" clId="{959A5046-1D4B-40ED-BD52-BA87B2B0EE6F}"/>
    <pc:docChg chg="custSel modSld">
      <pc:chgData name="Sorina Stratula" userId="d9bc7251-7bf1-4771-a1b5-3899a56dbd42" providerId="ADAL" clId="{959A5046-1D4B-40ED-BD52-BA87B2B0EE6F}" dt="2026-03-18T08:22:38.220" v="413" actId="14100"/>
      <pc:docMkLst>
        <pc:docMk/>
      </pc:docMkLst>
      <pc:sldChg chg="addSp delSp modSp mod">
        <pc:chgData name="Sorina Stratula" userId="d9bc7251-7bf1-4771-a1b5-3899a56dbd42" providerId="ADAL" clId="{959A5046-1D4B-40ED-BD52-BA87B2B0EE6F}" dt="2026-03-18T08:22:38.220" v="413" actId="14100"/>
        <pc:sldMkLst>
          <pc:docMk/>
          <pc:sldMk cId="2471979589" sldId="2146848731"/>
        </pc:sldMkLst>
        <pc:spChg chg="mod">
          <ac:chgData name="Sorina Stratula" userId="d9bc7251-7bf1-4771-a1b5-3899a56dbd42" providerId="ADAL" clId="{959A5046-1D4B-40ED-BD52-BA87B2B0EE6F}" dt="2026-03-17T10:47:59.011" v="376" actId="948"/>
          <ac:spMkLst>
            <pc:docMk/>
            <pc:sldMk cId="2471979589" sldId="2146848731"/>
            <ac:spMk id="8" creationId="{17E0C5FF-F412-B8AD-3DBD-76CC5D2B6F85}"/>
          </ac:spMkLst>
        </pc:spChg>
        <pc:graphicFrameChg chg="mod">
          <ac:chgData name="Sorina Stratula" userId="d9bc7251-7bf1-4771-a1b5-3899a56dbd42" providerId="ADAL" clId="{959A5046-1D4B-40ED-BD52-BA87B2B0EE6F}" dt="2026-03-17T10:47:59.039" v="407"/>
          <ac:graphicFrameMkLst>
            <pc:docMk/>
            <pc:sldMk cId="2471979589" sldId="2146848731"/>
            <ac:graphicFrameMk id="3" creationId="{36E52FFD-C9FA-259A-AB5C-1753C823F145}"/>
          </ac:graphicFrameMkLst>
        </pc:graphicFrameChg>
        <pc:picChg chg="add mod">
          <ac:chgData name="Sorina Stratula" userId="d9bc7251-7bf1-4771-a1b5-3899a56dbd42" providerId="ADAL" clId="{959A5046-1D4B-40ED-BD52-BA87B2B0EE6F}" dt="2026-03-18T08:22:38.220" v="413" actId="14100"/>
          <ac:picMkLst>
            <pc:docMk/>
            <pc:sldMk cId="2471979589" sldId="2146848731"/>
            <ac:picMk id="4" creationId="{45F47273-637A-CD26-4416-F00A2FD12A13}"/>
          </ac:picMkLst>
        </pc:picChg>
      </pc:sldChg>
      <pc:sldChg chg="addSp delSp modSp mod">
        <pc:chgData name="Sorina Stratula" userId="d9bc7251-7bf1-4771-a1b5-3899a56dbd42" providerId="ADAL" clId="{959A5046-1D4B-40ED-BD52-BA87B2B0EE6F}" dt="2026-03-16T12:30:08.704" v="1" actId="478"/>
        <pc:sldMkLst>
          <pc:docMk/>
          <pc:sldMk cId="315050825" sldId="2146849029"/>
        </pc:sldMkLst>
      </pc:sldChg>
      <pc:sldChg chg="addSp delSp modSp mod">
        <pc:chgData name="Sorina Stratula" userId="d9bc7251-7bf1-4771-a1b5-3899a56dbd42" providerId="ADAL" clId="{959A5046-1D4B-40ED-BD52-BA87B2B0EE6F}" dt="2026-03-16T12:30:15.492" v="3" actId="478"/>
        <pc:sldMkLst>
          <pc:docMk/>
          <pc:sldMk cId="2810771062" sldId="214684903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6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Worksheet7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package" Target="../embeddings/Microsoft_Excel_Worksheet8.xlsx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package" Target="../embeddings/Microsoft_Excel_Worksheet9.xlsx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package" Target="../embeddings/Microsoft_Excel_Worksheet10.xlsx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2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package" Target="../embeddings/Microsoft_Excel_Worksheet11.xlsx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3.xml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package" Target="../embeddings/Microsoft_Excel_Worksheet12.xlsx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4.xml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package" Target="../embeddings/Microsoft_Excel_Worksheet13.xlsx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5.xml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package" Target="../embeddings/Microsoft_Excel_Worksheet14.xlsx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6.xml"/><Relationship Id="rId2" Type="http://schemas.microsoft.com/office/2011/relationships/chartColorStyle" Target="colors17.xml"/><Relationship Id="rId1" Type="http://schemas.microsoft.com/office/2011/relationships/chartStyle" Target="style17.xml"/><Relationship Id="rId4" Type="http://schemas.openxmlformats.org/officeDocument/2006/relationships/package" Target="../embeddings/Microsoft_Excel_Worksheet16.xlsx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7.xml"/><Relationship Id="rId2" Type="http://schemas.microsoft.com/office/2011/relationships/chartColorStyle" Target="colors18.xml"/><Relationship Id="rId1" Type="http://schemas.microsoft.com/office/2011/relationships/chartStyle" Target="style18.xml"/><Relationship Id="rId4" Type="http://schemas.openxmlformats.org/officeDocument/2006/relationships/package" Target="../embeddings/Microsoft_Excel_Worksheet17.xlsx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8.xml"/><Relationship Id="rId2" Type="http://schemas.microsoft.com/office/2011/relationships/chartColorStyle" Target="colors19.xml"/><Relationship Id="rId1" Type="http://schemas.microsoft.com/office/2011/relationships/chartStyle" Target="style19.xml"/><Relationship Id="rId4" Type="http://schemas.openxmlformats.org/officeDocument/2006/relationships/package" Target="../embeddings/Microsoft_Excel_Worksheet18.xlsx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9.xml"/><Relationship Id="rId2" Type="http://schemas.microsoft.com/office/2011/relationships/chartColorStyle" Target="colors20.xml"/><Relationship Id="rId1" Type="http://schemas.microsoft.com/office/2011/relationships/chartStyle" Target="style20.xml"/><Relationship Id="rId4" Type="http://schemas.openxmlformats.org/officeDocument/2006/relationships/package" Target="../embeddings/Microsoft_Excel_Worksheet19.xlsx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0.xml"/><Relationship Id="rId2" Type="http://schemas.microsoft.com/office/2011/relationships/chartColorStyle" Target="colors21.xml"/><Relationship Id="rId1" Type="http://schemas.microsoft.com/office/2011/relationships/chartStyle" Target="style21.xml"/><Relationship Id="rId4" Type="http://schemas.openxmlformats.org/officeDocument/2006/relationships/package" Target="../embeddings/Microsoft_Excel_Worksheet20.xlsx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1.xml"/><Relationship Id="rId2" Type="http://schemas.microsoft.com/office/2011/relationships/chartColorStyle" Target="colors22.xml"/><Relationship Id="rId1" Type="http://schemas.microsoft.com/office/2011/relationships/chartStyle" Target="style22.xml"/><Relationship Id="rId4" Type="http://schemas.openxmlformats.org/officeDocument/2006/relationships/package" Target="../embeddings/Microsoft_Excel_Worksheet21.xlsx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2.xml"/><Relationship Id="rId2" Type="http://schemas.microsoft.com/office/2011/relationships/chartColorStyle" Target="colors23.xml"/><Relationship Id="rId1" Type="http://schemas.microsoft.com/office/2011/relationships/chartStyle" Target="style23.xml"/><Relationship Id="rId4" Type="http://schemas.openxmlformats.org/officeDocument/2006/relationships/package" Target="../embeddings/Microsoft_Excel_Worksheet22.xlsx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3.xml"/><Relationship Id="rId2" Type="http://schemas.microsoft.com/office/2011/relationships/chartColorStyle" Target="colors24.xml"/><Relationship Id="rId1" Type="http://schemas.microsoft.com/office/2011/relationships/chartStyle" Target="style24.xml"/><Relationship Id="rId4" Type="http://schemas.openxmlformats.org/officeDocument/2006/relationships/package" Target="../embeddings/Microsoft_Excel_Worksheet23.xlsx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4.xml"/><Relationship Id="rId2" Type="http://schemas.microsoft.com/office/2011/relationships/chartColorStyle" Target="colors25.xml"/><Relationship Id="rId1" Type="http://schemas.microsoft.com/office/2011/relationships/chartStyle" Target="style25.xml"/><Relationship Id="rId4" Type="http://schemas.openxmlformats.org/officeDocument/2006/relationships/package" Target="../embeddings/Microsoft_Excel_Worksheet24.xlsx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5.xml"/><Relationship Id="rId2" Type="http://schemas.microsoft.com/office/2011/relationships/chartColorStyle" Target="colors26.xml"/><Relationship Id="rId1" Type="http://schemas.microsoft.com/office/2011/relationships/chartStyle" Target="style26.xml"/><Relationship Id="rId4" Type="http://schemas.openxmlformats.org/officeDocument/2006/relationships/package" Target="../embeddings/Microsoft_Excel_Worksheet25.xlsx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6.xml"/><Relationship Id="rId2" Type="http://schemas.microsoft.com/office/2011/relationships/chartColorStyle" Target="colors27.xml"/><Relationship Id="rId1" Type="http://schemas.microsoft.com/office/2011/relationships/chartStyle" Target="style27.xml"/><Relationship Id="rId4" Type="http://schemas.openxmlformats.org/officeDocument/2006/relationships/package" Target="../embeddings/Microsoft_Excel_Worksheet26.xlsx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7.xml"/><Relationship Id="rId2" Type="http://schemas.microsoft.com/office/2011/relationships/chartColorStyle" Target="colors28.xml"/><Relationship Id="rId1" Type="http://schemas.microsoft.com/office/2011/relationships/chartStyle" Target="style28.xml"/><Relationship Id="rId4" Type="http://schemas.openxmlformats.org/officeDocument/2006/relationships/package" Target="../embeddings/Microsoft_Excel_Worksheet27.xlsx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8.xml"/><Relationship Id="rId2" Type="http://schemas.microsoft.com/office/2011/relationships/chartColorStyle" Target="colors29.xml"/><Relationship Id="rId1" Type="http://schemas.microsoft.com/office/2011/relationships/chartStyle" Target="style29.xml"/><Relationship Id="rId4" Type="http://schemas.openxmlformats.org/officeDocument/2006/relationships/package" Target="../embeddings/Microsoft_Excel_Worksheet28.xlsx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9.xml"/><Relationship Id="rId2" Type="http://schemas.microsoft.com/office/2011/relationships/chartColorStyle" Target="colors30.xml"/><Relationship Id="rId1" Type="http://schemas.microsoft.com/office/2011/relationships/chartStyle" Target="style30.xml"/><Relationship Id="rId4" Type="http://schemas.openxmlformats.org/officeDocument/2006/relationships/package" Target="../embeddings/Microsoft_Excel_Worksheet29.xlsx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0.xml"/><Relationship Id="rId2" Type="http://schemas.microsoft.com/office/2011/relationships/chartColorStyle" Target="colors31.xml"/><Relationship Id="rId1" Type="http://schemas.microsoft.com/office/2011/relationships/chartStyle" Target="style31.xml"/><Relationship Id="rId4" Type="http://schemas.openxmlformats.org/officeDocument/2006/relationships/package" Target="../embeddings/Microsoft_Excel_Worksheet30.xlsx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1.xml"/><Relationship Id="rId2" Type="http://schemas.microsoft.com/office/2011/relationships/chartColorStyle" Target="colors32.xml"/><Relationship Id="rId1" Type="http://schemas.microsoft.com/office/2011/relationships/chartStyle" Target="style32.xml"/><Relationship Id="rId4" Type="http://schemas.openxmlformats.org/officeDocument/2006/relationships/package" Target="../embeddings/Microsoft_Excel_Worksheet31.xlsx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2.xml"/><Relationship Id="rId2" Type="http://schemas.microsoft.com/office/2011/relationships/chartColorStyle" Target="colors33.xml"/><Relationship Id="rId1" Type="http://schemas.microsoft.com/office/2011/relationships/chartStyle" Target="style33.xml"/><Relationship Id="rId4" Type="http://schemas.openxmlformats.org/officeDocument/2006/relationships/package" Target="../embeddings/Microsoft_Excel_Worksheet32.xlsx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3.xml"/><Relationship Id="rId2" Type="http://schemas.microsoft.com/office/2011/relationships/chartColorStyle" Target="colors34.xml"/><Relationship Id="rId1" Type="http://schemas.microsoft.com/office/2011/relationships/chartStyle" Target="style34.xml"/><Relationship Id="rId4" Type="http://schemas.openxmlformats.org/officeDocument/2006/relationships/package" Target="../embeddings/Microsoft_Excel_Worksheet33.xlsx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4.xlsx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4.xml"/><Relationship Id="rId2" Type="http://schemas.microsoft.com/office/2011/relationships/chartColorStyle" Target="colors36.xml"/><Relationship Id="rId1" Type="http://schemas.microsoft.com/office/2011/relationships/chartStyle" Target="style36.xml"/><Relationship Id="rId4" Type="http://schemas.openxmlformats.org/officeDocument/2006/relationships/package" Target="../embeddings/Microsoft_Excel_Worksheet35.xlsx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5.xml"/><Relationship Id="rId2" Type="http://schemas.microsoft.com/office/2011/relationships/chartColorStyle" Target="colors37.xml"/><Relationship Id="rId1" Type="http://schemas.microsoft.com/office/2011/relationships/chartStyle" Target="style37.xml"/><Relationship Id="rId4" Type="http://schemas.openxmlformats.org/officeDocument/2006/relationships/package" Target="../embeddings/Microsoft_Excel_Worksheet36.xlsx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6.xml"/><Relationship Id="rId2" Type="http://schemas.microsoft.com/office/2011/relationships/chartColorStyle" Target="colors38.xml"/><Relationship Id="rId1" Type="http://schemas.microsoft.com/office/2011/relationships/chartStyle" Target="style38.xml"/><Relationship Id="rId4" Type="http://schemas.openxmlformats.org/officeDocument/2006/relationships/package" Target="../embeddings/Microsoft_Excel_Worksheet37.xlsx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7.xml"/><Relationship Id="rId2" Type="http://schemas.microsoft.com/office/2011/relationships/chartColorStyle" Target="colors39.xml"/><Relationship Id="rId1" Type="http://schemas.microsoft.com/office/2011/relationships/chartStyle" Target="style39.xml"/><Relationship Id="rId4" Type="http://schemas.openxmlformats.org/officeDocument/2006/relationships/package" Target="../embeddings/Microsoft_Excel_Worksheet38.xlsx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8.xml"/><Relationship Id="rId2" Type="http://schemas.microsoft.com/office/2011/relationships/chartColorStyle" Target="colors40.xml"/><Relationship Id="rId1" Type="http://schemas.microsoft.com/office/2011/relationships/chartStyle" Target="style40.xml"/><Relationship Id="rId4" Type="http://schemas.openxmlformats.org/officeDocument/2006/relationships/package" Target="../embeddings/Microsoft_Excel_Worksheet39.xlsx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9.xml"/><Relationship Id="rId2" Type="http://schemas.microsoft.com/office/2011/relationships/chartColorStyle" Target="colors41.xml"/><Relationship Id="rId1" Type="http://schemas.microsoft.com/office/2011/relationships/chartStyle" Target="style41.xml"/><Relationship Id="rId4" Type="http://schemas.openxmlformats.org/officeDocument/2006/relationships/package" Target="../embeddings/Microsoft_Excel_Worksheet40.xlsx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0.xml"/><Relationship Id="rId2" Type="http://schemas.microsoft.com/office/2011/relationships/chartColorStyle" Target="colors42.xml"/><Relationship Id="rId1" Type="http://schemas.microsoft.com/office/2011/relationships/chartStyle" Target="style42.xml"/><Relationship Id="rId4" Type="http://schemas.openxmlformats.org/officeDocument/2006/relationships/package" Target="../embeddings/Microsoft_Excel_Worksheet41.xlsx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1.xml"/><Relationship Id="rId2" Type="http://schemas.microsoft.com/office/2011/relationships/chartColorStyle" Target="colors43.xml"/><Relationship Id="rId1" Type="http://schemas.microsoft.com/office/2011/relationships/chartStyle" Target="style43.xml"/><Relationship Id="rId4" Type="http://schemas.openxmlformats.org/officeDocument/2006/relationships/package" Target="../embeddings/Microsoft_Excel_Worksheet42.xlsx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2.xml"/><Relationship Id="rId2" Type="http://schemas.microsoft.com/office/2011/relationships/chartColorStyle" Target="colors44.xml"/><Relationship Id="rId1" Type="http://schemas.microsoft.com/office/2011/relationships/chartStyle" Target="style44.xml"/><Relationship Id="rId4" Type="http://schemas.openxmlformats.org/officeDocument/2006/relationships/package" Target="../embeddings/Microsoft_Excel_Worksheet43.xlsx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3.xml"/><Relationship Id="rId2" Type="http://schemas.microsoft.com/office/2011/relationships/chartColorStyle" Target="colors45.xml"/><Relationship Id="rId1" Type="http://schemas.microsoft.com/office/2011/relationships/chartStyle" Target="style45.xml"/><Relationship Id="rId4" Type="http://schemas.openxmlformats.org/officeDocument/2006/relationships/package" Target="../embeddings/Microsoft_Excel_Worksheet44.xlsx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4.xml"/><Relationship Id="rId2" Type="http://schemas.microsoft.com/office/2011/relationships/chartColorStyle" Target="colors46.xml"/><Relationship Id="rId1" Type="http://schemas.microsoft.com/office/2011/relationships/chartStyle" Target="style46.xml"/><Relationship Id="rId4" Type="http://schemas.openxmlformats.org/officeDocument/2006/relationships/package" Target="../embeddings/Microsoft_Excel_Worksheet45.xlsx"/></Relationships>
</file>

<file path=ppt/charts/_rels/chart4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5.xml"/><Relationship Id="rId2" Type="http://schemas.microsoft.com/office/2011/relationships/chartColorStyle" Target="colors47.xml"/><Relationship Id="rId1" Type="http://schemas.microsoft.com/office/2011/relationships/chartStyle" Target="style47.xml"/><Relationship Id="rId4" Type="http://schemas.openxmlformats.org/officeDocument/2006/relationships/package" Target="../embeddings/Microsoft_Excel_Worksheet46.xlsx"/></Relationships>
</file>

<file path=ppt/charts/_rels/chart4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6.xml"/><Relationship Id="rId2" Type="http://schemas.microsoft.com/office/2011/relationships/chartColorStyle" Target="colors48.xml"/><Relationship Id="rId1" Type="http://schemas.microsoft.com/office/2011/relationships/chartStyle" Target="style48.xml"/><Relationship Id="rId4" Type="http://schemas.openxmlformats.org/officeDocument/2006/relationships/package" Target="../embeddings/Microsoft_Excel_Worksheet47.xlsx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7.xml"/><Relationship Id="rId2" Type="http://schemas.microsoft.com/office/2011/relationships/chartColorStyle" Target="colors49.xml"/><Relationship Id="rId1" Type="http://schemas.microsoft.com/office/2011/relationships/chartStyle" Target="style49.xml"/><Relationship Id="rId4" Type="http://schemas.openxmlformats.org/officeDocument/2006/relationships/package" Target="../embeddings/Microsoft_Excel_Worksheet48.xlsx"/></Relationships>
</file>

<file path=ppt/charts/_rels/chart5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8.xml"/><Relationship Id="rId2" Type="http://schemas.microsoft.com/office/2011/relationships/chartColorStyle" Target="colors50.xml"/><Relationship Id="rId1" Type="http://schemas.microsoft.com/office/2011/relationships/chartStyle" Target="style50.xml"/><Relationship Id="rId4" Type="http://schemas.openxmlformats.org/officeDocument/2006/relationships/package" Target="../embeddings/Microsoft_Excel_Worksheet49.xlsx"/></Relationships>
</file>

<file path=ppt/charts/_rels/chart5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9.xml"/><Relationship Id="rId2" Type="http://schemas.microsoft.com/office/2011/relationships/chartColorStyle" Target="colors51.xml"/><Relationship Id="rId1" Type="http://schemas.microsoft.com/office/2011/relationships/chartStyle" Target="style51.xml"/><Relationship Id="rId4" Type="http://schemas.openxmlformats.org/officeDocument/2006/relationships/package" Target="../embeddings/Microsoft_Excel_Worksheet50.xlsx"/></Relationships>
</file>

<file path=ppt/charts/_rels/chart5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0.xml"/><Relationship Id="rId2" Type="http://schemas.microsoft.com/office/2011/relationships/chartColorStyle" Target="colors52.xml"/><Relationship Id="rId1" Type="http://schemas.microsoft.com/office/2011/relationships/chartStyle" Target="style52.xml"/><Relationship Id="rId4" Type="http://schemas.openxmlformats.org/officeDocument/2006/relationships/package" Target="../embeddings/Microsoft_Excel_Worksheet51.xlsx"/></Relationships>
</file>

<file path=ppt/charts/_rels/chart5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1.xml"/><Relationship Id="rId2" Type="http://schemas.microsoft.com/office/2011/relationships/chartColorStyle" Target="colors53.xml"/><Relationship Id="rId1" Type="http://schemas.microsoft.com/office/2011/relationships/chartStyle" Target="style53.xml"/><Relationship Id="rId4" Type="http://schemas.openxmlformats.org/officeDocument/2006/relationships/package" Target="../embeddings/Microsoft_Excel_Worksheet52.xlsx"/></Relationships>
</file>

<file path=ppt/charts/_rels/chart5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3.xlsx"/><Relationship Id="rId2" Type="http://schemas.microsoft.com/office/2011/relationships/chartColorStyle" Target="colors54.xml"/><Relationship Id="rId1" Type="http://schemas.microsoft.com/office/2011/relationships/chartStyle" Target="style54.xml"/></Relationships>
</file>

<file path=ppt/charts/_rels/chart5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2.xml"/><Relationship Id="rId2" Type="http://schemas.microsoft.com/office/2011/relationships/chartColorStyle" Target="colors55.xml"/><Relationship Id="rId1" Type="http://schemas.microsoft.com/office/2011/relationships/chartStyle" Target="style55.xml"/><Relationship Id="rId4" Type="http://schemas.openxmlformats.org/officeDocument/2006/relationships/package" Target="../embeddings/Microsoft_Excel_Worksheet54.xlsx"/></Relationships>
</file>

<file path=ppt/charts/_rels/chart5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3.xml"/><Relationship Id="rId2" Type="http://schemas.microsoft.com/office/2011/relationships/chartColorStyle" Target="colors56.xml"/><Relationship Id="rId1" Type="http://schemas.microsoft.com/office/2011/relationships/chartStyle" Target="style56.xml"/><Relationship Id="rId4" Type="http://schemas.openxmlformats.org/officeDocument/2006/relationships/package" Target="../embeddings/Microsoft_Excel_Worksheet55.xlsx"/></Relationships>
</file>

<file path=ppt/charts/_rels/chart5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4.xml"/><Relationship Id="rId2" Type="http://schemas.microsoft.com/office/2011/relationships/chartColorStyle" Target="colors57.xml"/><Relationship Id="rId1" Type="http://schemas.microsoft.com/office/2011/relationships/chartStyle" Target="style57.xml"/><Relationship Id="rId4" Type="http://schemas.openxmlformats.org/officeDocument/2006/relationships/package" Target="../embeddings/Microsoft_Excel_Worksheet5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6395939086294416E-2"/>
          <c:y val="0.10443307757885763"/>
          <c:w val="0.9421319796954315"/>
          <c:h val="0.79113384484228477"/>
        </c:manualLayout>
      </c:layout>
      <c:pie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8226-436B-99B9-66746AE769BD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8226-436B-99B9-66746AE769BD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8226-436B-99B9-66746AE769BD}"/>
              </c:ext>
            </c:extLst>
          </c:dPt>
          <c:dPt>
            <c:idx val="3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8226-436B-99B9-66746AE769BD}"/>
              </c:ext>
            </c:extLst>
          </c:dPt>
          <c:dPt>
            <c:idx val="4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8226-436B-99B9-66746AE769BD}"/>
              </c:ext>
            </c:extLst>
          </c:dPt>
          <c:dPt>
            <c:idx val="5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8226-436B-99B9-66746AE769BD}"/>
              </c:ext>
            </c:extLst>
          </c:dPt>
          <c:dLbls>
            <c:dLbl>
              <c:idx val="0"/>
              <c:layout>
                <c:manualLayout>
                  <c:x val="7.8680203045685279E-2"/>
                  <c:y val="-0.13043478260869565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226-436B-99B9-66746AE769BD}"/>
                </c:ext>
              </c:extLst>
            </c:dLbl>
            <c:dLbl>
              <c:idx val="1"/>
              <c:layout>
                <c:manualLayout>
                  <c:x val="0.17005076142131981"/>
                  <c:y val="-1.3213981244671782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226-436B-99B9-66746AE769BD}"/>
                </c:ext>
              </c:extLst>
            </c:dLbl>
            <c:dLbl>
              <c:idx val="2"/>
              <c:layout>
                <c:manualLayout>
                  <c:x val="0.10710659898477157"/>
                  <c:y val="0.10869565217391304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226-436B-99B9-66746AE769BD}"/>
                </c:ext>
              </c:extLst>
            </c:dLbl>
            <c:dLbl>
              <c:idx val="3"/>
              <c:layout>
                <c:manualLayout>
                  <c:x val="-6.0406091370558378E-2"/>
                  <c:y val="0.14066496163682865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226-436B-99B9-66746AE769BD}"/>
                </c:ext>
              </c:extLst>
            </c:dLbl>
            <c:dLbl>
              <c:idx val="4"/>
              <c:layout>
                <c:manualLayout>
                  <c:x val="-0.16548223350253807"/>
                  <c:y val="2.6427962489343565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8226-436B-99B9-66746AE769BD}"/>
                </c:ext>
              </c:extLst>
            </c:dLbl>
            <c:dLbl>
              <c:idx val="5"/>
              <c:layout>
                <c:manualLayout>
                  <c:x val="-0.10406091370558376"/>
                  <c:y val="-0.11210571184995738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8226-436B-99B9-66746AE769B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Sheet1!$A$1:$A$6</c:f>
              <c:numCache>
                <c:formatCode>General</c:formatCode>
                <c:ptCount val="6"/>
                <c:pt idx="0">
                  <c:v>15</c:v>
                </c:pt>
                <c:pt idx="1">
                  <c:v>17</c:v>
                </c:pt>
                <c:pt idx="2">
                  <c:v>14.000000000000002</c:v>
                </c:pt>
                <c:pt idx="3">
                  <c:v>19</c:v>
                </c:pt>
                <c:pt idx="4">
                  <c:v>14.000000000000002</c:v>
                </c:pt>
                <c:pt idx="5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226-436B-99B9-66746AE769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6542580761053598"/>
          <c:y val="9.4493088882350348E-2"/>
          <c:w val="0.29023123897783087"/>
          <c:h val="0.8110138222352992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71ADFF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Tabelle1!$A$2:$A$7</c:f>
              <c:strCache>
                <c:ptCount val="6"/>
                <c:pt idx="0">
                  <c:v>Unter 1 Jahr</c:v>
                </c:pt>
                <c:pt idx="1">
                  <c:v>1–6 Jahre</c:v>
                </c:pt>
                <c:pt idx="2">
                  <c:v>7–13 Jahre</c:v>
                </c:pt>
                <c:pt idx="3">
                  <c:v>14–17 Jahre</c:v>
                </c:pt>
                <c:pt idx="4">
                  <c:v>18–26 Jahre</c:v>
                </c:pt>
                <c:pt idx="5">
                  <c:v>27 Jahre oder älter</c:v>
                </c:pt>
              </c:strCache>
            </c:strRef>
          </c:cat>
          <c:val>
            <c:numRef>
              <c:f>Tabelle1!$B$2:$B$7</c:f>
              <c:numCache>
                <c:formatCode>0%</c:formatCode>
                <c:ptCount val="6"/>
                <c:pt idx="0">
                  <c:v>2.41935483871E-2</c:v>
                </c:pt>
                <c:pt idx="1">
                  <c:v>9.516129032258E-2</c:v>
                </c:pt>
                <c:pt idx="2">
                  <c:v>0.1145161290323</c:v>
                </c:pt>
                <c:pt idx="3">
                  <c:v>5.322580645161E-2</c:v>
                </c:pt>
                <c:pt idx="4">
                  <c:v>7.5806451612900005E-2</c:v>
                </c:pt>
                <c:pt idx="5">
                  <c:v>2.7419354838710001E-2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5E3-E849-9EE6-FD5537DA196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overlap val="-10"/>
        <c:axId val="1205971392"/>
        <c:axId val="898710400"/>
      </c:barChart>
      <c:catAx>
        <c:axId val="120597139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71ADFF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B74-404B-A987-A6EFB8480789}"/>
                </c:ext>
              </c:extLst>
            </c:dLbl>
            <c:dLbl>
              <c:idx val="3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00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5B74-404B-A987-A6EFB8480789}"/>
                </c:ext>
              </c:extLst>
            </c:dLbl>
            <c:dLbl>
              <c:idx val="4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00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5B74-404B-A987-A6EFB848078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Tabelle1!$A$2:$A$10</c:f>
              <c:strCache>
                <c:ptCount val="9"/>
                <c:pt idx="0">
                  <c:v>Wien</c:v>
                </c:pt>
                <c:pt idx="1">
                  <c:v>Niederösterreich</c:v>
                </c:pt>
                <c:pt idx="2">
                  <c:v>Burgenland</c:v>
                </c:pt>
                <c:pt idx="3">
                  <c:v>Steiermark</c:v>
                </c:pt>
                <c:pt idx="4">
                  <c:v>Kärnten</c:v>
                </c:pt>
                <c:pt idx="5">
                  <c:v>Oberösterreich</c:v>
                </c:pt>
                <c:pt idx="6">
                  <c:v>Salzburg</c:v>
                </c:pt>
                <c:pt idx="7">
                  <c:v>Tirol</c:v>
                </c:pt>
                <c:pt idx="8">
                  <c:v>Vorarlberg</c:v>
                </c:pt>
              </c:strCache>
            </c:strRef>
          </c:cat>
          <c:val>
            <c:numRef>
              <c:f>Tabelle1!$B$2:$B$10</c:f>
              <c:numCache>
                <c:formatCode>0%</c:formatCode>
                <c:ptCount val="9"/>
                <c:pt idx="0">
                  <c:v>0.25645161290320001</c:v>
                </c:pt>
                <c:pt idx="1">
                  <c:v>0.21612903225810001</c:v>
                </c:pt>
                <c:pt idx="2">
                  <c:v>2.0967741935480001E-2</c:v>
                </c:pt>
                <c:pt idx="3">
                  <c:v>0.12419354838710001</c:v>
                </c:pt>
                <c:pt idx="4">
                  <c:v>0.05</c:v>
                </c:pt>
                <c:pt idx="5">
                  <c:v>0.15967741935480001</c:v>
                </c:pt>
                <c:pt idx="6">
                  <c:v>4.5161290322579997E-2</c:v>
                </c:pt>
                <c:pt idx="7">
                  <c:v>9.516129032258E-2</c:v>
                </c:pt>
                <c:pt idx="8">
                  <c:v>3.2258064516130003E-2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74-404B-A987-A6EFB848078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3"/>
        <c:overlap val="-10"/>
        <c:axId val="1205971392"/>
        <c:axId val="898710400"/>
      </c:barChart>
      <c:catAx>
        <c:axId val="120597139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71ADFF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13C2-B24F-8919-B942EAABAC03}"/>
                </c:ext>
              </c:extLst>
            </c:dLbl>
            <c:dLbl>
              <c:idx val="3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13C2-B24F-8919-B942EAABAC03}"/>
                </c:ext>
              </c:extLst>
            </c:dLbl>
            <c:dLbl>
              <c:idx val="4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13C2-B24F-8919-B942EAABAC0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Tabelle1!$A$2:$A$6</c:f>
              <c:strCache>
                <c:ptCount val="5"/>
                <c:pt idx="0">
                  <c:v>18-29 Jahre</c:v>
                </c:pt>
                <c:pt idx="1">
                  <c:v>30-39 Jahre</c:v>
                </c:pt>
                <c:pt idx="2">
                  <c:v>40-49 Jahre</c:v>
                </c:pt>
                <c:pt idx="3">
                  <c:v>50-59 Jahre</c:v>
                </c:pt>
                <c:pt idx="4">
                  <c:v>60-75 Jahre</c:v>
                </c:pt>
              </c:strCache>
            </c:strRef>
          </c:cat>
          <c:val>
            <c:numRef>
              <c:f>Tabelle1!$B$2:$B$6</c:f>
              <c:numCache>
                <c:formatCode>0%</c:formatCode>
                <c:ptCount val="5"/>
                <c:pt idx="0">
                  <c:v>0.26</c:v>
                </c:pt>
                <c:pt idx="1">
                  <c:v>0.21</c:v>
                </c:pt>
                <c:pt idx="2">
                  <c:v>0.16</c:v>
                </c:pt>
                <c:pt idx="3">
                  <c:v>0.17</c:v>
                </c:pt>
                <c:pt idx="4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3C2-B24F-8919-B942EAABAC0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overlap val="-10"/>
        <c:axId val="1205971392"/>
        <c:axId val="898710400"/>
      </c:barChart>
      <c:catAx>
        <c:axId val="120597139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71ADFF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591193635558515"/>
                      <c:h val="0.1823579273505834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2D79-4E4A-B46C-B61FD36AD4CD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392299792847826"/>
                      <c:h val="0.1823579273505834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2D79-4E4A-B46C-B61FD36AD4C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Tabelle1!$A$2:$A$3</c:f>
              <c:strCache>
                <c:ptCount val="2"/>
                <c:pt idx="0">
                  <c:v>Ohne Matura</c:v>
                </c:pt>
                <c:pt idx="1">
                  <c:v>Mit Matura</c:v>
                </c:pt>
              </c:strCache>
            </c:strRef>
          </c:cat>
          <c:val>
            <c:numRef>
              <c:f>Tabelle1!$B$2:$B$3</c:f>
              <c:numCache>
                <c:formatCode>0%</c:formatCode>
                <c:ptCount val="2"/>
                <c:pt idx="0">
                  <c:v>0.55322580645160002</c:v>
                </c:pt>
                <c:pt idx="1">
                  <c:v>0.44677419354839998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9C-2343-B15C-15F3F2C8B3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6"/>
        <c:overlap val="-20"/>
        <c:axId val="855132527"/>
        <c:axId val="854641455"/>
      </c:barChart>
      <c:catAx>
        <c:axId val="855132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54641455"/>
        <c:crosses val="autoZero"/>
        <c:auto val="1"/>
        <c:lblAlgn val="ctr"/>
        <c:lblOffset val="100"/>
        <c:noMultiLvlLbl val="0"/>
      </c:catAx>
      <c:valAx>
        <c:axId val="854641455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8551325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50035281343389426"/>
          <c:y val="2.1010430173637684E-2"/>
          <c:w val="0.40658375299525029"/>
          <c:h val="0.9417701866396439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71ADFF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665E-7848-8EC5-06E9915E939C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665E-7848-8EC5-06E9915E939C}"/>
                </c:ext>
              </c:extLst>
            </c:dLbl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665E-7848-8EC5-06E9915E939C}"/>
                </c:ext>
              </c:extLst>
            </c:dLbl>
            <c:dLbl>
              <c:idx val="3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665E-7848-8EC5-06E9915E939C}"/>
                </c:ext>
              </c:extLst>
            </c:dLbl>
            <c:dLbl>
              <c:idx val="5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665E-7848-8EC5-06E9915E939C}"/>
                </c:ext>
              </c:extLst>
            </c:dLbl>
            <c:dLbl>
              <c:idx val="6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665E-7848-8EC5-06E9915E939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Tabelle1!$A$2:$A$9</c:f>
              <c:strCache>
                <c:ptCount val="8"/>
                <c:pt idx="0">
                  <c:v>Lebensversicherung/ Pensionsvorsorge</c:v>
                </c:pt>
                <c:pt idx="1">
                  <c:v>Wertpapiere</c:v>
                </c:pt>
                <c:pt idx="2">
                  <c:v>Bausparvertrag</c:v>
                </c:pt>
                <c:pt idx="3">
                  <c:v>Gold/Edelmetalle</c:v>
                </c:pt>
                <c:pt idx="4">
                  <c:v>Grundbesitz</c:v>
                </c:pt>
                <c:pt idx="5">
                  <c:v>Wertgegenstände</c:v>
                </c:pt>
                <c:pt idx="6">
                  <c:v>Kryptowährungen</c:v>
                </c:pt>
                <c:pt idx="7">
                  <c:v>Immobilien, die nicht selbst bewohnt werden</c:v>
                </c:pt>
              </c:strCache>
            </c:strRef>
          </c:cat>
          <c:val>
            <c:numRef>
              <c:f>Tabelle1!$B$2:$B$9</c:f>
              <c:numCache>
                <c:formatCode>0%</c:formatCode>
                <c:ptCount val="8"/>
                <c:pt idx="0">
                  <c:v>0.50483870967739997</c:v>
                </c:pt>
                <c:pt idx="1">
                  <c:v>0.42741935483870003</c:v>
                </c:pt>
                <c:pt idx="2">
                  <c:v>0.38548387096769998</c:v>
                </c:pt>
                <c:pt idx="3">
                  <c:v>0.27096774193549999</c:v>
                </c:pt>
                <c:pt idx="4">
                  <c:v>0.2</c:v>
                </c:pt>
                <c:pt idx="5">
                  <c:v>0.17419354838709999</c:v>
                </c:pt>
                <c:pt idx="6">
                  <c:v>0.1193548387097</c:v>
                </c:pt>
                <c:pt idx="7">
                  <c:v>0.1064516129032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65E-7848-8EC5-06E9915E939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3"/>
        <c:overlap val="-10"/>
        <c:axId val="1205971392"/>
        <c:axId val="898710400"/>
      </c:barChart>
      <c:catAx>
        <c:axId val="120597139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atin typeface="+mn-lt"/>
        </a:defRPr>
      </a:pPr>
      <a:endParaRPr lang="en-US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7764152777392056"/>
          <c:y val="9.4493088882350348E-2"/>
          <c:w val="0.16807369677015419"/>
          <c:h val="0.8110138222352992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71ADFF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Tabelle1!$A$2:$A$7</c:f>
              <c:strCache>
                <c:ptCount val="6"/>
                <c:pt idx="0">
                  <c:v>1 Person (Single-Haushalt)</c:v>
                </c:pt>
                <c:pt idx="1">
                  <c:v>2 Personen</c:v>
                </c:pt>
                <c:pt idx="2">
                  <c:v>3 Personen</c:v>
                </c:pt>
                <c:pt idx="3">
                  <c:v>4 Personen</c:v>
                </c:pt>
                <c:pt idx="4">
                  <c:v>5 Personen</c:v>
                </c:pt>
                <c:pt idx="5">
                  <c:v>6 Personen oder mehr</c:v>
                </c:pt>
              </c:strCache>
            </c:strRef>
          </c:cat>
          <c:val>
            <c:numRef>
              <c:f>Tabelle1!$B$2:$B$7</c:f>
              <c:numCache>
                <c:formatCode>0%</c:formatCode>
                <c:ptCount val="6"/>
                <c:pt idx="0">
                  <c:v>0.2387096774194</c:v>
                </c:pt>
                <c:pt idx="1">
                  <c:v>0.37096774193549997</c:v>
                </c:pt>
                <c:pt idx="2">
                  <c:v>0.17419354838709999</c:v>
                </c:pt>
                <c:pt idx="3">
                  <c:v>0.15</c:v>
                </c:pt>
                <c:pt idx="4">
                  <c:v>5.1612903225809997E-2</c:v>
                </c:pt>
                <c:pt idx="5">
                  <c:v>1.4516129032259999E-2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5E3-E849-9EE6-FD5537DA196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overlap val="-10"/>
        <c:axId val="1205971392"/>
        <c:axId val="898710400"/>
      </c:barChart>
      <c:catAx>
        <c:axId val="120597139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4865149186634888"/>
          <c:y val="0.19462084248637621"/>
          <c:w val="0.5227985980171177"/>
          <c:h val="0.7657414014699504"/>
        </c:manualLayout>
      </c:layout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Spalte2</c:v>
                </c:pt>
              </c:strCache>
            </c:strRef>
          </c:tx>
          <c:explosion val="2"/>
          <c:dPt>
            <c:idx val="0"/>
            <c:bubble3D val="0"/>
            <c:explosion val="25"/>
            <c:spPr>
              <a:solidFill>
                <a:srgbClr val="71AD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A29-634A-B6D3-3D84C8354B27}"/>
              </c:ext>
            </c:extLst>
          </c:dPt>
          <c:dPt>
            <c:idx val="1"/>
            <c:bubble3D val="0"/>
            <c:spPr>
              <a:solidFill>
                <a:srgbClr val="F2610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A29-634A-B6D3-3D84C8354B27}"/>
              </c:ext>
            </c:extLst>
          </c:dPt>
          <c:dPt>
            <c:idx val="2"/>
            <c:bubble3D val="0"/>
            <c:spPr>
              <a:solidFill>
                <a:srgbClr val="FF9E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A29-634A-B6D3-3D84C8354B27}"/>
              </c:ext>
            </c:extLst>
          </c:dPt>
          <c:dPt>
            <c:idx val="3"/>
            <c:bubble3D val="0"/>
            <c:spPr>
              <a:solidFill>
                <a:srgbClr val="005CA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A29-634A-B6D3-3D84C8354B27}"/>
              </c:ext>
            </c:extLst>
          </c:dPt>
          <c:dPt>
            <c:idx val="4"/>
            <c:bubble3D val="0"/>
            <c:spPr>
              <a:solidFill>
                <a:srgbClr val="4DA68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A29-634A-B6D3-3D84C8354B27}"/>
              </c:ext>
            </c:extLst>
          </c:dPt>
          <c:dPt>
            <c:idx val="5"/>
            <c:bubble3D val="0"/>
            <c:spPr>
              <a:solidFill>
                <a:srgbClr val="B3D9C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3A29-634A-B6D3-3D84C8354B27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3A29-634A-B6D3-3D84C8354B27}"/>
              </c:ext>
            </c:extLst>
          </c:dPt>
          <c:dPt>
            <c:idx val="7"/>
            <c:bubble3D val="0"/>
            <c:spPr>
              <a:solidFill>
                <a:srgbClr val="A7848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3A29-634A-B6D3-3D84C8354B27}"/>
              </c:ext>
            </c:extLst>
          </c:dPt>
          <c:dLbls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005CA9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3A29-634A-B6D3-3D84C8354B27}"/>
                </c:ext>
              </c:extLst>
            </c:dLbl>
            <c:dLbl>
              <c:idx val="5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A29-634A-B6D3-3D84C8354B2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Tabelle1!$A$2:$A$7</c:f>
              <c:strCache>
                <c:ptCount val="6"/>
                <c:pt idx="0">
                  <c:v>Segment 1</c:v>
                </c:pt>
                <c:pt idx="1">
                  <c:v>Segment 2</c:v>
                </c:pt>
                <c:pt idx="2">
                  <c:v>Segment 3</c:v>
                </c:pt>
                <c:pt idx="3">
                  <c:v>Segment 4</c:v>
                </c:pt>
                <c:pt idx="4">
                  <c:v>Segment 5</c:v>
                </c:pt>
                <c:pt idx="5">
                  <c:v>Segment 6</c:v>
                </c:pt>
              </c:strCache>
            </c:strRef>
          </c:cat>
          <c:val>
            <c:numRef>
              <c:f>Tabelle1!$B$2:$B$7</c:f>
              <c:numCache>
                <c:formatCode>0%</c:formatCode>
                <c:ptCount val="6"/>
                <c:pt idx="0">
                  <c:v>0.15</c:v>
                </c:pt>
                <c:pt idx="1">
                  <c:v>0.17</c:v>
                </c:pt>
                <c:pt idx="2">
                  <c:v>0.14000000000000001</c:v>
                </c:pt>
                <c:pt idx="3">
                  <c:v>0.19</c:v>
                </c:pt>
                <c:pt idx="4">
                  <c:v>0.14000000000000001</c:v>
                </c:pt>
                <c:pt idx="5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A29-634A-B6D3-3D84C8354B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48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de-DE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54187992538243546"/>
          <c:y val="2.1938528630265013E-2"/>
          <c:w val="0.38027425837046841"/>
          <c:h val="0.9105675026503259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71ADFF"/>
            </a:solidFill>
            <a:ln>
              <a:noFill/>
            </a:ln>
            <a:effectLst/>
          </c:spPr>
          <c:invertIfNegative val="0"/>
          <c:dLbls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665E-7848-8EC5-06E9915E939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Tabelle1!$A$2:$A$6</c:f>
              <c:strCache>
                <c:ptCount val="5"/>
                <c:pt idx="0">
                  <c:v>Auto (Benzin/ Diesel)</c:v>
                </c:pt>
                <c:pt idx="1">
                  <c:v>Fahrrad</c:v>
                </c:pt>
                <c:pt idx="2">
                  <c:v>E-Fahrrad</c:v>
                </c:pt>
                <c:pt idx="3">
                  <c:v>Motorrad (Benzin/ Diesel)</c:v>
                </c:pt>
                <c:pt idx="4">
                  <c:v>E-Auto</c:v>
                </c:pt>
              </c:strCache>
            </c:strRef>
          </c:cat>
          <c:val>
            <c:numRef>
              <c:f>Tabelle1!$B$2:$B$6</c:f>
              <c:numCache>
                <c:formatCode>0%</c:formatCode>
                <c:ptCount val="5"/>
                <c:pt idx="0">
                  <c:v>0.73548387096769996</c:v>
                </c:pt>
                <c:pt idx="1">
                  <c:v>0.4032258064516</c:v>
                </c:pt>
                <c:pt idx="2">
                  <c:v>0.1290322580645</c:v>
                </c:pt>
                <c:pt idx="3">
                  <c:v>9.1935483870970003E-2</c:v>
                </c:pt>
                <c:pt idx="4">
                  <c:v>4.3548387096770003E-2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65E-7848-8EC5-06E9915E939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3"/>
        <c:overlap val="-10"/>
        <c:axId val="1205971392"/>
        <c:axId val="898710400"/>
      </c:barChart>
      <c:catAx>
        <c:axId val="120597139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atin typeface="+mn-lt"/>
        </a:defRPr>
      </a:pPr>
      <a:endParaRPr lang="en-US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71ADFF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591193635558515"/>
                      <c:h val="0.1823579273505834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1DBF-2D4E-861C-6F9B22CB6514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00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392299792847826"/>
                      <c:h val="0.1823579273505834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1DBF-2D4E-861C-6F9B22CB651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Tabelle1!$A$2:$A$3</c:f>
              <c:strCache>
                <c:ptCount val="2"/>
                <c:pt idx="0">
                  <c:v>Wohnung</c:v>
                </c:pt>
                <c:pt idx="1">
                  <c:v>Haus</c:v>
                </c:pt>
              </c:strCache>
            </c:strRef>
          </c:cat>
          <c:val>
            <c:numRef>
              <c:f>Tabelle1!$B$2:$B$3</c:f>
              <c:numCache>
                <c:formatCode>0%</c:formatCode>
                <c:ptCount val="2"/>
                <c:pt idx="0">
                  <c:v>0.55000000000000004</c:v>
                </c:pt>
                <c:pt idx="1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DBF-2D4E-861C-6F9B22CB65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6"/>
        <c:overlap val="-20"/>
        <c:axId val="855132527"/>
        <c:axId val="854641455"/>
      </c:barChart>
      <c:catAx>
        <c:axId val="855132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54641455"/>
        <c:crosses val="autoZero"/>
        <c:auto val="1"/>
        <c:lblAlgn val="ctr"/>
        <c:lblOffset val="100"/>
        <c:noMultiLvlLbl val="0"/>
      </c:catAx>
      <c:valAx>
        <c:axId val="854641455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8551325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71ADFF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00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591193635558515"/>
                      <c:h val="0.1823579273505834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1DBF-2D4E-861C-6F9B22CB6514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00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392299792847826"/>
                      <c:h val="0.1823579273505834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1DBF-2D4E-861C-6F9B22CB651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Tabelle1!$A$2:$A$3</c:f>
              <c:strCache>
                <c:ptCount val="2"/>
                <c:pt idx="0">
                  <c:v>Eigentum</c:v>
                </c:pt>
                <c:pt idx="1">
                  <c:v>Miete</c:v>
                </c:pt>
              </c:strCache>
            </c:strRef>
          </c:cat>
          <c:val>
            <c:numRef>
              <c:f>Tabelle1!$B$2:$B$3</c:f>
              <c:numCache>
                <c:formatCode>0%</c:formatCode>
                <c:ptCount val="2"/>
                <c:pt idx="0">
                  <c:v>0.51</c:v>
                </c:pt>
                <c:pt idx="1">
                  <c:v>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DBF-2D4E-861C-6F9B22CB65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6"/>
        <c:overlap val="-20"/>
        <c:axId val="855132527"/>
        <c:axId val="854641455"/>
      </c:barChart>
      <c:catAx>
        <c:axId val="855132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54641455"/>
        <c:crosses val="autoZero"/>
        <c:auto val="1"/>
        <c:lblAlgn val="ctr"/>
        <c:lblOffset val="100"/>
        <c:noMultiLvlLbl val="0"/>
      </c:catAx>
      <c:valAx>
        <c:axId val="854641455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8551325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73772057439926131"/>
          <c:y val="9.8189986729943099E-2"/>
          <c:w val="0.22088237031120062"/>
          <c:h val="0.8036200265401137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71ADFF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2F23-294E-B277-BC6726CAB491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2F23-294E-B277-BC6726CAB491}"/>
                </c:ext>
              </c:extLst>
            </c:dLbl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2F23-294E-B277-BC6726CAB491}"/>
                </c:ext>
              </c:extLst>
            </c:dLbl>
            <c:dLbl>
              <c:idx val="3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2F23-294E-B277-BC6726CAB49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Tabelle1!$A$2:$A$5</c:f>
              <c:strCache>
                <c:ptCount val="4"/>
                <c:pt idx="0">
                  <c:v>Angestellte/r Versicherungsberater:in</c:v>
                </c:pt>
                <c:pt idx="1">
                  <c:v>Unabhängige/r Versicherungsmakler:in</c:v>
                </c:pt>
                <c:pt idx="2">
                  <c:v>General Agent/General Agentur</c:v>
                </c:pt>
                <c:pt idx="3">
                  <c:v>Kein Berater</c:v>
                </c:pt>
              </c:strCache>
            </c:strRef>
          </c:cat>
          <c:val>
            <c:numRef>
              <c:f>Tabelle1!$B$2:$B$5</c:f>
              <c:numCache>
                <c:formatCode>0%</c:formatCode>
                <c:ptCount val="4"/>
                <c:pt idx="0">
                  <c:v>0.51129032258060003</c:v>
                </c:pt>
                <c:pt idx="1">
                  <c:v>0.19677419354840001</c:v>
                </c:pt>
                <c:pt idx="2">
                  <c:v>9.1935483870970003E-2</c:v>
                </c:pt>
                <c:pt idx="3">
                  <c:v>0.1225806451613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F23-294E-B277-BC6726CAB49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overlap val="-10"/>
        <c:axId val="1205971392"/>
        <c:axId val="898710400"/>
      </c:barChart>
      <c:catAx>
        <c:axId val="120597139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4865149186634888"/>
          <c:y val="0.19462084248637621"/>
          <c:w val="0.5227985980171177"/>
          <c:h val="0.7657414014699504"/>
        </c:manualLayout>
      </c:layout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Spalte2</c:v>
                </c:pt>
              </c:strCache>
            </c:strRef>
          </c:tx>
          <c:explosion val="2"/>
          <c:dPt>
            <c:idx val="0"/>
            <c:bubble3D val="0"/>
            <c:explosion val="25"/>
            <c:spPr>
              <a:solidFill>
                <a:srgbClr val="71AD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931-A341-8410-C1CCE09839F4}"/>
              </c:ext>
            </c:extLst>
          </c:dPt>
          <c:dPt>
            <c:idx val="1"/>
            <c:bubble3D val="0"/>
            <c:spPr>
              <a:solidFill>
                <a:srgbClr val="F2610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931-A341-8410-C1CCE09839F4}"/>
              </c:ext>
            </c:extLst>
          </c:dPt>
          <c:dPt>
            <c:idx val="2"/>
            <c:bubble3D val="0"/>
            <c:spPr>
              <a:solidFill>
                <a:srgbClr val="FF9E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931-A341-8410-C1CCE09839F4}"/>
              </c:ext>
            </c:extLst>
          </c:dPt>
          <c:dPt>
            <c:idx val="3"/>
            <c:bubble3D val="0"/>
            <c:spPr>
              <a:solidFill>
                <a:srgbClr val="005CA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931-A341-8410-C1CCE09839F4}"/>
              </c:ext>
            </c:extLst>
          </c:dPt>
          <c:dPt>
            <c:idx val="4"/>
            <c:bubble3D val="0"/>
            <c:spPr>
              <a:solidFill>
                <a:srgbClr val="4DA68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931-A341-8410-C1CCE09839F4}"/>
              </c:ext>
            </c:extLst>
          </c:dPt>
          <c:dPt>
            <c:idx val="5"/>
            <c:bubble3D val="0"/>
            <c:spPr>
              <a:solidFill>
                <a:srgbClr val="B3D9C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A931-A341-8410-C1CCE09839F4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A931-A341-8410-C1CCE09839F4}"/>
              </c:ext>
            </c:extLst>
          </c:dPt>
          <c:dPt>
            <c:idx val="7"/>
            <c:bubble3D val="0"/>
            <c:spPr>
              <a:solidFill>
                <a:srgbClr val="A7848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A931-A341-8410-C1CCE09839F4}"/>
              </c:ext>
            </c:extLst>
          </c:dPt>
          <c:dLbls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005CA9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A931-A341-8410-C1CCE09839F4}"/>
                </c:ext>
              </c:extLst>
            </c:dLbl>
            <c:dLbl>
              <c:idx val="5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931-A341-8410-C1CCE09839F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Tabelle1!$A$2:$A$7</c:f>
              <c:strCache>
                <c:ptCount val="6"/>
                <c:pt idx="0">
                  <c:v>Segment 1</c:v>
                </c:pt>
                <c:pt idx="1">
                  <c:v>Segment 2</c:v>
                </c:pt>
                <c:pt idx="2">
                  <c:v>Segment 3</c:v>
                </c:pt>
                <c:pt idx="3">
                  <c:v>Segment 4</c:v>
                </c:pt>
                <c:pt idx="4">
                  <c:v>Segment 5</c:v>
                </c:pt>
                <c:pt idx="5">
                  <c:v>Segment 6</c:v>
                </c:pt>
              </c:strCache>
            </c:strRef>
          </c:cat>
          <c:val>
            <c:numRef>
              <c:f>Tabelle1!$B$2:$B$7</c:f>
              <c:numCache>
                <c:formatCode>0%</c:formatCode>
                <c:ptCount val="6"/>
                <c:pt idx="0">
                  <c:v>0.15</c:v>
                </c:pt>
                <c:pt idx="1">
                  <c:v>0.17</c:v>
                </c:pt>
                <c:pt idx="2">
                  <c:v>0.14000000000000001</c:v>
                </c:pt>
                <c:pt idx="3">
                  <c:v>0.19</c:v>
                </c:pt>
                <c:pt idx="4">
                  <c:v>0.14000000000000001</c:v>
                </c:pt>
                <c:pt idx="5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A931-A341-8410-C1CCE09839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48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de-DE"/>
    </a:p>
  </c:txPr>
  <c:externalData r:id="rId4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50642887716531959"/>
          <c:y val="2.1010430173637684E-2"/>
          <c:w val="0.32386721455841422"/>
          <c:h val="0.9417701866396439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71ADFF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10D1-CE45-8807-518CD6525472}"/>
                </c:ext>
              </c:extLst>
            </c:dLbl>
            <c:dLbl>
              <c:idx val="4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10D1-CE45-8807-518CD6525472}"/>
                </c:ext>
              </c:extLst>
            </c:dLbl>
            <c:dLbl>
              <c:idx val="5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10D1-CE45-8807-518CD6525472}"/>
                </c:ext>
              </c:extLst>
            </c:dLbl>
            <c:dLbl>
              <c:idx val="7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10D1-CE45-8807-518CD6525472}"/>
                </c:ext>
              </c:extLst>
            </c:dLbl>
            <c:dLbl>
              <c:idx val="9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10D1-CE45-8807-518CD652547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Tabelle1!$A$2:$A$18</c:f>
              <c:strCache>
                <c:ptCount val="17"/>
                <c:pt idx="0">
                  <c:v>Haushalt</c:v>
                </c:pt>
                <c:pt idx="1">
                  <c:v>Kfz-Haftpflicht</c:v>
                </c:pt>
                <c:pt idx="2">
                  <c:v>Rechtsschutz</c:v>
                </c:pt>
                <c:pt idx="3">
                  <c:v>Kfz-Kasko</c:v>
                </c:pt>
                <c:pt idx="4">
                  <c:v>Unfall</c:v>
                </c:pt>
                <c:pt idx="5">
                  <c:v>Leben/ Pensionsvorsorge</c:v>
                </c:pt>
                <c:pt idx="6">
                  <c:v>Eigenheim</c:v>
                </c:pt>
                <c:pt idx="7">
                  <c:v>Kranken</c:v>
                </c:pt>
                <c:pt idx="8">
                  <c:v>Ableben</c:v>
                </c:pt>
                <c:pt idx="9">
                  <c:v>Reise</c:v>
                </c:pt>
                <c:pt idx="10">
                  <c:v>Motorrad/Moped</c:v>
                </c:pt>
                <c:pt idx="11">
                  <c:v>Berufsunfähigkeit</c:v>
                </c:pt>
                <c:pt idx="12">
                  <c:v>Elektronische Geräte</c:v>
                </c:pt>
                <c:pt idx="13">
                  <c:v>Tier</c:v>
                </c:pt>
                <c:pt idx="14">
                  <c:v>(E-)Fahrrad/ Scooter</c:v>
                </c:pt>
                <c:pt idx="15">
                  <c:v>Cyber</c:v>
                </c:pt>
                <c:pt idx="16">
                  <c:v>Pflege</c:v>
                </c:pt>
              </c:strCache>
            </c:strRef>
          </c:cat>
          <c:val>
            <c:numRef>
              <c:f>Tabelle1!$B$2:$B$18</c:f>
              <c:numCache>
                <c:formatCode>0%</c:formatCode>
                <c:ptCount val="17"/>
                <c:pt idx="0">
                  <c:v>0.85967741935480002</c:v>
                </c:pt>
                <c:pt idx="1">
                  <c:v>0.7096774193548</c:v>
                </c:pt>
                <c:pt idx="2">
                  <c:v>0.55483870967740001</c:v>
                </c:pt>
                <c:pt idx="3">
                  <c:v>0.45806451612900001</c:v>
                </c:pt>
                <c:pt idx="4">
                  <c:v>0.44677419354839998</c:v>
                </c:pt>
                <c:pt idx="5">
                  <c:v>0.42741935483870003</c:v>
                </c:pt>
                <c:pt idx="6">
                  <c:v>0.41290322580650002</c:v>
                </c:pt>
                <c:pt idx="7">
                  <c:v>0.34354838709680002</c:v>
                </c:pt>
                <c:pt idx="8">
                  <c:v>0.25322580645159998</c:v>
                </c:pt>
                <c:pt idx="9">
                  <c:v>0.19516129032259999</c:v>
                </c:pt>
                <c:pt idx="10">
                  <c:v>0.13064516129029999</c:v>
                </c:pt>
                <c:pt idx="11">
                  <c:v>0.1193548387097</c:v>
                </c:pt>
                <c:pt idx="12">
                  <c:v>0.11612903225810001</c:v>
                </c:pt>
                <c:pt idx="13">
                  <c:v>8.5483870967740003E-2</c:v>
                </c:pt>
                <c:pt idx="14">
                  <c:v>3.548387096774E-2</c:v>
                </c:pt>
                <c:pt idx="15">
                  <c:v>1.6129032258059998E-2</c:v>
                </c:pt>
                <c:pt idx="16">
                  <c:v>1.290322580645E-2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0D1-CE45-8807-518CD652547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3"/>
        <c:overlap val="-10"/>
        <c:axId val="1205971392"/>
        <c:axId val="898710400"/>
      </c:barChart>
      <c:catAx>
        <c:axId val="120597139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atin typeface="+mn-lt"/>
        </a:defRPr>
      </a:pPr>
      <a:endParaRPr lang="en-US"/>
    </a:p>
  </c:txPr>
  <c:externalData r:id="rId4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336072843374923E-2"/>
          <c:y val="1.018906894733972E-2"/>
          <c:w val="0.77525243759089046"/>
          <c:h val="0.9706271131368950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71ADFF"/>
            </a:solidFill>
            <a:ln>
              <a:noFill/>
            </a:ln>
            <a:effectLst/>
          </c:spPr>
          <c:invertIfNegative val="0"/>
          <c:dLbls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10D1-CE45-8807-518CD6525472}"/>
                </c:ext>
              </c:extLst>
            </c:dLbl>
            <c:dLbl>
              <c:idx val="4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10D1-CE45-8807-518CD6525472}"/>
                </c:ext>
              </c:extLst>
            </c:dLbl>
            <c:dLbl>
              <c:idx val="7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10D1-CE45-8807-518CD6525472}"/>
                </c:ext>
              </c:extLst>
            </c:dLbl>
            <c:dLbl>
              <c:idx val="9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10D1-CE45-8807-518CD6525472}"/>
                </c:ext>
              </c:extLst>
            </c:dLbl>
            <c:dLbl>
              <c:idx val="13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6584-9C4B-938C-D87E98D7FAB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Tabelle1!$A$2:$A$18</c:f>
              <c:strCache>
                <c:ptCount val="17"/>
                <c:pt idx="0">
                  <c:v>Haushalt</c:v>
                </c:pt>
                <c:pt idx="1">
                  <c:v>Kfz-Haftpflicht</c:v>
                </c:pt>
                <c:pt idx="2">
                  <c:v>Rechtsschutz</c:v>
                </c:pt>
                <c:pt idx="3">
                  <c:v>Kfz-Kasko</c:v>
                </c:pt>
                <c:pt idx="4">
                  <c:v>Unfall</c:v>
                </c:pt>
                <c:pt idx="5">
                  <c:v>Leben/ Pensionsvorsorge</c:v>
                </c:pt>
                <c:pt idx="6">
                  <c:v>Eigenheim</c:v>
                </c:pt>
                <c:pt idx="7">
                  <c:v>Kranken</c:v>
                </c:pt>
                <c:pt idx="8">
                  <c:v>Ableben</c:v>
                </c:pt>
                <c:pt idx="9">
                  <c:v>Reise</c:v>
                </c:pt>
                <c:pt idx="10">
                  <c:v>Motorrad/Moped</c:v>
                </c:pt>
                <c:pt idx="11">
                  <c:v>Berufsunfähigkeit</c:v>
                </c:pt>
                <c:pt idx="12">
                  <c:v>Elektronische Geräte</c:v>
                </c:pt>
                <c:pt idx="13">
                  <c:v>Tier</c:v>
                </c:pt>
                <c:pt idx="14">
                  <c:v>(E-)Fahrrad/ Scooter</c:v>
                </c:pt>
                <c:pt idx="15">
                  <c:v>Cyber</c:v>
                </c:pt>
                <c:pt idx="16">
                  <c:v>Pflege</c:v>
                </c:pt>
              </c:strCache>
            </c:strRef>
          </c:cat>
          <c:val>
            <c:numRef>
              <c:f>Tabelle1!$B$2:$B$18</c:f>
              <c:numCache>
                <c:formatCode>0%</c:formatCode>
                <c:ptCount val="17"/>
                <c:pt idx="0">
                  <c:v>7.741935483871E-2</c:v>
                </c:pt>
                <c:pt idx="1">
                  <c:v>9.1935483870970003E-2</c:v>
                </c:pt>
                <c:pt idx="2">
                  <c:v>0.12580645161289999</c:v>
                </c:pt>
                <c:pt idx="3">
                  <c:v>8.5483870967740003E-2</c:v>
                </c:pt>
                <c:pt idx="4">
                  <c:v>9.0322580645159994E-2</c:v>
                </c:pt>
                <c:pt idx="5">
                  <c:v>0.1145161290323</c:v>
                </c:pt>
                <c:pt idx="6">
                  <c:v>4.3548387096770003E-2</c:v>
                </c:pt>
                <c:pt idx="7">
                  <c:v>0.18387096774190001</c:v>
                </c:pt>
                <c:pt idx="8">
                  <c:v>0.1209677419355</c:v>
                </c:pt>
                <c:pt idx="9">
                  <c:v>0.13870967741939999</c:v>
                </c:pt>
                <c:pt idx="10">
                  <c:v>2.7419354838710001E-2</c:v>
                </c:pt>
                <c:pt idx="11">
                  <c:v>0.10161290322579999</c:v>
                </c:pt>
                <c:pt idx="12">
                  <c:v>7.2580645161289994E-2</c:v>
                </c:pt>
                <c:pt idx="13">
                  <c:v>7.9032258064519995E-2</c:v>
                </c:pt>
                <c:pt idx="14">
                  <c:v>2.0967741935480001E-2</c:v>
                </c:pt>
                <c:pt idx="15">
                  <c:v>3.8709677419349997E-2</c:v>
                </c:pt>
                <c:pt idx="16">
                  <c:v>8.5483870967740003E-2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0D1-CE45-8807-518CD652547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3"/>
        <c:overlap val="-10"/>
        <c:axId val="1205971392"/>
        <c:axId val="898710400"/>
      </c:barChart>
      <c:catAx>
        <c:axId val="1205971392"/>
        <c:scaling>
          <c:orientation val="maxMin"/>
        </c:scaling>
        <c:delete val="1"/>
        <c:axPos val="l"/>
        <c:numFmt formatCode="General" sourceLinked="0"/>
        <c:majorTickMark val="none"/>
        <c:minorTickMark val="none"/>
        <c:tickLblPos val="nextTo"/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atin typeface="+mn-lt"/>
        </a:defRPr>
      </a:pPr>
      <a:endParaRPr lang="en-US"/>
    </a:p>
  </c:txPr>
  <c:externalData r:id="rId4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72223970038366592"/>
          <c:y val="4.4716248674837013E-2"/>
          <c:w val="0.27776029961633403"/>
          <c:h val="0.9105675026503259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71ADFF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B9F-C644-86B4-EFB12340EC94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9B9F-C644-86B4-EFB12340EC94}"/>
                </c:ext>
              </c:extLst>
            </c:dLbl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9B9F-C644-86B4-EFB12340EC94}"/>
                </c:ext>
              </c:extLst>
            </c:dLbl>
            <c:dLbl>
              <c:idx val="3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9B9F-C644-86B4-EFB12340EC94}"/>
                </c:ext>
              </c:extLst>
            </c:dLbl>
            <c:dLbl>
              <c:idx val="4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9B9F-C644-86B4-EFB12340EC94}"/>
                </c:ext>
              </c:extLst>
            </c:dLbl>
            <c:dLbl>
              <c:idx val="5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9B9F-C644-86B4-EFB12340EC94}"/>
                </c:ext>
              </c:extLst>
            </c:dLbl>
            <c:dLbl>
              <c:idx val="6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9B9F-C644-86B4-EFB12340EC94}"/>
                </c:ext>
              </c:extLst>
            </c:dLbl>
            <c:dLbl>
              <c:idx val="8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9B9F-C644-86B4-EFB12340EC94}"/>
                </c:ext>
              </c:extLst>
            </c:dLbl>
            <c:dLbl>
              <c:idx val="9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9B9F-C644-86B4-EFB12340EC94}"/>
                </c:ext>
              </c:extLst>
            </c:dLbl>
            <c:dLbl>
              <c:idx val="1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9B9F-C644-86B4-EFB12340EC94}"/>
                </c:ext>
              </c:extLst>
            </c:dLbl>
            <c:dLbl>
              <c:idx val="1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9B9F-C644-86B4-EFB12340EC94}"/>
                </c:ext>
              </c:extLst>
            </c:dLbl>
            <c:dLbl>
              <c:idx val="1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9B9F-C644-86B4-EFB12340EC9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Tabelle1!$A$2:$A$16</c:f>
              <c:strCache>
                <c:ptCount val="15"/>
                <c:pt idx="0">
                  <c:v>Das Preis-Leistungsverhältnis</c:v>
                </c:pt>
                <c:pt idx="1">
                  <c:v>Die Versicherungsprämie (möglichst geringer Preis für die Versicherung)</c:v>
                </c:pt>
                <c:pt idx="2">
                  <c:v>Das Produkt ist umfangreich (hat viele Deckungen)</c:v>
                </c:pt>
                <c:pt idx="3">
                  <c:v>Das Produkt ist flexibel und kann auf mich zugeschnitten werden</c:v>
                </c:pt>
                <c:pt idx="4">
                  <c:v>Bereits positive Erfahrungen mit dem Versicherungsunternehmen gemacht</c:v>
                </c:pt>
                <c:pt idx="5">
                  <c:v>Der/ die Berater:in/ Makler:in ist kompetent</c:v>
                </c:pt>
                <c:pt idx="6">
                  <c:v>Die Produktinformationen (möglichst klar und transparent: Angebot, Folder, online)</c:v>
                </c:pt>
                <c:pt idx="7">
                  <c:v>Der/ die Berater:in/ Makler:in ist bereits bekannt und verlässlich</c:v>
                </c:pt>
                <c:pt idx="8">
                  <c:v>Das Produkt beinhaltet relevante Zusatzleistungen (z.B. Assistance-Services)</c:v>
                </c:pt>
                <c:pt idx="9">
                  <c:v>Digitale Services sind vorhanden (Kund:innenportal, Versicherungs-App)</c:v>
                </c:pt>
                <c:pt idx="10">
                  <c:v>Das Image des Versicherungsunternehmens (Bekanntheit, guter Ruf)</c:v>
                </c:pt>
                <c:pt idx="11">
                  <c:v>Weiterempfehlung (durch Familie/ Freund:innen/ Bekannte)</c:v>
                </c:pt>
                <c:pt idx="12">
                  <c:v>Der/ die Berater:in/ Makler:in befindet sich in meiner Nähe</c:v>
                </c:pt>
                <c:pt idx="13">
                  <c:v>Die Möglichkeit, online abzuschließen</c:v>
                </c:pt>
                <c:pt idx="14">
                  <c:v>Die Berücksichtigung von Nachhaltigkeitsaspekten durch das Versicherungsunternehmen</c:v>
                </c:pt>
              </c:strCache>
            </c:strRef>
          </c:cat>
          <c:val>
            <c:numRef>
              <c:f>Tabelle1!$B$2:$B$16</c:f>
              <c:numCache>
                <c:formatCode>0%</c:formatCode>
                <c:ptCount val="15"/>
                <c:pt idx="0">
                  <c:v>0.78225806451610003</c:v>
                </c:pt>
                <c:pt idx="1">
                  <c:v>0.46129032258059999</c:v>
                </c:pt>
                <c:pt idx="2">
                  <c:v>0.45806451612900001</c:v>
                </c:pt>
                <c:pt idx="3">
                  <c:v>0.43870967741939998</c:v>
                </c:pt>
                <c:pt idx="4">
                  <c:v>0.42741935483870003</c:v>
                </c:pt>
                <c:pt idx="5">
                  <c:v>0.41774193548389998</c:v>
                </c:pt>
                <c:pt idx="6">
                  <c:v>0.35161290322580002</c:v>
                </c:pt>
                <c:pt idx="7">
                  <c:v>0.32258064516129997</c:v>
                </c:pt>
                <c:pt idx="8">
                  <c:v>0.24354838709679999</c:v>
                </c:pt>
                <c:pt idx="9">
                  <c:v>0.2370967741935</c:v>
                </c:pt>
                <c:pt idx="10">
                  <c:v>0.23548387096769999</c:v>
                </c:pt>
                <c:pt idx="11">
                  <c:v>0.22903225806450001</c:v>
                </c:pt>
                <c:pt idx="12">
                  <c:v>0.1564516129032</c:v>
                </c:pt>
                <c:pt idx="13">
                  <c:v>0.1129032258065</c:v>
                </c:pt>
                <c:pt idx="14">
                  <c:v>5.967741935484E-2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B9F-C644-86B4-EFB12340EC9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3"/>
        <c:overlap val="-10"/>
        <c:axId val="1205971392"/>
        <c:axId val="898710400"/>
      </c:barChart>
      <c:catAx>
        <c:axId val="1205971392"/>
        <c:scaling>
          <c:orientation val="maxMin"/>
        </c:scaling>
        <c:delete val="1"/>
        <c:axPos val="l"/>
        <c:numFmt formatCode="General" sourceLinked="0"/>
        <c:majorTickMark val="none"/>
        <c:minorTickMark val="none"/>
        <c:tickLblPos val="nextTo"/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atin typeface="+mn-lt"/>
        </a:defRPr>
      </a:pPr>
      <a:endParaRPr lang="en-US"/>
    </a:p>
  </c:txPr>
  <c:externalData r:id="rId4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3182677780034249"/>
          <c:y val="3.3104655492047018E-2"/>
          <c:w val="0.42050125378259218"/>
          <c:h val="0.88682127523918475"/>
        </c:manualLayout>
      </c:layout>
      <c:scatterChart>
        <c:scatterStyle val="lineMarker"/>
        <c:varyColors val="0"/>
        <c:ser>
          <c:idx val="1"/>
          <c:order val="0"/>
          <c:tx>
            <c:strRef>
              <c:f>Tabelle1!$C$1</c:f>
              <c:strCache>
                <c:ptCount val="1"/>
                <c:pt idx="0">
                  <c:v>Segment 1</c:v>
                </c:pt>
              </c:strCache>
            </c:strRef>
          </c:tx>
          <c:spPr>
            <a:ln w="50800" cap="rnd" cmpd="sng" algn="ctr">
              <a:solidFill>
                <a:srgbClr val="71ADFF"/>
              </a:solidFill>
              <a:prstDash val="solid"/>
              <a:round/>
            </a:ln>
            <a:effectLst/>
          </c:spPr>
          <c:marker>
            <c:symbol val="diamond"/>
            <c:size val="10"/>
            <c:spPr>
              <a:solidFill>
                <a:srgbClr val="71ADFF"/>
              </a:solidFill>
              <a:ln w="6350" cap="flat" cmpd="sng" algn="ctr">
                <a:solidFill>
                  <a:srgbClr val="71ADFF"/>
                </a:solidFill>
                <a:prstDash val="solid"/>
                <a:round/>
              </a:ln>
              <a:effectLst/>
            </c:spPr>
          </c:marker>
          <c:dPt>
            <c:idx val="0"/>
            <c:bubble3D val="0"/>
            <c:spPr>
              <a:ln w="50800" cap="rnd" cmpd="sng" algn="ctr">
                <a:solidFill>
                  <a:srgbClr val="71AD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7D-F54A-8607-F7DEFFC9A532}"/>
              </c:ext>
            </c:extLst>
          </c:dPt>
          <c:dPt>
            <c:idx val="6"/>
            <c:bubble3D val="0"/>
            <c:extLst>
              <c:ext xmlns:c16="http://schemas.microsoft.com/office/drawing/2014/chart" uri="{C3380CC4-5D6E-409C-BE32-E72D297353CC}">
                <c16:uniqueId val="{00000002-867D-F54A-8607-F7DEFFC9A532}"/>
              </c:ext>
            </c:extLst>
          </c:dPt>
          <c:xVal>
            <c:numRef>
              <c:f>Tabelle1!$A$2:$A$25</c:f>
              <c:numCache>
                <c:formatCode>0%</c:formatCode>
                <c:ptCount val="24"/>
                <c:pt idx="0">
                  <c:v>0.77297702297699999</c:v>
                </c:pt>
                <c:pt idx="1">
                  <c:v>0.77472527472529995</c:v>
                </c:pt>
                <c:pt idx="2">
                  <c:v>0.75024975024980001</c:v>
                </c:pt>
                <c:pt idx="3">
                  <c:v>0.62737262737260002</c:v>
                </c:pt>
                <c:pt idx="4">
                  <c:v>0.46978021978020001</c:v>
                </c:pt>
                <c:pt idx="5">
                  <c:v>0.60264735264739999</c:v>
                </c:pt>
                <c:pt idx="6">
                  <c:v>0.55569430569430001</c:v>
                </c:pt>
                <c:pt idx="7">
                  <c:v>0.54470529470530005</c:v>
                </c:pt>
                <c:pt idx="8">
                  <c:v>0.57117882117880003</c:v>
                </c:pt>
                <c:pt idx="9">
                  <c:v>0.4343156843157</c:v>
                </c:pt>
                <c:pt idx="10">
                  <c:v>0.40559440559440002</c:v>
                </c:pt>
                <c:pt idx="11">
                  <c:v>0.267982017982</c:v>
                </c:pt>
                <c:pt idx="12">
                  <c:v>0.87258064516129996</c:v>
                </c:pt>
                <c:pt idx="13">
                  <c:v>0.83225806451609996</c:v>
                </c:pt>
                <c:pt idx="14">
                  <c:v>0.76129032258060003</c:v>
                </c:pt>
                <c:pt idx="15">
                  <c:v>0.74838709677420001</c:v>
                </c:pt>
                <c:pt idx="16">
                  <c:v>0.72580645161290003</c:v>
                </c:pt>
                <c:pt idx="17">
                  <c:v>0.60322580645159996</c:v>
                </c:pt>
                <c:pt idx="18">
                  <c:v>0.56451612903229997</c:v>
                </c:pt>
                <c:pt idx="19">
                  <c:v>0.55161290322580003</c:v>
                </c:pt>
                <c:pt idx="20">
                  <c:v>0.54677419354839996</c:v>
                </c:pt>
                <c:pt idx="21">
                  <c:v>0.46935483870970002</c:v>
                </c:pt>
                <c:pt idx="22">
                  <c:v>0.36290322580649997</c:v>
                </c:pt>
                <c:pt idx="23">
                  <c:v>0.23064516129029999</c:v>
                </c:pt>
              </c:numCache>
            </c:numRef>
          </c:xVal>
          <c:yVal>
            <c:numRef>
              <c:f>Tabelle1!$C$2:$C$25</c:f>
              <c:numCache>
                <c:formatCode>General</c:formatCode>
                <c:ptCount val="24"/>
                <c:pt idx="12">
                  <c:v>12</c:v>
                </c:pt>
                <c:pt idx="13">
                  <c:v>11</c:v>
                </c:pt>
                <c:pt idx="14">
                  <c:v>10</c:v>
                </c:pt>
                <c:pt idx="15">
                  <c:v>9</c:v>
                </c:pt>
                <c:pt idx="16">
                  <c:v>8</c:v>
                </c:pt>
                <c:pt idx="17">
                  <c:v>7</c:v>
                </c:pt>
                <c:pt idx="18">
                  <c:v>6</c:v>
                </c:pt>
                <c:pt idx="19">
                  <c:v>5</c:v>
                </c:pt>
                <c:pt idx="20">
                  <c:v>4</c:v>
                </c:pt>
                <c:pt idx="21">
                  <c:v>3</c:v>
                </c:pt>
                <c:pt idx="22">
                  <c:v>2</c:v>
                </c:pt>
                <c:pt idx="23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7144-D543-B868-EDEEE9E3A4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6009648"/>
        <c:axId val="-60434272"/>
      </c:scatterChart>
      <c:valAx>
        <c:axId val="186009648"/>
        <c:scaling>
          <c:orientation val="minMax"/>
        </c:scaling>
        <c:delete val="1"/>
        <c:axPos val="t"/>
        <c:numFmt formatCode="0%" sourceLinked="0"/>
        <c:majorTickMark val="none"/>
        <c:minorTickMark val="none"/>
        <c:tickLblPos val="high"/>
        <c:crossAx val="-60434272"/>
        <c:crosses val="max"/>
        <c:crossBetween val="midCat"/>
      </c:valAx>
      <c:valAx>
        <c:axId val="-60434272"/>
        <c:scaling>
          <c:orientation val="minMax"/>
          <c:max val="13.5"/>
          <c:min val="-0.5"/>
        </c:scaling>
        <c:delete val="1"/>
        <c:axPos val="l"/>
        <c:numFmt formatCode="General" sourceLinked="1"/>
        <c:majorTickMark val="out"/>
        <c:minorTickMark val="none"/>
        <c:tickLblPos val="nextTo"/>
        <c:crossAx val="18600964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10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de-DE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6299131684991961"/>
          <c:y val="4.4716248674837013E-2"/>
          <c:w val="0.3700868315008039"/>
          <c:h val="0.9105675026503259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71ADFF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0CC-1943-BAF1-1BFDCCEA53BC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0CC-1943-BAF1-1BFDCCEA53BC}"/>
                </c:ext>
              </c:extLst>
            </c:dLbl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70CC-1943-BAF1-1BFDCCEA53BC}"/>
                </c:ext>
              </c:extLst>
            </c:dLbl>
            <c:dLbl>
              <c:idx val="3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70CC-1943-BAF1-1BFDCCEA53BC}"/>
                </c:ext>
              </c:extLst>
            </c:dLbl>
            <c:dLbl>
              <c:idx val="4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70CC-1943-BAF1-1BFDCCEA53BC}"/>
                </c:ext>
              </c:extLst>
            </c:dLbl>
            <c:dLbl>
              <c:idx val="5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70CC-1943-BAF1-1BFDCCEA53BC}"/>
                </c:ext>
              </c:extLst>
            </c:dLbl>
            <c:dLbl>
              <c:idx val="7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1D2F-D741-B308-72811AB02E1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Tabelle1!$A$2:$A$9</c:f>
              <c:strCache>
                <c:ptCount val="8"/>
                <c:pt idx="0">
                  <c:v>Bei einem/ einer Versicherungsberater:in/ Versicherungsmakler:in/ General Agent:in</c:v>
                </c:pt>
                <c:pt idx="1">
                  <c:v>Online auf Vergleichsplattformen</c:v>
                </c:pt>
                <c:pt idx="2">
                  <c:v>Auf den Webseiten von Versicherungsanbietern</c:v>
                </c:pt>
                <c:pt idx="3">
                  <c:v>Bei meiner Familie/ unter Verwandten</c:v>
                </c:pt>
                <c:pt idx="4">
                  <c:v>Mittels Online-Suche/ Google</c:v>
                </c:pt>
                <c:pt idx="5">
                  <c:v>Bei Freund:innen/ Bekannten</c:v>
                </c:pt>
                <c:pt idx="6">
                  <c:v>Direkt beim Standort der Versicherung (z.B. Filiale)</c:v>
                </c:pt>
                <c:pt idx="7">
                  <c:v>Mit Hilfe des Kundenservices der Versicherung</c:v>
                </c:pt>
              </c:strCache>
            </c:strRef>
          </c:cat>
          <c:val>
            <c:numRef>
              <c:f>Tabelle1!$B$2:$B$9</c:f>
              <c:numCache>
                <c:formatCode>0%</c:formatCode>
                <c:ptCount val="8"/>
                <c:pt idx="0">
                  <c:v>0.56451612903229997</c:v>
                </c:pt>
                <c:pt idx="1">
                  <c:v>0.44032258064520002</c:v>
                </c:pt>
                <c:pt idx="2">
                  <c:v>0.37258064516130002</c:v>
                </c:pt>
                <c:pt idx="3">
                  <c:v>0.3</c:v>
                </c:pt>
                <c:pt idx="4">
                  <c:v>0.29516129032260002</c:v>
                </c:pt>
                <c:pt idx="5">
                  <c:v>0.27258064516129998</c:v>
                </c:pt>
                <c:pt idx="6">
                  <c:v>0.1806451612903</c:v>
                </c:pt>
                <c:pt idx="7">
                  <c:v>0.1806451612903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0CC-1943-BAF1-1BFDCCEA53B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3"/>
        <c:overlap val="-10"/>
        <c:axId val="1205971392"/>
        <c:axId val="898710400"/>
      </c:barChart>
      <c:catAx>
        <c:axId val="1205971392"/>
        <c:scaling>
          <c:orientation val="maxMin"/>
        </c:scaling>
        <c:delete val="1"/>
        <c:axPos val="l"/>
        <c:numFmt formatCode="General" sourceLinked="0"/>
        <c:majorTickMark val="none"/>
        <c:minorTickMark val="none"/>
        <c:tickLblPos val="nextTo"/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atin typeface="+mn-lt"/>
        </a:defRPr>
      </a:pPr>
      <a:endParaRPr lang="en-US"/>
    </a:p>
  </c:txPr>
  <c:externalData r:id="rId4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4865149186634888"/>
          <c:y val="0.19462084248637621"/>
          <c:w val="0.5227985980171177"/>
          <c:h val="0.7657414014699504"/>
        </c:manualLayout>
      </c:layout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Spalte2</c:v>
                </c:pt>
              </c:strCache>
            </c:strRef>
          </c:tx>
          <c:explosion val="2"/>
          <c:dPt>
            <c:idx val="0"/>
            <c:bubble3D val="0"/>
            <c:explosion val="25"/>
            <c:spPr>
              <a:solidFill>
                <a:srgbClr val="71AD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189-5140-8A97-82356D5A81F6}"/>
              </c:ext>
            </c:extLst>
          </c:dPt>
          <c:dPt>
            <c:idx val="1"/>
            <c:bubble3D val="0"/>
            <c:spPr>
              <a:solidFill>
                <a:srgbClr val="F2610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189-5140-8A97-82356D5A81F6}"/>
              </c:ext>
            </c:extLst>
          </c:dPt>
          <c:dPt>
            <c:idx val="2"/>
            <c:bubble3D val="0"/>
            <c:spPr>
              <a:solidFill>
                <a:srgbClr val="FF9E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189-5140-8A97-82356D5A81F6}"/>
              </c:ext>
            </c:extLst>
          </c:dPt>
          <c:dPt>
            <c:idx val="3"/>
            <c:bubble3D val="0"/>
            <c:spPr>
              <a:solidFill>
                <a:srgbClr val="005CA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189-5140-8A97-82356D5A81F6}"/>
              </c:ext>
            </c:extLst>
          </c:dPt>
          <c:dPt>
            <c:idx val="4"/>
            <c:bubble3D val="0"/>
            <c:spPr>
              <a:solidFill>
                <a:srgbClr val="4DA68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189-5140-8A97-82356D5A81F6}"/>
              </c:ext>
            </c:extLst>
          </c:dPt>
          <c:dPt>
            <c:idx val="5"/>
            <c:bubble3D val="0"/>
            <c:spPr>
              <a:solidFill>
                <a:srgbClr val="B3D9C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2189-5140-8A97-82356D5A81F6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2189-5140-8A97-82356D5A81F6}"/>
              </c:ext>
            </c:extLst>
          </c:dPt>
          <c:dPt>
            <c:idx val="7"/>
            <c:bubble3D val="0"/>
            <c:spPr>
              <a:solidFill>
                <a:srgbClr val="A7848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2189-5140-8A97-82356D5A81F6}"/>
              </c:ext>
            </c:extLst>
          </c:dPt>
          <c:dLbls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005CA9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2189-5140-8A97-82356D5A81F6}"/>
                </c:ext>
              </c:extLst>
            </c:dLbl>
            <c:dLbl>
              <c:idx val="5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189-5140-8A97-82356D5A81F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Tabelle1!$A$2:$A$7</c:f>
              <c:strCache>
                <c:ptCount val="6"/>
                <c:pt idx="0">
                  <c:v>Segment 1</c:v>
                </c:pt>
                <c:pt idx="1">
                  <c:v>Segment 2</c:v>
                </c:pt>
                <c:pt idx="2">
                  <c:v>Segment 3</c:v>
                </c:pt>
                <c:pt idx="3">
                  <c:v>Segment 4</c:v>
                </c:pt>
                <c:pt idx="4">
                  <c:v>Segment 5</c:v>
                </c:pt>
                <c:pt idx="5">
                  <c:v>Segment 6</c:v>
                </c:pt>
              </c:strCache>
            </c:strRef>
          </c:cat>
          <c:val>
            <c:numRef>
              <c:f>Tabelle1!$B$2:$B$7</c:f>
              <c:numCache>
                <c:formatCode>0%</c:formatCode>
                <c:ptCount val="6"/>
                <c:pt idx="0">
                  <c:v>0.15</c:v>
                </c:pt>
                <c:pt idx="1">
                  <c:v>0.17</c:v>
                </c:pt>
                <c:pt idx="2">
                  <c:v>0.14000000000000001</c:v>
                </c:pt>
                <c:pt idx="3">
                  <c:v>0.19</c:v>
                </c:pt>
                <c:pt idx="4">
                  <c:v>0.14000000000000001</c:v>
                </c:pt>
                <c:pt idx="5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2189-5140-8A97-82356D5A81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48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de-DE"/>
    </a:p>
  </c:txPr>
  <c:externalData r:id="rId4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4865149186634888"/>
          <c:y val="0.19462084248637621"/>
          <c:w val="0.5227985980171177"/>
          <c:h val="0.7657414014699504"/>
        </c:manualLayout>
      </c:layout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Spalte2</c:v>
                </c:pt>
              </c:strCache>
            </c:strRef>
          </c:tx>
          <c:explosion val="2"/>
          <c:dPt>
            <c:idx val="0"/>
            <c:bubble3D val="0"/>
            <c:explosion val="25"/>
            <c:spPr>
              <a:solidFill>
                <a:srgbClr val="71AD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EAA-7341-9CE6-6689CF784F2E}"/>
              </c:ext>
            </c:extLst>
          </c:dPt>
          <c:dPt>
            <c:idx val="1"/>
            <c:bubble3D val="0"/>
            <c:spPr>
              <a:solidFill>
                <a:srgbClr val="F2610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EAA-7341-9CE6-6689CF784F2E}"/>
              </c:ext>
            </c:extLst>
          </c:dPt>
          <c:dPt>
            <c:idx val="2"/>
            <c:bubble3D val="0"/>
            <c:spPr>
              <a:solidFill>
                <a:srgbClr val="FF9E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EAA-7341-9CE6-6689CF784F2E}"/>
              </c:ext>
            </c:extLst>
          </c:dPt>
          <c:dPt>
            <c:idx val="3"/>
            <c:bubble3D val="0"/>
            <c:spPr>
              <a:solidFill>
                <a:srgbClr val="005CA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EAA-7341-9CE6-6689CF784F2E}"/>
              </c:ext>
            </c:extLst>
          </c:dPt>
          <c:dPt>
            <c:idx val="4"/>
            <c:bubble3D val="0"/>
            <c:spPr>
              <a:solidFill>
                <a:srgbClr val="4DA68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EAA-7341-9CE6-6689CF784F2E}"/>
              </c:ext>
            </c:extLst>
          </c:dPt>
          <c:dPt>
            <c:idx val="5"/>
            <c:bubble3D val="0"/>
            <c:spPr>
              <a:solidFill>
                <a:srgbClr val="B3D9C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4EAA-7341-9CE6-6689CF784F2E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4EAA-7341-9CE6-6689CF784F2E}"/>
              </c:ext>
            </c:extLst>
          </c:dPt>
          <c:dPt>
            <c:idx val="7"/>
            <c:bubble3D val="0"/>
            <c:spPr>
              <a:solidFill>
                <a:srgbClr val="A7848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4EAA-7341-9CE6-6689CF784F2E}"/>
              </c:ext>
            </c:extLst>
          </c:dPt>
          <c:dLbls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005CA9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4EAA-7341-9CE6-6689CF784F2E}"/>
                </c:ext>
              </c:extLst>
            </c:dLbl>
            <c:dLbl>
              <c:idx val="5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EAA-7341-9CE6-6689CF784F2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Tabelle1!$A$2:$A$7</c:f>
              <c:strCache>
                <c:ptCount val="6"/>
                <c:pt idx="0">
                  <c:v>Segment 1</c:v>
                </c:pt>
                <c:pt idx="1">
                  <c:v>Segment 2</c:v>
                </c:pt>
                <c:pt idx="2">
                  <c:v>Segment 3</c:v>
                </c:pt>
                <c:pt idx="3">
                  <c:v>Segment 4</c:v>
                </c:pt>
                <c:pt idx="4">
                  <c:v>Segment 5</c:v>
                </c:pt>
                <c:pt idx="5">
                  <c:v>Segment 6</c:v>
                </c:pt>
              </c:strCache>
            </c:strRef>
          </c:cat>
          <c:val>
            <c:numRef>
              <c:f>Tabelle1!$B$2:$B$7</c:f>
              <c:numCache>
                <c:formatCode>0%</c:formatCode>
                <c:ptCount val="6"/>
                <c:pt idx="0">
                  <c:v>0.15</c:v>
                </c:pt>
                <c:pt idx="1">
                  <c:v>0.17</c:v>
                </c:pt>
                <c:pt idx="2">
                  <c:v>0.14000000000000001</c:v>
                </c:pt>
                <c:pt idx="3">
                  <c:v>0.19</c:v>
                </c:pt>
                <c:pt idx="4">
                  <c:v>0.14000000000000001</c:v>
                </c:pt>
                <c:pt idx="5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EAA-7341-9CE6-6689CF784F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48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de-DE"/>
    </a:p>
  </c:txPr>
  <c:externalData r:id="rId4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6542580761053598"/>
          <c:y val="9.4493088882350348E-2"/>
          <c:w val="0.29023123897783087"/>
          <c:h val="0.8110138222352992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F2610D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Tabelle1!$A$2:$A$7</c:f>
              <c:strCache>
                <c:ptCount val="6"/>
                <c:pt idx="0">
                  <c:v>Unter 1 Jahr</c:v>
                </c:pt>
                <c:pt idx="1">
                  <c:v>1–6 Jahre</c:v>
                </c:pt>
                <c:pt idx="2">
                  <c:v>7–13 Jahre</c:v>
                </c:pt>
                <c:pt idx="3">
                  <c:v>14–17 Jahre</c:v>
                </c:pt>
                <c:pt idx="4">
                  <c:v>18–26 Jahre</c:v>
                </c:pt>
                <c:pt idx="5">
                  <c:v>27 Jahre oder älter</c:v>
                </c:pt>
              </c:strCache>
            </c:strRef>
          </c:cat>
          <c:val>
            <c:numRef>
              <c:f>Tabelle1!$B$2:$B$7</c:f>
              <c:numCache>
                <c:formatCode>0%</c:formatCode>
                <c:ptCount val="6"/>
                <c:pt idx="0">
                  <c:v>1.7441860465120002E-2</c:v>
                </c:pt>
                <c:pt idx="1">
                  <c:v>9.1569767441860003E-2</c:v>
                </c:pt>
                <c:pt idx="2">
                  <c:v>0.1017441860465</c:v>
                </c:pt>
                <c:pt idx="3">
                  <c:v>5.813953488372E-2</c:v>
                </c:pt>
                <c:pt idx="4">
                  <c:v>5.3779069767439999E-2</c:v>
                </c:pt>
                <c:pt idx="5">
                  <c:v>1.8895348837209999E-2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5E3-E849-9EE6-FD5537DA196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overlap val="-10"/>
        <c:axId val="1205971392"/>
        <c:axId val="898710400"/>
      </c:barChart>
      <c:catAx>
        <c:axId val="120597139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F2610D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B74-404B-A987-A6EFB8480789}"/>
                </c:ext>
              </c:extLst>
            </c:dLbl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7BA2-244D-B4B8-71EE32D2BFF7}"/>
                </c:ext>
              </c:extLst>
            </c:dLbl>
            <c:dLbl>
              <c:idx val="3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5B74-404B-A987-A6EFB8480789}"/>
                </c:ext>
              </c:extLst>
            </c:dLbl>
            <c:dLbl>
              <c:idx val="4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5B74-404B-A987-A6EFB8480789}"/>
                </c:ext>
              </c:extLst>
            </c:dLbl>
            <c:dLbl>
              <c:idx val="5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7BA2-244D-B4B8-71EE32D2BFF7}"/>
                </c:ext>
              </c:extLst>
            </c:dLbl>
            <c:dLbl>
              <c:idx val="8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7BA2-244D-B4B8-71EE32D2BFF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Tabelle1!$A$2:$A$10</c:f>
              <c:strCache>
                <c:ptCount val="9"/>
                <c:pt idx="0">
                  <c:v>Wien</c:v>
                </c:pt>
                <c:pt idx="1">
                  <c:v>Niederösterreich</c:v>
                </c:pt>
                <c:pt idx="2">
                  <c:v>Burgenland</c:v>
                </c:pt>
                <c:pt idx="3">
                  <c:v>Steiermark</c:v>
                </c:pt>
                <c:pt idx="4">
                  <c:v>Kärnten</c:v>
                </c:pt>
                <c:pt idx="5">
                  <c:v>Oberösterreich</c:v>
                </c:pt>
                <c:pt idx="6">
                  <c:v>Salzburg</c:v>
                </c:pt>
                <c:pt idx="7">
                  <c:v>Tirol</c:v>
                </c:pt>
                <c:pt idx="8">
                  <c:v>Vorarlberg</c:v>
                </c:pt>
              </c:strCache>
            </c:strRef>
          </c:cat>
          <c:val>
            <c:numRef>
              <c:f>Tabelle1!$B$2:$B$10</c:f>
              <c:numCache>
                <c:formatCode>0%</c:formatCode>
                <c:ptCount val="9"/>
                <c:pt idx="0">
                  <c:v>0.40988372093019998</c:v>
                </c:pt>
                <c:pt idx="1">
                  <c:v>0.15697674418599999</c:v>
                </c:pt>
                <c:pt idx="2">
                  <c:v>1.7441860465120002E-2</c:v>
                </c:pt>
                <c:pt idx="3">
                  <c:v>0.1061046511628</c:v>
                </c:pt>
                <c:pt idx="4">
                  <c:v>3.9244186046509998E-2</c:v>
                </c:pt>
                <c:pt idx="5">
                  <c:v>0.12354651162789999</c:v>
                </c:pt>
                <c:pt idx="6">
                  <c:v>5.6686046511629999E-2</c:v>
                </c:pt>
                <c:pt idx="7">
                  <c:v>6.976744186047E-2</c:v>
                </c:pt>
                <c:pt idx="8">
                  <c:v>2.0348837209299999E-2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74-404B-A987-A6EFB848078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3"/>
        <c:overlap val="-10"/>
        <c:axId val="1205971392"/>
        <c:axId val="898710400"/>
      </c:barChart>
      <c:catAx>
        <c:axId val="120597139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F2610D"/>
            </a:solidFill>
            <a:ln>
              <a:solidFill>
                <a:srgbClr val="F2610D"/>
              </a:solidFill>
            </a:ln>
            <a:effectLst/>
          </c:spPr>
          <c:invertIfNegative val="0"/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13C2-B24F-8919-B942EAABAC03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5DF2-1949-BB1C-B6975CDB969B}"/>
                </c:ext>
              </c:extLst>
            </c:dLbl>
            <c:dLbl>
              <c:idx val="3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13C2-B24F-8919-B942EAABAC03}"/>
                </c:ext>
              </c:extLst>
            </c:dLbl>
            <c:dLbl>
              <c:idx val="4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13C2-B24F-8919-B942EAABAC0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Tabelle1!$A$2:$A$6</c:f>
              <c:strCache>
                <c:ptCount val="5"/>
                <c:pt idx="0">
                  <c:v>18-29 Jahre</c:v>
                </c:pt>
                <c:pt idx="1">
                  <c:v>30-39 Jahre</c:v>
                </c:pt>
                <c:pt idx="2">
                  <c:v>40-49 Jahre</c:v>
                </c:pt>
                <c:pt idx="3">
                  <c:v>50-59 Jahre</c:v>
                </c:pt>
                <c:pt idx="4">
                  <c:v>60-75 Jahre</c:v>
                </c:pt>
              </c:strCache>
            </c:strRef>
          </c:cat>
          <c:val>
            <c:numRef>
              <c:f>Tabelle1!$B$2:$B$6</c:f>
              <c:numCache>
                <c:formatCode>0%</c:formatCode>
                <c:ptCount val="5"/>
                <c:pt idx="0">
                  <c:v>0.2354651162791</c:v>
                </c:pt>
                <c:pt idx="1">
                  <c:v>0.21656976744190001</c:v>
                </c:pt>
                <c:pt idx="2">
                  <c:v>0.2020348837209</c:v>
                </c:pt>
                <c:pt idx="3">
                  <c:v>0.1671511627907</c:v>
                </c:pt>
                <c:pt idx="4">
                  <c:v>0.17877906976739999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3C2-B24F-8919-B942EAABAC0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overlap val="-10"/>
        <c:axId val="1205971392"/>
        <c:axId val="898710400"/>
      </c:barChart>
      <c:catAx>
        <c:axId val="120597139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F2610D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591193635558515"/>
                      <c:h val="0.1823579273505834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2D79-4E4A-B46C-B61FD36AD4CD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392299792847826"/>
                      <c:h val="0.1823579273505834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2D79-4E4A-B46C-B61FD36AD4C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Tabelle1!$A$2:$A$3</c:f>
              <c:strCache>
                <c:ptCount val="2"/>
                <c:pt idx="0">
                  <c:v>Ohne Matura</c:v>
                </c:pt>
                <c:pt idx="1">
                  <c:v>Mit Matura</c:v>
                </c:pt>
              </c:strCache>
            </c:strRef>
          </c:cat>
          <c:val>
            <c:numRef>
              <c:f>Tabelle1!$B$2:$B$3</c:f>
              <c:numCache>
                <c:formatCode>0%</c:formatCode>
                <c:ptCount val="2"/>
                <c:pt idx="0">
                  <c:v>0.53197674418600005</c:v>
                </c:pt>
                <c:pt idx="1">
                  <c:v>0.46802325581400001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9C-2343-B15C-15F3F2C8B3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6"/>
        <c:overlap val="-20"/>
        <c:axId val="855132527"/>
        <c:axId val="854641455"/>
      </c:barChart>
      <c:catAx>
        <c:axId val="855132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54641455"/>
        <c:crosses val="autoZero"/>
        <c:auto val="1"/>
        <c:lblAlgn val="ctr"/>
        <c:lblOffset val="100"/>
        <c:noMultiLvlLbl val="0"/>
      </c:catAx>
      <c:valAx>
        <c:axId val="854641455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8551325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50035281343389426"/>
          <c:y val="2.1010430173637684E-2"/>
          <c:w val="0.40658375299525029"/>
          <c:h val="0.9417701866396439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F2610D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665E-7848-8EC5-06E9915E939C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665E-7848-8EC5-06E9915E939C}"/>
                </c:ext>
              </c:extLst>
            </c:dLbl>
            <c:dLbl>
              <c:idx val="3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665E-7848-8EC5-06E9915E939C}"/>
                </c:ext>
              </c:extLst>
            </c:dLbl>
            <c:dLbl>
              <c:idx val="4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8B46-CD45-9F08-00C30D2A506D}"/>
                </c:ext>
              </c:extLst>
            </c:dLbl>
            <c:dLbl>
              <c:idx val="5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665E-7848-8EC5-06E9915E939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Tabelle1!$A$2:$A$9</c:f>
              <c:strCache>
                <c:ptCount val="8"/>
                <c:pt idx="0">
                  <c:v>Wertpapiere</c:v>
                </c:pt>
                <c:pt idx="1">
                  <c:v>Lebensversicherung/ Pensionsvorsorge</c:v>
                </c:pt>
                <c:pt idx="2">
                  <c:v>Gold/Edelmetalle</c:v>
                </c:pt>
                <c:pt idx="3">
                  <c:v>Bausparvertrag</c:v>
                </c:pt>
                <c:pt idx="4">
                  <c:v>Grundbesitz</c:v>
                </c:pt>
                <c:pt idx="5">
                  <c:v>Kryptowährungen</c:v>
                </c:pt>
                <c:pt idx="6">
                  <c:v>Wertgegenstände</c:v>
                </c:pt>
                <c:pt idx="7">
                  <c:v>Immobilien, die nicht selbst bewohnt werden</c:v>
                </c:pt>
              </c:strCache>
            </c:strRef>
          </c:cat>
          <c:val>
            <c:numRef>
              <c:f>Tabelle1!$B$2:$B$9</c:f>
              <c:numCache>
                <c:formatCode>0%</c:formatCode>
                <c:ptCount val="8"/>
                <c:pt idx="0">
                  <c:v>0.33139534883720001</c:v>
                </c:pt>
                <c:pt idx="1">
                  <c:v>0.32122093023260001</c:v>
                </c:pt>
                <c:pt idx="2">
                  <c:v>0.234011627907</c:v>
                </c:pt>
                <c:pt idx="3">
                  <c:v>0.22819767441860001</c:v>
                </c:pt>
                <c:pt idx="4">
                  <c:v>0.1395348837209</c:v>
                </c:pt>
                <c:pt idx="5">
                  <c:v>0.13808139534880001</c:v>
                </c:pt>
                <c:pt idx="6">
                  <c:v>0.12645348837209999</c:v>
                </c:pt>
                <c:pt idx="7">
                  <c:v>9.3023255813950004E-2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65E-7848-8EC5-06E9915E939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3"/>
        <c:overlap val="-10"/>
        <c:axId val="1205971392"/>
        <c:axId val="898710400"/>
      </c:barChart>
      <c:catAx>
        <c:axId val="120597139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atin typeface="+mn-lt"/>
        </a:defRPr>
      </a:pPr>
      <a:endParaRPr lang="en-US"/>
    </a:p>
  </c:txPr>
  <c:externalData r:id="rId4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7764152777392056"/>
          <c:y val="9.4493088882350348E-2"/>
          <c:w val="0.16807369677015419"/>
          <c:h val="0.8110138222352992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F2610D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6207-1D42-B3B0-BF895D24A8BD}"/>
                </c:ext>
              </c:extLst>
            </c:dLbl>
            <c:dLbl>
              <c:idx val="3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6207-1D42-B3B0-BF895D24A8B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Tabelle1!$A$2:$A$7</c:f>
              <c:strCache>
                <c:ptCount val="6"/>
                <c:pt idx="0">
                  <c:v>1 Person (Single-Haushalt)</c:v>
                </c:pt>
                <c:pt idx="1">
                  <c:v>2 Personen</c:v>
                </c:pt>
                <c:pt idx="2">
                  <c:v>3 Personen</c:v>
                </c:pt>
                <c:pt idx="3">
                  <c:v>4 Personen</c:v>
                </c:pt>
                <c:pt idx="4">
                  <c:v>5 Personen</c:v>
                </c:pt>
                <c:pt idx="5">
                  <c:v>6 Personen oder mehr</c:v>
                </c:pt>
              </c:strCache>
            </c:strRef>
          </c:cat>
          <c:val>
            <c:numRef>
              <c:f>Tabelle1!$B$2:$B$7</c:f>
              <c:numCache>
                <c:formatCode>0%</c:formatCode>
                <c:ptCount val="6"/>
                <c:pt idx="0">
                  <c:v>0.31</c:v>
                </c:pt>
                <c:pt idx="1">
                  <c:v>0.36</c:v>
                </c:pt>
                <c:pt idx="2">
                  <c:v>0.18</c:v>
                </c:pt>
                <c:pt idx="3">
                  <c:v>0.1</c:v>
                </c:pt>
                <c:pt idx="4">
                  <c:v>0.03</c:v>
                </c:pt>
                <c:pt idx="5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5E3-E849-9EE6-FD5537DA196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overlap val="-10"/>
        <c:axId val="1205971392"/>
        <c:axId val="898710400"/>
      </c:barChart>
      <c:catAx>
        <c:axId val="120597139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54187992538243546"/>
          <c:y val="2.1938528630265013E-2"/>
          <c:w val="0.38027425837046841"/>
          <c:h val="0.9105675026503259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F2610D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5AE6-C74C-A3F8-7775D7382285}"/>
                </c:ext>
              </c:extLst>
            </c:dLbl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AE6-C74C-A3F8-7775D7382285}"/>
                </c:ext>
              </c:extLst>
            </c:dLbl>
            <c:dLbl>
              <c:idx val="4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5AE6-C74C-A3F8-7775D738228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Tabelle1!$A$2:$A$6</c:f>
              <c:strCache>
                <c:ptCount val="5"/>
                <c:pt idx="0">
                  <c:v>Auto (Benzin/ Diesel)</c:v>
                </c:pt>
                <c:pt idx="1">
                  <c:v>Fahrrad</c:v>
                </c:pt>
                <c:pt idx="2">
                  <c:v>E-Fahrrad</c:v>
                </c:pt>
                <c:pt idx="3">
                  <c:v>Motorrad (Benzin/ Diesel)</c:v>
                </c:pt>
                <c:pt idx="4">
                  <c:v>E-Auto</c:v>
                </c:pt>
              </c:strCache>
            </c:strRef>
          </c:cat>
          <c:val>
            <c:numRef>
              <c:f>Tabelle1!$B$2:$B$6</c:f>
              <c:numCache>
                <c:formatCode>0%</c:formatCode>
                <c:ptCount val="5"/>
                <c:pt idx="0">
                  <c:v>0.57848837209299997</c:v>
                </c:pt>
                <c:pt idx="1">
                  <c:v>0.31976744186049999</c:v>
                </c:pt>
                <c:pt idx="2">
                  <c:v>0.1119186046512</c:v>
                </c:pt>
                <c:pt idx="3">
                  <c:v>6.8313953488369994E-2</c:v>
                </c:pt>
                <c:pt idx="4">
                  <c:v>7.4127906976740002E-2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65E-7848-8EC5-06E9915E939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3"/>
        <c:overlap val="-10"/>
        <c:axId val="1205971392"/>
        <c:axId val="898710400"/>
      </c:barChart>
      <c:catAx>
        <c:axId val="120597139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atin typeface="+mn-lt"/>
        </a:defRPr>
      </a:pPr>
      <a:endParaRPr lang="en-US"/>
    </a:p>
  </c:txPr>
  <c:externalData r:id="rId4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F2610D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591193635558515"/>
                      <c:h val="0.1823579273505834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1DBF-2D4E-861C-6F9B22CB6514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392299792847826"/>
                      <c:h val="0.1823579273505834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1DBF-2D4E-861C-6F9B22CB651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Tabelle1!$A$2:$A$3</c:f>
              <c:strCache>
                <c:ptCount val="2"/>
                <c:pt idx="0">
                  <c:v>Wohnung</c:v>
                </c:pt>
                <c:pt idx="1">
                  <c:v>Haus</c:v>
                </c:pt>
              </c:strCache>
            </c:strRef>
          </c:cat>
          <c:val>
            <c:numRef>
              <c:f>Tabelle1!$B$2:$B$3</c:f>
              <c:numCache>
                <c:formatCode>0%</c:formatCode>
                <c:ptCount val="2"/>
                <c:pt idx="0">
                  <c:v>0.64</c:v>
                </c:pt>
                <c:pt idx="1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DBF-2D4E-861C-6F9B22CB65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6"/>
        <c:overlap val="-20"/>
        <c:axId val="855132527"/>
        <c:axId val="854641455"/>
      </c:barChart>
      <c:catAx>
        <c:axId val="855132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54641455"/>
        <c:crosses val="autoZero"/>
        <c:auto val="1"/>
        <c:lblAlgn val="ctr"/>
        <c:lblOffset val="100"/>
        <c:noMultiLvlLbl val="0"/>
      </c:catAx>
      <c:valAx>
        <c:axId val="854641455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8551325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F2610D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591193635558515"/>
                      <c:h val="0.1823579273505834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1DBF-2D4E-861C-6F9B22CB6514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392299792847826"/>
                      <c:h val="0.1823579273505834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1DBF-2D4E-861C-6F9B22CB651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Tabelle1!$A$2:$A$3</c:f>
              <c:strCache>
                <c:ptCount val="2"/>
                <c:pt idx="0">
                  <c:v>Eigentum</c:v>
                </c:pt>
                <c:pt idx="1">
                  <c:v>Miete</c:v>
                </c:pt>
              </c:strCache>
            </c:strRef>
          </c:cat>
          <c:val>
            <c:numRef>
              <c:f>Tabelle1!$B$2:$B$3</c:f>
              <c:numCache>
                <c:formatCode>0%</c:formatCode>
                <c:ptCount val="2"/>
                <c:pt idx="0">
                  <c:v>0.4</c:v>
                </c:pt>
                <c:pt idx="1">
                  <c:v>0.59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DBF-2D4E-861C-6F9B22CB65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6"/>
        <c:overlap val="-20"/>
        <c:axId val="855132527"/>
        <c:axId val="854641455"/>
      </c:barChart>
      <c:catAx>
        <c:axId val="855132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54641455"/>
        <c:crosses val="autoZero"/>
        <c:auto val="1"/>
        <c:lblAlgn val="ctr"/>
        <c:lblOffset val="100"/>
        <c:noMultiLvlLbl val="0"/>
      </c:catAx>
      <c:valAx>
        <c:axId val="854641455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8551325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4865149186634888"/>
          <c:y val="0.19462084248637621"/>
          <c:w val="0.5227985980171177"/>
          <c:h val="0.7657414014699504"/>
        </c:manualLayout>
      </c:layout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Spalte2</c:v>
                </c:pt>
              </c:strCache>
            </c:strRef>
          </c:tx>
          <c:explosion val="2"/>
          <c:dPt>
            <c:idx val="0"/>
            <c:bubble3D val="0"/>
            <c:spPr>
              <a:solidFill>
                <a:srgbClr val="71AD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F02-B14A-A584-A7D2B2B34A07}"/>
              </c:ext>
            </c:extLst>
          </c:dPt>
          <c:dPt>
            <c:idx val="1"/>
            <c:bubble3D val="0"/>
            <c:explosion val="25"/>
            <c:spPr>
              <a:solidFill>
                <a:srgbClr val="F2610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F02-B14A-A584-A7D2B2B34A07}"/>
              </c:ext>
            </c:extLst>
          </c:dPt>
          <c:dPt>
            <c:idx val="2"/>
            <c:bubble3D val="0"/>
            <c:spPr>
              <a:solidFill>
                <a:srgbClr val="FF9E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F02-B14A-A584-A7D2B2B34A07}"/>
              </c:ext>
            </c:extLst>
          </c:dPt>
          <c:dPt>
            <c:idx val="3"/>
            <c:bubble3D val="0"/>
            <c:spPr>
              <a:solidFill>
                <a:srgbClr val="005CA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F02-B14A-A584-A7D2B2B34A07}"/>
              </c:ext>
            </c:extLst>
          </c:dPt>
          <c:dPt>
            <c:idx val="4"/>
            <c:bubble3D val="0"/>
            <c:spPr>
              <a:solidFill>
                <a:srgbClr val="4DA68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F02-B14A-A584-A7D2B2B34A07}"/>
              </c:ext>
            </c:extLst>
          </c:dPt>
          <c:dPt>
            <c:idx val="5"/>
            <c:bubble3D val="0"/>
            <c:spPr>
              <a:solidFill>
                <a:srgbClr val="B3D9C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6F02-B14A-A584-A7D2B2B34A07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6F02-B14A-A584-A7D2B2B34A07}"/>
              </c:ext>
            </c:extLst>
          </c:dPt>
          <c:dPt>
            <c:idx val="7"/>
            <c:bubble3D val="0"/>
            <c:spPr>
              <a:solidFill>
                <a:srgbClr val="A7848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6F02-B14A-A584-A7D2B2B34A07}"/>
              </c:ext>
            </c:extLst>
          </c:dPt>
          <c:dLbls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005CA9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6F02-B14A-A584-A7D2B2B34A07}"/>
                </c:ext>
              </c:extLst>
            </c:dLbl>
            <c:dLbl>
              <c:idx val="5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F02-B14A-A584-A7D2B2B34A0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Tabelle1!$A$2:$A$7</c:f>
              <c:strCache>
                <c:ptCount val="6"/>
                <c:pt idx="0">
                  <c:v>Segment 1</c:v>
                </c:pt>
                <c:pt idx="1">
                  <c:v>Segment 2</c:v>
                </c:pt>
                <c:pt idx="2">
                  <c:v>Segment 3</c:v>
                </c:pt>
                <c:pt idx="3">
                  <c:v>Segment 4</c:v>
                </c:pt>
                <c:pt idx="4">
                  <c:v>Segment 5</c:v>
                </c:pt>
                <c:pt idx="5">
                  <c:v>Segment 6</c:v>
                </c:pt>
              </c:strCache>
            </c:strRef>
          </c:cat>
          <c:val>
            <c:numRef>
              <c:f>Tabelle1!$B$2:$B$7</c:f>
              <c:numCache>
                <c:formatCode>0%</c:formatCode>
                <c:ptCount val="6"/>
                <c:pt idx="0">
                  <c:v>0.15</c:v>
                </c:pt>
                <c:pt idx="1">
                  <c:v>0.17</c:v>
                </c:pt>
                <c:pt idx="2">
                  <c:v>0.14000000000000001</c:v>
                </c:pt>
                <c:pt idx="3">
                  <c:v>0.19</c:v>
                </c:pt>
                <c:pt idx="4">
                  <c:v>0.14000000000000001</c:v>
                </c:pt>
                <c:pt idx="5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6F02-B14A-A584-A7D2B2B34A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48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de-DE"/>
    </a:p>
  </c:txPr>
  <c:externalData r:id="rId4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73772057439926131"/>
          <c:y val="9.8189986729943099E-2"/>
          <c:w val="0.22088237031120062"/>
          <c:h val="0.8036200265401137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F2610D"/>
            </a:solidFill>
            <a:ln>
              <a:solidFill>
                <a:srgbClr val="F2610D"/>
              </a:solidFill>
            </a:ln>
            <a:effectLst/>
          </c:spPr>
          <c:invertIfNegative val="0"/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2F23-294E-B277-BC6726CAB491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2F23-294E-B277-BC6726CAB491}"/>
                </c:ext>
              </c:extLst>
            </c:dLbl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2F23-294E-B277-BC6726CAB491}"/>
                </c:ext>
              </c:extLst>
            </c:dLbl>
            <c:dLbl>
              <c:idx val="3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2F23-294E-B277-BC6726CAB49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Tabelle1!$A$2:$A$5</c:f>
              <c:strCache>
                <c:ptCount val="4"/>
                <c:pt idx="0">
                  <c:v>Angestellte/r Versicherungsberater:in</c:v>
                </c:pt>
                <c:pt idx="1">
                  <c:v>Unabhängige/r Versicherungsmakler:in</c:v>
                </c:pt>
                <c:pt idx="2">
                  <c:v>General Agent/General Agentur</c:v>
                </c:pt>
                <c:pt idx="3">
                  <c:v>Kein Berater</c:v>
                </c:pt>
              </c:strCache>
            </c:strRef>
          </c:cat>
          <c:val>
            <c:numRef>
              <c:f>Tabelle1!$B$2:$B$5</c:f>
              <c:numCache>
                <c:formatCode>0%</c:formatCode>
                <c:ptCount val="4"/>
                <c:pt idx="0">
                  <c:v>0.32994186046509999</c:v>
                </c:pt>
                <c:pt idx="1">
                  <c:v>0.12063953488369999</c:v>
                </c:pt>
                <c:pt idx="2">
                  <c:v>3.4883720930229997E-2</c:v>
                </c:pt>
                <c:pt idx="3">
                  <c:v>0.47093023255810001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F23-294E-B277-BC6726CAB49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overlap val="-10"/>
        <c:axId val="1205971392"/>
        <c:axId val="898710400"/>
      </c:barChart>
      <c:catAx>
        <c:axId val="120597139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50642887716531959"/>
          <c:y val="2.1010430173637684E-2"/>
          <c:w val="0.32386721455841422"/>
          <c:h val="0.9417701866396439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F2610D"/>
            </a:solidFill>
            <a:ln>
              <a:noFill/>
            </a:ln>
            <a:effectLst/>
          </c:spPr>
          <c:invertIfNegative val="0"/>
          <c:dLbls>
            <c:dLbl>
              <c:idx val="9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rgbClr val="00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10D1-CE45-8807-518CD6525472}"/>
                </c:ext>
              </c:extLst>
            </c:dLbl>
            <c:dLbl>
              <c:idx val="1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rgbClr val="00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E75D-DE4C-A2BC-BAE2CE5092B7}"/>
                </c:ext>
              </c:extLst>
            </c:dLbl>
            <c:dLbl>
              <c:idx val="1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rgbClr val="00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E75D-DE4C-A2BC-BAE2CE5092B7}"/>
                </c:ext>
              </c:extLst>
            </c:dLbl>
            <c:dLbl>
              <c:idx val="13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rgbClr val="00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E75D-DE4C-A2BC-BAE2CE5092B7}"/>
                </c:ext>
              </c:extLst>
            </c:dLbl>
            <c:dLbl>
              <c:idx val="14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rgbClr val="00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E75D-DE4C-A2BC-BAE2CE5092B7}"/>
                </c:ext>
              </c:extLst>
            </c:dLbl>
            <c:dLbl>
              <c:idx val="15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E75D-DE4C-A2BC-BAE2CE5092B7}"/>
                </c:ext>
              </c:extLst>
            </c:dLbl>
            <c:dLbl>
              <c:idx val="16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rgbClr val="00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E75D-DE4C-A2BC-BAE2CE5092B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FF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Tabelle1!$A$2:$A$18</c:f>
              <c:strCache>
                <c:ptCount val="17"/>
                <c:pt idx="0">
                  <c:v>Haushalt</c:v>
                </c:pt>
                <c:pt idx="1">
                  <c:v>Kfz-Haftpflicht</c:v>
                </c:pt>
                <c:pt idx="2">
                  <c:v>Rechtsschutz</c:v>
                </c:pt>
                <c:pt idx="3">
                  <c:v>Kfz-Kasko</c:v>
                </c:pt>
                <c:pt idx="4">
                  <c:v>Leben/ Pensionsvorsorge</c:v>
                </c:pt>
                <c:pt idx="5">
                  <c:v>Eigenheim</c:v>
                </c:pt>
                <c:pt idx="6">
                  <c:v>Unfall</c:v>
                </c:pt>
                <c:pt idx="7">
                  <c:v>Kranken</c:v>
                </c:pt>
                <c:pt idx="8">
                  <c:v>Ableben</c:v>
                </c:pt>
                <c:pt idx="9">
                  <c:v>Reise</c:v>
                </c:pt>
                <c:pt idx="10">
                  <c:v>Elektronische Geräte</c:v>
                </c:pt>
                <c:pt idx="11">
                  <c:v>Berufsunfähigkeit</c:v>
                </c:pt>
                <c:pt idx="12">
                  <c:v>Motorrad/ Moped</c:v>
                </c:pt>
                <c:pt idx="13">
                  <c:v>Tier</c:v>
                </c:pt>
                <c:pt idx="14">
                  <c:v>(E-)Fahrrad/ Scooter</c:v>
                </c:pt>
                <c:pt idx="15">
                  <c:v>Cyber</c:v>
                </c:pt>
                <c:pt idx="16">
                  <c:v>Pflege</c:v>
                </c:pt>
              </c:strCache>
            </c:strRef>
          </c:cat>
          <c:val>
            <c:numRef>
              <c:f>Tabelle1!$B$2:$B$18</c:f>
              <c:numCache>
                <c:formatCode>0%</c:formatCode>
                <c:ptCount val="17"/>
                <c:pt idx="0">
                  <c:v>0.72</c:v>
                </c:pt>
                <c:pt idx="1">
                  <c:v>0.52</c:v>
                </c:pt>
                <c:pt idx="2">
                  <c:v>0.4</c:v>
                </c:pt>
                <c:pt idx="3">
                  <c:v>0.28999999999999998</c:v>
                </c:pt>
                <c:pt idx="4">
                  <c:v>0.2863372093023</c:v>
                </c:pt>
                <c:pt idx="5">
                  <c:v>0.28197674418599999</c:v>
                </c:pt>
                <c:pt idx="6">
                  <c:v>0.26308139534879998</c:v>
                </c:pt>
                <c:pt idx="7">
                  <c:v>0.24709302325579999</c:v>
                </c:pt>
                <c:pt idx="8">
                  <c:v>0.18023255813950001</c:v>
                </c:pt>
                <c:pt idx="9">
                  <c:v>0.125</c:v>
                </c:pt>
                <c:pt idx="10">
                  <c:v>0.10029069767440001</c:v>
                </c:pt>
                <c:pt idx="11">
                  <c:v>9.3023255813950004E-2</c:v>
                </c:pt>
                <c:pt idx="12">
                  <c:v>8.4302325581399995E-2</c:v>
                </c:pt>
                <c:pt idx="13">
                  <c:v>8.2848837209300003E-2</c:v>
                </c:pt>
                <c:pt idx="14">
                  <c:v>3.3430232558139997E-2</c:v>
                </c:pt>
                <c:pt idx="15">
                  <c:v>3.1976744186050003E-2</c:v>
                </c:pt>
                <c:pt idx="16">
                  <c:v>1.8895348837209999E-2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0D1-CE45-8807-518CD652547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3"/>
        <c:overlap val="-10"/>
        <c:axId val="1205971392"/>
        <c:axId val="898710400"/>
      </c:barChart>
      <c:catAx>
        <c:axId val="120597139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atin typeface="+mn-lt"/>
        </a:defRPr>
      </a:pPr>
      <a:endParaRPr lang="en-US"/>
    </a:p>
  </c:txPr>
  <c:externalData r:id="rId4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336072843374923E-2"/>
          <c:y val="1.018906894733972E-2"/>
          <c:w val="0.77525243759089046"/>
          <c:h val="0.9706271131368950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F2610D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AFBF-6E45-AA64-131BA55EBF0B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10D1-CE45-8807-518CD6525472}"/>
                </c:ext>
              </c:extLst>
            </c:dLbl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10D1-CE45-8807-518CD6525472}"/>
                </c:ext>
              </c:extLst>
            </c:dLbl>
            <c:dLbl>
              <c:idx val="4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ED76-E644-8083-A20A10525136}"/>
                </c:ext>
              </c:extLst>
            </c:dLbl>
            <c:dLbl>
              <c:idx val="5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10D1-CE45-8807-518CD6525472}"/>
                </c:ext>
              </c:extLst>
            </c:dLbl>
            <c:dLbl>
              <c:idx val="7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10D1-CE45-8807-518CD6525472}"/>
                </c:ext>
              </c:extLst>
            </c:dLbl>
            <c:dLbl>
              <c:idx val="1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6584-9C4B-938C-D87E98D7FAB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Tabelle1!$A$2:$A$18</c:f>
              <c:strCache>
                <c:ptCount val="17"/>
                <c:pt idx="0">
                  <c:v>Haushalt</c:v>
                </c:pt>
                <c:pt idx="1">
                  <c:v>Kfz-Haftpflicht</c:v>
                </c:pt>
                <c:pt idx="2">
                  <c:v>Rechtsschutz</c:v>
                </c:pt>
                <c:pt idx="3">
                  <c:v>Kfz-Kasko</c:v>
                </c:pt>
                <c:pt idx="4">
                  <c:v>Leben/ Pensionsvorsorge</c:v>
                </c:pt>
                <c:pt idx="5">
                  <c:v>Eigenheim</c:v>
                </c:pt>
                <c:pt idx="6">
                  <c:v>Unfall</c:v>
                </c:pt>
                <c:pt idx="7">
                  <c:v>Kranken</c:v>
                </c:pt>
                <c:pt idx="8">
                  <c:v>Ableben</c:v>
                </c:pt>
                <c:pt idx="9">
                  <c:v>Reise</c:v>
                </c:pt>
                <c:pt idx="10">
                  <c:v>Elektronische Geräte</c:v>
                </c:pt>
                <c:pt idx="11">
                  <c:v>Berufsunfähigkeit</c:v>
                </c:pt>
                <c:pt idx="12">
                  <c:v>Motorrad/ Moped</c:v>
                </c:pt>
                <c:pt idx="13">
                  <c:v>Tier</c:v>
                </c:pt>
                <c:pt idx="14">
                  <c:v>(E-)Fahrrad/ Scooter</c:v>
                </c:pt>
                <c:pt idx="15">
                  <c:v>Cyber</c:v>
                </c:pt>
                <c:pt idx="16">
                  <c:v>Pflege</c:v>
                </c:pt>
              </c:strCache>
            </c:strRef>
          </c:cat>
          <c:val>
            <c:numRef>
              <c:f>Tabelle1!$B$2:$B$18</c:f>
              <c:numCache>
                <c:formatCode>0%</c:formatCode>
                <c:ptCount val="17"/>
                <c:pt idx="0">
                  <c:v>0.1075581395349</c:v>
                </c:pt>
                <c:pt idx="1">
                  <c:v>9.7383720930229997E-2</c:v>
                </c:pt>
                <c:pt idx="2">
                  <c:v>0.1046511627907</c:v>
                </c:pt>
                <c:pt idx="3">
                  <c:v>7.9941860465120002E-2</c:v>
                </c:pt>
                <c:pt idx="4">
                  <c:v>0.12645348837209999</c:v>
                </c:pt>
                <c:pt idx="5">
                  <c:v>6.976744186047E-2</c:v>
                </c:pt>
                <c:pt idx="6">
                  <c:v>7.7034883720929995E-2</c:v>
                </c:pt>
                <c:pt idx="7">
                  <c:v>0.16279069767439999</c:v>
                </c:pt>
                <c:pt idx="8">
                  <c:v>0.12936046511630001</c:v>
                </c:pt>
                <c:pt idx="9">
                  <c:v>0.12063953488369999</c:v>
                </c:pt>
                <c:pt idx="10">
                  <c:v>8.1395348837210002E-2</c:v>
                </c:pt>
                <c:pt idx="11">
                  <c:v>9.5930232558139997E-2</c:v>
                </c:pt>
                <c:pt idx="12">
                  <c:v>2.4709302325579999E-2</c:v>
                </c:pt>
                <c:pt idx="13">
                  <c:v>6.25E-2</c:v>
                </c:pt>
                <c:pt idx="14">
                  <c:v>2.4709302325579999E-2</c:v>
                </c:pt>
                <c:pt idx="15">
                  <c:v>4.2151162790699997E-2</c:v>
                </c:pt>
                <c:pt idx="16">
                  <c:v>4.7965116279069998E-2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0D1-CE45-8807-518CD652547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3"/>
        <c:overlap val="-10"/>
        <c:axId val="1205971392"/>
        <c:axId val="898710400"/>
      </c:barChart>
      <c:catAx>
        <c:axId val="1205971392"/>
        <c:scaling>
          <c:orientation val="maxMin"/>
        </c:scaling>
        <c:delete val="1"/>
        <c:axPos val="l"/>
        <c:numFmt formatCode="General" sourceLinked="0"/>
        <c:majorTickMark val="none"/>
        <c:minorTickMark val="none"/>
        <c:tickLblPos val="nextTo"/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atin typeface="+mn-lt"/>
        </a:defRPr>
      </a:pPr>
      <a:endParaRPr lang="en-US"/>
    </a:p>
  </c:txPr>
  <c:externalData r:id="rId4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4865149186634888"/>
          <c:y val="0.19462084248637621"/>
          <c:w val="0.5227985980171177"/>
          <c:h val="0.7657414014699504"/>
        </c:manualLayout>
      </c:layout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Spalte2</c:v>
                </c:pt>
              </c:strCache>
            </c:strRef>
          </c:tx>
          <c:explosion val="2"/>
          <c:dPt>
            <c:idx val="0"/>
            <c:bubble3D val="0"/>
            <c:spPr>
              <a:solidFill>
                <a:srgbClr val="71AD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722-8848-857F-2926A6D42823}"/>
              </c:ext>
            </c:extLst>
          </c:dPt>
          <c:dPt>
            <c:idx val="1"/>
            <c:bubble3D val="0"/>
            <c:explosion val="25"/>
            <c:spPr>
              <a:solidFill>
                <a:srgbClr val="F2610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722-8848-857F-2926A6D42823}"/>
              </c:ext>
            </c:extLst>
          </c:dPt>
          <c:dPt>
            <c:idx val="2"/>
            <c:bubble3D val="0"/>
            <c:spPr>
              <a:solidFill>
                <a:srgbClr val="FF9E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722-8848-857F-2926A6D42823}"/>
              </c:ext>
            </c:extLst>
          </c:dPt>
          <c:dPt>
            <c:idx val="3"/>
            <c:bubble3D val="0"/>
            <c:spPr>
              <a:solidFill>
                <a:srgbClr val="005CA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722-8848-857F-2926A6D42823}"/>
              </c:ext>
            </c:extLst>
          </c:dPt>
          <c:dPt>
            <c:idx val="4"/>
            <c:bubble3D val="0"/>
            <c:spPr>
              <a:solidFill>
                <a:srgbClr val="4DA68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722-8848-857F-2926A6D42823}"/>
              </c:ext>
            </c:extLst>
          </c:dPt>
          <c:dPt>
            <c:idx val="5"/>
            <c:bubble3D val="0"/>
            <c:spPr>
              <a:solidFill>
                <a:srgbClr val="B3D9C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C722-8848-857F-2926A6D42823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C722-8848-857F-2926A6D42823}"/>
              </c:ext>
            </c:extLst>
          </c:dPt>
          <c:dPt>
            <c:idx val="7"/>
            <c:bubble3D val="0"/>
            <c:spPr>
              <a:solidFill>
                <a:srgbClr val="A7848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C722-8848-857F-2926A6D42823}"/>
              </c:ext>
            </c:extLst>
          </c:dPt>
          <c:dLbls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005CA9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C722-8848-857F-2926A6D42823}"/>
                </c:ext>
              </c:extLst>
            </c:dLbl>
            <c:dLbl>
              <c:idx val="5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722-8848-857F-2926A6D4282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Tabelle1!$A$2:$A$7</c:f>
              <c:strCache>
                <c:ptCount val="6"/>
                <c:pt idx="0">
                  <c:v>Segment 1</c:v>
                </c:pt>
                <c:pt idx="1">
                  <c:v>Segment 2</c:v>
                </c:pt>
                <c:pt idx="2">
                  <c:v>Segment 3</c:v>
                </c:pt>
                <c:pt idx="3">
                  <c:v>Segment 4</c:v>
                </c:pt>
                <c:pt idx="4">
                  <c:v>Segment 5</c:v>
                </c:pt>
                <c:pt idx="5">
                  <c:v>Segment 6</c:v>
                </c:pt>
              </c:strCache>
            </c:strRef>
          </c:cat>
          <c:val>
            <c:numRef>
              <c:f>Tabelle1!$B$2:$B$7</c:f>
              <c:numCache>
                <c:formatCode>0%</c:formatCode>
                <c:ptCount val="6"/>
                <c:pt idx="0">
                  <c:v>0.15</c:v>
                </c:pt>
                <c:pt idx="1">
                  <c:v>0.17</c:v>
                </c:pt>
                <c:pt idx="2">
                  <c:v>0.14000000000000001</c:v>
                </c:pt>
                <c:pt idx="3">
                  <c:v>0.19</c:v>
                </c:pt>
                <c:pt idx="4">
                  <c:v>0.14000000000000001</c:v>
                </c:pt>
                <c:pt idx="5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C722-8848-857F-2926A6D428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48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de-DE"/>
    </a:p>
  </c:txPr>
  <c:externalData r:id="rId4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72223970038366592"/>
          <c:y val="4.4716248674837013E-2"/>
          <c:w val="0.27776029961633403"/>
          <c:h val="0.9105675026503259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F2610D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B9F-C644-86B4-EFB12340EC94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9B9F-C644-86B4-EFB12340EC94}"/>
                </c:ext>
              </c:extLst>
            </c:dLbl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9B9F-C644-86B4-EFB12340EC94}"/>
                </c:ext>
              </c:extLst>
            </c:dLbl>
            <c:dLbl>
              <c:idx val="4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9B9F-C644-86B4-EFB12340EC94}"/>
                </c:ext>
              </c:extLst>
            </c:dLbl>
            <c:dLbl>
              <c:idx val="6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9B9F-C644-86B4-EFB12340EC94}"/>
                </c:ext>
              </c:extLst>
            </c:dLbl>
            <c:dLbl>
              <c:idx val="7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1341-D643-8721-3A42EE71E4ED}"/>
                </c:ext>
              </c:extLst>
            </c:dLbl>
            <c:dLbl>
              <c:idx val="8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9B9F-C644-86B4-EFB12340EC94}"/>
                </c:ext>
              </c:extLst>
            </c:dLbl>
            <c:dLbl>
              <c:idx val="1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9B9F-C644-86B4-EFB12340EC94}"/>
                </c:ext>
              </c:extLst>
            </c:dLbl>
            <c:dLbl>
              <c:idx val="1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9B9F-C644-86B4-EFB12340EC94}"/>
                </c:ext>
              </c:extLst>
            </c:dLbl>
            <c:dLbl>
              <c:idx val="13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1341-D643-8721-3A42EE71E4E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Tabelle1!$A$2:$A$16</c:f>
              <c:strCache>
                <c:ptCount val="15"/>
                <c:pt idx="0">
                  <c:v>Das Preis-Leistungsverhältnis</c:v>
                </c:pt>
                <c:pt idx="1">
                  <c:v>Die Versicherungsprämie (möglichst geringer Preis für die Versicherung)</c:v>
                </c:pt>
                <c:pt idx="2">
                  <c:v>Die Möglichkeit, online abzuschließen</c:v>
                </c:pt>
                <c:pt idx="3">
                  <c:v>Das Produkt ist umfangreich (hat viele Deckungen)</c:v>
                </c:pt>
                <c:pt idx="4">
                  <c:v>Die Produktinformationen (möglichst klar und transparent: Angebot, Folder, online auf der Webseite)</c:v>
                </c:pt>
                <c:pt idx="5">
                  <c:v>Das Produkt ist flexibel und kann auf mich zugeschnitten werden</c:v>
                </c:pt>
                <c:pt idx="6">
                  <c:v>Bereits positive Erfahrungen mit dem Versicherungsunternehmen gemacht</c:v>
                </c:pt>
                <c:pt idx="7">
                  <c:v>Digitale Services sind vorhanden (Kund:innenportal, Versicherungs-App)</c:v>
                </c:pt>
                <c:pt idx="8">
                  <c:v>Das Produkt beinhaltet relevante Zusatzleistungen (z.B. Assistance-Services als organisatorische Hilfe für bestimmte Situationen, z.B. Pannendienst, medizinische Beratung, Rücktransport nach Unfällen im Ausland, etc.)</c:v>
                </c:pt>
                <c:pt idx="9">
                  <c:v>Das Image des Versicherungsunternehmens (Bekanntheit, guter Ruf)</c:v>
                </c:pt>
                <c:pt idx="10">
                  <c:v>Weiterempfehlung (durch Familie/ Freund:innen/ Bekannte)</c:v>
                </c:pt>
                <c:pt idx="11">
                  <c:v>Der/ die Berater:in/ Makler:in ist kompetent</c:v>
                </c:pt>
                <c:pt idx="12">
                  <c:v>Der/ die Berater:in/ Makler:in ist bereits bekannt und verlässlich</c:v>
                </c:pt>
                <c:pt idx="13">
                  <c:v>Der/ die Berater:in/ Makler:in befindet sich in meiner Nähe</c:v>
                </c:pt>
                <c:pt idx="14">
                  <c:v>Die Berücksichtigung von Nachhaltigkeitsaspekten durch das Versicherungsunternehmen</c:v>
                </c:pt>
              </c:strCache>
            </c:strRef>
          </c:cat>
          <c:val>
            <c:numRef>
              <c:f>Tabelle1!$B$2:$B$16</c:f>
              <c:numCache>
                <c:formatCode>0%</c:formatCode>
                <c:ptCount val="15"/>
                <c:pt idx="0">
                  <c:v>0.67441860465119996</c:v>
                </c:pt>
                <c:pt idx="1">
                  <c:v>0.42877906976739999</c:v>
                </c:pt>
                <c:pt idx="2">
                  <c:v>0.35755813953490001</c:v>
                </c:pt>
                <c:pt idx="3">
                  <c:v>0.3488372093023</c:v>
                </c:pt>
                <c:pt idx="4">
                  <c:v>0.33139534883720001</c:v>
                </c:pt>
                <c:pt idx="5">
                  <c:v>0.31686046511630001</c:v>
                </c:pt>
                <c:pt idx="6">
                  <c:v>0.27034883720929997</c:v>
                </c:pt>
                <c:pt idx="7">
                  <c:v>0.25436046511630001</c:v>
                </c:pt>
                <c:pt idx="8">
                  <c:v>0.2078488372093</c:v>
                </c:pt>
                <c:pt idx="9">
                  <c:v>0.18895348837209999</c:v>
                </c:pt>
                <c:pt idx="10">
                  <c:v>0.1816860465116</c:v>
                </c:pt>
                <c:pt idx="11">
                  <c:v>0.15988372093020001</c:v>
                </c:pt>
                <c:pt idx="12">
                  <c:v>0.1191860465116</c:v>
                </c:pt>
                <c:pt idx="13">
                  <c:v>5.959302325581E-2</c:v>
                </c:pt>
                <c:pt idx="14">
                  <c:v>5.6686046511629999E-2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B9F-C644-86B4-EFB12340EC9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3"/>
        <c:overlap val="-10"/>
        <c:axId val="1205971392"/>
        <c:axId val="898710400"/>
      </c:barChart>
      <c:catAx>
        <c:axId val="1205971392"/>
        <c:scaling>
          <c:orientation val="maxMin"/>
        </c:scaling>
        <c:delete val="1"/>
        <c:axPos val="l"/>
        <c:numFmt formatCode="General" sourceLinked="0"/>
        <c:majorTickMark val="none"/>
        <c:minorTickMark val="none"/>
        <c:tickLblPos val="nextTo"/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atin typeface="+mn-lt"/>
        </a:defRPr>
      </a:pPr>
      <a:endParaRPr lang="en-US"/>
    </a:p>
  </c:txPr>
  <c:externalData r:id="rId4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4280187642499844"/>
          <c:y val="3.3104609139066293E-2"/>
          <c:w val="0.42050125378259218"/>
          <c:h val="0.88682127523918475"/>
        </c:manualLayout>
      </c:layout>
      <c:scatterChart>
        <c:scatterStyle val="lineMarker"/>
        <c:varyColors val="0"/>
        <c:ser>
          <c:idx val="1"/>
          <c:order val="0"/>
          <c:tx>
            <c:strRef>
              <c:f>Tabelle1!$C$1</c:f>
              <c:strCache>
                <c:ptCount val="1"/>
                <c:pt idx="0">
                  <c:v>Segment 1</c:v>
                </c:pt>
              </c:strCache>
            </c:strRef>
          </c:tx>
          <c:spPr>
            <a:ln w="50800" cap="rnd" cmpd="sng" algn="ctr">
              <a:solidFill>
                <a:srgbClr val="F2610D"/>
              </a:solidFill>
              <a:prstDash val="solid"/>
              <a:round/>
            </a:ln>
            <a:effectLst/>
          </c:spPr>
          <c:marker>
            <c:symbol val="diamond"/>
            <c:size val="10"/>
            <c:spPr>
              <a:solidFill>
                <a:srgbClr val="F2610D"/>
              </a:solidFill>
              <a:ln w="6350" cap="flat" cmpd="sng" algn="ctr">
                <a:solidFill>
                  <a:srgbClr val="F2610D"/>
                </a:solidFill>
                <a:prstDash val="solid"/>
                <a:round/>
              </a:ln>
              <a:effectLst/>
            </c:spPr>
          </c:marker>
          <c:dPt>
            <c:idx val="0"/>
            <c:bubble3D val="0"/>
            <c:spPr>
              <a:ln w="50800" cap="rnd" cmpd="sng" algn="ctr">
                <a:solidFill>
                  <a:srgbClr val="F2610D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7D-F54A-8607-F7DEFFC9A532}"/>
              </c:ext>
            </c:extLst>
          </c:dPt>
          <c:dPt>
            <c:idx val="6"/>
            <c:bubble3D val="0"/>
            <c:extLst>
              <c:ext xmlns:c16="http://schemas.microsoft.com/office/drawing/2014/chart" uri="{C3380CC4-5D6E-409C-BE32-E72D297353CC}">
                <c16:uniqueId val="{00000002-867D-F54A-8607-F7DEFFC9A532}"/>
              </c:ext>
            </c:extLst>
          </c:dPt>
          <c:xVal>
            <c:numRef>
              <c:f>Tabelle1!$A$2:$A$25</c:f>
              <c:numCache>
                <c:formatCode>0%</c:formatCode>
                <c:ptCount val="24"/>
                <c:pt idx="0">
                  <c:v>0.77297702297699999</c:v>
                </c:pt>
                <c:pt idx="1">
                  <c:v>0.77472527472529995</c:v>
                </c:pt>
                <c:pt idx="2">
                  <c:v>0.75024975024980001</c:v>
                </c:pt>
                <c:pt idx="3">
                  <c:v>0.62737262737260002</c:v>
                </c:pt>
                <c:pt idx="4">
                  <c:v>0.46978021978020001</c:v>
                </c:pt>
                <c:pt idx="5">
                  <c:v>0.60264735264739999</c:v>
                </c:pt>
                <c:pt idx="6">
                  <c:v>0.55569430569430001</c:v>
                </c:pt>
                <c:pt idx="7">
                  <c:v>0.54470529470530005</c:v>
                </c:pt>
                <c:pt idx="8">
                  <c:v>0.57117882117880003</c:v>
                </c:pt>
                <c:pt idx="9">
                  <c:v>0.4343156843157</c:v>
                </c:pt>
                <c:pt idx="10">
                  <c:v>0.40559440559440002</c:v>
                </c:pt>
                <c:pt idx="11">
                  <c:v>0.267982017982</c:v>
                </c:pt>
                <c:pt idx="12">
                  <c:v>0.8488372093023</c:v>
                </c:pt>
                <c:pt idx="13">
                  <c:v>0.82267441860470003</c:v>
                </c:pt>
                <c:pt idx="14">
                  <c:v>0.79360465116279999</c:v>
                </c:pt>
                <c:pt idx="15">
                  <c:v>0.73255813953490001</c:v>
                </c:pt>
                <c:pt idx="16">
                  <c:v>0.62936046511629995</c:v>
                </c:pt>
                <c:pt idx="17">
                  <c:v>0.50726744186049999</c:v>
                </c:pt>
                <c:pt idx="18">
                  <c:v>0.48255813953490001</c:v>
                </c:pt>
                <c:pt idx="19">
                  <c:v>0.47238372093019998</c:v>
                </c:pt>
                <c:pt idx="20">
                  <c:v>0.45348837209300003</c:v>
                </c:pt>
                <c:pt idx="21">
                  <c:v>0.44912790697670002</c:v>
                </c:pt>
                <c:pt idx="22">
                  <c:v>0.4375</c:v>
                </c:pt>
                <c:pt idx="23">
                  <c:v>0.42441860465120002</c:v>
                </c:pt>
              </c:numCache>
            </c:numRef>
          </c:xVal>
          <c:yVal>
            <c:numRef>
              <c:f>Tabelle1!$C$2:$C$25</c:f>
              <c:numCache>
                <c:formatCode>General</c:formatCode>
                <c:ptCount val="24"/>
                <c:pt idx="12">
                  <c:v>12</c:v>
                </c:pt>
                <c:pt idx="13">
                  <c:v>11</c:v>
                </c:pt>
                <c:pt idx="14">
                  <c:v>10</c:v>
                </c:pt>
                <c:pt idx="15">
                  <c:v>9</c:v>
                </c:pt>
                <c:pt idx="16">
                  <c:v>8</c:v>
                </c:pt>
                <c:pt idx="17">
                  <c:v>7</c:v>
                </c:pt>
                <c:pt idx="18">
                  <c:v>6</c:v>
                </c:pt>
                <c:pt idx="19">
                  <c:v>5</c:v>
                </c:pt>
                <c:pt idx="20">
                  <c:v>4</c:v>
                </c:pt>
                <c:pt idx="21">
                  <c:v>3</c:v>
                </c:pt>
                <c:pt idx="22">
                  <c:v>2</c:v>
                </c:pt>
                <c:pt idx="23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7144-D543-B868-EDEEE9E3A4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6009648"/>
        <c:axId val="-60434272"/>
      </c:scatterChart>
      <c:valAx>
        <c:axId val="186009648"/>
        <c:scaling>
          <c:orientation val="minMax"/>
        </c:scaling>
        <c:delete val="1"/>
        <c:axPos val="t"/>
        <c:numFmt formatCode="0%" sourceLinked="0"/>
        <c:majorTickMark val="none"/>
        <c:minorTickMark val="none"/>
        <c:tickLblPos val="high"/>
        <c:crossAx val="-60434272"/>
        <c:crosses val="max"/>
        <c:crossBetween val="midCat"/>
      </c:valAx>
      <c:valAx>
        <c:axId val="-60434272"/>
        <c:scaling>
          <c:orientation val="minMax"/>
          <c:max val="13.5"/>
          <c:min val="-0.5"/>
        </c:scaling>
        <c:delete val="1"/>
        <c:axPos val="l"/>
        <c:numFmt formatCode="General" sourceLinked="1"/>
        <c:majorTickMark val="out"/>
        <c:minorTickMark val="none"/>
        <c:tickLblPos val="nextTo"/>
        <c:crossAx val="18600964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10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de-DE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6299131684991961"/>
          <c:y val="4.4716248674837013E-2"/>
          <c:w val="0.3700868315008039"/>
          <c:h val="0.9105675026503259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F2610D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70CC-1943-BAF1-1BFDCCEA53BC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0CC-1943-BAF1-1BFDCCEA53BC}"/>
                </c:ext>
              </c:extLst>
            </c:dLbl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70CC-1943-BAF1-1BFDCCEA53BC}"/>
                </c:ext>
              </c:extLst>
            </c:dLbl>
            <c:dLbl>
              <c:idx val="5"/>
              <c:layout>
                <c:manualLayout>
                  <c:x val="0"/>
                  <c:y val="0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0CC-1943-BAF1-1BFDCCEA53BC}"/>
                </c:ext>
              </c:extLst>
            </c:dLbl>
            <c:dLbl>
              <c:idx val="7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1D2F-D741-B308-72811AB02E1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Tabelle1!$A$2:$A$9</c:f>
              <c:strCache>
                <c:ptCount val="8"/>
                <c:pt idx="0">
                  <c:v>Online auf Vergleichsplattformen</c:v>
                </c:pt>
                <c:pt idx="1">
                  <c:v>Auf den Webseiten von Versicherungsanbietern</c:v>
                </c:pt>
                <c:pt idx="2">
                  <c:v>Mittels Online-Suche/ Google</c:v>
                </c:pt>
                <c:pt idx="3">
                  <c:v>Bei meiner Familie/ unter Verwandten</c:v>
                </c:pt>
                <c:pt idx="4">
                  <c:v>Bei Freund:innen/ Bekannten</c:v>
                </c:pt>
                <c:pt idx="5">
                  <c:v>Bei einem/ einer Versicherungsberater:in/ Versicherungsmakler:in/ General Agent:in</c:v>
                </c:pt>
                <c:pt idx="6">
                  <c:v>Mit Hilfe des Kundenservices der Versicherung</c:v>
                </c:pt>
                <c:pt idx="7">
                  <c:v>Direkt beim Standort der Versicherung (z.B. Filiale)</c:v>
                </c:pt>
              </c:strCache>
            </c:strRef>
          </c:cat>
          <c:val>
            <c:numRef>
              <c:f>Tabelle1!$B$2:$B$9</c:f>
              <c:numCache>
                <c:formatCode>0%</c:formatCode>
                <c:ptCount val="8"/>
                <c:pt idx="0">
                  <c:v>0.52034883720930003</c:v>
                </c:pt>
                <c:pt idx="1">
                  <c:v>0.42005813953490001</c:v>
                </c:pt>
                <c:pt idx="2">
                  <c:v>0.36918604651159997</c:v>
                </c:pt>
                <c:pt idx="3">
                  <c:v>0.24127906976739999</c:v>
                </c:pt>
                <c:pt idx="4">
                  <c:v>0.19186046511630001</c:v>
                </c:pt>
                <c:pt idx="5">
                  <c:v>0.1875</c:v>
                </c:pt>
                <c:pt idx="6">
                  <c:v>0.125</c:v>
                </c:pt>
                <c:pt idx="7">
                  <c:v>0.1220930232558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0CC-1943-BAF1-1BFDCCEA53B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3"/>
        <c:overlap val="-10"/>
        <c:axId val="1205971392"/>
        <c:axId val="898710400"/>
      </c:barChart>
      <c:catAx>
        <c:axId val="1205971392"/>
        <c:scaling>
          <c:orientation val="maxMin"/>
        </c:scaling>
        <c:delete val="1"/>
        <c:axPos val="l"/>
        <c:numFmt formatCode="General" sourceLinked="0"/>
        <c:majorTickMark val="none"/>
        <c:minorTickMark val="none"/>
        <c:tickLblPos val="nextTo"/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atin typeface="+mn-lt"/>
        </a:defRPr>
      </a:pPr>
      <a:endParaRPr lang="en-US"/>
    </a:p>
  </c:txPr>
  <c:externalData r:id="rId4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4865149186634888"/>
          <c:y val="0.19462084248637621"/>
          <c:w val="0.5227985980171177"/>
          <c:h val="0.7657414014699504"/>
        </c:manualLayout>
      </c:layout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Spalte2</c:v>
                </c:pt>
              </c:strCache>
            </c:strRef>
          </c:tx>
          <c:explosion val="2"/>
          <c:dPt>
            <c:idx val="0"/>
            <c:bubble3D val="0"/>
            <c:spPr>
              <a:solidFill>
                <a:srgbClr val="71AD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F0F-B44A-92DF-CD894ADB403A}"/>
              </c:ext>
            </c:extLst>
          </c:dPt>
          <c:dPt>
            <c:idx val="1"/>
            <c:bubble3D val="0"/>
            <c:explosion val="25"/>
            <c:spPr>
              <a:solidFill>
                <a:srgbClr val="F2610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F0F-B44A-92DF-CD894ADB403A}"/>
              </c:ext>
            </c:extLst>
          </c:dPt>
          <c:dPt>
            <c:idx val="2"/>
            <c:bubble3D val="0"/>
            <c:spPr>
              <a:solidFill>
                <a:srgbClr val="FF9E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F0F-B44A-92DF-CD894ADB403A}"/>
              </c:ext>
            </c:extLst>
          </c:dPt>
          <c:dPt>
            <c:idx val="3"/>
            <c:bubble3D val="0"/>
            <c:spPr>
              <a:solidFill>
                <a:srgbClr val="005CA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F0F-B44A-92DF-CD894ADB403A}"/>
              </c:ext>
            </c:extLst>
          </c:dPt>
          <c:dPt>
            <c:idx val="4"/>
            <c:bubble3D val="0"/>
            <c:spPr>
              <a:solidFill>
                <a:srgbClr val="4DA68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F0F-B44A-92DF-CD894ADB403A}"/>
              </c:ext>
            </c:extLst>
          </c:dPt>
          <c:dPt>
            <c:idx val="5"/>
            <c:bubble3D val="0"/>
            <c:spPr>
              <a:solidFill>
                <a:srgbClr val="B3D9C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0F0F-B44A-92DF-CD894ADB403A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0F0F-B44A-92DF-CD894ADB403A}"/>
              </c:ext>
            </c:extLst>
          </c:dPt>
          <c:dPt>
            <c:idx val="7"/>
            <c:bubble3D val="0"/>
            <c:spPr>
              <a:solidFill>
                <a:srgbClr val="A7848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0F0F-B44A-92DF-CD894ADB403A}"/>
              </c:ext>
            </c:extLst>
          </c:dPt>
          <c:dLbls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005CA9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0F0F-B44A-92DF-CD894ADB403A}"/>
                </c:ext>
              </c:extLst>
            </c:dLbl>
            <c:dLbl>
              <c:idx val="5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F0F-B44A-92DF-CD894ADB403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Tabelle1!$A$2:$A$7</c:f>
              <c:strCache>
                <c:ptCount val="6"/>
                <c:pt idx="0">
                  <c:v>Segment 1</c:v>
                </c:pt>
                <c:pt idx="1">
                  <c:v>Segment 2</c:v>
                </c:pt>
                <c:pt idx="2">
                  <c:v>Segment 3</c:v>
                </c:pt>
                <c:pt idx="3">
                  <c:v>Segment 4</c:v>
                </c:pt>
                <c:pt idx="4">
                  <c:v>Segment 5</c:v>
                </c:pt>
                <c:pt idx="5">
                  <c:v>Segment 6</c:v>
                </c:pt>
              </c:strCache>
            </c:strRef>
          </c:cat>
          <c:val>
            <c:numRef>
              <c:f>Tabelle1!$B$2:$B$7</c:f>
              <c:numCache>
                <c:formatCode>0%</c:formatCode>
                <c:ptCount val="6"/>
                <c:pt idx="0">
                  <c:v>0.15</c:v>
                </c:pt>
                <c:pt idx="1">
                  <c:v>0.17</c:v>
                </c:pt>
                <c:pt idx="2">
                  <c:v>0.14000000000000001</c:v>
                </c:pt>
                <c:pt idx="3">
                  <c:v>0.19</c:v>
                </c:pt>
                <c:pt idx="4">
                  <c:v>0.14000000000000001</c:v>
                </c:pt>
                <c:pt idx="5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F0F-B44A-92DF-CD894ADB40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48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de-DE"/>
    </a:p>
  </c:txPr>
  <c:externalData r:id="rId4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4865149186634888"/>
          <c:y val="0.19462084248637621"/>
          <c:w val="0.5227985980171177"/>
          <c:h val="0.7657414014699504"/>
        </c:manualLayout>
      </c:layout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Spalte2</c:v>
                </c:pt>
              </c:strCache>
            </c:strRef>
          </c:tx>
          <c:explosion val="2"/>
          <c:dPt>
            <c:idx val="0"/>
            <c:bubble3D val="0"/>
            <c:spPr>
              <a:solidFill>
                <a:srgbClr val="71AD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2FF-434F-B87D-3CF21E437916}"/>
              </c:ext>
            </c:extLst>
          </c:dPt>
          <c:dPt>
            <c:idx val="1"/>
            <c:bubble3D val="0"/>
            <c:explosion val="25"/>
            <c:spPr>
              <a:solidFill>
                <a:srgbClr val="F2610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2FF-434F-B87D-3CF21E437916}"/>
              </c:ext>
            </c:extLst>
          </c:dPt>
          <c:dPt>
            <c:idx val="2"/>
            <c:bubble3D val="0"/>
            <c:spPr>
              <a:solidFill>
                <a:srgbClr val="FF9E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2FF-434F-B87D-3CF21E437916}"/>
              </c:ext>
            </c:extLst>
          </c:dPt>
          <c:dPt>
            <c:idx val="3"/>
            <c:bubble3D val="0"/>
            <c:spPr>
              <a:solidFill>
                <a:srgbClr val="005CA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2FF-434F-B87D-3CF21E437916}"/>
              </c:ext>
            </c:extLst>
          </c:dPt>
          <c:dPt>
            <c:idx val="4"/>
            <c:bubble3D val="0"/>
            <c:spPr>
              <a:solidFill>
                <a:srgbClr val="4DA68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2FF-434F-B87D-3CF21E437916}"/>
              </c:ext>
            </c:extLst>
          </c:dPt>
          <c:dPt>
            <c:idx val="5"/>
            <c:bubble3D val="0"/>
            <c:spPr>
              <a:solidFill>
                <a:srgbClr val="B3D9C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32FF-434F-B87D-3CF21E437916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32FF-434F-B87D-3CF21E437916}"/>
              </c:ext>
            </c:extLst>
          </c:dPt>
          <c:dPt>
            <c:idx val="7"/>
            <c:bubble3D val="0"/>
            <c:spPr>
              <a:solidFill>
                <a:srgbClr val="A7848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32FF-434F-B87D-3CF21E437916}"/>
              </c:ext>
            </c:extLst>
          </c:dPt>
          <c:dLbls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005CA9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32FF-434F-B87D-3CF21E437916}"/>
                </c:ext>
              </c:extLst>
            </c:dLbl>
            <c:dLbl>
              <c:idx val="5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2FF-434F-B87D-3CF21E43791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Tabelle1!$A$2:$A$7</c:f>
              <c:strCache>
                <c:ptCount val="6"/>
                <c:pt idx="0">
                  <c:v>Segment 1</c:v>
                </c:pt>
                <c:pt idx="1">
                  <c:v>Segment 2</c:v>
                </c:pt>
                <c:pt idx="2">
                  <c:v>Segment 3</c:v>
                </c:pt>
                <c:pt idx="3">
                  <c:v>Segment 4</c:v>
                </c:pt>
                <c:pt idx="4">
                  <c:v>Segment 5</c:v>
                </c:pt>
                <c:pt idx="5">
                  <c:v>Segment 6</c:v>
                </c:pt>
              </c:strCache>
            </c:strRef>
          </c:cat>
          <c:val>
            <c:numRef>
              <c:f>Tabelle1!$B$2:$B$7</c:f>
              <c:numCache>
                <c:formatCode>0%</c:formatCode>
                <c:ptCount val="6"/>
                <c:pt idx="0">
                  <c:v>0.15</c:v>
                </c:pt>
                <c:pt idx="1">
                  <c:v>0.17</c:v>
                </c:pt>
                <c:pt idx="2">
                  <c:v>0.14000000000000001</c:v>
                </c:pt>
                <c:pt idx="3">
                  <c:v>0.19</c:v>
                </c:pt>
                <c:pt idx="4">
                  <c:v>0.14000000000000001</c:v>
                </c:pt>
                <c:pt idx="5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2FF-434F-B87D-3CF21E4379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48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de-DE"/>
    </a:p>
  </c:txPr>
  <c:externalData r:id="rId4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6542580761053598"/>
          <c:y val="9.4493088882350348E-2"/>
          <c:w val="0.29023123897783087"/>
          <c:h val="0.8110138222352992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FF9E66"/>
            </a:solidFill>
            <a:ln>
              <a:noFill/>
            </a:ln>
            <a:effectLst/>
          </c:spPr>
          <c:invertIfNegative val="0"/>
          <c:dLbls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FB4C-DB47-9773-888FA2EE877E}"/>
                </c:ext>
              </c:extLst>
            </c:dLbl>
            <c:dLbl>
              <c:idx val="4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FB4C-DB47-9773-888FA2EE877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Tabelle1!$A$2:$A$7</c:f>
              <c:strCache>
                <c:ptCount val="6"/>
                <c:pt idx="0">
                  <c:v>Unter 1 Jahr</c:v>
                </c:pt>
                <c:pt idx="1">
                  <c:v>1–6 Jahre</c:v>
                </c:pt>
                <c:pt idx="2">
                  <c:v>7–13 Jahre</c:v>
                </c:pt>
                <c:pt idx="3">
                  <c:v>14–17 Jahre</c:v>
                </c:pt>
                <c:pt idx="4">
                  <c:v>18–26 Jahre</c:v>
                </c:pt>
                <c:pt idx="5">
                  <c:v>27 Jahre oder älter</c:v>
                </c:pt>
              </c:strCache>
            </c:strRef>
          </c:cat>
          <c:val>
            <c:numRef>
              <c:f>Tabelle1!$B$2:$B$7</c:f>
              <c:numCache>
                <c:formatCode>0%</c:formatCode>
                <c:ptCount val="6"/>
                <c:pt idx="0">
                  <c:v>2.3809523809519999E-2</c:v>
                </c:pt>
                <c:pt idx="1">
                  <c:v>0.13003663003659999</c:v>
                </c:pt>
                <c:pt idx="2">
                  <c:v>0.1080586080586</c:v>
                </c:pt>
                <c:pt idx="3">
                  <c:v>5.8608058608060003E-2</c:v>
                </c:pt>
                <c:pt idx="4">
                  <c:v>4.5787545787550003E-2</c:v>
                </c:pt>
                <c:pt idx="5">
                  <c:v>1.2820512820509999E-2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5E3-E849-9EE6-FD5537DA196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overlap val="-10"/>
        <c:axId val="1205971392"/>
        <c:axId val="898710400"/>
      </c:barChart>
      <c:catAx>
        <c:axId val="120597139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FF9E66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B74-404B-A987-A6EFB8480789}"/>
                </c:ext>
              </c:extLst>
            </c:dLbl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00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7BA2-244D-B4B8-71EE32D2BFF7}"/>
                </c:ext>
              </c:extLst>
            </c:dLbl>
            <c:dLbl>
              <c:idx val="3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5B74-404B-A987-A6EFB8480789}"/>
                </c:ext>
              </c:extLst>
            </c:dLbl>
            <c:dLbl>
              <c:idx val="4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00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5B74-404B-A987-A6EFB8480789}"/>
                </c:ext>
              </c:extLst>
            </c:dLbl>
            <c:dLbl>
              <c:idx val="5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00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7BA2-244D-B4B8-71EE32D2BFF7}"/>
                </c:ext>
              </c:extLst>
            </c:dLbl>
            <c:dLbl>
              <c:idx val="8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00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7BA2-244D-B4B8-71EE32D2BFF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Tabelle1!$A$2:$A$10</c:f>
              <c:strCache>
                <c:ptCount val="9"/>
                <c:pt idx="0">
                  <c:v>Wien</c:v>
                </c:pt>
                <c:pt idx="1">
                  <c:v>Niederösterreich</c:v>
                </c:pt>
                <c:pt idx="2">
                  <c:v>Burgenland</c:v>
                </c:pt>
                <c:pt idx="3">
                  <c:v>Steiermark</c:v>
                </c:pt>
                <c:pt idx="4">
                  <c:v>Kärnten</c:v>
                </c:pt>
                <c:pt idx="5">
                  <c:v>Oberösterreich</c:v>
                </c:pt>
                <c:pt idx="6">
                  <c:v>Salzburg</c:v>
                </c:pt>
                <c:pt idx="7">
                  <c:v>Tirol</c:v>
                </c:pt>
                <c:pt idx="8">
                  <c:v>Vorarlberg</c:v>
                </c:pt>
              </c:strCache>
            </c:strRef>
          </c:cat>
          <c:val>
            <c:numRef>
              <c:f>Tabelle1!$B$2:$B$10</c:f>
              <c:numCache>
                <c:formatCode>0%</c:formatCode>
                <c:ptCount val="9"/>
                <c:pt idx="0">
                  <c:v>0.2765567765568</c:v>
                </c:pt>
                <c:pt idx="1">
                  <c:v>0.16300366300370001</c:v>
                </c:pt>
                <c:pt idx="2">
                  <c:v>3.1135531135530001E-2</c:v>
                </c:pt>
                <c:pt idx="3">
                  <c:v>0.1043956043956</c:v>
                </c:pt>
                <c:pt idx="4">
                  <c:v>6.4102564102560003E-2</c:v>
                </c:pt>
                <c:pt idx="5">
                  <c:v>0.15567765567770001</c:v>
                </c:pt>
                <c:pt idx="6">
                  <c:v>7.3260073260070002E-2</c:v>
                </c:pt>
                <c:pt idx="7">
                  <c:v>9.70695970696E-2</c:v>
                </c:pt>
                <c:pt idx="8">
                  <c:v>3.4798534798529998E-2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74-404B-A987-A6EFB848078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3"/>
        <c:overlap val="-10"/>
        <c:axId val="1205971392"/>
        <c:axId val="898710400"/>
      </c:barChart>
      <c:catAx>
        <c:axId val="120597139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FF9E66"/>
            </a:solidFill>
            <a:ln>
              <a:solidFill>
                <a:srgbClr val="FF9E66"/>
              </a:solidFill>
            </a:ln>
            <a:effectLst/>
          </c:spPr>
          <c:invertIfNegative val="0"/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13C2-B24F-8919-B942EAABAC03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5DF2-1949-BB1C-B6975CDB969B}"/>
                </c:ext>
              </c:extLst>
            </c:dLbl>
            <c:dLbl>
              <c:idx val="3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13C2-B24F-8919-B942EAABAC03}"/>
                </c:ext>
              </c:extLst>
            </c:dLbl>
            <c:dLbl>
              <c:idx val="4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13C2-B24F-8919-B942EAABAC0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Tabelle1!$A$2:$A$6</c:f>
              <c:strCache>
                <c:ptCount val="5"/>
                <c:pt idx="0">
                  <c:v>18-29 Jahre</c:v>
                </c:pt>
                <c:pt idx="1">
                  <c:v>30-39 Jahre</c:v>
                </c:pt>
                <c:pt idx="2">
                  <c:v>40-49 Jahre</c:v>
                </c:pt>
                <c:pt idx="3">
                  <c:v>50-59 Jahre</c:v>
                </c:pt>
                <c:pt idx="4">
                  <c:v>60-75 Jahre</c:v>
                </c:pt>
              </c:strCache>
            </c:strRef>
          </c:cat>
          <c:val>
            <c:numRef>
              <c:f>Tabelle1!$B$2:$B$6</c:f>
              <c:numCache>
                <c:formatCode>0%</c:formatCode>
                <c:ptCount val="5"/>
                <c:pt idx="0">
                  <c:v>0.28021978021979999</c:v>
                </c:pt>
                <c:pt idx="1">
                  <c:v>0.2380952380952</c:v>
                </c:pt>
                <c:pt idx="2">
                  <c:v>0.17032967032970001</c:v>
                </c:pt>
                <c:pt idx="3">
                  <c:v>0.16300366300370001</c:v>
                </c:pt>
                <c:pt idx="4">
                  <c:v>0.1483516483516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3C2-B24F-8919-B942EAABAC0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overlap val="-10"/>
        <c:axId val="1205971392"/>
        <c:axId val="898710400"/>
      </c:barChart>
      <c:catAx>
        <c:axId val="120597139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FF9E66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591193635558515"/>
                      <c:h val="0.1823579273505834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2D79-4E4A-B46C-B61FD36AD4CD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392299792847826"/>
                      <c:h val="0.1823579273505834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2D79-4E4A-B46C-B61FD36AD4C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Tabelle1!$A$2:$A$3</c:f>
              <c:strCache>
                <c:ptCount val="2"/>
                <c:pt idx="0">
                  <c:v>Ohne Matura</c:v>
                </c:pt>
                <c:pt idx="1">
                  <c:v>Mit Matura</c:v>
                </c:pt>
              </c:strCache>
            </c:strRef>
          </c:cat>
          <c:val>
            <c:numRef>
              <c:f>Tabelle1!$B$2:$B$3</c:f>
              <c:numCache>
                <c:formatCode>0%</c:formatCode>
                <c:ptCount val="2"/>
                <c:pt idx="0">
                  <c:v>0.61538461538459999</c:v>
                </c:pt>
                <c:pt idx="1">
                  <c:v>0.38461538461540001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9C-2343-B15C-15F3F2C8B3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6"/>
        <c:overlap val="-20"/>
        <c:axId val="855132527"/>
        <c:axId val="854641455"/>
      </c:barChart>
      <c:catAx>
        <c:axId val="855132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54641455"/>
        <c:crosses val="autoZero"/>
        <c:auto val="1"/>
        <c:lblAlgn val="ctr"/>
        <c:lblOffset val="100"/>
        <c:noMultiLvlLbl val="0"/>
      </c:catAx>
      <c:valAx>
        <c:axId val="854641455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8551325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50035281343389426"/>
          <c:y val="2.1010430173637684E-2"/>
          <c:w val="0.40658375299525029"/>
          <c:h val="0.9417701866396439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FF9E66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665E-7848-8EC5-06E9915E939C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665E-7848-8EC5-06E9915E939C}"/>
                </c:ext>
              </c:extLst>
            </c:dLbl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0744-9C4F-A9F1-3C97668C1396}"/>
                </c:ext>
              </c:extLst>
            </c:dLbl>
            <c:dLbl>
              <c:idx val="5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665E-7848-8EC5-06E9915E939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Tabelle1!$A$2:$A$9</c:f>
              <c:strCache>
                <c:ptCount val="8"/>
                <c:pt idx="0">
                  <c:v>Lebensversicherung/ Pensionsvorsorge</c:v>
                </c:pt>
                <c:pt idx="1">
                  <c:v>Bausparvertrag</c:v>
                </c:pt>
                <c:pt idx="2">
                  <c:v>Wertpapiere</c:v>
                </c:pt>
                <c:pt idx="3">
                  <c:v>Gold/Edelmetalle</c:v>
                </c:pt>
                <c:pt idx="4">
                  <c:v>Grundbesitz</c:v>
                </c:pt>
                <c:pt idx="5">
                  <c:v>Kryptowährungen</c:v>
                </c:pt>
                <c:pt idx="6">
                  <c:v>Wertgegenstände</c:v>
                </c:pt>
                <c:pt idx="7">
                  <c:v>Immobilien, die nicht selbst bewohnt werden</c:v>
                </c:pt>
              </c:strCache>
            </c:strRef>
          </c:cat>
          <c:val>
            <c:numRef>
              <c:f>Tabelle1!$B$2:$B$9</c:f>
              <c:numCache>
                <c:formatCode>0%</c:formatCode>
                <c:ptCount val="8"/>
                <c:pt idx="0">
                  <c:v>0.34798534798530001</c:v>
                </c:pt>
                <c:pt idx="1">
                  <c:v>0.27106227106230002</c:v>
                </c:pt>
                <c:pt idx="2">
                  <c:v>0.2161172161172</c:v>
                </c:pt>
                <c:pt idx="3">
                  <c:v>0.19047619047620001</c:v>
                </c:pt>
                <c:pt idx="4">
                  <c:v>0.16117216117220001</c:v>
                </c:pt>
                <c:pt idx="5">
                  <c:v>0.1336996336996</c:v>
                </c:pt>
                <c:pt idx="6">
                  <c:v>0.10622710622709999</c:v>
                </c:pt>
                <c:pt idx="7">
                  <c:v>9.8901098901100007E-2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65E-7848-8EC5-06E9915E939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3"/>
        <c:overlap val="-10"/>
        <c:axId val="1205971392"/>
        <c:axId val="898710400"/>
      </c:barChart>
      <c:catAx>
        <c:axId val="120597139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atin typeface="+mn-lt"/>
        </a:defRPr>
      </a:pPr>
      <a:endParaRPr lang="en-US"/>
    </a:p>
  </c:txPr>
  <c:externalData r:id="rId4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7764152777392056"/>
          <c:y val="9.4493088882350348E-2"/>
          <c:w val="0.16807369677015419"/>
          <c:h val="0.8110138222352992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FF9E66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Tabelle1!$A$2:$A$7</c:f>
              <c:strCache>
                <c:ptCount val="6"/>
                <c:pt idx="0">
                  <c:v>1 Person (Single-Haushalt)</c:v>
                </c:pt>
                <c:pt idx="1">
                  <c:v>2 Personen</c:v>
                </c:pt>
                <c:pt idx="2">
                  <c:v>3 Personen</c:v>
                </c:pt>
                <c:pt idx="3">
                  <c:v>4 Personen</c:v>
                </c:pt>
                <c:pt idx="4">
                  <c:v>5 Personen</c:v>
                </c:pt>
                <c:pt idx="5">
                  <c:v>6 Personen oder mehr</c:v>
                </c:pt>
              </c:strCache>
            </c:strRef>
          </c:cat>
          <c:val>
            <c:numRef>
              <c:f>Tabelle1!$B$2:$B$7</c:f>
              <c:numCache>
                <c:formatCode>0%</c:formatCode>
                <c:ptCount val="6"/>
                <c:pt idx="0">
                  <c:v>0.2619047619048</c:v>
                </c:pt>
                <c:pt idx="1">
                  <c:v>0.34615384615380002</c:v>
                </c:pt>
                <c:pt idx="2">
                  <c:v>0.1721611721612</c:v>
                </c:pt>
                <c:pt idx="3">
                  <c:v>0.1410256410256</c:v>
                </c:pt>
                <c:pt idx="4">
                  <c:v>5.4945054945049997E-2</c:v>
                </c:pt>
                <c:pt idx="5">
                  <c:v>2.3809523809519999E-2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5E3-E849-9EE6-FD5537DA196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overlap val="-10"/>
        <c:axId val="1205971392"/>
        <c:axId val="898710400"/>
      </c:barChart>
      <c:catAx>
        <c:axId val="120597139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54187992538243546"/>
          <c:y val="2.1938528630265013E-2"/>
          <c:w val="0.38027425837046841"/>
          <c:h val="0.9105675026503259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FF9E66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5AE6-C74C-A3F8-7775D7382285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758D-B640-AB29-8A83473EB9E3}"/>
                </c:ext>
              </c:extLst>
            </c:dLbl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AE6-C74C-A3F8-7775D7382285}"/>
                </c:ext>
              </c:extLst>
            </c:dLbl>
            <c:dLbl>
              <c:idx val="4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5AE6-C74C-A3F8-7775D738228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Tabelle1!$A$2:$A$6</c:f>
              <c:strCache>
                <c:ptCount val="5"/>
                <c:pt idx="0">
                  <c:v>Auto (Benzin/ Diesel)</c:v>
                </c:pt>
                <c:pt idx="1">
                  <c:v>Fahrrad</c:v>
                </c:pt>
                <c:pt idx="2">
                  <c:v>E-Fahrrad</c:v>
                </c:pt>
                <c:pt idx="3">
                  <c:v>E-Auto</c:v>
                </c:pt>
                <c:pt idx="4">
                  <c:v>Motorrad (Benzin/ Diesel)</c:v>
                </c:pt>
              </c:strCache>
            </c:strRef>
          </c:cat>
          <c:val>
            <c:numRef>
              <c:f>Tabelle1!$B$2:$B$6</c:f>
              <c:numCache>
                <c:formatCode>0%</c:formatCode>
                <c:ptCount val="5"/>
                <c:pt idx="0">
                  <c:v>0.62087912087910002</c:v>
                </c:pt>
                <c:pt idx="1">
                  <c:v>0.26373626373629999</c:v>
                </c:pt>
                <c:pt idx="2">
                  <c:v>8.0586080586079994E-2</c:v>
                </c:pt>
                <c:pt idx="3">
                  <c:v>6.0439560439560003E-2</c:v>
                </c:pt>
                <c:pt idx="4">
                  <c:v>3.6630036630039997E-2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65E-7848-8EC5-06E9915E939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3"/>
        <c:overlap val="-10"/>
        <c:axId val="1205971392"/>
        <c:axId val="898710400"/>
      </c:barChart>
      <c:catAx>
        <c:axId val="120597139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atin typeface="+mn-lt"/>
        </a:defRPr>
      </a:pPr>
      <a:endParaRPr lang="en-US"/>
    </a:p>
  </c:txPr>
  <c:externalData r:id="rId4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FF9E66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591193635558515"/>
                      <c:h val="0.1823579273505834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1DBF-2D4E-861C-6F9B22CB6514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392299792847826"/>
                      <c:h val="0.1823579273505834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1DBF-2D4E-861C-6F9B22CB651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Tabelle1!$A$2:$A$3</c:f>
              <c:strCache>
                <c:ptCount val="2"/>
                <c:pt idx="0">
                  <c:v>Wohnung</c:v>
                </c:pt>
                <c:pt idx="1">
                  <c:v>Haus</c:v>
                </c:pt>
              </c:strCache>
            </c:strRef>
          </c:cat>
          <c:val>
            <c:numRef>
              <c:f>Tabelle1!$B$2:$B$3</c:f>
              <c:numCache>
                <c:formatCode>0%</c:formatCode>
                <c:ptCount val="2"/>
                <c:pt idx="0">
                  <c:v>0.55677655677659998</c:v>
                </c:pt>
                <c:pt idx="1">
                  <c:v>0.41025641025639997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DBF-2D4E-861C-6F9B22CB65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6"/>
        <c:overlap val="-20"/>
        <c:axId val="855132527"/>
        <c:axId val="854641455"/>
      </c:barChart>
      <c:catAx>
        <c:axId val="855132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54641455"/>
        <c:crosses val="autoZero"/>
        <c:auto val="1"/>
        <c:lblAlgn val="ctr"/>
        <c:lblOffset val="100"/>
        <c:noMultiLvlLbl val="0"/>
      </c:catAx>
      <c:valAx>
        <c:axId val="854641455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8551325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FF9E66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591193635558515"/>
                      <c:h val="0.1823579273505834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1DBF-2D4E-861C-6F9B22CB6514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392299792847826"/>
                      <c:h val="0.1823579273505834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1DBF-2D4E-861C-6F9B22CB651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Tabelle1!$A$2:$A$3</c:f>
              <c:strCache>
                <c:ptCount val="2"/>
                <c:pt idx="0">
                  <c:v>Eigentum</c:v>
                </c:pt>
                <c:pt idx="1">
                  <c:v>Miete</c:v>
                </c:pt>
              </c:strCache>
            </c:strRef>
          </c:cat>
          <c:val>
            <c:numRef>
              <c:f>Tabelle1!$B$2:$B$3</c:f>
              <c:numCache>
                <c:formatCode>0%</c:formatCode>
                <c:ptCount val="2"/>
                <c:pt idx="0">
                  <c:v>0.44</c:v>
                </c:pt>
                <c:pt idx="1">
                  <c:v>0.52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DBF-2D4E-861C-6F9B22CB65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6"/>
        <c:overlap val="-20"/>
        <c:axId val="855132527"/>
        <c:axId val="854641455"/>
      </c:barChart>
      <c:catAx>
        <c:axId val="855132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54641455"/>
        <c:crosses val="autoZero"/>
        <c:auto val="1"/>
        <c:lblAlgn val="ctr"/>
        <c:lblOffset val="100"/>
        <c:noMultiLvlLbl val="0"/>
      </c:catAx>
      <c:valAx>
        <c:axId val="854641455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8551325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4865149186634888"/>
          <c:y val="0.19462084248637621"/>
          <c:w val="0.5227985980171177"/>
          <c:h val="0.7657414014699504"/>
        </c:manualLayout>
      </c:layout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Spalte2</c:v>
                </c:pt>
              </c:strCache>
            </c:strRef>
          </c:tx>
          <c:explosion val="2"/>
          <c:dPt>
            <c:idx val="0"/>
            <c:bubble3D val="0"/>
            <c:spPr>
              <a:solidFill>
                <a:srgbClr val="71AD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B60-5D40-A987-1E0DE1F72805}"/>
              </c:ext>
            </c:extLst>
          </c:dPt>
          <c:dPt>
            <c:idx val="1"/>
            <c:bubble3D val="0"/>
            <c:spPr>
              <a:solidFill>
                <a:srgbClr val="F2610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B60-5D40-A987-1E0DE1F72805}"/>
              </c:ext>
            </c:extLst>
          </c:dPt>
          <c:dPt>
            <c:idx val="2"/>
            <c:bubble3D val="0"/>
            <c:explosion val="25"/>
            <c:spPr>
              <a:solidFill>
                <a:srgbClr val="FF9E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B60-5D40-A987-1E0DE1F72805}"/>
              </c:ext>
            </c:extLst>
          </c:dPt>
          <c:dPt>
            <c:idx val="3"/>
            <c:bubble3D val="0"/>
            <c:spPr>
              <a:solidFill>
                <a:srgbClr val="005CA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B60-5D40-A987-1E0DE1F72805}"/>
              </c:ext>
            </c:extLst>
          </c:dPt>
          <c:dPt>
            <c:idx val="4"/>
            <c:bubble3D val="0"/>
            <c:spPr>
              <a:solidFill>
                <a:srgbClr val="4DA68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B60-5D40-A987-1E0DE1F72805}"/>
              </c:ext>
            </c:extLst>
          </c:dPt>
          <c:dPt>
            <c:idx val="5"/>
            <c:bubble3D val="0"/>
            <c:spPr>
              <a:solidFill>
                <a:srgbClr val="B3D9C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4B60-5D40-A987-1E0DE1F72805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4B60-5D40-A987-1E0DE1F72805}"/>
              </c:ext>
            </c:extLst>
          </c:dPt>
          <c:dPt>
            <c:idx val="7"/>
            <c:bubble3D val="0"/>
            <c:spPr>
              <a:solidFill>
                <a:srgbClr val="A7848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4B60-5D40-A987-1E0DE1F72805}"/>
              </c:ext>
            </c:extLst>
          </c:dPt>
          <c:dLbls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005CA9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4B60-5D40-A987-1E0DE1F72805}"/>
                </c:ext>
              </c:extLst>
            </c:dLbl>
            <c:dLbl>
              <c:idx val="5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B60-5D40-A987-1E0DE1F7280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Tabelle1!$A$2:$A$7</c:f>
              <c:strCache>
                <c:ptCount val="6"/>
                <c:pt idx="0">
                  <c:v>Segment 1</c:v>
                </c:pt>
                <c:pt idx="1">
                  <c:v>Segment 2</c:v>
                </c:pt>
                <c:pt idx="2">
                  <c:v>Segment 3</c:v>
                </c:pt>
                <c:pt idx="3">
                  <c:v>Segment 4</c:v>
                </c:pt>
                <c:pt idx="4">
                  <c:v>Segment 5</c:v>
                </c:pt>
                <c:pt idx="5">
                  <c:v>Segment 6</c:v>
                </c:pt>
              </c:strCache>
            </c:strRef>
          </c:cat>
          <c:val>
            <c:numRef>
              <c:f>Tabelle1!$B$2:$B$7</c:f>
              <c:numCache>
                <c:formatCode>0%</c:formatCode>
                <c:ptCount val="6"/>
                <c:pt idx="0">
                  <c:v>0.15</c:v>
                </c:pt>
                <c:pt idx="1">
                  <c:v>0.17</c:v>
                </c:pt>
                <c:pt idx="2">
                  <c:v>0.14000000000000001</c:v>
                </c:pt>
                <c:pt idx="3">
                  <c:v>0.19</c:v>
                </c:pt>
                <c:pt idx="4">
                  <c:v>0.14000000000000001</c:v>
                </c:pt>
                <c:pt idx="5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B60-5D40-A987-1E0DE1F728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48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de-DE"/>
    </a:p>
  </c:txPr>
  <c:externalData r:id="rId4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73772057439926131"/>
          <c:y val="9.8189986729943099E-2"/>
          <c:w val="0.22088237031120062"/>
          <c:h val="0.8036200265401137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FF9E66"/>
            </a:solidFill>
            <a:ln>
              <a:solidFill>
                <a:srgbClr val="FF9E66"/>
              </a:solidFill>
            </a:ln>
            <a:effectLst/>
          </c:spPr>
          <c:invertIfNegative val="0"/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00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2F23-294E-B277-BC6726CAB491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2F23-294E-B277-BC6726CAB491}"/>
                </c:ext>
              </c:extLst>
            </c:dLbl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00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2F23-294E-B277-BC6726CAB491}"/>
                </c:ext>
              </c:extLst>
            </c:dLbl>
            <c:dLbl>
              <c:idx val="3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2F23-294E-B277-BC6726CAB49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Tabelle1!$A$2:$A$5</c:f>
              <c:strCache>
                <c:ptCount val="4"/>
                <c:pt idx="0">
                  <c:v>Angestellte/r Versicherungsberater:in</c:v>
                </c:pt>
                <c:pt idx="1">
                  <c:v>Unabhängige/r Versicherungsmakler:in</c:v>
                </c:pt>
                <c:pt idx="2">
                  <c:v>General Agent/General Agentur</c:v>
                </c:pt>
                <c:pt idx="3">
                  <c:v>Kein Berater</c:v>
                </c:pt>
              </c:strCache>
            </c:strRef>
          </c:cat>
          <c:val>
            <c:numRef>
              <c:f>Tabelle1!$B$2:$B$5</c:f>
              <c:numCache>
                <c:formatCode>0%</c:formatCode>
                <c:ptCount val="4"/>
                <c:pt idx="0">
                  <c:v>0.39377289377289998</c:v>
                </c:pt>
                <c:pt idx="1">
                  <c:v>0.17582417582420001</c:v>
                </c:pt>
                <c:pt idx="2">
                  <c:v>5.6776556776560003E-2</c:v>
                </c:pt>
                <c:pt idx="3">
                  <c:v>0.2765567765568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F23-294E-B277-BC6726CAB49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overlap val="-10"/>
        <c:axId val="1205971392"/>
        <c:axId val="898710400"/>
      </c:barChart>
      <c:catAx>
        <c:axId val="120597139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50642887716531959"/>
          <c:y val="2.1010430173637684E-2"/>
          <c:w val="0.32386721455841422"/>
          <c:h val="0.9417701866396439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FF9E66"/>
            </a:solidFill>
            <a:ln>
              <a:noFill/>
            </a:ln>
            <a:effectLst/>
          </c:spPr>
          <c:invertIfNegative val="0"/>
          <c:dLbls>
            <c:dLbl>
              <c:idx val="9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rgbClr val="00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10D1-CE45-8807-518CD6525472}"/>
                </c:ext>
              </c:extLst>
            </c:dLbl>
            <c:dLbl>
              <c:idx val="1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rgbClr val="00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E75D-DE4C-A2BC-BAE2CE5092B7}"/>
                </c:ext>
              </c:extLst>
            </c:dLbl>
            <c:dLbl>
              <c:idx val="1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rgbClr val="00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E75D-DE4C-A2BC-BAE2CE5092B7}"/>
                </c:ext>
              </c:extLst>
            </c:dLbl>
            <c:dLbl>
              <c:idx val="1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rgbClr val="00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007E-A74F-A385-53DBB4867109}"/>
                </c:ext>
              </c:extLst>
            </c:dLbl>
            <c:dLbl>
              <c:idx val="14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E75D-DE4C-A2BC-BAE2CE5092B7}"/>
                </c:ext>
              </c:extLst>
            </c:dLbl>
            <c:dLbl>
              <c:idx val="15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E75D-DE4C-A2BC-BAE2CE5092B7}"/>
                </c:ext>
              </c:extLst>
            </c:dLbl>
            <c:dLbl>
              <c:idx val="16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rgbClr val="00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E75D-DE4C-A2BC-BAE2CE5092B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FF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Tabelle1!$A$2:$A$18</c:f>
              <c:strCache>
                <c:ptCount val="17"/>
                <c:pt idx="0">
                  <c:v>Haushalt</c:v>
                </c:pt>
                <c:pt idx="1">
                  <c:v>Kfz-Haftpflicht</c:v>
                </c:pt>
                <c:pt idx="2">
                  <c:v>Rechtsschutz</c:v>
                </c:pt>
                <c:pt idx="3">
                  <c:v>Kfz-Kasko</c:v>
                </c:pt>
                <c:pt idx="4">
                  <c:v>Eigenheim</c:v>
                </c:pt>
                <c:pt idx="5">
                  <c:v>Unfall</c:v>
                </c:pt>
                <c:pt idx="6">
                  <c:v>Leben/ Pensionsvorsorge</c:v>
                </c:pt>
                <c:pt idx="7">
                  <c:v>Kranken</c:v>
                </c:pt>
                <c:pt idx="8">
                  <c:v>Ableben</c:v>
                </c:pt>
                <c:pt idx="9">
                  <c:v>Reise</c:v>
                </c:pt>
                <c:pt idx="10">
                  <c:v>Berufsunfähigkeit</c:v>
                </c:pt>
                <c:pt idx="11">
                  <c:v>Elektronische Geräte</c:v>
                </c:pt>
                <c:pt idx="12">
                  <c:v>Tier</c:v>
                </c:pt>
                <c:pt idx="13">
                  <c:v>Motorrad/ Moped</c:v>
                </c:pt>
                <c:pt idx="14">
                  <c:v>Pflege</c:v>
                </c:pt>
                <c:pt idx="15">
                  <c:v>Cyber</c:v>
                </c:pt>
                <c:pt idx="16">
                  <c:v>(E-)Fahrrad/ Scooter</c:v>
                </c:pt>
              </c:strCache>
            </c:strRef>
          </c:cat>
          <c:val>
            <c:numRef>
              <c:f>Tabelle1!$B$2:$B$18</c:f>
              <c:numCache>
                <c:formatCode>0%</c:formatCode>
                <c:ptCount val="17"/>
                <c:pt idx="0">
                  <c:v>0.57142857142860004</c:v>
                </c:pt>
                <c:pt idx="1">
                  <c:v>0.52380952380949997</c:v>
                </c:pt>
                <c:pt idx="2">
                  <c:v>0.34249084249079997</c:v>
                </c:pt>
                <c:pt idx="3">
                  <c:v>0.28205128205129998</c:v>
                </c:pt>
                <c:pt idx="4">
                  <c:v>0.2765567765568</c:v>
                </c:pt>
                <c:pt idx="5">
                  <c:v>0.27289377289380001</c:v>
                </c:pt>
                <c:pt idx="6">
                  <c:v>0.23626373626370001</c:v>
                </c:pt>
                <c:pt idx="7">
                  <c:v>0.21245421245419999</c:v>
                </c:pt>
                <c:pt idx="8">
                  <c:v>0.19047619047620001</c:v>
                </c:pt>
                <c:pt idx="9">
                  <c:v>0.1263736263736</c:v>
                </c:pt>
                <c:pt idx="10">
                  <c:v>0.12087912087909999</c:v>
                </c:pt>
                <c:pt idx="11">
                  <c:v>0.1043956043956</c:v>
                </c:pt>
                <c:pt idx="12">
                  <c:v>8.7912087912090001E-2</c:v>
                </c:pt>
                <c:pt idx="13">
                  <c:v>6.5934065934070002E-2</c:v>
                </c:pt>
                <c:pt idx="14">
                  <c:v>3.4798534798529998E-2</c:v>
                </c:pt>
                <c:pt idx="15">
                  <c:v>3.2967032967029998E-2</c:v>
                </c:pt>
                <c:pt idx="16">
                  <c:v>3.1135531135530001E-2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0D1-CE45-8807-518CD652547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3"/>
        <c:overlap val="-10"/>
        <c:axId val="1205971392"/>
        <c:axId val="898710400"/>
      </c:barChart>
      <c:catAx>
        <c:axId val="120597139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atin typeface="+mn-lt"/>
        </a:defRPr>
      </a:pPr>
      <a:endParaRPr lang="en-US"/>
    </a:p>
  </c:txPr>
  <c:externalData r:id="rId4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336072843374923E-2"/>
          <c:y val="1.018906894733972E-2"/>
          <c:w val="0.77525243759089046"/>
          <c:h val="0.9706271131368950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FF9E66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AFBF-6E45-AA64-131BA55EBF0B}"/>
                </c:ext>
              </c:extLst>
            </c:dLbl>
            <c:dLbl>
              <c:idx val="4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ED76-E644-8083-A20A10525136}"/>
                </c:ext>
              </c:extLst>
            </c:dLbl>
            <c:dLbl>
              <c:idx val="15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FF80-104D-AE39-C5A7C413C63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Tabelle1!$A$2:$A$18</c:f>
              <c:strCache>
                <c:ptCount val="17"/>
                <c:pt idx="0">
                  <c:v>Haushalt</c:v>
                </c:pt>
                <c:pt idx="1">
                  <c:v>Kfz-Haftpflicht</c:v>
                </c:pt>
                <c:pt idx="2">
                  <c:v>Rechtsschutz</c:v>
                </c:pt>
                <c:pt idx="3">
                  <c:v>Kfz-Kasko</c:v>
                </c:pt>
                <c:pt idx="4">
                  <c:v>Leben/ Pensionsvorsorge</c:v>
                </c:pt>
                <c:pt idx="5">
                  <c:v>Eigenheim</c:v>
                </c:pt>
                <c:pt idx="6">
                  <c:v>Unfall</c:v>
                </c:pt>
                <c:pt idx="7">
                  <c:v>Kranken</c:v>
                </c:pt>
                <c:pt idx="8">
                  <c:v>Ableben</c:v>
                </c:pt>
                <c:pt idx="9">
                  <c:v>Reise</c:v>
                </c:pt>
                <c:pt idx="10">
                  <c:v>Elektronische Geräte</c:v>
                </c:pt>
                <c:pt idx="11">
                  <c:v>Berufsunfähigkeit</c:v>
                </c:pt>
                <c:pt idx="12">
                  <c:v>Motorrad/ Moped</c:v>
                </c:pt>
                <c:pt idx="13">
                  <c:v>Tier</c:v>
                </c:pt>
                <c:pt idx="14">
                  <c:v>(E-)Fahrrad/ Scooter</c:v>
                </c:pt>
                <c:pt idx="15">
                  <c:v>Cyber</c:v>
                </c:pt>
                <c:pt idx="16">
                  <c:v>Pflege</c:v>
                </c:pt>
              </c:strCache>
            </c:strRef>
          </c:cat>
          <c:val>
            <c:numRef>
              <c:f>Tabelle1!$B$2:$B$18</c:f>
              <c:numCache>
                <c:formatCode>0%</c:formatCode>
                <c:ptCount val="17"/>
                <c:pt idx="0">
                  <c:v>9.5238095238100007E-2</c:v>
                </c:pt>
                <c:pt idx="1">
                  <c:v>9.3406593406589994E-2</c:v>
                </c:pt>
                <c:pt idx="2">
                  <c:v>7.6923076923079994E-2</c:v>
                </c:pt>
                <c:pt idx="3">
                  <c:v>7.5091575091580001E-2</c:v>
                </c:pt>
                <c:pt idx="4">
                  <c:v>6.4102564102560003E-2</c:v>
                </c:pt>
                <c:pt idx="5">
                  <c:v>6.5934065934070002E-2</c:v>
                </c:pt>
                <c:pt idx="6">
                  <c:v>0.10256410256409999</c:v>
                </c:pt>
                <c:pt idx="7">
                  <c:v>0.12820512820509999</c:v>
                </c:pt>
                <c:pt idx="8">
                  <c:v>0.10256410256409999</c:v>
                </c:pt>
                <c:pt idx="9">
                  <c:v>9.3406593406589994E-2</c:v>
                </c:pt>
                <c:pt idx="10">
                  <c:v>0.10622710622709999</c:v>
                </c:pt>
                <c:pt idx="11">
                  <c:v>7.8754578754580001E-2</c:v>
                </c:pt>
                <c:pt idx="12">
                  <c:v>4.5787545787550003E-2</c:v>
                </c:pt>
                <c:pt idx="13">
                  <c:v>3.1135531135530001E-2</c:v>
                </c:pt>
                <c:pt idx="14">
                  <c:v>5.8608058608060003E-2</c:v>
                </c:pt>
                <c:pt idx="15">
                  <c:v>6.4102564102560003E-2</c:v>
                </c:pt>
                <c:pt idx="16">
                  <c:v>2.1978021978019999E-2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0D1-CE45-8807-518CD652547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3"/>
        <c:overlap val="-10"/>
        <c:axId val="1205971392"/>
        <c:axId val="898710400"/>
      </c:barChart>
      <c:catAx>
        <c:axId val="1205971392"/>
        <c:scaling>
          <c:orientation val="maxMin"/>
        </c:scaling>
        <c:delete val="1"/>
        <c:axPos val="l"/>
        <c:numFmt formatCode="General" sourceLinked="0"/>
        <c:majorTickMark val="none"/>
        <c:minorTickMark val="none"/>
        <c:tickLblPos val="nextTo"/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atin typeface="+mn-lt"/>
        </a:defRPr>
      </a:pPr>
      <a:endParaRPr lang="en-US"/>
    </a:p>
  </c:txPr>
  <c:externalData r:id="rId4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4865149186634888"/>
          <c:y val="0.19462084248637621"/>
          <c:w val="0.5227985980171177"/>
          <c:h val="0.7657414014699504"/>
        </c:manualLayout>
      </c:layout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Spalte2</c:v>
                </c:pt>
              </c:strCache>
            </c:strRef>
          </c:tx>
          <c:explosion val="2"/>
          <c:dPt>
            <c:idx val="0"/>
            <c:bubble3D val="0"/>
            <c:spPr>
              <a:solidFill>
                <a:srgbClr val="71AD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841-8B4B-B877-405AD1ED684E}"/>
              </c:ext>
            </c:extLst>
          </c:dPt>
          <c:dPt>
            <c:idx val="1"/>
            <c:bubble3D val="0"/>
            <c:spPr>
              <a:solidFill>
                <a:srgbClr val="F2610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841-8B4B-B877-405AD1ED684E}"/>
              </c:ext>
            </c:extLst>
          </c:dPt>
          <c:dPt>
            <c:idx val="2"/>
            <c:bubble3D val="0"/>
            <c:explosion val="25"/>
            <c:spPr>
              <a:solidFill>
                <a:srgbClr val="FF9E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841-8B4B-B877-405AD1ED684E}"/>
              </c:ext>
            </c:extLst>
          </c:dPt>
          <c:dPt>
            <c:idx val="3"/>
            <c:bubble3D val="0"/>
            <c:spPr>
              <a:solidFill>
                <a:srgbClr val="005CA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841-8B4B-B877-405AD1ED684E}"/>
              </c:ext>
            </c:extLst>
          </c:dPt>
          <c:dPt>
            <c:idx val="4"/>
            <c:bubble3D val="0"/>
            <c:spPr>
              <a:solidFill>
                <a:srgbClr val="4DA68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841-8B4B-B877-405AD1ED684E}"/>
              </c:ext>
            </c:extLst>
          </c:dPt>
          <c:dPt>
            <c:idx val="5"/>
            <c:bubble3D val="0"/>
            <c:spPr>
              <a:solidFill>
                <a:srgbClr val="B3D9C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9841-8B4B-B877-405AD1ED684E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9841-8B4B-B877-405AD1ED684E}"/>
              </c:ext>
            </c:extLst>
          </c:dPt>
          <c:dPt>
            <c:idx val="7"/>
            <c:bubble3D val="0"/>
            <c:spPr>
              <a:solidFill>
                <a:srgbClr val="A7848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9841-8B4B-B877-405AD1ED684E}"/>
              </c:ext>
            </c:extLst>
          </c:dPt>
          <c:dLbls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005CA9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9841-8B4B-B877-405AD1ED684E}"/>
                </c:ext>
              </c:extLst>
            </c:dLbl>
            <c:dLbl>
              <c:idx val="5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841-8B4B-B877-405AD1ED684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Tabelle1!$A$2:$A$7</c:f>
              <c:strCache>
                <c:ptCount val="6"/>
                <c:pt idx="0">
                  <c:v>Segment 1</c:v>
                </c:pt>
                <c:pt idx="1">
                  <c:v>Segment 2</c:v>
                </c:pt>
                <c:pt idx="2">
                  <c:v>Segment 3</c:v>
                </c:pt>
                <c:pt idx="3">
                  <c:v>Segment 4</c:v>
                </c:pt>
                <c:pt idx="4">
                  <c:v>Segment 5</c:v>
                </c:pt>
                <c:pt idx="5">
                  <c:v>Segment 6</c:v>
                </c:pt>
              </c:strCache>
            </c:strRef>
          </c:cat>
          <c:val>
            <c:numRef>
              <c:f>Tabelle1!$B$2:$B$7</c:f>
              <c:numCache>
                <c:formatCode>0%</c:formatCode>
                <c:ptCount val="6"/>
                <c:pt idx="0">
                  <c:v>0.15</c:v>
                </c:pt>
                <c:pt idx="1">
                  <c:v>0.17</c:v>
                </c:pt>
                <c:pt idx="2">
                  <c:v>0.14000000000000001</c:v>
                </c:pt>
                <c:pt idx="3">
                  <c:v>0.19</c:v>
                </c:pt>
                <c:pt idx="4">
                  <c:v>0.14000000000000001</c:v>
                </c:pt>
                <c:pt idx="5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9841-8B4B-B877-405AD1ED68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48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de-DE"/>
    </a:p>
  </c:txPr>
  <c:externalData r:id="rId4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72223970038366592"/>
          <c:y val="4.4716248674837013E-2"/>
          <c:w val="0.27776029961633403"/>
          <c:h val="0.9105675026503259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FF9E6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B9F-C644-86B4-EFB12340EC94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9B9F-C644-86B4-EFB12340EC94}"/>
                </c:ext>
              </c:extLst>
            </c:dLbl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9B9F-C644-86B4-EFB12340EC94}"/>
                </c:ext>
              </c:extLst>
            </c:dLbl>
            <c:dLbl>
              <c:idx val="3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B04E-2849-B1A1-7BDB12889063}"/>
                </c:ext>
              </c:extLst>
            </c:dLbl>
            <c:dLbl>
              <c:idx val="4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9B9F-C644-86B4-EFB12340EC94}"/>
                </c:ext>
              </c:extLst>
            </c:dLbl>
            <c:dLbl>
              <c:idx val="6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9B9F-C644-86B4-EFB12340EC94}"/>
                </c:ext>
              </c:extLst>
            </c:dLbl>
            <c:dLbl>
              <c:idx val="7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1341-D643-8721-3A42EE71E4ED}"/>
                </c:ext>
              </c:extLst>
            </c:dLbl>
            <c:dLbl>
              <c:idx val="9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B04E-2849-B1A1-7BDB12889063}"/>
                </c:ext>
              </c:extLst>
            </c:dLbl>
            <c:dLbl>
              <c:idx val="1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B04E-2849-B1A1-7BDB12889063}"/>
                </c:ext>
              </c:extLst>
            </c:dLbl>
            <c:dLbl>
              <c:idx val="1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9B9F-C644-86B4-EFB12340EC94}"/>
                </c:ext>
              </c:extLst>
            </c:dLbl>
            <c:dLbl>
              <c:idx val="13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1341-D643-8721-3A42EE71E4ED}"/>
                </c:ext>
              </c:extLst>
            </c:dLbl>
            <c:dLbl>
              <c:idx val="14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B04E-2849-B1A1-7BDB1288906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Tabelle1!$A$2:$A$16</c:f>
              <c:strCache>
                <c:ptCount val="15"/>
                <c:pt idx="0">
                  <c:v>Das Preis-Leistungsverhältnis</c:v>
                </c:pt>
                <c:pt idx="1">
                  <c:v>Das Produkt ist flexibel und kann auf mich zugeschnitten werden</c:v>
                </c:pt>
                <c:pt idx="2">
                  <c:v>Bereits positive Erfahrungen mit dem Versicherungsunternehmen gemacht</c:v>
                </c:pt>
                <c:pt idx="3">
                  <c:v>Die Versicherungsprämie (möglichst geringer Preis für die Versicherung)</c:v>
                </c:pt>
                <c:pt idx="4">
                  <c:v>Das Produkt ist umfangreich (hat viele Deckungen)</c:v>
                </c:pt>
                <c:pt idx="5">
                  <c:v>Weiterempfehlung (durch Familie/ Freund:innen/ Bekannte)</c:v>
                </c:pt>
                <c:pt idx="6">
                  <c:v>Die Produktinformationen (möglichst klar und transparent: Angebot, Folder, online auf der Webseite)</c:v>
                </c:pt>
                <c:pt idx="7">
                  <c:v>Der/ die Berater:in/ Makler:in ist kompetent</c:v>
                </c:pt>
                <c:pt idx="8">
                  <c:v>Das Image des Versicherungsunternehmens (Bekanntheit, guter Ruf)</c:v>
                </c:pt>
                <c:pt idx="9">
                  <c:v>Der/ die Berater:in/ Makler:in ist bereits bekannt und verlässlich</c:v>
                </c:pt>
                <c:pt idx="10">
                  <c:v>Der/ die Berater:in/ Makler:in befindet sich in meiner Nähe</c:v>
                </c:pt>
                <c:pt idx="11">
                  <c:v>Die Möglichkeit, online abzuschließen</c:v>
                </c:pt>
                <c:pt idx="12">
                  <c:v>Das Produkt beinhaltet relevante Zusatzleistungen (z.B. Assistance-Services als organisatorische Hilfe für bestimmte Situationen, z.B. Pannendienst, medizinische Beratung, Rücktransport nach Unfällen im Ausland, etc.)</c:v>
                </c:pt>
                <c:pt idx="13">
                  <c:v>Digitale Services sind vorhanden (Kund:innenportal, Versicherungs-App)</c:v>
                </c:pt>
                <c:pt idx="14">
                  <c:v>Die Berücksichtigung von Nachhaltigkeitsaspekten durch das Versicherungsunternehmen</c:v>
                </c:pt>
              </c:strCache>
            </c:strRef>
          </c:cat>
          <c:val>
            <c:numRef>
              <c:f>Tabelle1!$B$2:$B$16</c:f>
              <c:numCache>
                <c:formatCode>0%</c:formatCode>
                <c:ptCount val="15"/>
                <c:pt idx="0">
                  <c:v>0.43589743589739999</c:v>
                </c:pt>
                <c:pt idx="1">
                  <c:v>0.24358974358970001</c:v>
                </c:pt>
                <c:pt idx="2">
                  <c:v>0.24358974358970001</c:v>
                </c:pt>
                <c:pt idx="3">
                  <c:v>0.23443223443219999</c:v>
                </c:pt>
                <c:pt idx="4">
                  <c:v>0.2307692307692</c:v>
                </c:pt>
                <c:pt idx="5">
                  <c:v>0.20329670329669999</c:v>
                </c:pt>
                <c:pt idx="6">
                  <c:v>0.1941391941392</c:v>
                </c:pt>
                <c:pt idx="7">
                  <c:v>0.1868131868132</c:v>
                </c:pt>
                <c:pt idx="8">
                  <c:v>0.18498168498170001</c:v>
                </c:pt>
                <c:pt idx="9">
                  <c:v>0.1648351648352</c:v>
                </c:pt>
                <c:pt idx="10">
                  <c:v>0.15567765567770001</c:v>
                </c:pt>
                <c:pt idx="11">
                  <c:v>0.13186813186810001</c:v>
                </c:pt>
                <c:pt idx="12">
                  <c:v>0.13003663003659999</c:v>
                </c:pt>
                <c:pt idx="13">
                  <c:v>9.3406593406589994E-2</c:v>
                </c:pt>
                <c:pt idx="14">
                  <c:v>7.6923076923079994E-2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B9F-C644-86B4-EFB12340EC9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3"/>
        <c:overlap val="-10"/>
        <c:axId val="1205971392"/>
        <c:axId val="898710400"/>
      </c:barChart>
      <c:catAx>
        <c:axId val="1205971392"/>
        <c:scaling>
          <c:orientation val="maxMin"/>
        </c:scaling>
        <c:delete val="1"/>
        <c:axPos val="l"/>
        <c:numFmt formatCode="General" sourceLinked="0"/>
        <c:majorTickMark val="none"/>
        <c:minorTickMark val="none"/>
        <c:tickLblPos val="nextTo"/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atin typeface="+mn-lt"/>
        </a:defRPr>
      </a:pPr>
      <a:endParaRPr lang="en-US"/>
    </a:p>
  </c:txPr>
  <c:externalData r:id="rId4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4280187642499844"/>
          <c:y val="3.3104609139066293E-2"/>
          <c:w val="0.42050125378259218"/>
          <c:h val="0.88682127523918475"/>
        </c:manualLayout>
      </c:layout>
      <c:scatterChart>
        <c:scatterStyle val="lineMarker"/>
        <c:varyColors val="0"/>
        <c:ser>
          <c:idx val="1"/>
          <c:order val="0"/>
          <c:tx>
            <c:strRef>
              <c:f>Tabelle1!$C$1</c:f>
              <c:strCache>
                <c:ptCount val="1"/>
                <c:pt idx="0">
                  <c:v>Segment 1</c:v>
                </c:pt>
              </c:strCache>
            </c:strRef>
          </c:tx>
          <c:spPr>
            <a:ln w="50800" cap="rnd" cmpd="sng" algn="ctr">
              <a:solidFill>
                <a:srgbClr val="FF9E66"/>
              </a:solidFill>
              <a:prstDash val="solid"/>
              <a:round/>
            </a:ln>
            <a:effectLst/>
          </c:spPr>
          <c:marker>
            <c:symbol val="diamond"/>
            <c:size val="10"/>
            <c:spPr>
              <a:solidFill>
                <a:srgbClr val="FF9E66"/>
              </a:solidFill>
              <a:ln w="6350" cap="flat" cmpd="sng" algn="ctr">
                <a:solidFill>
                  <a:srgbClr val="FF9E66"/>
                </a:solidFill>
                <a:prstDash val="solid"/>
                <a:round/>
              </a:ln>
              <a:effectLst/>
            </c:spPr>
          </c:marker>
          <c:dPt>
            <c:idx val="0"/>
            <c:bubble3D val="0"/>
            <c:spPr>
              <a:ln w="50800" cap="rnd" cmpd="sng" algn="ctr">
                <a:solidFill>
                  <a:srgbClr val="FF9E66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7D-F54A-8607-F7DEFFC9A532}"/>
              </c:ext>
            </c:extLst>
          </c:dPt>
          <c:dPt>
            <c:idx val="6"/>
            <c:bubble3D val="0"/>
            <c:extLst>
              <c:ext xmlns:c16="http://schemas.microsoft.com/office/drawing/2014/chart" uri="{C3380CC4-5D6E-409C-BE32-E72D297353CC}">
                <c16:uniqueId val="{00000002-867D-F54A-8607-F7DEFFC9A532}"/>
              </c:ext>
            </c:extLst>
          </c:dPt>
          <c:xVal>
            <c:numRef>
              <c:f>Tabelle1!$A$2:$A$25</c:f>
              <c:numCache>
                <c:formatCode>0%</c:formatCode>
                <c:ptCount val="24"/>
                <c:pt idx="0">
                  <c:v>0.77297702297699999</c:v>
                </c:pt>
                <c:pt idx="1">
                  <c:v>0.77472527472529995</c:v>
                </c:pt>
                <c:pt idx="2">
                  <c:v>0.75024975024980001</c:v>
                </c:pt>
                <c:pt idx="3">
                  <c:v>0.62737262737260002</c:v>
                </c:pt>
                <c:pt idx="4">
                  <c:v>0.46978021978020001</c:v>
                </c:pt>
                <c:pt idx="5">
                  <c:v>0.60264735264739999</c:v>
                </c:pt>
                <c:pt idx="6">
                  <c:v>0.55569430569430001</c:v>
                </c:pt>
                <c:pt idx="7">
                  <c:v>0.54470529470530005</c:v>
                </c:pt>
                <c:pt idx="8">
                  <c:v>0.57117882117880003</c:v>
                </c:pt>
                <c:pt idx="9">
                  <c:v>0.4343156843157</c:v>
                </c:pt>
                <c:pt idx="10">
                  <c:v>0.40559440559440002</c:v>
                </c:pt>
                <c:pt idx="11">
                  <c:v>0.267982017982</c:v>
                </c:pt>
                <c:pt idx="12">
                  <c:v>0.64652014652010004</c:v>
                </c:pt>
                <c:pt idx="13">
                  <c:v>0.62820512820509999</c:v>
                </c:pt>
                <c:pt idx="14">
                  <c:v>0.60805860805860001</c:v>
                </c:pt>
                <c:pt idx="15">
                  <c:v>0.57875457875460001</c:v>
                </c:pt>
                <c:pt idx="16">
                  <c:v>0.56410256410259996</c:v>
                </c:pt>
                <c:pt idx="17">
                  <c:v>0.55128205128209995</c:v>
                </c:pt>
                <c:pt idx="18">
                  <c:v>0.49633699633700001</c:v>
                </c:pt>
                <c:pt idx="19">
                  <c:v>0.48901098901099999</c:v>
                </c:pt>
                <c:pt idx="20">
                  <c:v>0.48717948717949999</c:v>
                </c:pt>
                <c:pt idx="21">
                  <c:v>0.48717948717949999</c:v>
                </c:pt>
                <c:pt idx="22">
                  <c:v>0.45787545787549999</c:v>
                </c:pt>
                <c:pt idx="23">
                  <c:v>0.36263736263739998</c:v>
                </c:pt>
              </c:numCache>
            </c:numRef>
          </c:xVal>
          <c:yVal>
            <c:numRef>
              <c:f>Tabelle1!$C$2:$C$25</c:f>
              <c:numCache>
                <c:formatCode>General</c:formatCode>
                <c:ptCount val="24"/>
                <c:pt idx="12">
                  <c:v>12</c:v>
                </c:pt>
                <c:pt idx="13">
                  <c:v>11</c:v>
                </c:pt>
                <c:pt idx="14">
                  <c:v>10</c:v>
                </c:pt>
                <c:pt idx="15">
                  <c:v>9</c:v>
                </c:pt>
                <c:pt idx="16">
                  <c:v>8</c:v>
                </c:pt>
                <c:pt idx="17">
                  <c:v>7</c:v>
                </c:pt>
                <c:pt idx="18">
                  <c:v>6</c:v>
                </c:pt>
                <c:pt idx="19">
                  <c:v>5</c:v>
                </c:pt>
                <c:pt idx="20">
                  <c:v>4</c:v>
                </c:pt>
                <c:pt idx="21">
                  <c:v>3</c:v>
                </c:pt>
                <c:pt idx="22">
                  <c:v>2</c:v>
                </c:pt>
                <c:pt idx="23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7144-D543-B868-EDEEE9E3A4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6009648"/>
        <c:axId val="-60434272"/>
      </c:scatterChart>
      <c:valAx>
        <c:axId val="186009648"/>
        <c:scaling>
          <c:orientation val="minMax"/>
        </c:scaling>
        <c:delete val="1"/>
        <c:axPos val="t"/>
        <c:numFmt formatCode="0%" sourceLinked="0"/>
        <c:majorTickMark val="none"/>
        <c:minorTickMark val="none"/>
        <c:tickLblPos val="high"/>
        <c:crossAx val="-60434272"/>
        <c:crosses val="max"/>
        <c:crossBetween val="midCat"/>
      </c:valAx>
      <c:valAx>
        <c:axId val="-60434272"/>
        <c:scaling>
          <c:orientation val="minMax"/>
          <c:max val="13.5"/>
          <c:min val="-0.5"/>
        </c:scaling>
        <c:delete val="1"/>
        <c:axPos val="l"/>
        <c:numFmt formatCode="General" sourceLinked="1"/>
        <c:majorTickMark val="out"/>
        <c:minorTickMark val="none"/>
        <c:tickLblPos val="nextTo"/>
        <c:crossAx val="18600964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10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de-DE"/>
    </a:p>
  </c:txPr>
  <c:externalData r:id="rId3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6299131684991961"/>
          <c:y val="4.4716248674837013E-2"/>
          <c:w val="0.3700868315008039"/>
          <c:h val="0.9105675026503259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FF9E66"/>
            </a:solidFill>
            <a:ln>
              <a:noFill/>
            </a:ln>
            <a:effectLst/>
          </c:spPr>
          <c:invertIfNegative val="0"/>
          <c:dLbls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0CC-1943-BAF1-1BFDCCEA53BC}"/>
                </c:ext>
              </c:extLst>
            </c:dLbl>
            <c:dLbl>
              <c:idx val="5"/>
              <c:layout>
                <c:manualLayout>
                  <c:x val="0"/>
                  <c:y val="0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rgbClr val="4DA685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0CC-1943-BAF1-1BFDCCEA53B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Tabelle1!$A$2:$A$9</c:f>
              <c:strCache>
                <c:ptCount val="8"/>
                <c:pt idx="0">
                  <c:v>Online auf Vergleichsplattformen</c:v>
                </c:pt>
                <c:pt idx="1">
                  <c:v>Bei einem/ einer Versicherungsberater:in/ Versicherungsmakler:in/ General Agent:in</c:v>
                </c:pt>
                <c:pt idx="2">
                  <c:v>Bei meiner Familie/ unter Verwandten</c:v>
                </c:pt>
                <c:pt idx="3">
                  <c:v>Auf den Webseiten von Versicherungsanbietern</c:v>
                </c:pt>
                <c:pt idx="4">
                  <c:v>Bei Freund:innen/ Bekannten</c:v>
                </c:pt>
                <c:pt idx="5">
                  <c:v>Mit Hilfe des Kundenservices der Versicherung</c:v>
                </c:pt>
                <c:pt idx="6">
                  <c:v>Direkt beim Standort der Versicherung (z.B. Filiale)</c:v>
                </c:pt>
                <c:pt idx="7">
                  <c:v>Mittels Online-Suche/ Google</c:v>
                </c:pt>
              </c:strCache>
            </c:strRef>
          </c:cat>
          <c:val>
            <c:numRef>
              <c:f>Tabelle1!$B$2:$B$9</c:f>
              <c:numCache>
                <c:formatCode>0%</c:formatCode>
                <c:ptCount val="8"/>
                <c:pt idx="0">
                  <c:v>0.27106227106230002</c:v>
                </c:pt>
                <c:pt idx="1">
                  <c:v>0.22893772893770001</c:v>
                </c:pt>
                <c:pt idx="2">
                  <c:v>0.22527472527469999</c:v>
                </c:pt>
                <c:pt idx="3">
                  <c:v>0.21062271062269999</c:v>
                </c:pt>
                <c:pt idx="4">
                  <c:v>0.19230769230770001</c:v>
                </c:pt>
                <c:pt idx="5">
                  <c:v>0.18864468864469999</c:v>
                </c:pt>
                <c:pt idx="6">
                  <c:v>0.18864468864469999</c:v>
                </c:pt>
                <c:pt idx="7">
                  <c:v>0.1868131868132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0CC-1943-BAF1-1BFDCCEA53B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3"/>
        <c:overlap val="-10"/>
        <c:axId val="1205971392"/>
        <c:axId val="898710400"/>
      </c:barChart>
      <c:catAx>
        <c:axId val="1205971392"/>
        <c:scaling>
          <c:orientation val="maxMin"/>
        </c:scaling>
        <c:delete val="1"/>
        <c:axPos val="l"/>
        <c:numFmt formatCode="General" sourceLinked="0"/>
        <c:majorTickMark val="none"/>
        <c:minorTickMark val="none"/>
        <c:tickLblPos val="nextTo"/>
        <c:crossAx val="898710400"/>
        <c:crosses val="autoZero"/>
        <c:auto val="1"/>
        <c:lblAlgn val="ctr"/>
        <c:lblOffset val="100"/>
        <c:noMultiLvlLbl val="0"/>
      </c:catAx>
      <c:valAx>
        <c:axId val="898710400"/>
        <c:scaling>
          <c:orientation val="minMax"/>
          <c:max val="1"/>
        </c:scaling>
        <c:delete val="1"/>
        <c:axPos val="b"/>
        <c:numFmt formatCode="0" sourceLinked="0"/>
        <c:majorTickMark val="out"/>
        <c:minorTickMark val="none"/>
        <c:tickLblPos val="nextTo"/>
        <c:crossAx val="1205971392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atin typeface="+mn-lt"/>
        </a:defRPr>
      </a:pPr>
      <a:endParaRPr lang="en-US"/>
    </a:p>
  </c:txPr>
  <c:externalData r:id="rId4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4865149186634888"/>
          <c:y val="0.19462084248637621"/>
          <c:w val="0.5227985980171177"/>
          <c:h val="0.7657414014699504"/>
        </c:manualLayout>
      </c:layout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Spalte2</c:v>
                </c:pt>
              </c:strCache>
            </c:strRef>
          </c:tx>
          <c:explosion val="2"/>
          <c:dPt>
            <c:idx val="0"/>
            <c:bubble3D val="0"/>
            <c:spPr>
              <a:solidFill>
                <a:srgbClr val="71AD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ADE-C649-8847-51FA34E23B88}"/>
              </c:ext>
            </c:extLst>
          </c:dPt>
          <c:dPt>
            <c:idx val="1"/>
            <c:bubble3D val="0"/>
            <c:spPr>
              <a:solidFill>
                <a:srgbClr val="F2610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ADE-C649-8847-51FA34E23B88}"/>
              </c:ext>
            </c:extLst>
          </c:dPt>
          <c:dPt>
            <c:idx val="2"/>
            <c:bubble3D val="0"/>
            <c:explosion val="25"/>
            <c:spPr>
              <a:solidFill>
                <a:srgbClr val="FF9E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ADE-C649-8847-51FA34E23B88}"/>
              </c:ext>
            </c:extLst>
          </c:dPt>
          <c:dPt>
            <c:idx val="3"/>
            <c:bubble3D val="0"/>
            <c:spPr>
              <a:solidFill>
                <a:srgbClr val="005CA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ADE-C649-8847-51FA34E23B88}"/>
              </c:ext>
            </c:extLst>
          </c:dPt>
          <c:dPt>
            <c:idx val="4"/>
            <c:bubble3D val="0"/>
            <c:spPr>
              <a:solidFill>
                <a:srgbClr val="4DA68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ADE-C649-8847-51FA34E23B88}"/>
              </c:ext>
            </c:extLst>
          </c:dPt>
          <c:dPt>
            <c:idx val="5"/>
            <c:bubble3D val="0"/>
            <c:spPr>
              <a:solidFill>
                <a:srgbClr val="B3D9C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6ADE-C649-8847-51FA34E23B88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6ADE-C649-8847-51FA34E23B88}"/>
              </c:ext>
            </c:extLst>
          </c:dPt>
          <c:dPt>
            <c:idx val="7"/>
            <c:bubble3D val="0"/>
            <c:spPr>
              <a:solidFill>
                <a:srgbClr val="A7848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6ADE-C649-8847-51FA34E23B88}"/>
              </c:ext>
            </c:extLst>
          </c:dPt>
          <c:dLbls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005CA9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6ADE-C649-8847-51FA34E23B88}"/>
                </c:ext>
              </c:extLst>
            </c:dLbl>
            <c:dLbl>
              <c:idx val="5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ADE-C649-8847-51FA34E23B8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Tabelle1!$A$2:$A$7</c:f>
              <c:strCache>
                <c:ptCount val="6"/>
                <c:pt idx="0">
                  <c:v>Segment 1</c:v>
                </c:pt>
                <c:pt idx="1">
                  <c:v>Segment 2</c:v>
                </c:pt>
                <c:pt idx="2">
                  <c:v>Segment 3</c:v>
                </c:pt>
                <c:pt idx="3">
                  <c:v>Segment 4</c:v>
                </c:pt>
                <c:pt idx="4">
                  <c:v>Segment 5</c:v>
                </c:pt>
                <c:pt idx="5">
                  <c:v>Segment 6</c:v>
                </c:pt>
              </c:strCache>
            </c:strRef>
          </c:cat>
          <c:val>
            <c:numRef>
              <c:f>Tabelle1!$B$2:$B$7</c:f>
              <c:numCache>
                <c:formatCode>0%</c:formatCode>
                <c:ptCount val="6"/>
                <c:pt idx="0">
                  <c:v>0.15</c:v>
                </c:pt>
                <c:pt idx="1">
                  <c:v>0.17</c:v>
                </c:pt>
                <c:pt idx="2">
                  <c:v>0.14000000000000001</c:v>
                </c:pt>
                <c:pt idx="3">
                  <c:v>0.19</c:v>
                </c:pt>
                <c:pt idx="4">
                  <c:v>0.14000000000000001</c:v>
                </c:pt>
                <c:pt idx="5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6ADE-C649-8847-51FA34E23B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48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de-DE"/>
    </a:p>
  </c:txPr>
  <c:externalData r:id="rId4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4865149186634888"/>
          <c:y val="0.19462084248637621"/>
          <c:w val="0.5227985980171177"/>
          <c:h val="0.7657414014699504"/>
        </c:manualLayout>
      </c:layout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Spalte2</c:v>
                </c:pt>
              </c:strCache>
            </c:strRef>
          </c:tx>
          <c:explosion val="2"/>
          <c:dPt>
            <c:idx val="0"/>
            <c:bubble3D val="0"/>
            <c:spPr>
              <a:solidFill>
                <a:srgbClr val="71AD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D56-AA4A-B619-9B1F7414C763}"/>
              </c:ext>
            </c:extLst>
          </c:dPt>
          <c:dPt>
            <c:idx val="1"/>
            <c:bubble3D val="0"/>
            <c:spPr>
              <a:solidFill>
                <a:srgbClr val="F2610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D56-AA4A-B619-9B1F7414C763}"/>
              </c:ext>
            </c:extLst>
          </c:dPt>
          <c:dPt>
            <c:idx val="2"/>
            <c:bubble3D val="0"/>
            <c:explosion val="25"/>
            <c:spPr>
              <a:solidFill>
                <a:srgbClr val="FF9E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D56-AA4A-B619-9B1F7414C763}"/>
              </c:ext>
            </c:extLst>
          </c:dPt>
          <c:dPt>
            <c:idx val="3"/>
            <c:bubble3D val="0"/>
            <c:spPr>
              <a:solidFill>
                <a:srgbClr val="005CA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D56-AA4A-B619-9B1F7414C763}"/>
              </c:ext>
            </c:extLst>
          </c:dPt>
          <c:dPt>
            <c:idx val="4"/>
            <c:bubble3D val="0"/>
            <c:spPr>
              <a:solidFill>
                <a:srgbClr val="4DA68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D56-AA4A-B619-9B1F7414C763}"/>
              </c:ext>
            </c:extLst>
          </c:dPt>
          <c:dPt>
            <c:idx val="5"/>
            <c:bubble3D val="0"/>
            <c:spPr>
              <a:solidFill>
                <a:srgbClr val="B3D9C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3D56-AA4A-B619-9B1F7414C763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3D56-AA4A-B619-9B1F7414C763}"/>
              </c:ext>
            </c:extLst>
          </c:dPt>
          <c:dPt>
            <c:idx val="7"/>
            <c:bubble3D val="0"/>
            <c:spPr>
              <a:solidFill>
                <a:srgbClr val="A7848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3D56-AA4A-B619-9B1F7414C763}"/>
              </c:ext>
            </c:extLst>
          </c:dPt>
          <c:dLbls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005CA9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3D56-AA4A-B619-9B1F7414C763}"/>
                </c:ext>
              </c:extLst>
            </c:dLbl>
            <c:dLbl>
              <c:idx val="5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4DA68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D56-AA4A-B619-9B1F7414C76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Tabelle1!$A$2:$A$7</c:f>
              <c:strCache>
                <c:ptCount val="6"/>
                <c:pt idx="0">
                  <c:v>Segment 1</c:v>
                </c:pt>
                <c:pt idx="1">
                  <c:v>Segment 2</c:v>
                </c:pt>
                <c:pt idx="2">
                  <c:v>Segment 3</c:v>
                </c:pt>
                <c:pt idx="3">
                  <c:v>Segment 4</c:v>
                </c:pt>
                <c:pt idx="4">
                  <c:v>Segment 5</c:v>
                </c:pt>
                <c:pt idx="5">
                  <c:v>Segment 6</c:v>
                </c:pt>
              </c:strCache>
            </c:strRef>
          </c:cat>
          <c:val>
            <c:numRef>
              <c:f>Tabelle1!$B$2:$B$7</c:f>
              <c:numCache>
                <c:formatCode>0%</c:formatCode>
                <c:ptCount val="6"/>
                <c:pt idx="0">
                  <c:v>0.15</c:v>
                </c:pt>
                <c:pt idx="1">
                  <c:v>0.17</c:v>
                </c:pt>
                <c:pt idx="2">
                  <c:v>0.14000000000000001</c:v>
                </c:pt>
                <c:pt idx="3">
                  <c:v>0.19</c:v>
                </c:pt>
                <c:pt idx="4">
                  <c:v>0.14000000000000001</c:v>
                </c:pt>
                <c:pt idx="5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D56-AA4A-B619-9B1F7414C7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48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de-DE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4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5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798420D-4018-4262-95A2-99274DD550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6257238-49E0-400A-A411-31F210EBC8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C2F830-B0DB-46FC-86A3-B5C94899501D}" type="datetimeFigureOut">
              <a:rPr lang="de-AT" smtClean="0"/>
              <a:t>28.05.26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5CE3B1-EA8A-48F6-A8E4-BE580BEE4B3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8975F84-9E32-45C3-9D20-7424B9AC9F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6E52E6-9B81-46F0-941E-7228A8D5C161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636956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3EF3FD-4CB1-7B4C-BC52-3FB82BCF9752}" type="datetimeFigureOut">
              <a:rPr lang="de-AT" smtClean="0"/>
              <a:t>28.05.26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CE33D0-74F8-C740-82ED-4CC36B384B7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4292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E33D0-74F8-C740-82ED-4CC36B384B7A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11350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0763E-0976-3723-C9AB-B9A09965E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B304BA1-5E4D-3AD0-FB60-17EFFDB2B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C4EB503-E9F8-EF2E-0ACA-44D7FED36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7030B3A-7D1D-5EA7-4812-F956A757BE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E33D0-74F8-C740-82ED-4CC36B384B7A}" type="slidenum">
              <a:rPr lang="de-AT" smtClean="0"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38724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49CA4-13C1-703F-9236-2B0F4CEF0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40DE6F1-89F7-0B51-21C8-365E0DD65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1D19C09-B115-9C74-95CD-3CA2776D6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9C2AEB7-382E-F10F-FEAE-5B0D261E00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E33D0-74F8-C740-82ED-4CC36B384B7A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00271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700BD-49C5-A7B6-ECE9-C8C74DF8C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E95C1D5-22DD-AE71-8B6D-09D08E606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E3FB157-C3DD-8D7C-0580-CD7D23852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BB82179-5827-98D2-3162-9D759BE3B3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E33D0-74F8-C740-82ED-4CC36B384B7A}" type="slidenum">
              <a:rPr lang="de-AT" smtClean="0"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51349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7C531-9686-9125-81A4-EE2829670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D81236F-EAAF-70DB-5776-0756066F6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4B44E4F-A0C0-3BEB-549E-8D3AD0C64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8EBB6A-FC6A-5BDB-E76D-0C6FD97FF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E33D0-74F8-C740-82ED-4CC36B384B7A}" type="slidenum">
              <a:rPr lang="de-AT" smtClean="0"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97418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9DE5E-7B2A-6F74-ECF0-EA76A1DC0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1742CF2-5ABF-FF14-86C8-A3B5D09EE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1049F9C-045A-FACD-1A34-DCB7552D7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F224892-CCCA-56EB-485E-93E8B03FF6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E33D0-74F8-C740-82ED-4CC36B384B7A}" type="slidenum">
              <a:rPr lang="de-AT" smtClean="0"/>
              <a:t>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67728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32D44-A18F-F02B-F39A-8EC8B9400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827F961-9499-1ED0-14B4-BDA22C6F8E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E32C569-490C-F3BC-6532-F7E0AB3DE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EFB9DF-956B-DA32-DDBA-3822059A9B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E33D0-74F8-C740-82ED-4CC36B384B7A}" type="slidenum">
              <a:rPr lang="de-AT" smtClean="0"/>
              <a:t>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766122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243B6-FD71-EF4E-C0D6-958C6EF66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26B482A-6CF3-D7FE-A557-2096E0F102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27BA35D-56B6-B9D4-6CED-14B10CABE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C08FE22-5BB0-78A8-10BA-465B47F36C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E33D0-74F8-C740-82ED-4CC36B384B7A}" type="slidenum">
              <a:rPr lang="de-AT" smtClean="0"/>
              <a:t>10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504458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2B06-512C-3553-2641-0010A290B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741FFDD-673D-BF7D-C970-A1695DEAF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6871D65-F64D-2557-F8F1-541CB3D60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A161F42-7C8D-87A7-0FF1-D98468BFB8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E33D0-74F8-C740-82ED-4CC36B384B7A}" type="slidenum">
              <a:rPr lang="de-AT" smtClean="0"/>
              <a:t>12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842195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397EC-E272-F3CB-E059-22C70AAB6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9F50216-C9A5-4749-D984-78762B5AB8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53DDCC9-1D7F-5272-54D3-C106C15AE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836E59-AA14-645C-2289-A3F5414ABB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E33D0-74F8-C740-82ED-4CC36B384B7A}" type="slidenum">
              <a:rPr lang="de-AT" smtClean="0"/>
              <a:t>13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804677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E2AB4-749A-7E19-D88C-D22F308F9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275DB83-384D-7EC5-FB30-6EB97EFEC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78E5D19-B5ED-AC11-79E3-8752EC5560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6868FD4-5E4C-CAD5-C0AB-A739646972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E33D0-74F8-C740-82ED-4CC36B384B7A}" type="slidenum">
              <a:rPr lang="de-AT" smtClean="0"/>
              <a:t>14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240815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9BD4C-3B1F-EADE-73F8-20053EEC4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2B2C8A0-EA78-9544-1E02-A43966F1FD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7CF7865-242C-92DC-15C8-E0BD6B58EC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16EB10A-C0B3-56E4-D5AE-532D6DC1C6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E33D0-74F8-C740-82ED-4CC36B384B7A}" type="slidenum">
              <a:rPr lang="de-AT" smtClean="0"/>
              <a:t>15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726666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E33D0-74F8-C740-82ED-4CC36B384B7A}" type="slidenum">
              <a:rPr lang="de-AT" smtClean="0"/>
              <a:t>16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637824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BDC89-8E66-93DC-81CF-DEBA05DB2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896C969-6E6A-D0F6-D726-2EE8274922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87724D7-1E6C-6401-4354-A3B1C5A5D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4ADA9BE-9A32-91BF-A3CA-2682918D57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E33D0-74F8-C740-82ED-4CC36B384B7A}" type="slidenum">
              <a:rPr lang="de-AT" smtClean="0"/>
              <a:t>17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850140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996B6-7E20-267F-4055-B754A0CF6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D2FFAF7-5B70-4494-CD1F-B7CBA76070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279AAB9-F6D8-ED90-8C64-E03814AEB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EFEE607-9649-FF4E-1E1D-647145A61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E33D0-74F8-C740-82ED-4CC36B384B7A}" type="slidenum">
              <a:rPr lang="de-AT" smtClean="0"/>
              <a:t>18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894358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E2E37-B58A-1373-7228-087D4418B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3B724AD-AB66-97CE-F750-5501FC7E51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F8ED6DF-8948-6731-62CB-71F7FBF7A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3B25C36-A010-AA25-56A9-035DAA975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E33D0-74F8-C740-82ED-4CC36B384B7A}" type="slidenum">
              <a:rPr lang="de-AT" smtClean="0"/>
              <a:t>19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989353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42AFD-DF09-A708-ABD4-7086AAEDB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362C63E-835F-BD35-7443-EB5915414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A4DC606-5AD2-EB94-A4F7-B91A28B6C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D49248B-9232-14AE-289F-7E6C9E525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E33D0-74F8-C740-82ED-4CC36B384B7A}" type="slidenum">
              <a:rPr lang="de-AT" smtClean="0"/>
              <a:t>20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73570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4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svg"/><Relationship Id="rId5" Type="http://schemas.openxmlformats.org/officeDocument/2006/relationships/image" Target="../media/image23.svg"/><Relationship Id="rId4" Type="http://schemas.openxmlformats.org/officeDocument/2006/relationships/image" Target="../media/image19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6.sv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7.sv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9.sv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0.sv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6.sv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7.sv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6.svg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7.svg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3.svg"/><Relationship Id="rId4" Type="http://schemas.openxmlformats.org/officeDocument/2006/relationships/image" Target="../media/image26.svg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6.svg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7" Type="http://schemas.openxmlformats.org/officeDocument/2006/relationships/image" Target="../media/image22.pn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7.sv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7" Type="http://schemas.openxmlformats.org/officeDocument/2006/relationships/image" Target="../media/image22.pn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7.svg"/><Relationship Id="rId5" Type="http://schemas.openxmlformats.org/officeDocument/2006/relationships/image" Target="../media/image38.svg"/><Relationship Id="rId4" Type="http://schemas.openxmlformats.org/officeDocument/2006/relationships/image" Target="../media/image35.svg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6.svg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934964"/>
            <a:ext cx="11395074" cy="1661993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/>
              <a:t>Titel</a:t>
            </a:r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7108EFA4-837F-37FB-F994-17240AD724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5" y="5974576"/>
            <a:ext cx="6886241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2E3A09BB-75CC-D2E0-56A2-1DA12B61F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ED17B827-B2AA-7549-0910-6B786C39AB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2857" y="562798"/>
            <a:ext cx="2499093" cy="18511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A4C882EE-A21E-3AF4-AA03-AA805A1138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469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78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1 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934964"/>
            <a:ext cx="11395074" cy="1661993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/>
              <a:t>Titel</a:t>
            </a:r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7108EFA4-837F-37FB-F994-17240AD724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5" y="5974576"/>
            <a:ext cx="6886241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2E3A09BB-75CC-D2E0-56A2-1DA12B61F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A4C882EE-A21E-3AF4-AA03-AA805A1138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7A390CF-CECC-A174-3F3E-E9ECA0E253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4651" y="562344"/>
            <a:ext cx="2164400" cy="18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5823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78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934964"/>
            <a:ext cx="11395074" cy="1661993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/>
              <a:t>Titel</a:t>
            </a:r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7108EFA4-837F-37FB-F994-17240AD724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5" y="5974576"/>
            <a:ext cx="6886241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2E3A09BB-75CC-D2E0-56A2-1DA12B61F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1C9975E-B9E6-EA5D-363C-561E6EA890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2857" y="562798"/>
            <a:ext cx="2499093" cy="18511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85C03211-695A-6E0A-67AE-305C01B0BA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7389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78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2 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934964"/>
            <a:ext cx="11395074" cy="1661993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/>
              <a:t>Titel</a:t>
            </a:r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7108EFA4-837F-37FB-F994-17240AD724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5" y="5974576"/>
            <a:ext cx="6886241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2E3A09BB-75CC-D2E0-56A2-1DA12B61F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85C03211-695A-6E0A-67AE-305C01B0BA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A8A2FD7-6EA3-FA2C-8B3B-E7A317D36C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4651" y="562344"/>
            <a:ext cx="2164400" cy="18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510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78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E6C689BF-E482-EE41-9AAD-256666DD751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096001" y="0"/>
            <a:ext cx="6096000" cy="68579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AT" noProof="0"/>
              <a:t>Bild in den Vordergrund bringen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D7D4DFF-73A4-21B0-51DB-F3E1347E54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81652244-3BA9-68C1-717E-551648C33D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103967"/>
            <a:ext cx="5388783" cy="2492990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/>
              <a:t>Titel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4F2ACA68-D895-99BE-6004-A6004F1E4A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6" y="5974576"/>
            <a:ext cx="5388782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5D3F69B6-0002-1521-94D1-899BAB54D54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9292857" y="562798"/>
            <a:ext cx="2499093" cy="18511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86991B3A-3A01-9896-9BB0-CE11457692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2989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3 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E6C689BF-E482-EE41-9AAD-256666DD751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096001" y="0"/>
            <a:ext cx="6096000" cy="68579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AT" noProof="0"/>
              <a:t>Bild in den Vordergrund bringen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D7D4DFF-73A4-21B0-51DB-F3E1347E54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81652244-3BA9-68C1-717E-551648C33D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103967"/>
            <a:ext cx="5388783" cy="2492990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/>
              <a:t>Titel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4F2ACA68-D895-99BE-6004-A6004F1E4A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6" y="5974576"/>
            <a:ext cx="5388782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86991B3A-3A01-9896-9BB0-CE11457692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5D3F69B6-0002-1521-94D1-899BAB54D54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9624651" y="562344"/>
            <a:ext cx="2164400" cy="186185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16483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3FF29A22-035E-20D7-0765-D6C3FB19303B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64C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934964"/>
            <a:ext cx="11395074" cy="1661993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/>
              <a:t>Titel</a:t>
            </a:r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7108EFA4-837F-37FB-F994-17240AD724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5" y="5974576"/>
            <a:ext cx="6886241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5DE2A2-1352-F19A-43A3-BE2B7A3EA75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9292857" y="562798"/>
            <a:ext cx="2499093" cy="18511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02EB183F-1CEB-0327-D274-BBE0D6725E45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02949" y="345856"/>
            <a:ext cx="1833265" cy="31882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0222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78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4 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3FF29A22-035E-20D7-0765-D6C3FB19303B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64C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934964"/>
            <a:ext cx="11395074" cy="1661993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/>
              <a:t>Titel</a:t>
            </a:r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7108EFA4-837F-37FB-F994-17240AD724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5" y="5974576"/>
            <a:ext cx="6886241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02EB183F-1CEB-0327-D274-BBE0D6725E45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02949" y="345856"/>
            <a:ext cx="1833265" cy="31882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0D368C3F-B71A-4AFE-5F30-35CA14B2E22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9624651" y="562344"/>
            <a:ext cx="2164400" cy="186185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25676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78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gemeinsam besser leb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3FF29A22-035E-20D7-0765-D6C3FB19303B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4E3C9492-034D-5506-222F-6E44C964A86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95038" y="345856"/>
            <a:ext cx="1415976" cy="24625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429F7A40-D5EA-55AB-F952-99DF79B8F0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875" y="6556875"/>
            <a:ext cx="588192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fld id="{CBF93674-A1DF-C041-9015-68BDAFCCE66C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F31187EA-2973-C6A1-6FD2-A9DA6B3C74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010" y="6556875"/>
            <a:ext cx="6127477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52A069EC-9AC1-B424-CE74-26FA8BA58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3759" y="6556875"/>
            <a:ext cx="588191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F88123D-CBE3-D5ED-DCF7-9F6CEB62F9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3600" y="1339200"/>
            <a:ext cx="4024800" cy="41796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de-A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29468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5ACBF0"/>
          </p15:clr>
        </p15:guide>
        <p15:guide id="2" orient="horz" pos="3475">
          <p15:clr>
            <a:srgbClr val="5ACBF0"/>
          </p15:clr>
        </p15:guide>
        <p15:guide id="3" pos="2570">
          <p15:clr>
            <a:srgbClr val="5ACBF0"/>
          </p15:clr>
        </p15:guide>
        <p15:guide id="4" pos="5110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living better togeth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3FF29A22-035E-20D7-0765-D6C3FB19303B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4E3C9492-034D-5506-222F-6E44C964A86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95038" y="345856"/>
            <a:ext cx="1415976" cy="24625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429F7A40-D5EA-55AB-F952-99DF79B8F0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875" y="6556875"/>
            <a:ext cx="588192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fld id="{CBF93674-A1DF-C041-9015-68BDAFCCE66C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F31187EA-2973-C6A1-6FD2-A9DA6B3C74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010" y="6556875"/>
            <a:ext cx="6127477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52A069EC-9AC1-B424-CE74-26FA8BA58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3759" y="6556875"/>
            <a:ext cx="588191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6" name="Bildplatzhalter 25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BEFE6A99-D67F-2FFE-A8CC-F7B92A92C4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660" b="-1660"/>
          <a:stretch/>
        </p:blipFill>
        <p:spPr>
          <a:xfrm>
            <a:off x="4083600" y="1339200"/>
            <a:ext cx="4024800" cy="4179600"/>
          </a:xfrm>
          <a:prstGeom prst="rect">
            <a:avLst/>
          </a:prstGeom>
        </p:spPr>
      </p:pic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D9412C4B-F421-2862-BA8C-6EE38C1356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3600" y="1339200"/>
            <a:ext cx="4024800" cy="4179600"/>
          </a:xfr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de-A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19185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5ACBF0"/>
          </p15:clr>
        </p15:guide>
        <p15:guide id="2" orient="horz" pos="3475">
          <p15:clr>
            <a:srgbClr val="5ACBF0"/>
          </p15:clr>
        </p15:guide>
        <p15:guide id="3" pos="2570">
          <p15:clr>
            <a:srgbClr val="5ACBF0"/>
          </p15:clr>
        </p15:guide>
        <p15:guide id="4" pos="5110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meinsam besser leben 2 fes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3B66-C98F-7345-A02C-1F772B030CC7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517D1CD-E90A-6BE1-108F-325658C3A1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pic>
        <p:nvPicPr>
          <p:cNvPr id="9" name="Grafik 8" descr="Ein Bild, das Schrift, Text, Grafiken, Kreis enthält.&#10;&#10;KI-generierte Inhalte können fehlerhaft sein.">
            <a:extLst>
              <a:ext uri="{FF2B5EF4-FFF2-40B4-BE49-F238E27FC236}">
                <a16:creationId xmlns:a16="http://schemas.microsoft.com/office/drawing/2014/main" id="{FC13C760-9D5E-C53C-4CA9-00B10F0E57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83600" y="1339200"/>
            <a:ext cx="4024800" cy="41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5637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5ACBF0"/>
          </p15:clr>
        </p15:guide>
        <p15:guide id="2" orient="horz" pos="3475">
          <p15:clr>
            <a:srgbClr val="5ACBF0"/>
          </p15:clr>
        </p15:guide>
        <p15:guide id="3" pos="2570">
          <p15:clr>
            <a:srgbClr val="5ACBF0"/>
          </p15:clr>
        </p15:guide>
        <p15:guide id="4" pos="5110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ving better together 2 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3B66-C98F-7345-A02C-1F772B030CC7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517D1CD-E90A-6BE1-108F-325658C3A1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pic>
        <p:nvPicPr>
          <p:cNvPr id="7" name="Grafik 6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CD7B7549-2849-049A-CAE9-1D96B5BD55E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79874" y="1341438"/>
            <a:ext cx="4032251" cy="417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114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5ACBF0"/>
          </p15:clr>
        </p15:guide>
        <p15:guide id="2" orient="horz" pos="3475">
          <p15:clr>
            <a:srgbClr val="5ACBF0"/>
          </p15:clr>
        </p15:guide>
        <p15:guide id="3" pos="2570">
          <p15:clr>
            <a:srgbClr val="5ACBF0"/>
          </p15:clr>
        </p15:guide>
        <p15:guide id="4" pos="5110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4 Punk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0D36327-78A7-FBE1-41AE-8E560602E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D08BD4A-A847-AA65-A262-64943FAC00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348DDDE2-3704-40BD-85BB-B1DF1C354E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6875" y="951996"/>
            <a:ext cx="5197809" cy="505910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6600" b="1">
                <a:latin typeface="+mj-lt"/>
              </a:defRPr>
            </a:lvl1pPr>
          </a:lstStyle>
          <a:p>
            <a:pPr lvl="0"/>
            <a:r>
              <a:rPr lang="de-AT" noProof="0"/>
              <a:t>Agenda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4AF5E9CE-C6C0-2FE0-AF3B-1BB86FD42B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951995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de-AT" noProof="0"/>
              <a:t>1</a:t>
            </a:r>
          </a:p>
        </p:txBody>
      </p:sp>
      <p:sp>
        <p:nvSpPr>
          <p:cNvPr id="31" name="Textplatzhalter 26">
            <a:extLst>
              <a:ext uri="{FF2B5EF4-FFF2-40B4-BE49-F238E27FC236}">
                <a16:creationId xmlns:a16="http://schemas.microsoft.com/office/drawing/2014/main" id="{95DE74C7-EEF6-7F93-266F-476A210FA57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2314325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de-AT" noProof="0"/>
              <a:t>2</a:t>
            </a:r>
          </a:p>
        </p:txBody>
      </p:sp>
      <p:sp>
        <p:nvSpPr>
          <p:cNvPr id="32" name="Textplatzhalter 26">
            <a:extLst>
              <a:ext uri="{FF2B5EF4-FFF2-40B4-BE49-F238E27FC236}">
                <a16:creationId xmlns:a16="http://schemas.microsoft.com/office/drawing/2014/main" id="{DAA80D19-9AC4-DBBD-2C7C-9DEB9DD0AB5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3676655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de-AT" noProof="0"/>
              <a:t>3</a:t>
            </a:r>
          </a:p>
        </p:txBody>
      </p:sp>
      <p:sp>
        <p:nvSpPr>
          <p:cNvPr id="33" name="Textplatzhalter 26">
            <a:extLst>
              <a:ext uri="{FF2B5EF4-FFF2-40B4-BE49-F238E27FC236}">
                <a16:creationId xmlns:a16="http://schemas.microsoft.com/office/drawing/2014/main" id="{9E88F120-40FF-4AD1-58E6-E03E082F979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0" y="5038984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de-AT" noProof="0"/>
              <a:t>4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90D9284E-E7C7-09CC-D097-9F1D43C151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76011" y="1423692"/>
            <a:ext cx="4915937" cy="786219"/>
          </a:xfrm>
        </p:spPr>
        <p:txBody>
          <a:bodyPr>
            <a:normAutofit/>
          </a:bodyPr>
          <a:lstStyle>
            <a:lvl1pPr marL="184150" indent="-184150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600"/>
            </a:lvl1pPr>
          </a:lstStyle>
          <a:p>
            <a:pPr lvl="0"/>
            <a:r>
              <a:rPr lang="de-AT" noProof="0" err="1"/>
              <a:t>Subitem</a:t>
            </a:r>
            <a:endParaRPr lang="de-AT" noProof="0"/>
          </a:p>
        </p:txBody>
      </p:sp>
      <p:sp>
        <p:nvSpPr>
          <p:cNvPr id="53" name="Textplatzhalter 51">
            <a:extLst>
              <a:ext uri="{FF2B5EF4-FFF2-40B4-BE49-F238E27FC236}">
                <a16:creationId xmlns:a16="http://schemas.microsoft.com/office/drawing/2014/main" id="{CF02CD1F-69C0-4AB7-599A-E03ED655E9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76011" y="2787017"/>
            <a:ext cx="4915937" cy="786219"/>
          </a:xfrm>
        </p:spPr>
        <p:txBody>
          <a:bodyPr>
            <a:normAutofit/>
          </a:bodyPr>
          <a:lstStyle>
            <a:lvl1pPr marL="184150" indent="-184150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600"/>
            </a:lvl1pPr>
          </a:lstStyle>
          <a:p>
            <a:pPr lvl="0"/>
            <a:r>
              <a:rPr lang="de-AT" noProof="0" err="1"/>
              <a:t>Subitem</a:t>
            </a:r>
            <a:endParaRPr lang="de-AT" noProof="0"/>
          </a:p>
        </p:txBody>
      </p:sp>
      <p:sp>
        <p:nvSpPr>
          <p:cNvPr id="54" name="Textplatzhalter 51">
            <a:extLst>
              <a:ext uri="{FF2B5EF4-FFF2-40B4-BE49-F238E27FC236}">
                <a16:creationId xmlns:a16="http://schemas.microsoft.com/office/drawing/2014/main" id="{ED320F84-C880-2B5B-DCCA-09CF03CD103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76011" y="4147120"/>
            <a:ext cx="4915937" cy="786219"/>
          </a:xfrm>
        </p:spPr>
        <p:txBody>
          <a:bodyPr>
            <a:normAutofit/>
          </a:bodyPr>
          <a:lstStyle>
            <a:lvl1pPr marL="184150" indent="-184150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600"/>
            </a:lvl1pPr>
          </a:lstStyle>
          <a:p>
            <a:pPr lvl="0"/>
            <a:r>
              <a:rPr lang="de-AT" noProof="0" err="1"/>
              <a:t>Subitem</a:t>
            </a:r>
            <a:endParaRPr lang="de-AT" noProof="0"/>
          </a:p>
        </p:txBody>
      </p:sp>
      <p:sp>
        <p:nvSpPr>
          <p:cNvPr id="55" name="Textplatzhalter 51">
            <a:extLst>
              <a:ext uri="{FF2B5EF4-FFF2-40B4-BE49-F238E27FC236}">
                <a16:creationId xmlns:a16="http://schemas.microsoft.com/office/drawing/2014/main" id="{917E45F7-2FAB-862E-819F-DAAD8D897EF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76011" y="5510446"/>
            <a:ext cx="4915937" cy="786219"/>
          </a:xfrm>
        </p:spPr>
        <p:txBody>
          <a:bodyPr>
            <a:normAutofit/>
          </a:bodyPr>
          <a:lstStyle>
            <a:lvl1pPr marL="184150" indent="-184150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600"/>
            </a:lvl1pPr>
          </a:lstStyle>
          <a:p>
            <a:pPr lvl="0"/>
            <a:r>
              <a:rPr lang="de-AT" noProof="0" err="1"/>
              <a:t>Subitem</a:t>
            </a:r>
            <a:endParaRPr lang="de-AT" noProof="0"/>
          </a:p>
        </p:txBody>
      </p:sp>
      <p:sp>
        <p:nvSpPr>
          <p:cNvPr id="35" name="Textplatzhalter 34">
            <a:extLst>
              <a:ext uri="{FF2B5EF4-FFF2-40B4-BE49-F238E27FC236}">
                <a16:creationId xmlns:a16="http://schemas.microsoft.com/office/drawing/2014/main" id="{8E30D0CC-E9D2-0B98-1CBD-C81D559298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6012" y="983774"/>
            <a:ext cx="4915937" cy="494443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AT" noProof="0"/>
              <a:t>Agenda item</a:t>
            </a:r>
          </a:p>
        </p:txBody>
      </p:sp>
      <p:sp>
        <p:nvSpPr>
          <p:cNvPr id="37" name="Textplatzhalter 34">
            <a:extLst>
              <a:ext uri="{FF2B5EF4-FFF2-40B4-BE49-F238E27FC236}">
                <a16:creationId xmlns:a16="http://schemas.microsoft.com/office/drawing/2014/main" id="{BC3D6733-D616-8406-7243-CA9ED3D71F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76012" y="2346104"/>
            <a:ext cx="4915937" cy="494443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AT" noProof="0"/>
              <a:t>Agenda item</a:t>
            </a:r>
          </a:p>
        </p:txBody>
      </p:sp>
      <p:sp>
        <p:nvSpPr>
          <p:cNvPr id="38" name="Textplatzhalter 34">
            <a:extLst>
              <a:ext uri="{FF2B5EF4-FFF2-40B4-BE49-F238E27FC236}">
                <a16:creationId xmlns:a16="http://schemas.microsoft.com/office/drawing/2014/main" id="{B4360482-7D98-5BA3-B625-1339338F0B6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76012" y="3708434"/>
            <a:ext cx="4915937" cy="494443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AT" noProof="0"/>
              <a:t>Agenda item</a:t>
            </a:r>
          </a:p>
        </p:txBody>
      </p:sp>
      <p:sp>
        <p:nvSpPr>
          <p:cNvPr id="39" name="Textplatzhalter 34">
            <a:extLst>
              <a:ext uri="{FF2B5EF4-FFF2-40B4-BE49-F238E27FC236}">
                <a16:creationId xmlns:a16="http://schemas.microsoft.com/office/drawing/2014/main" id="{7CF1074D-5F7F-4D04-872A-8A7A577470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76012" y="5070763"/>
            <a:ext cx="4915937" cy="494443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AT" noProof="0"/>
              <a:t>Agenda item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A343054-5F5C-6EE3-108B-EB51E422B2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5426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5ACBF0"/>
          </p15:clr>
        </p15:guide>
        <p15:guide id="2" orient="horz" pos="595" userDrawn="1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6 Punk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0D36327-78A7-FBE1-41AE-8E560602E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D08BD4A-A847-AA65-A262-64943FAC00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348DDDE2-3704-40BD-85BB-B1DF1C354E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6876" y="951996"/>
            <a:ext cx="4213626" cy="505910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6600" b="1">
                <a:latin typeface="+mj-lt"/>
              </a:defRPr>
            </a:lvl1pPr>
          </a:lstStyle>
          <a:p>
            <a:pPr lvl="0"/>
            <a:r>
              <a:rPr lang="de-AT" noProof="0"/>
              <a:t>Agenda</a:t>
            </a:r>
          </a:p>
        </p:txBody>
      </p:sp>
      <p:sp>
        <p:nvSpPr>
          <p:cNvPr id="21" name="Textplatzhalter 26">
            <a:extLst>
              <a:ext uri="{FF2B5EF4-FFF2-40B4-BE49-F238E27FC236}">
                <a16:creationId xmlns:a16="http://schemas.microsoft.com/office/drawing/2014/main" id="{0D034184-53CF-D850-508B-745C38329E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77024" y="951996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de-AT" noProof="0"/>
              <a:t>1</a:t>
            </a:r>
          </a:p>
        </p:txBody>
      </p:sp>
      <p:sp>
        <p:nvSpPr>
          <p:cNvPr id="22" name="Textplatzhalter 26">
            <a:extLst>
              <a:ext uri="{FF2B5EF4-FFF2-40B4-BE49-F238E27FC236}">
                <a16:creationId xmlns:a16="http://schemas.microsoft.com/office/drawing/2014/main" id="{C4616070-FF22-4A47-813C-08982A8B712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77024" y="5322694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de-AT" noProof="0"/>
              <a:t>6</a:t>
            </a:r>
          </a:p>
        </p:txBody>
      </p:sp>
      <p:sp>
        <p:nvSpPr>
          <p:cNvPr id="25" name="Textplatzhalter 26">
            <a:extLst>
              <a:ext uri="{FF2B5EF4-FFF2-40B4-BE49-F238E27FC236}">
                <a16:creationId xmlns:a16="http://schemas.microsoft.com/office/drawing/2014/main" id="{05449A48-9A07-97E1-B75A-9C72EE7DC1E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77024" y="1826136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de-AT" noProof="0"/>
              <a:t>2</a:t>
            </a:r>
          </a:p>
        </p:txBody>
      </p:sp>
      <p:sp>
        <p:nvSpPr>
          <p:cNvPr id="26" name="Textplatzhalter 26">
            <a:extLst>
              <a:ext uri="{FF2B5EF4-FFF2-40B4-BE49-F238E27FC236}">
                <a16:creationId xmlns:a16="http://schemas.microsoft.com/office/drawing/2014/main" id="{308D7424-25F6-9BC7-64AC-82E10AA81AC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77024" y="2700276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de-AT" noProof="0"/>
              <a:t>3</a:t>
            </a:r>
          </a:p>
        </p:txBody>
      </p:sp>
      <p:sp>
        <p:nvSpPr>
          <p:cNvPr id="28" name="Textplatzhalter 26">
            <a:extLst>
              <a:ext uri="{FF2B5EF4-FFF2-40B4-BE49-F238E27FC236}">
                <a16:creationId xmlns:a16="http://schemas.microsoft.com/office/drawing/2014/main" id="{7C958954-2963-6FF4-11B5-171288C95E6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77024" y="3574416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de-AT" noProof="0"/>
              <a:t>4</a:t>
            </a:r>
          </a:p>
        </p:txBody>
      </p:sp>
      <p:sp>
        <p:nvSpPr>
          <p:cNvPr id="29" name="Textplatzhalter 26">
            <a:extLst>
              <a:ext uri="{FF2B5EF4-FFF2-40B4-BE49-F238E27FC236}">
                <a16:creationId xmlns:a16="http://schemas.microsoft.com/office/drawing/2014/main" id="{CB0C854B-FCB4-91D6-A9A4-8812E2579B0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77024" y="4448556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de-AT" noProof="0"/>
              <a:t>5</a:t>
            </a:r>
          </a:p>
        </p:txBody>
      </p:sp>
      <p:sp>
        <p:nvSpPr>
          <p:cNvPr id="30" name="Textplatzhalter 34">
            <a:extLst>
              <a:ext uri="{FF2B5EF4-FFF2-40B4-BE49-F238E27FC236}">
                <a16:creationId xmlns:a16="http://schemas.microsoft.com/office/drawing/2014/main" id="{828D89F0-DA7D-A805-93E6-46C4B2C31D0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98173" y="951996"/>
            <a:ext cx="6193777" cy="558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de-AT" noProof="0"/>
              <a:t>Agenda item</a:t>
            </a:r>
          </a:p>
        </p:txBody>
      </p:sp>
      <p:sp>
        <p:nvSpPr>
          <p:cNvPr id="34" name="Textplatzhalter 34">
            <a:extLst>
              <a:ext uri="{FF2B5EF4-FFF2-40B4-BE49-F238E27FC236}">
                <a16:creationId xmlns:a16="http://schemas.microsoft.com/office/drawing/2014/main" id="{C2B492E7-4E7A-AC06-3ECB-8B3EE6EC435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98173" y="1826136"/>
            <a:ext cx="6193777" cy="558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de-AT" noProof="0"/>
              <a:t>Agenda item</a:t>
            </a:r>
          </a:p>
        </p:txBody>
      </p:sp>
      <p:sp>
        <p:nvSpPr>
          <p:cNvPr id="36" name="Textplatzhalter 34">
            <a:extLst>
              <a:ext uri="{FF2B5EF4-FFF2-40B4-BE49-F238E27FC236}">
                <a16:creationId xmlns:a16="http://schemas.microsoft.com/office/drawing/2014/main" id="{C86FBA41-F2EA-7B9D-13AC-E44E33BDEA7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598173" y="2700276"/>
            <a:ext cx="6193777" cy="558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de-AT" noProof="0"/>
              <a:t>Agenda item</a:t>
            </a:r>
          </a:p>
        </p:txBody>
      </p:sp>
      <p:sp>
        <p:nvSpPr>
          <p:cNvPr id="40" name="Textplatzhalter 34">
            <a:extLst>
              <a:ext uri="{FF2B5EF4-FFF2-40B4-BE49-F238E27FC236}">
                <a16:creationId xmlns:a16="http://schemas.microsoft.com/office/drawing/2014/main" id="{C6384BFA-3423-8854-C95E-11F8EE5AAC2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598173" y="3574416"/>
            <a:ext cx="6193777" cy="558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de-AT" noProof="0"/>
              <a:t>Agenda item</a:t>
            </a:r>
          </a:p>
        </p:txBody>
      </p:sp>
      <p:sp>
        <p:nvSpPr>
          <p:cNvPr id="41" name="Textplatzhalter 34">
            <a:extLst>
              <a:ext uri="{FF2B5EF4-FFF2-40B4-BE49-F238E27FC236}">
                <a16:creationId xmlns:a16="http://schemas.microsoft.com/office/drawing/2014/main" id="{274CCFD5-287A-5A87-2E03-48563D9D92D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98173" y="4448556"/>
            <a:ext cx="6193777" cy="558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de-AT" noProof="0"/>
              <a:t>Agenda item</a:t>
            </a:r>
          </a:p>
        </p:txBody>
      </p:sp>
      <p:sp>
        <p:nvSpPr>
          <p:cNvPr id="42" name="Textplatzhalter 34">
            <a:extLst>
              <a:ext uri="{FF2B5EF4-FFF2-40B4-BE49-F238E27FC236}">
                <a16:creationId xmlns:a16="http://schemas.microsoft.com/office/drawing/2014/main" id="{7C77DB04-0870-2D7A-4E86-06922FD35D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98173" y="5322694"/>
            <a:ext cx="6193777" cy="558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de-AT" noProof="0"/>
              <a:t>Agenda item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04E797E-6CE2-DCF8-5E86-53653AEC2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8496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95" userDrawn="1">
          <p15:clr>
            <a:srgbClr val="5ACBF0"/>
          </p15:clr>
        </p15:guide>
        <p15:guide id="2" pos="3001" userDrawn="1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Headline + Color pick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1039605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AE03C45-8687-7BB0-6E60-ECD9043B04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EFA68666-4BC5-43D8-E22A-11105B692335}"/>
              </a:ext>
            </a:extLst>
          </p:cNvPr>
          <p:cNvGrpSpPr/>
          <p:nvPr userDrawn="1"/>
        </p:nvGrpSpPr>
        <p:grpSpPr>
          <a:xfrm>
            <a:off x="12353366" y="0"/>
            <a:ext cx="600046" cy="3153491"/>
            <a:chOff x="12353366" y="228601"/>
            <a:chExt cx="770964" cy="3428999"/>
          </a:xfrm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E3CEED34-2A3C-2BF9-0959-4794872528CB}"/>
                </a:ext>
              </a:extLst>
            </p:cNvPr>
            <p:cNvSpPr/>
            <p:nvPr userDrawn="1"/>
          </p:nvSpPr>
          <p:spPr>
            <a:xfrm>
              <a:off x="12353366" y="228601"/>
              <a:ext cx="770964" cy="228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r>
                <a:rPr lang="de-AT" sz="700">
                  <a:solidFill>
                    <a:schemeClr val="bg1"/>
                  </a:solidFill>
                </a:rPr>
                <a:t>UNIQA BLUE</a:t>
              </a: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6AAED119-48BA-F258-74D0-3C26AC1C5206}"/>
                </a:ext>
              </a:extLst>
            </p:cNvPr>
            <p:cNvSpPr/>
            <p:nvPr userDrawn="1"/>
          </p:nvSpPr>
          <p:spPr>
            <a:xfrm>
              <a:off x="12353366" y="457201"/>
              <a:ext cx="770964" cy="228600"/>
            </a:xfrm>
            <a:prstGeom prst="rect">
              <a:avLst/>
            </a:prstGeom>
            <a:solidFill>
              <a:srgbClr val="F7F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AEE8459D-6CDD-645E-6829-DAC6104EEFFA}"/>
                </a:ext>
              </a:extLst>
            </p:cNvPr>
            <p:cNvSpPr/>
            <p:nvPr userDrawn="1"/>
          </p:nvSpPr>
          <p:spPr>
            <a:xfrm>
              <a:off x="12353366" y="685801"/>
              <a:ext cx="770964" cy="228600"/>
            </a:xfrm>
            <a:prstGeom prst="rect">
              <a:avLst/>
            </a:prstGeom>
            <a:solidFill>
              <a:srgbClr val="E8E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1C85CED7-B0CD-6F98-E67E-E76DDD109870}"/>
                </a:ext>
              </a:extLst>
            </p:cNvPr>
            <p:cNvSpPr/>
            <p:nvPr userDrawn="1"/>
          </p:nvSpPr>
          <p:spPr>
            <a:xfrm>
              <a:off x="12353366" y="914401"/>
              <a:ext cx="770964" cy="228600"/>
            </a:xfrm>
            <a:prstGeom prst="rect">
              <a:avLst/>
            </a:prstGeom>
            <a:solidFill>
              <a:srgbClr val="D4E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7396D38F-CD8D-6B71-D924-67027A2BDC01}"/>
                </a:ext>
              </a:extLst>
            </p:cNvPr>
            <p:cNvSpPr/>
            <p:nvPr userDrawn="1"/>
          </p:nvSpPr>
          <p:spPr>
            <a:xfrm>
              <a:off x="12353366" y="1143001"/>
              <a:ext cx="770964" cy="228600"/>
            </a:xfrm>
            <a:prstGeom prst="rect">
              <a:avLst/>
            </a:prstGeom>
            <a:solidFill>
              <a:srgbClr val="A5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FEBEC902-4DC9-7F6B-B9A2-668ED8642021}"/>
                </a:ext>
              </a:extLst>
            </p:cNvPr>
            <p:cNvSpPr/>
            <p:nvPr userDrawn="1"/>
          </p:nvSpPr>
          <p:spPr>
            <a:xfrm>
              <a:off x="12353366" y="1371601"/>
              <a:ext cx="770964" cy="228600"/>
            </a:xfrm>
            <a:prstGeom prst="rect">
              <a:avLst/>
            </a:prstGeom>
            <a:solidFill>
              <a:srgbClr val="71AD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397A81F0-2DE5-37BE-A5B3-993A3E545FB5}"/>
                </a:ext>
              </a:extLst>
            </p:cNvPr>
            <p:cNvSpPr/>
            <p:nvPr userDrawn="1"/>
          </p:nvSpPr>
          <p:spPr>
            <a:xfrm>
              <a:off x="12353366" y="1600201"/>
              <a:ext cx="770964" cy="228600"/>
            </a:xfrm>
            <a:prstGeom prst="rect">
              <a:avLst/>
            </a:prstGeom>
            <a:solidFill>
              <a:srgbClr val="5492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1318B621-BECF-6CA9-0EEF-912B8147A075}"/>
                </a:ext>
              </a:extLst>
            </p:cNvPr>
            <p:cNvSpPr/>
            <p:nvPr userDrawn="1"/>
          </p:nvSpPr>
          <p:spPr>
            <a:xfrm>
              <a:off x="12353366" y="1828801"/>
              <a:ext cx="770964" cy="228600"/>
            </a:xfrm>
            <a:prstGeom prst="rect">
              <a:avLst/>
            </a:prstGeom>
            <a:solidFill>
              <a:srgbClr val="3578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191B223C-49B4-5F7B-E1C2-C78D68406C18}"/>
                </a:ext>
              </a:extLst>
            </p:cNvPr>
            <p:cNvSpPr/>
            <p:nvPr userDrawn="1"/>
          </p:nvSpPr>
          <p:spPr>
            <a:xfrm>
              <a:off x="12353366" y="2057401"/>
              <a:ext cx="770964" cy="228600"/>
            </a:xfrm>
            <a:prstGeom prst="rect">
              <a:avLst/>
            </a:prstGeom>
            <a:solidFill>
              <a:srgbClr val="005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69E31208-52E3-F327-AC76-8AF88200376A}"/>
                </a:ext>
              </a:extLst>
            </p:cNvPr>
            <p:cNvSpPr/>
            <p:nvPr userDrawn="1"/>
          </p:nvSpPr>
          <p:spPr>
            <a:xfrm>
              <a:off x="12353366" y="2286000"/>
              <a:ext cx="770964" cy="228600"/>
            </a:xfrm>
            <a:prstGeom prst="rect">
              <a:avLst/>
            </a:prstGeom>
            <a:solidFill>
              <a:srgbClr val="0047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677EA8F5-ADD9-6C88-55A4-1699430DDC67}"/>
                </a:ext>
              </a:extLst>
            </p:cNvPr>
            <p:cNvSpPr/>
            <p:nvPr userDrawn="1"/>
          </p:nvSpPr>
          <p:spPr>
            <a:xfrm>
              <a:off x="12353366" y="2514600"/>
              <a:ext cx="770964" cy="228600"/>
            </a:xfrm>
            <a:prstGeom prst="rect">
              <a:avLst/>
            </a:prstGeom>
            <a:solidFill>
              <a:srgbClr val="003C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1CC49D49-74B0-1E74-0ED0-01EA6C04B15D}"/>
                </a:ext>
              </a:extLst>
            </p:cNvPr>
            <p:cNvSpPr/>
            <p:nvPr userDrawn="1"/>
          </p:nvSpPr>
          <p:spPr>
            <a:xfrm>
              <a:off x="12353366" y="2743200"/>
              <a:ext cx="770964" cy="228600"/>
            </a:xfrm>
            <a:prstGeom prst="rect">
              <a:avLst/>
            </a:prstGeom>
            <a:solidFill>
              <a:srgbClr val="0031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02B111C0-0D5E-06C5-8D03-8F1911772627}"/>
                </a:ext>
              </a:extLst>
            </p:cNvPr>
            <p:cNvSpPr/>
            <p:nvPr userDrawn="1"/>
          </p:nvSpPr>
          <p:spPr>
            <a:xfrm>
              <a:off x="12353366" y="2971800"/>
              <a:ext cx="770964" cy="228600"/>
            </a:xfrm>
            <a:prstGeom prst="rect">
              <a:avLst/>
            </a:prstGeom>
            <a:solidFill>
              <a:srgbClr val="0026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D343E217-8BC4-A112-604F-C4823B586078}"/>
                </a:ext>
              </a:extLst>
            </p:cNvPr>
            <p:cNvSpPr/>
            <p:nvPr userDrawn="1"/>
          </p:nvSpPr>
          <p:spPr>
            <a:xfrm>
              <a:off x="12353366" y="3200400"/>
              <a:ext cx="770964" cy="228600"/>
            </a:xfrm>
            <a:prstGeom prst="rect">
              <a:avLst/>
            </a:prstGeom>
            <a:solidFill>
              <a:srgbClr val="001C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A8DAE50F-1571-F364-716E-D08CE3E644E1}"/>
                </a:ext>
              </a:extLst>
            </p:cNvPr>
            <p:cNvSpPr/>
            <p:nvPr userDrawn="1"/>
          </p:nvSpPr>
          <p:spPr>
            <a:xfrm>
              <a:off x="12353366" y="3429000"/>
              <a:ext cx="770964" cy="228600"/>
            </a:xfrm>
            <a:prstGeom prst="rect">
              <a:avLst/>
            </a:prstGeom>
            <a:solidFill>
              <a:srgbClr val="0011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26955167-2888-DEE8-B53F-9E24D780C2EC}"/>
              </a:ext>
            </a:extLst>
          </p:cNvPr>
          <p:cNvGrpSpPr/>
          <p:nvPr userDrawn="1"/>
        </p:nvGrpSpPr>
        <p:grpSpPr>
          <a:xfrm>
            <a:off x="12353366" y="3218765"/>
            <a:ext cx="600046" cy="1681863"/>
            <a:chOff x="12353366" y="3657600"/>
            <a:chExt cx="770964" cy="1828800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26FC64D1-3CB2-A1A4-832D-442453AA6E9B}"/>
                </a:ext>
              </a:extLst>
            </p:cNvPr>
            <p:cNvSpPr/>
            <p:nvPr userDrawn="1"/>
          </p:nvSpPr>
          <p:spPr>
            <a:xfrm>
              <a:off x="12353366" y="3657600"/>
              <a:ext cx="770964" cy="228600"/>
            </a:xfrm>
            <a:prstGeom prst="rect">
              <a:avLst/>
            </a:prstGeom>
            <a:solidFill>
              <a:srgbClr val="CD4B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2174BF12-DEBC-0C53-E652-D5C01336877D}"/>
                </a:ext>
              </a:extLst>
            </p:cNvPr>
            <p:cNvSpPr/>
            <p:nvPr userDrawn="1"/>
          </p:nvSpPr>
          <p:spPr>
            <a:xfrm>
              <a:off x="12353366" y="3886200"/>
              <a:ext cx="770964" cy="228600"/>
            </a:xfrm>
            <a:prstGeom prst="rect">
              <a:avLst/>
            </a:prstGeom>
            <a:solidFill>
              <a:srgbClr val="FFEF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C162FD25-47B7-393B-5860-7946FA916FE6}"/>
                </a:ext>
              </a:extLst>
            </p:cNvPr>
            <p:cNvSpPr/>
            <p:nvPr userDrawn="1"/>
          </p:nvSpPr>
          <p:spPr>
            <a:xfrm>
              <a:off x="12353366" y="4114800"/>
              <a:ext cx="770964" cy="228600"/>
            </a:xfrm>
            <a:prstGeom prst="rect">
              <a:avLst/>
            </a:prstGeom>
            <a:solidFill>
              <a:srgbClr val="FFD8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74177735-B031-94E9-9C3A-04D936D332CE}"/>
                </a:ext>
              </a:extLst>
            </p:cNvPr>
            <p:cNvSpPr/>
            <p:nvPr userDrawn="1"/>
          </p:nvSpPr>
          <p:spPr>
            <a:xfrm>
              <a:off x="12353366" y="4343400"/>
              <a:ext cx="770964" cy="228600"/>
            </a:xfrm>
            <a:prstGeom prst="rect">
              <a:avLst/>
            </a:prstGeom>
            <a:solidFill>
              <a:srgbClr val="FFC8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5E3DC40B-2386-B992-2597-DAA6B27555E3}"/>
                </a:ext>
              </a:extLst>
            </p:cNvPr>
            <p:cNvSpPr/>
            <p:nvPr userDrawn="1"/>
          </p:nvSpPr>
          <p:spPr>
            <a:xfrm>
              <a:off x="12353366" y="4572000"/>
              <a:ext cx="770964" cy="228600"/>
            </a:xfrm>
            <a:prstGeom prst="rect">
              <a:avLst/>
            </a:prstGeom>
            <a:solidFill>
              <a:srgbClr val="FFB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4E158093-A5D0-3097-305D-9C2D35D6D1AD}"/>
                </a:ext>
              </a:extLst>
            </p:cNvPr>
            <p:cNvSpPr/>
            <p:nvPr userDrawn="1"/>
          </p:nvSpPr>
          <p:spPr>
            <a:xfrm>
              <a:off x="12353366" y="4800600"/>
              <a:ext cx="770964" cy="228600"/>
            </a:xfrm>
            <a:prstGeom prst="rect">
              <a:avLst/>
            </a:prstGeom>
            <a:solidFill>
              <a:srgbClr val="FF9E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E1F6B9D3-78A9-6165-149C-240445DF8A0B}"/>
                </a:ext>
              </a:extLst>
            </p:cNvPr>
            <p:cNvSpPr/>
            <p:nvPr userDrawn="1"/>
          </p:nvSpPr>
          <p:spPr>
            <a:xfrm>
              <a:off x="12353366" y="5029200"/>
              <a:ext cx="770964" cy="228600"/>
            </a:xfrm>
            <a:prstGeom prst="rect">
              <a:avLst/>
            </a:prstGeom>
            <a:solidFill>
              <a:srgbClr val="FF7E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2BF7EC0F-D1DB-D96B-1A67-1C897BD6CA13}"/>
                </a:ext>
              </a:extLst>
            </p:cNvPr>
            <p:cNvSpPr/>
            <p:nvPr userDrawn="1"/>
          </p:nvSpPr>
          <p:spPr>
            <a:xfrm>
              <a:off x="12353366" y="5257800"/>
              <a:ext cx="770964" cy="228600"/>
            </a:xfrm>
            <a:prstGeom prst="rect">
              <a:avLst/>
            </a:prstGeom>
            <a:solidFill>
              <a:srgbClr val="F261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59A1E040-70E5-5E72-6205-ECA782AE8FA3}"/>
              </a:ext>
            </a:extLst>
          </p:cNvPr>
          <p:cNvGrpSpPr/>
          <p:nvPr userDrawn="1"/>
        </p:nvGrpSpPr>
        <p:grpSpPr>
          <a:xfrm>
            <a:off x="12353366" y="4965903"/>
            <a:ext cx="600046" cy="1892097"/>
            <a:chOff x="12353366" y="5486400"/>
            <a:chExt cx="770964" cy="2057401"/>
          </a:xfrm>
        </p:grpSpPr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6E1782BB-F361-3C1D-6D45-995D948BC699}"/>
                </a:ext>
              </a:extLst>
            </p:cNvPr>
            <p:cNvSpPr/>
            <p:nvPr userDrawn="1"/>
          </p:nvSpPr>
          <p:spPr>
            <a:xfrm>
              <a:off x="12353366" y="5486400"/>
              <a:ext cx="770964" cy="228600"/>
            </a:xfrm>
            <a:prstGeom prst="rect">
              <a:avLst/>
            </a:prstGeom>
            <a:solidFill>
              <a:srgbClr val="DC00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2A797C27-FF49-9821-E04A-B0A90A30EF64}"/>
                </a:ext>
              </a:extLst>
            </p:cNvPr>
            <p:cNvSpPr/>
            <p:nvPr userDrawn="1"/>
          </p:nvSpPr>
          <p:spPr>
            <a:xfrm>
              <a:off x="12353366" y="5715000"/>
              <a:ext cx="770964" cy="228600"/>
            </a:xfrm>
            <a:prstGeom prst="rect">
              <a:avLst/>
            </a:prstGeom>
            <a:solidFill>
              <a:srgbClr val="FFEB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335A1996-BA01-7C71-85C0-EB90002BB8A9}"/>
                </a:ext>
              </a:extLst>
            </p:cNvPr>
            <p:cNvSpPr/>
            <p:nvPr userDrawn="1"/>
          </p:nvSpPr>
          <p:spPr>
            <a:xfrm>
              <a:off x="12353366" y="5943600"/>
              <a:ext cx="770964" cy="228600"/>
            </a:xfrm>
            <a:prstGeom prst="rect">
              <a:avLst/>
            </a:prstGeom>
            <a:solidFill>
              <a:srgbClr val="FBBB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83DDB37D-5975-EA20-0BC7-11E504E24C80}"/>
                </a:ext>
              </a:extLst>
            </p:cNvPr>
            <p:cNvSpPr/>
            <p:nvPr userDrawn="1"/>
          </p:nvSpPr>
          <p:spPr>
            <a:xfrm>
              <a:off x="12353366" y="6172201"/>
              <a:ext cx="770964" cy="228600"/>
            </a:xfrm>
            <a:prstGeom prst="rect">
              <a:avLst/>
            </a:prstGeom>
            <a:solidFill>
              <a:srgbClr val="F98B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C9CE4826-467B-4AF9-250F-88A403118B7A}"/>
                </a:ext>
              </a:extLst>
            </p:cNvPr>
            <p:cNvSpPr/>
            <p:nvPr userDrawn="1"/>
          </p:nvSpPr>
          <p:spPr>
            <a:xfrm>
              <a:off x="12353366" y="6400801"/>
              <a:ext cx="770964" cy="228600"/>
            </a:xfrm>
            <a:prstGeom prst="rect">
              <a:avLst/>
            </a:prstGeom>
            <a:solidFill>
              <a:srgbClr val="F65A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D8415855-5289-E438-7125-627C8B14304D}"/>
                </a:ext>
              </a:extLst>
            </p:cNvPr>
            <p:cNvSpPr/>
            <p:nvPr userDrawn="1"/>
          </p:nvSpPr>
          <p:spPr>
            <a:xfrm>
              <a:off x="12353366" y="6629401"/>
              <a:ext cx="770964" cy="228600"/>
            </a:xfrm>
            <a:prstGeom prst="rect">
              <a:avLst/>
            </a:prstGeom>
            <a:solidFill>
              <a:srgbClr val="EA3E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FEB38EFA-FCE4-D93C-50AF-C65007B61D65}"/>
                </a:ext>
              </a:extLst>
            </p:cNvPr>
            <p:cNvSpPr/>
            <p:nvPr userDrawn="1"/>
          </p:nvSpPr>
          <p:spPr>
            <a:xfrm>
              <a:off x="12353366" y="6858001"/>
              <a:ext cx="770964" cy="228600"/>
            </a:xfrm>
            <a:prstGeom prst="rect">
              <a:avLst/>
            </a:prstGeom>
            <a:solidFill>
              <a:srgbClr val="B200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961FA8F3-B725-3D4B-F3D6-C16DE1044AA2}"/>
                </a:ext>
              </a:extLst>
            </p:cNvPr>
            <p:cNvSpPr/>
            <p:nvPr userDrawn="1"/>
          </p:nvSpPr>
          <p:spPr>
            <a:xfrm>
              <a:off x="12353366" y="7086601"/>
              <a:ext cx="770964" cy="228600"/>
            </a:xfrm>
            <a:prstGeom prst="rect">
              <a:avLst/>
            </a:prstGeom>
            <a:solidFill>
              <a:srgbClr val="990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E9E6DA49-06E3-F74B-DC9E-D54E8DF36F42}"/>
                </a:ext>
              </a:extLst>
            </p:cNvPr>
            <p:cNvSpPr/>
            <p:nvPr userDrawn="1"/>
          </p:nvSpPr>
          <p:spPr>
            <a:xfrm>
              <a:off x="12353366" y="7315201"/>
              <a:ext cx="770964" cy="228600"/>
            </a:xfrm>
            <a:prstGeom prst="rect">
              <a:avLst/>
            </a:prstGeom>
            <a:solidFill>
              <a:srgbClr val="6600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977B23F-B9E1-BB0E-2C10-8FB7F46B507D}"/>
              </a:ext>
            </a:extLst>
          </p:cNvPr>
          <p:cNvGrpSpPr/>
          <p:nvPr userDrawn="1"/>
        </p:nvGrpSpPr>
        <p:grpSpPr>
          <a:xfrm>
            <a:off x="13249478" y="0"/>
            <a:ext cx="600046" cy="1892097"/>
            <a:chOff x="13249478" y="0"/>
            <a:chExt cx="600046" cy="1819021"/>
          </a:xfrm>
        </p:grpSpPr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40F2027D-E984-5180-8C1F-A20117C07BF8}"/>
                </a:ext>
              </a:extLst>
            </p:cNvPr>
            <p:cNvSpPr/>
            <p:nvPr userDrawn="1"/>
          </p:nvSpPr>
          <p:spPr>
            <a:xfrm>
              <a:off x="13249478" y="0"/>
              <a:ext cx="600046" cy="202113"/>
            </a:xfrm>
            <a:prstGeom prst="rect">
              <a:avLst/>
            </a:prstGeom>
            <a:solidFill>
              <a:srgbClr val="FB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700">
                <a:solidFill>
                  <a:schemeClr val="bg1"/>
                </a:solidFill>
              </a:endParaRPr>
            </a:p>
          </p:txBody>
        </p:sp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E3918633-2578-7315-B9A4-00F4B298AE09}"/>
                </a:ext>
              </a:extLst>
            </p:cNvPr>
            <p:cNvSpPr/>
            <p:nvPr userDrawn="1"/>
          </p:nvSpPr>
          <p:spPr>
            <a:xfrm>
              <a:off x="13249478" y="202113"/>
              <a:ext cx="600046" cy="202113"/>
            </a:xfrm>
            <a:prstGeom prst="rect">
              <a:avLst/>
            </a:prstGeom>
            <a:solidFill>
              <a:srgbClr val="F7D2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2AE66B01-34E9-853E-BB5C-4C2DA8953E71}"/>
                </a:ext>
              </a:extLst>
            </p:cNvPr>
            <p:cNvSpPr/>
            <p:nvPr userDrawn="1"/>
          </p:nvSpPr>
          <p:spPr>
            <a:xfrm>
              <a:off x="13249478" y="404227"/>
              <a:ext cx="600046" cy="202113"/>
            </a:xfrm>
            <a:prstGeom prst="rect">
              <a:avLst/>
            </a:prstGeom>
            <a:solidFill>
              <a:srgbClr val="F3BB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33914E25-95FF-1835-9FBC-F838D80B049E}"/>
                </a:ext>
              </a:extLst>
            </p:cNvPr>
            <p:cNvSpPr/>
            <p:nvPr userDrawn="1"/>
          </p:nvSpPr>
          <p:spPr>
            <a:xfrm>
              <a:off x="13249478" y="606340"/>
              <a:ext cx="600046" cy="202113"/>
            </a:xfrm>
            <a:prstGeom prst="rect">
              <a:avLst/>
            </a:prstGeom>
            <a:solidFill>
              <a:srgbClr val="E361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957E930B-E730-E1F9-9499-2E73AF144F03}"/>
                </a:ext>
              </a:extLst>
            </p:cNvPr>
            <p:cNvSpPr/>
            <p:nvPr userDrawn="1"/>
          </p:nvSpPr>
          <p:spPr>
            <a:xfrm>
              <a:off x="13249478" y="808454"/>
              <a:ext cx="600046" cy="202113"/>
            </a:xfrm>
            <a:prstGeom prst="rect">
              <a:avLst/>
            </a:prstGeom>
            <a:solidFill>
              <a:srgbClr val="DB33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BB90730E-D854-B881-6CCC-45DBDB3062F2}"/>
                </a:ext>
              </a:extLst>
            </p:cNvPr>
            <p:cNvSpPr/>
            <p:nvPr userDrawn="1"/>
          </p:nvSpPr>
          <p:spPr>
            <a:xfrm>
              <a:off x="13249478" y="1010567"/>
              <a:ext cx="600046" cy="202113"/>
            </a:xfrm>
            <a:prstGeom prst="rect">
              <a:avLst/>
            </a:prstGeom>
            <a:solidFill>
              <a:srgbClr val="D71C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06CA6B7B-F33E-CBB4-D4A7-2376031A650A}"/>
                </a:ext>
              </a:extLst>
            </p:cNvPr>
            <p:cNvSpPr/>
            <p:nvPr userDrawn="1"/>
          </p:nvSpPr>
          <p:spPr>
            <a:xfrm>
              <a:off x="13249478" y="1212681"/>
              <a:ext cx="600046" cy="202113"/>
            </a:xfrm>
            <a:prstGeom prst="rect">
              <a:avLst/>
            </a:prstGeom>
            <a:solidFill>
              <a:srgbClr val="AB16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D46245D3-8E58-38A5-DBA4-999EEC9A1295}"/>
                </a:ext>
              </a:extLst>
            </p:cNvPr>
            <p:cNvSpPr/>
            <p:nvPr userDrawn="1"/>
          </p:nvSpPr>
          <p:spPr>
            <a:xfrm>
              <a:off x="13249478" y="1414794"/>
              <a:ext cx="600046" cy="202113"/>
            </a:xfrm>
            <a:prstGeom prst="rect">
              <a:avLst/>
            </a:prstGeom>
            <a:solidFill>
              <a:srgbClr val="7E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35FDB353-0D6F-A327-BCFC-61ADE1BB3EB4}"/>
                </a:ext>
              </a:extLst>
            </p:cNvPr>
            <p:cNvSpPr/>
            <p:nvPr userDrawn="1"/>
          </p:nvSpPr>
          <p:spPr>
            <a:xfrm>
              <a:off x="13249478" y="1616908"/>
              <a:ext cx="600046" cy="202113"/>
            </a:xfrm>
            <a:prstGeom prst="rect">
              <a:avLst/>
            </a:prstGeom>
            <a:solidFill>
              <a:srgbClr val="680D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A5F4D62B-C3A9-1C7A-CE67-895A08267E2B}"/>
              </a:ext>
            </a:extLst>
          </p:cNvPr>
          <p:cNvGrpSpPr/>
          <p:nvPr userDrawn="1"/>
        </p:nvGrpSpPr>
        <p:grpSpPr>
          <a:xfrm>
            <a:off x="13249478" y="1957368"/>
            <a:ext cx="600046" cy="1892097"/>
            <a:chOff x="12353366" y="228601"/>
            <a:chExt cx="770964" cy="2057400"/>
          </a:xfrm>
        </p:grpSpPr>
        <p:sp>
          <p:nvSpPr>
            <p:cNvPr id="67" name="Rechteck 66">
              <a:extLst>
                <a:ext uri="{FF2B5EF4-FFF2-40B4-BE49-F238E27FC236}">
                  <a16:creationId xmlns:a16="http://schemas.microsoft.com/office/drawing/2014/main" id="{953E715F-98F3-059E-42C9-F0482010820B}"/>
                </a:ext>
              </a:extLst>
            </p:cNvPr>
            <p:cNvSpPr/>
            <p:nvPr userDrawn="1"/>
          </p:nvSpPr>
          <p:spPr>
            <a:xfrm>
              <a:off x="12353366" y="228601"/>
              <a:ext cx="770964" cy="228600"/>
            </a:xfrm>
            <a:prstGeom prst="rect">
              <a:avLst/>
            </a:prstGeom>
            <a:solidFill>
              <a:srgbClr val="FEF7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700">
                <a:solidFill>
                  <a:schemeClr val="bg1"/>
                </a:solidFill>
              </a:endParaRPr>
            </a:p>
          </p:txBody>
        </p:sp>
        <p:sp>
          <p:nvSpPr>
            <p:cNvPr id="68" name="Rechteck 67">
              <a:extLst>
                <a:ext uri="{FF2B5EF4-FFF2-40B4-BE49-F238E27FC236}">
                  <a16:creationId xmlns:a16="http://schemas.microsoft.com/office/drawing/2014/main" id="{3ECB087F-718B-F4BD-C090-3AF564EF4102}"/>
                </a:ext>
              </a:extLst>
            </p:cNvPr>
            <p:cNvSpPr/>
            <p:nvPr userDrawn="1"/>
          </p:nvSpPr>
          <p:spPr>
            <a:xfrm>
              <a:off x="12353366" y="457201"/>
              <a:ext cx="770964" cy="228600"/>
            </a:xfrm>
            <a:prstGeom prst="rect">
              <a:avLst/>
            </a:prstGeom>
            <a:solidFill>
              <a:srgbClr val="FDED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97BCA42D-5812-28A9-E48F-FB2FD99B79C1}"/>
                </a:ext>
              </a:extLst>
            </p:cNvPr>
            <p:cNvSpPr/>
            <p:nvPr userDrawn="1"/>
          </p:nvSpPr>
          <p:spPr>
            <a:xfrm>
              <a:off x="12353366" y="685801"/>
              <a:ext cx="770964" cy="228600"/>
            </a:xfrm>
            <a:prstGeom prst="rect">
              <a:avLst/>
            </a:prstGeom>
            <a:solidFill>
              <a:srgbClr val="FCE5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70" name="Rechteck 69">
              <a:extLst>
                <a:ext uri="{FF2B5EF4-FFF2-40B4-BE49-F238E27FC236}">
                  <a16:creationId xmlns:a16="http://schemas.microsoft.com/office/drawing/2014/main" id="{07CF32B2-2870-3DCF-C117-2A2E5F4FAEB9}"/>
                </a:ext>
              </a:extLst>
            </p:cNvPr>
            <p:cNvSpPr/>
            <p:nvPr userDrawn="1"/>
          </p:nvSpPr>
          <p:spPr>
            <a:xfrm>
              <a:off x="12353366" y="914401"/>
              <a:ext cx="770964" cy="228600"/>
            </a:xfrm>
            <a:prstGeom prst="rect">
              <a:avLst/>
            </a:prstGeom>
            <a:solidFill>
              <a:srgbClr val="F8C1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71" name="Rechteck 70">
              <a:extLst>
                <a:ext uri="{FF2B5EF4-FFF2-40B4-BE49-F238E27FC236}">
                  <a16:creationId xmlns:a16="http://schemas.microsoft.com/office/drawing/2014/main" id="{BD85C01A-42C1-E4B5-6FD2-588C89DC5249}"/>
                </a:ext>
              </a:extLst>
            </p:cNvPr>
            <p:cNvSpPr/>
            <p:nvPr userDrawn="1"/>
          </p:nvSpPr>
          <p:spPr>
            <a:xfrm>
              <a:off x="12353366" y="1143001"/>
              <a:ext cx="770964" cy="228600"/>
            </a:xfrm>
            <a:prstGeom prst="rect">
              <a:avLst/>
            </a:prstGeom>
            <a:solidFill>
              <a:srgbClr val="F6AF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6D053C32-B80B-F07A-FB7B-12FBB7CAB19B}"/>
                </a:ext>
              </a:extLst>
            </p:cNvPr>
            <p:cNvSpPr/>
            <p:nvPr userDrawn="1"/>
          </p:nvSpPr>
          <p:spPr>
            <a:xfrm>
              <a:off x="12353366" y="1371601"/>
              <a:ext cx="770964" cy="228600"/>
            </a:xfrm>
            <a:prstGeom prst="rect">
              <a:avLst/>
            </a:prstGeom>
            <a:solidFill>
              <a:srgbClr val="F5A6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8B075919-1AAC-C224-0530-C6AA42C72073}"/>
                </a:ext>
              </a:extLst>
            </p:cNvPr>
            <p:cNvSpPr/>
            <p:nvPr userDrawn="1"/>
          </p:nvSpPr>
          <p:spPr>
            <a:xfrm>
              <a:off x="12353366" y="1600201"/>
              <a:ext cx="770964" cy="228600"/>
            </a:xfrm>
            <a:prstGeom prst="rect">
              <a:avLst/>
            </a:prstGeom>
            <a:solidFill>
              <a:srgbClr val="DC8D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583921B0-917C-0CC4-F069-14E902004ED6}"/>
                </a:ext>
              </a:extLst>
            </p:cNvPr>
            <p:cNvSpPr/>
            <p:nvPr userDrawn="1"/>
          </p:nvSpPr>
          <p:spPr>
            <a:xfrm>
              <a:off x="12353366" y="1828801"/>
              <a:ext cx="770964" cy="228600"/>
            </a:xfrm>
            <a:prstGeom prst="rect">
              <a:avLst/>
            </a:prstGeom>
            <a:solidFill>
              <a:srgbClr val="C37D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82A0AC9D-EA0C-363D-842B-FBEE65E769D7}"/>
                </a:ext>
              </a:extLst>
            </p:cNvPr>
            <p:cNvSpPr/>
            <p:nvPr userDrawn="1"/>
          </p:nvSpPr>
          <p:spPr>
            <a:xfrm>
              <a:off x="12353366" y="2057401"/>
              <a:ext cx="770964" cy="228600"/>
            </a:xfrm>
            <a:prstGeom prst="rect">
              <a:avLst/>
            </a:prstGeom>
            <a:solidFill>
              <a:srgbClr val="A167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0BAEE999-D44C-0C43-61CA-F50079592FBE}"/>
              </a:ext>
            </a:extLst>
          </p:cNvPr>
          <p:cNvGrpSpPr/>
          <p:nvPr userDrawn="1"/>
        </p:nvGrpSpPr>
        <p:grpSpPr>
          <a:xfrm>
            <a:off x="13249478" y="3914736"/>
            <a:ext cx="600046" cy="1892097"/>
            <a:chOff x="12353366" y="228601"/>
            <a:chExt cx="770964" cy="2057400"/>
          </a:xfrm>
        </p:grpSpPr>
        <p:sp>
          <p:nvSpPr>
            <p:cNvPr id="77" name="Rechteck 76">
              <a:extLst>
                <a:ext uri="{FF2B5EF4-FFF2-40B4-BE49-F238E27FC236}">
                  <a16:creationId xmlns:a16="http://schemas.microsoft.com/office/drawing/2014/main" id="{CE53DB4A-FD0D-5EF3-7702-68193CEFFA3F}"/>
                </a:ext>
              </a:extLst>
            </p:cNvPr>
            <p:cNvSpPr/>
            <p:nvPr userDrawn="1"/>
          </p:nvSpPr>
          <p:spPr>
            <a:xfrm>
              <a:off x="12353366" y="228601"/>
              <a:ext cx="770964" cy="228600"/>
            </a:xfrm>
            <a:prstGeom prst="rect">
              <a:avLst/>
            </a:prstGeom>
            <a:solidFill>
              <a:srgbClr val="E6F6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700">
                <a:solidFill>
                  <a:schemeClr val="bg1"/>
                </a:solidFill>
              </a:endParaRPr>
            </a:p>
          </p:txBody>
        </p:sp>
        <p:sp>
          <p:nvSpPr>
            <p:cNvPr id="78" name="Rechteck 77">
              <a:extLst>
                <a:ext uri="{FF2B5EF4-FFF2-40B4-BE49-F238E27FC236}">
                  <a16:creationId xmlns:a16="http://schemas.microsoft.com/office/drawing/2014/main" id="{B59C282E-A073-A55E-0363-96644EBE1807}"/>
                </a:ext>
              </a:extLst>
            </p:cNvPr>
            <p:cNvSpPr/>
            <p:nvPr userDrawn="1"/>
          </p:nvSpPr>
          <p:spPr>
            <a:xfrm>
              <a:off x="12353366" y="457201"/>
              <a:ext cx="770964" cy="228600"/>
            </a:xfrm>
            <a:prstGeom prst="rect">
              <a:avLst/>
            </a:prstGeom>
            <a:solidFill>
              <a:srgbClr val="CDEC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79" name="Rechteck 78">
              <a:extLst>
                <a:ext uri="{FF2B5EF4-FFF2-40B4-BE49-F238E27FC236}">
                  <a16:creationId xmlns:a16="http://schemas.microsoft.com/office/drawing/2014/main" id="{D35C839B-0630-832C-FEA8-F6CAF0253072}"/>
                </a:ext>
              </a:extLst>
            </p:cNvPr>
            <p:cNvSpPr/>
            <p:nvPr userDrawn="1"/>
          </p:nvSpPr>
          <p:spPr>
            <a:xfrm>
              <a:off x="12353366" y="685801"/>
              <a:ext cx="770964" cy="228600"/>
            </a:xfrm>
            <a:prstGeom prst="rect">
              <a:avLst/>
            </a:prstGeom>
            <a:solidFill>
              <a:srgbClr val="B4E3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80" name="Rechteck 79">
              <a:extLst>
                <a:ext uri="{FF2B5EF4-FFF2-40B4-BE49-F238E27FC236}">
                  <a16:creationId xmlns:a16="http://schemas.microsoft.com/office/drawing/2014/main" id="{D721FA38-8882-7070-3A61-20D4A774C692}"/>
                </a:ext>
              </a:extLst>
            </p:cNvPr>
            <p:cNvSpPr/>
            <p:nvPr userDrawn="1"/>
          </p:nvSpPr>
          <p:spPr>
            <a:xfrm>
              <a:off x="12353366" y="914401"/>
              <a:ext cx="770964" cy="228600"/>
            </a:xfrm>
            <a:prstGeom prst="rect">
              <a:avLst/>
            </a:prstGeom>
            <a:solidFill>
              <a:srgbClr val="4FBE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81" name="Rechteck 80">
              <a:extLst>
                <a:ext uri="{FF2B5EF4-FFF2-40B4-BE49-F238E27FC236}">
                  <a16:creationId xmlns:a16="http://schemas.microsoft.com/office/drawing/2014/main" id="{FA5F95B5-572A-F622-AE1D-1908B38FDE67}"/>
                </a:ext>
              </a:extLst>
            </p:cNvPr>
            <p:cNvSpPr/>
            <p:nvPr userDrawn="1"/>
          </p:nvSpPr>
          <p:spPr>
            <a:xfrm>
              <a:off x="12353366" y="1143001"/>
              <a:ext cx="770964" cy="228600"/>
            </a:xfrm>
            <a:prstGeom prst="rect">
              <a:avLst/>
            </a:prstGeom>
            <a:solidFill>
              <a:srgbClr val="1DAB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82" name="Rechteck 81">
              <a:extLst>
                <a:ext uri="{FF2B5EF4-FFF2-40B4-BE49-F238E27FC236}">
                  <a16:creationId xmlns:a16="http://schemas.microsoft.com/office/drawing/2014/main" id="{96FA9C61-6ED2-EF6D-F54B-5355FE90D6F4}"/>
                </a:ext>
              </a:extLst>
            </p:cNvPr>
            <p:cNvSpPr/>
            <p:nvPr userDrawn="1"/>
          </p:nvSpPr>
          <p:spPr>
            <a:xfrm>
              <a:off x="12353366" y="1371601"/>
              <a:ext cx="770964" cy="228600"/>
            </a:xfrm>
            <a:prstGeom prst="rect">
              <a:avLst/>
            </a:prstGeom>
            <a:solidFill>
              <a:srgbClr val="03A1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83" name="Rechteck 82">
              <a:extLst>
                <a:ext uri="{FF2B5EF4-FFF2-40B4-BE49-F238E27FC236}">
                  <a16:creationId xmlns:a16="http://schemas.microsoft.com/office/drawing/2014/main" id="{905694AC-AFCE-1AEC-57D5-C8D95BA29EA3}"/>
                </a:ext>
              </a:extLst>
            </p:cNvPr>
            <p:cNvSpPr/>
            <p:nvPr userDrawn="1"/>
          </p:nvSpPr>
          <p:spPr>
            <a:xfrm>
              <a:off x="12353366" y="1600201"/>
              <a:ext cx="770964" cy="228600"/>
            </a:xfrm>
            <a:prstGeom prst="rect">
              <a:avLst/>
            </a:prstGeom>
            <a:solidFill>
              <a:srgbClr val="026E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84" name="Rechteck 83">
              <a:extLst>
                <a:ext uri="{FF2B5EF4-FFF2-40B4-BE49-F238E27FC236}">
                  <a16:creationId xmlns:a16="http://schemas.microsoft.com/office/drawing/2014/main" id="{4CCB4F69-4644-FC1E-C23D-C24D931D34DB}"/>
                </a:ext>
              </a:extLst>
            </p:cNvPr>
            <p:cNvSpPr/>
            <p:nvPr userDrawn="1"/>
          </p:nvSpPr>
          <p:spPr>
            <a:xfrm>
              <a:off x="12353366" y="1828801"/>
              <a:ext cx="770964" cy="228600"/>
            </a:xfrm>
            <a:prstGeom prst="rect">
              <a:avLst/>
            </a:prstGeom>
            <a:solidFill>
              <a:srgbClr val="013C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85" name="Rechteck 84">
              <a:extLst>
                <a:ext uri="{FF2B5EF4-FFF2-40B4-BE49-F238E27FC236}">
                  <a16:creationId xmlns:a16="http://schemas.microsoft.com/office/drawing/2014/main" id="{82193855-6AA8-C1C8-2B64-30B1D88C06A3}"/>
                </a:ext>
              </a:extLst>
            </p:cNvPr>
            <p:cNvSpPr/>
            <p:nvPr userDrawn="1"/>
          </p:nvSpPr>
          <p:spPr>
            <a:xfrm>
              <a:off x="12353366" y="2057401"/>
              <a:ext cx="770964" cy="228600"/>
            </a:xfrm>
            <a:prstGeom prst="rect">
              <a:avLst/>
            </a:prstGeom>
            <a:solidFill>
              <a:srgbClr val="012D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7832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Head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1039605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AE03C45-8687-7BB0-6E60-ECD9043B04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4924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0D36327-78A7-FBE1-41AE-8E560602E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D08BD4A-A847-AA65-A262-64943FAC00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4DC9FA21-E381-A27E-F999-A9EA61DCB7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5855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C1AC357D-EE62-1AF1-FECB-AB78753A094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96876" y="1808163"/>
            <a:ext cx="11395074" cy="4429125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0C8B49C-710C-410C-F23A-A38BB8F97F8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2484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6" y="1807029"/>
            <a:ext cx="1139180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Abgerundetes Rechteck 9">
            <a:extLst>
              <a:ext uri="{FF2B5EF4-FFF2-40B4-BE49-F238E27FC236}">
                <a16:creationId xmlns:a16="http://schemas.microsoft.com/office/drawing/2014/main" id="{BF6D2400-AE81-80A1-E585-7FC917822841}"/>
              </a:ext>
            </a:extLst>
          </p:cNvPr>
          <p:cNvSpPr/>
          <p:nvPr userDrawn="1"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C1AC357D-EE62-1AF1-FECB-AB78753A094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27645" y="1998680"/>
            <a:ext cx="10736988" cy="4061242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0C8B49C-710C-410C-F23A-A38BB8F97F8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8421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5ACBF0"/>
          </p15:clr>
        </p15:guide>
        <p15:guide id="2" orient="horz" pos="3929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2 Textfe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bgerundetes Rechteck 1">
            <a:extLst>
              <a:ext uri="{FF2B5EF4-FFF2-40B4-BE49-F238E27FC236}">
                <a16:creationId xmlns:a16="http://schemas.microsoft.com/office/drawing/2014/main" id="{1BEFD293-06B1-814D-94FD-A26ADB3C27BB}"/>
              </a:ext>
            </a:extLst>
          </p:cNvPr>
          <p:cNvSpPr/>
          <p:nvPr userDrawn="1"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Abgerundetes Rechteck 9">
            <a:extLst>
              <a:ext uri="{FF2B5EF4-FFF2-40B4-BE49-F238E27FC236}">
                <a16:creationId xmlns:a16="http://schemas.microsoft.com/office/drawing/2014/main" id="{BF6D2400-AE81-80A1-E585-7FC917822841}"/>
              </a:ext>
            </a:extLst>
          </p:cNvPr>
          <p:cNvSpPr/>
          <p:nvPr userDrawn="1"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E345BF5C-D357-03F9-E50E-2BD30D642DFF}"/>
              </a:ext>
            </a:extLst>
          </p:cNvPr>
          <p:cNvSpPr/>
          <p:nvPr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C1AC357D-EE62-1AF1-FECB-AB78753A094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27646" y="1998680"/>
            <a:ext cx="4964809" cy="4061242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31F07F57-D126-50C0-DE7F-35B19F7F8B38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499825" y="1998680"/>
            <a:ext cx="4964809" cy="4061242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0C8B49C-710C-410C-F23A-A38BB8F97F8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6897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5ACBF0"/>
          </p15:clr>
        </p15:guide>
        <p15:guide id="2" orient="horz" pos="3929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extfelder mit blauer Form +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bgerundetes Rechteck 1">
            <a:extLst>
              <a:ext uri="{FF2B5EF4-FFF2-40B4-BE49-F238E27FC236}">
                <a16:creationId xmlns:a16="http://schemas.microsoft.com/office/drawing/2014/main" id="{1C61FA82-9680-5C95-D274-F1ACB7847B8B}"/>
              </a:ext>
            </a:extLst>
          </p:cNvPr>
          <p:cNvSpPr/>
          <p:nvPr userDrawn="1"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Abgerundetes Rechteck 9">
            <a:extLst>
              <a:ext uri="{FF2B5EF4-FFF2-40B4-BE49-F238E27FC236}">
                <a16:creationId xmlns:a16="http://schemas.microsoft.com/office/drawing/2014/main" id="{A4C7F1BC-D20C-BBBA-8E2D-4A277AA9CE29}"/>
              </a:ext>
            </a:extLst>
          </p:cNvPr>
          <p:cNvSpPr/>
          <p:nvPr userDrawn="1"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5A843CC8-C921-BBE2-523A-DABBBEACE23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27646" y="3429000"/>
            <a:ext cx="4964809" cy="2630922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E345BF5C-D357-03F9-E50E-2BD30D642DFF}"/>
              </a:ext>
            </a:extLst>
          </p:cNvPr>
          <p:cNvSpPr/>
          <p:nvPr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D703F022-8B6B-E2BD-D686-41359221073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499825" y="3429000"/>
            <a:ext cx="4964809" cy="2630922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13" name="Bildplatzhalter 37">
            <a:extLst>
              <a:ext uri="{FF2B5EF4-FFF2-40B4-BE49-F238E27FC236}">
                <a16:creationId xmlns:a16="http://schemas.microsoft.com/office/drawing/2014/main" id="{9373CE6C-0C45-D67F-B27A-942CDAF7D959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727646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16" name="Bildplatzhalter 37">
            <a:extLst>
              <a:ext uri="{FF2B5EF4-FFF2-40B4-BE49-F238E27FC236}">
                <a16:creationId xmlns:a16="http://schemas.microsoft.com/office/drawing/2014/main" id="{B4005A1B-DB59-667A-137C-45B05A4B1D65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6499825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8" name="Textplatzhalter 21">
            <a:extLst>
              <a:ext uri="{FF2B5EF4-FFF2-40B4-BE49-F238E27FC236}">
                <a16:creationId xmlns:a16="http://schemas.microsoft.com/office/drawing/2014/main" id="{20EC0BFA-C64D-A0C6-CF7A-C775C35F7FF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9840" y="2893354"/>
            <a:ext cx="5280420" cy="389513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 lIns="108000" tIns="0" rIns="0" bIns="0" anchor="ctr">
            <a:noAutofit/>
          </a:bodyPr>
          <a:lstStyle>
            <a:lvl1pPr marL="0" indent="0" algn="l">
              <a:spcBef>
                <a:spcPts val="0"/>
              </a:spcBef>
              <a:buClr>
                <a:schemeClr val="bg1"/>
              </a:buClr>
              <a:buNone/>
              <a:defRPr sz="18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9" name="Textplatzhalter 21">
            <a:extLst>
              <a:ext uri="{FF2B5EF4-FFF2-40B4-BE49-F238E27FC236}">
                <a16:creationId xmlns:a16="http://schemas.microsoft.com/office/drawing/2014/main" id="{57404441-53AB-13F3-70F5-CD87BAD88E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42019" y="2893354"/>
            <a:ext cx="5280420" cy="389513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 lIns="108000" tIns="0" rIns="0" bIns="0" anchor="ctr">
            <a:noAutofit/>
          </a:bodyPr>
          <a:lstStyle>
            <a:lvl1pPr marL="0" indent="0" algn="l">
              <a:spcBef>
                <a:spcPts val="0"/>
              </a:spcBef>
              <a:buClr>
                <a:schemeClr val="bg1"/>
              </a:buClr>
              <a:buNone/>
              <a:defRPr sz="18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Headline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CF1200DC-7683-DD36-AA37-E10394F370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9885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extfelder +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bgerundetes Rechteck 1">
            <a:extLst>
              <a:ext uri="{FF2B5EF4-FFF2-40B4-BE49-F238E27FC236}">
                <a16:creationId xmlns:a16="http://schemas.microsoft.com/office/drawing/2014/main" id="{93326E70-4284-C77A-6AEA-0E84B8344AC8}"/>
              </a:ext>
            </a:extLst>
          </p:cNvPr>
          <p:cNvSpPr/>
          <p:nvPr userDrawn="1"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Abgerundetes Rechteck 9">
            <a:extLst>
              <a:ext uri="{FF2B5EF4-FFF2-40B4-BE49-F238E27FC236}">
                <a16:creationId xmlns:a16="http://schemas.microsoft.com/office/drawing/2014/main" id="{6C71BAAC-369B-DB1F-9B69-3A3F9A95F2FD}"/>
              </a:ext>
            </a:extLst>
          </p:cNvPr>
          <p:cNvSpPr/>
          <p:nvPr userDrawn="1"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5A843CC8-C921-BBE2-523A-DABBBEACE23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27646" y="2828925"/>
            <a:ext cx="4964809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E345BF5C-D357-03F9-E50E-2BD30D642DFF}"/>
              </a:ext>
            </a:extLst>
          </p:cNvPr>
          <p:cNvSpPr/>
          <p:nvPr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D703F022-8B6B-E2BD-D686-41359221073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499825" y="2828925"/>
            <a:ext cx="4964809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13" name="Bildplatzhalter 37">
            <a:extLst>
              <a:ext uri="{FF2B5EF4-FFF2-40B4-BE49-F238E27FC236}">
                <a16:creationId xmlns:a16="http://schemas.microsoft.com/office/drawing/2014/main" id="{9373CE6C-0C45-D67F-B27A-942CDAF7D959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727646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16" name="Bildplatzhalter 37">
            <a:extLst>
              <a:ext uri="{FF2B5EF4-FFF2-40B4-BE49-F238E27FC236}">
                <a16:creationId xmlns:a16="http://schemas.microsoft.com/office/drawing/2014/main" id="{B4005A1B-DB59-667A-137C-45B05A4B1D65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6499825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22A2A79A-3DD8-B2AF-47B8-455A86B9706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1532486" y="2080194"/>
            <a:ext cx="4159969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0E9B1506-AA0A-B7BB-6514-EA428F511A97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7304665" y="2080194"/>
            <a:ext cx="4159969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480C993-7671-6A90-5820-C97C09C837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441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Textfelder + kleine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bgerundetes Rechteck 1">
            <a:extLst>
              <a:ext uri="{FF2B5EF4-FFF2-40B4-BE49-F238E27FC236}">
                <a16:creationId xmlns:a16="http://schemas.microsoft.com/office/drawing/2014/main" id="{3D53292C-582C-7B3C-88B8-6EAECC4250B4}"/>
              </a:ext>
            </a:extLst>
          </p:cNvPr>
          <p:cNvSpPr/>
          <p:nvPr userDrawn="1"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Abgerundetes Rechteck 15">
            <a:extLst>
              <a:ext uri="{FF2B5EF4-FFF2-40B4-BE49-F238E27FC236}">
                <a16:creationId xmlns:a16="http://schemas.microsoft.com/office/drawing/2014/main" id="{B1A47490-9E71-C3FC-714B-13D89308F58B}"/>
              </a:ext>
            </a:extLst>
          </p:cNvPr>
          <p:cNvSpPr/>
          <p:nvPr userDrawn="1"/>
        </p:nvSpPr>
        <p:spPr>
          <a:xfrm>
            <a:off x="4248105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Abgerundetes Rechteck 20">
            <a:extLst>
              <a:ext uri="{FF2B5EF4-FFF2-40B4-BE49-F238E27FC236}">
                <a16:creationId xmlns:a16="http://schemas.microsoft.com/office/drawing/2014/main" id="{4FA2A046-E3F6-E001-FF88-F7C4268BB78B}"/>
              </a:ext>
            </a:extLst>
          </p:cNvPr>
          <p:cNvSpPr/>
          <p:nvPr userDrawn="1"/>
        </p:nvSpPr>
        <p:spPr>
          <a:xfrm>
            <a:off x="8095973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D67F53A2-7CAB-35B7-E1AF-BFE4B99E6F0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27646" y="2828925"/>
            <a:ext cx="3040972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9" name="Bildplatzhalter 37">
            <a:extLst>
              <a:ext uri="{FF2B5EF4-FFF2-40B4-BE49-F238E27FC236}">
                <a16:creationId xmlns:a16="http://schemas.microsoft.com/office/drawing/2014/main" id="{D7579333-08AB-4A34-E947-3C4926DA43A9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727646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5C2B8632-A9D5-3F09-9FD8-221BC1FA4C6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532015" y="2080194"/>
            <a:ext cx="2236604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B97A1C69-9D63-4764-F537-3989FB951DD4}"/>
              </a:ext>
            </a:extLst>
          </p:cNvPr>
          <p:cNvSpPr/>
          <p:nvPr/>
        </p:nvSpPr>
        <p:spPr>
          <a:xfrm>
            <a:off x="4248105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Inhaltsplatzhalter 10">
            <a:extLst>
              <a:ext uri="{FF2B5EF4-FFF2-40B4-BE49-F238E27FC236}">
                <a16:creationId xmlns:a16="http://schemas.microsoft.com/office/drawing/2014/main" id="{3F0C00CD-9615-DC12-1736-E09EF1D92745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4575514" y="2828925"/>
            <a:ext cx="3040972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19" name="Bildplatzhalter 37">
            <a:extLst>
              <a:ext uri="{FF2B5EF4-FFF2-40B4-BE49-F238E27FC236}">
                <a16:creationId xmlns:a16="http://schemas.microsoft.com/office/drawing/2014/main" id="{49C8EE49-281C-BBA6-8BA6-6F1C01C7D449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4575514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0C407996-2BF1-AAA6-C780-E30913A0F00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379883" y="2080194"/>
            <a:ext cx="2236604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21" name="Abgerundetes Rechteck 20">
            <a:extLst>
              <a:ext uri="{FF2B5EF4-FFF2-40B4-BE49-F238E27FC236}">
                <a16:creationId xmlns:a16="http://schemas.microsoft.com/office/drawing/2014/main" id="{282A727E-ECE1-793C-E44A-80BEB47AD2B1}"/>
              </a:ext>
            </a:extLst>
          </p:cNvPr>
          <p:cNvSpPr/>
          <p:nvPr/>
        </p:nvSpPr>
        <p:spPr>
          <a:xfrm>
            <a:off x="8095973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F291F6D3-AAE7-63F4-3B60-AB99E61E44AD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423382" y="2828925"/>
            <a:ext cx="3040972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23" name="Bildplatzhalter 37">
            <a:extLst>
              <a:ext uri="{FF2B5EF4-FFF2-40B4-BE49-F238E27FC236}">
                <a16:creationId xmlns:a16="http://schemas.microsoft.com/office/drawing/2014/main" id="{DADD026C-D7EF-DA1F-2453-A76D64521C4C}"/>
              </a:ext>
            </a:extLst>
          </p:cNvPr>
          <p:cNvSpPr>
            <a:spLocks noGrp="1" noChangeAspect="1"/>
          </p:cNvSpPr>
          <p:nvPr>
            <p:ph type="pic" sz="quarter" idx="38" hasCustomPrompt="1"/>
          </p:nvPr>
        </p:nvSpPr>
        <p:spPr>
          <a:xfrm>
            <a:off x="8423382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C4EF13A4-5C99-8016-392C-69FC41D98299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227751" y="2080194"/>
            <a:ext cx="2236604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3DF338A-5D6B-E4CB-9E75-AEB6E98CBC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926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3 Textfelder +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bgerundetes Rechteck 1">
            <a:extLst>
              <a:ext uri="{FF2B5EF4-FFF2-40B4-BE49-F238E27FC236}">
                <a16:creationId xmlns:a16="http://schemas.microsoft.com/office/drawing/2014/main" id="{04046D22-0D14-8B07-BF4A-A72FF2BB545D}"/>
              </a:ext>
            </a:extLst>
          </p:cNvPr>
          <p:cNvSpPr/>
          <p:nvPr userDrawn="1"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Abgerundetes Rechteck 38">
            <a:extLst>
              <a:ext uri="{FF2B5EF4-FFF2-40B4-BE49-F238E27FC236}">
                <a16:creationId xmlns:a16="http://schemas.microsoft.com/office/drawing/2014/main" id="{A403CC7A-F4D2-5629-CDC3-08E18A686C23}"/>
              </a:ext>
            </a:extLst>
          </p:cNvPr>
          <p:cNvSpPr/>
          <p:nvPr userDrawn="1"/>
        </p:nvSpPr>
        <p:spPr>
          <a:xfrm>
            <a:off x="4248246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Abgerundetes Rechteck 39">
            <a:extLst>
              <a:ext uri="{FF2B5EF4-FFF2-40B4-BE49-F238E27FC236}">
                <a16:creationId xmlns:a16="http://schemas.microsoft.com/office/drawing/2014/main" id="{1707A0EC-496D-7AA0-D07F-F4C99833832D}"/>
              </a:ext>
            </a:extLst>
          </p:cNvPr>
          <p:cNvSpPr/>
          <p:nvPr userDrawn="1"/>
        </p:nvSpPr>
        <p:spPr>
          <a:xfrm>
            <a:off x="8096254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9976A064-2A8F-E7E0-F152-B0AE9F9396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7647" y="1998680"/>
            <a:ext cx="3040970" cy="531446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38" name="Bildplatzhalter 37">
            <a:extLst>
              <a:ext uri="{FF2B5EF4-FFF2-40B4-BE49-F238E27FC236}">
                <a16:creationId xmlns:a16="http://schemas.microsoft.com/office/drawing/2014/main" id="{113A6A42-4D53-73E2-BC4D-36E0A3C552AB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1565932" y="2759653"/>
            <a:ext cx="1364400" cy="136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39" name="Abgerundetes Rechteck 38">
            <a:extLst>
              <a:ext uri="{FF2B5EF4-FFF2-40B4-BE49-F238E27FC236}">
                <a16:creationId xmlns:a16="http://schemas.microsoft.com/office/drawing/2014/main" id="{81578355-0D9B-64FA-E4CE-98AD72ED456C}"/>
              </a:ext>
            </a:extLst>
          </p:cNvPr>
          <p:cNvSpPr/>
          <p:nvPr/>
        </p:nvSpPr>
        <p:spPr>
          <a:xfrm>
            <a:off x="4248246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0" name="Abgerundetes Rechteck 39">
            <a:extLst>
              <a:ext uri="{FF2B5EF4-FFF2-40B4-BE49-F238E27FC236}">
                <a16:creationId xmlns:a16="http://schemas.microsoft.com/office/drawing/2014/main" id="{7A244AA8-1DFA-A55B-5B2F-10E5D6A09F96}"/>
              </a:ext>
            </a:extLst>
          </p:cNvPr>
          <p:cNvSpPr/>
          <p:nvPr/>
        </p:nvSpPr>
        <p:spPr>
          <a:xfrm>
            <a:off x="8096254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1" name="Textplatzhalter 13">
            <a:extLst>
              <a:ext uri="{FF2B5EF4-FFF2-40B4-BE49-F238E27FC236}">
                <a16:creationId xmlns:a16="http://schemas.microsoft.com/office/drawing/2014/main" id="{AEC3F5D8-1649-025A-4003-9597DF65C5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5656" y="1998680"/>
            <a:ext cx="3040970" cy="531446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43" name="Bildplatzhalter 37">
            <a:extLst>
              <a:ext uri="{FF2B5EF4-FFF2-40B4-BE49-F238E27FC236}">
                <a16:creationId xmlns:a16="http://schemas.microsoft.com/office/drawing/2014/main" id="{636E05DD-15DE-B425-1938-A4D83B6D405C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13941" y="2759653"/>
            <a:ext cx="1364400" cy="136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AT" noProof="0" err="1"/>
              <a:t>icon</a:t>
            </a:r>
            <a:endParaRPr lang="de-AT" noProof="0"/>
          </a:p>
        </p:txBody>
      </p:sp>
      <p:sp>
        <p:nvSpPr>
          <p:cNvPr id="44" name="Textplatzhalter 13">
            <a:extLst>
              <a:ext uri="{FF2B5EF4-FFF2-40B4-BE49-F238E27FC236}">
                <a16:creationId xmlns:a16="http://schemas.microsoft.com/office/drawing/2014/main" id="{FB6FF847-22A1-33ED-F946-EDE59766FF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23664" y="1998680"/>
            <a:ext cx="3040970" cy="531446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46" name="Bildplatzhalter 37">
            <a:extLst>
              <a:ext uri="{FF2B5EF4-FFF2-40B4-BE49-F238E27FC236}">
                <a16:creationId xmlns:a16="http://schemas.microsoft.com/office/drawing/2014/main" id="{DF3DB8C4-A2A9-AC4F-EDCC-8C35D88AF034}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9261949" y="2759653"/>
            <a:ext cx="1364400" cy="136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AT" noProof="0" err="1"/>
              <a:t>icon</a:t>
            </a:r>
            <a:endParaRPr lang="de-AT" noProof="0"/>
          </a:p>
        </p:txBody>
      </p:sp>
      <p:sp>
        <p:nvSpPr>
          <p:cNvPr id="52" name="Textplatzhalter 13">
            <a:extLst>
              <a:ext uri="{FF2B5EF4-FFF2-40B4-BE49-F238E27FC236}">
                <a16:creationId xmlns:a16="http://schemas.microsoft.com/office/drawing/2014/main" id="{303F4482-D250-E1FA-B40E-FA8EB32A35F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27647" y="4581527"/>
            <a:ext cx="3040970" cy="1482389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53" name="Textplatzhalter 13">
            <a:extLst>
              <a:ext uri="{FF2B5EF4-FFF2-40B4-BE49-F238E27FC236}">
                <a16:creationId xmlns:a16="http://schemas.microsoft.com/office/drawing/2014/main" id="{05988A13-5F79-F27E-304F-93FDC16F671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75656" y="4581527"/>
            <a:ext cx="3040970" cy="1482389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54" name="Textplatzhalter 13">
            <a:extLst>
              <a:ext uri="{FF2B5EF4-FFF2-40B4-BE49-F238E27FC236}">
                <a16:creationId xmlns:a16="http://schemas.microsoft.com/office/drawing/2014/main" id="{20EDF27E-0490-3843-725F-01CE69F7E79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23664" y="4581527"/>
            <a:ext cx="3040970" cy="1482389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74182E2-1242-9DDA-FC17-97AA0BF867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252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Textfelder +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bgerundetes Rechteck 1">
            <a:extLst>
              <a:ext uri="{FF2B5EF4-FFF2-40B4-BE49-F238E27FC236}">
                <a16:creationId xmlns:a16="http://schemas.microsoft.com/office/drawing/2014/main" id="{FC2AE4DC-CA7C-C48B-6DA8-8EEE652E475C}"/>
              </a:ext>
            </a:extLst>
          </p:cNvPr>
          <p:cNvSpPr/>
          <p:nvPr userDrawn="1"/>
        </p:nvSpPr>
        <p:spPr>
          <a:xfrm>
            <a:off x="400237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Abgerundetes Rechteck 13">
            <a:extLst>
              <a:ext uri="{FF2B5EF4-FFF2-40B4-BE49-F238E27FC236}">
                <a16:creationId xmlns:a16="http://schemas.microsoft.com/office/drawing/2014/main" id="{713257BF-BBDA-EC01-FBC6-7672D803546D}"/>
              </a:ext>
            </a:extLst>
          </p:cNvPr>
          <p:cNvSpPr/>
          <p:nvPr userDrawn="1"/>
        </p:nvSpPr>
        <p:spPr>
          <a:xfrm>
            <a:off x="3282760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Abgerundetes Rechteck 15">
            <a:extLst>
              <a:ext uri="{FF2B5EF4-FFF2-40B4-BE49-F238E27FC236}">
                <a16:creationId xmlns:a16="http://schemas.microsoft.com/office/drawing/2014/main" id="{19C22D00-107B-F0BB-80EC-A26136003B45}"/>
              </a:ext>
            </a:extLst>
          </p:cNvPr>
          <p:cNvSpPr/>
          <p:nvPr userDrawn="1"/>
        </p:nvSpPr>
        <p:spPr>
          <a:xfrm>
            <a:off x="6165283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Abgerundetes Rechteck 16">
            <a:extLst>
              <a:ext uri="{FF2B5EF4-FFF2-40B4-BE49-F238E27FC236}">
                <a16:creationId xmlns:a16="http://schemas.microsoft.com/office/drawing/2014/main" id="{D693B120-A0FA-296B-B49E-67F38B6F8A7F}"/>
              </a:ext>
            </a:extLst>
          </p:cNvPr>
          <p:cNvSpPr/>
          <p:nvPr userDrawn="1"/>
        </p:nvSpPr>
        <p:spPr>
          <a:xfrm>
            <a:off x="9047806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7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E27F0588-B76F-0929-F2B5-7626FA998126}"/>
              </a:ext>
            </a:extLst>
          </p:cNvPr>
          <p:cNvSpPr/>
          <p:nvPr/>
        </p:nvSpPr>
        <p:spPr>
          <a:xfrm>
            <a:off x="3282760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110989CA-36BC-7174-C2B9-35694DD6BD8F}"/>
              </a:ext>
            </a:extLst>
          </p:cNvPr>
          <p:cNvSpPr/>
          <p:nvPr/>
        </p:nvSpPr>
        <p:spPr>
          <a:xfrm>
            <a:off x="6165283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5CA9B1EA-EE91-33A7-1B0E-507FD449EEAC}"/>
              </a:ext>
            </a:extLst>
          </p:cNvPr>
          <p:cNvSpPr/>
          <p:nvPr/>
        </p:nvSpPr>
        <p:spPr>
          <a:xfrm>
            <a:off x="9047806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Inhaltsplatzhalter 10">
            <a:extLst>
              <a:ext uri="{FF2B5EF4-FFF2-40B4-BE49-F238E27FC236}">
                <a16:creationId xmlns:a16="http://schemas.microsoft.com/office/drawing/2014/main" id="{3FEA1ED8-F676-3F0D-75B7-041257DA17F4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27646" y="2828925"/>
            <a:ext cx="2089420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20" name="Bildplatzhalter 37">
            <a:extLst>
              <a:ext uri="{FF2B5EF4-FFF2-40B4-BE49-F238E27FC236}">
                <a16:creationId xmlns:a16="http://schemas.microsoft.com/office/drawing/2014/main" id="{30BBDD4E-1C1A-4781-E0C3-D7B0AE2F4A4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727646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3" name="Inhaltsplatzhalter 10">
            <a:extLst>
              <a:ext uri="{FF2B5EF4-FFF2-40B4-BE49-F238E27FC236}">
                <a16:creationId xmlns:a16="http://schemas.microsoft.com/office/drawing/2014/main" id="{B939B316-EE01-FB4F-ADFA-896C9B7EB628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3604662" y="2828925"/>
            <a:ext cx="2089420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24" name="Bildplatzhalter 37">
            <a:extLst>
              <a:ext uri="{FF2B5EF4-FFF2-40B4-BE49-F238E27FC236}">
                <a16:creationId xmlns:a16="http://schemas.microsoft.com/office/drawing/2014/main" id="{8CE21DA3-6E86-D205-58B7-36B68B4A55E6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3604662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6" name="Inhaltsplatzhalter 10">
            <a:extLst>
              <a:ext uri="{FF2B5EF4-FFF2-40B4-BE49-F238E27FC236}">
                <a16:creationId xmlns:a16="http://schemas.microsoft.com/office/drawing/2014/main" id="{1D20FBCE-987E-AFA8-86E9-BE4FA50D7C2B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481676" y="2828925"/>
            <a:ext cx="2089420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27" name="Bildplatzhalter 37">
            <a:extLst>
              <a:ext uri="{FF2B5EF4-FFF2-40B4-BE49-F238E27FC236}">
                <a16:creationId xmlns:a16="http://schemas.microsoft.com/office/drawing/2014/main" id="{5367A017-7A95-B462-6C15-A16C1F9931F9}"/>
              </a:ext>
            </a:extLst>
          </p:cNvPr>
          <p:cNvSpPr>
            <a:spLocks noGrp="1" noChangeAspect="1"/>
          </p:cNvSpPr>
          <p:nvPr>
            <p:ph type="pic" sz="quarter" idx="38" hasCustomPrompt="1"/>
          </p:nvPr>
        </p:nvSpPr>
        <p:spPr>
          <a:xfrm>
            <a:off x="6481676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9" name="Inhaltsplatzhalter 10">
            <a:extLst>
              <a:ext uri="{FF2B5EF4-FFF2-40B4-BE49-F238E27FC236}">
                <a16:creationId xmlns:a16="http://schemas.microsoft.com/office/drawing/2014/main" id="{1E28899B-C574-A9A5-6843-9939078CBC67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374934" y="2828925"/>
            <a:ext cx="2089420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30" name="Bildplatzhalter 37">
            <a:extLst>
              <a:ext uri="{FF2B5EF4-FFF2-40B4-BE49-F238E27FC236}">
                <a16:creationId xmlns:a16="http://schemas.microsoft.com/office/drawing/2014/main" id="{DC7E724F-17DD-AD89-445D-9086DD27E8F0}"/>
              </a:ext>
            </a:extLst>
          </p:cNvPr>
          <p:cNvSpPr>
            <a:spLocks noGrp="1" noChangeAspect="1"/>
          </p:cNvSpPr>
          <p:nvPr>
            <p:ph type="pic" sz="quarter" idx="41" hasCustomPrompt="1"/>
          </p:nvPr>
        </p:nvSpPr>
        <p:spPr>
          <a:xfrm>
            <a:off x="9374934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523EF45-B995-8361-F7AF-FFA045E8E9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8157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extfelder rech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bgerundetes Rechteck 1">
            <a:extLst>
              <a:ext uri="{FF2B5EF4-FFF2-40B4-BE49-F238E27FC236}">
                <a16:creationId xmlns:a16="http://schemas.microsoft.com/office/drawing/2014/main" id="{02A2FE73-F30F-4A23-4A2C-F8C260B4D960}"/>
              </a:ext>
            </a:extLst>
          </p:cNvPr>
          <p:cNvSpPr/>
          <p:nvPr userDrawn="1"/>
        </p:nvSpPr>
        <p:spPr>
          <a:xfrm>
            <a:off x="4939990" y="3670789"/>
            <a:ext cx="6852054" cy="2580786"/>
          </a:xfrm>
          <a:prstGeom prst="roundRect">
            <a:avLst>
              <a:gd name="adj" fmla="val 488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Abgerundetes Rechteck 6">
            <a:extLst>
              <a:ext uri="{FF2B5EF4-FFF2-40B4-BE49-F238E27FC236}">
                <a16:creationId xmlns:a16="http://schemas.microsoft.com/office/drawing/2014/main" id="{4E1689A9-5DE4-DE1A-68D0-442E1A719FFE}"/>
              </a:ext>
            </a:extLst>
          </p:cNvPr>
          <p:cNvSpPr/>
          <p:nvPr userDrawn="1"/>
        </p:nvSpPr>
        <p:spPr>
          <a:xfrm>
            <a:off x="4939990" y="951996"/>
            <a:ext cx="6852054" cy="2580786"/>
          </a:xfrm>
          <a:prstGeom prst="roundRect">
            <a:avLst>
              <a:gd name="adj" fmla="val 488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0D36327-78A7-FBE1-41AE-8E560602E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D08BD4A-A847-AA65-A262-64943FAC00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348DDDE2-3704-40BD-85BB-B1DF1C354E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6876" y="951996"/>
            <a:ext cx="4213626" cy="5059102"/>
          </a:xfr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600" b="1">
                <a:latin typeface="+mj-lt"/>
              </a:defRPr>
            </a:lvl1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D981929E-1AF1-D477-F72F-9CD0F2B0F86A}"/>
              </a:ext>
            </a:extLst>
          </p:cNvPr>
          <p:cNvSpPr/>
          <p:nvPr/>
        </p:nvSpPr>
        <p:spPr>
          <a:xfrm>
            <a:off x="4939990" y="3670789"/>
            <a:ext cx="6852054" cy="2580786"/>
          </a:xfrm>
          <a:prstGeom prst="roundRect">
            <a:avLst>
              <a:gd name="adj" fmla="val 488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FD6820DF-53EF-F356-39EF-8AD5082150AD}"/>
              </a:ext>
            </a:extLst>
          </p:cNvPr>
          <p:cNvSpPr/>
          <p:nvPr/>
        </p:nvSpPr>
        <p:spPr>
          <a:xfrm>
            <a:off x="4939990" y="951996"/>
            <a:ext cx="6852054" cy="2580786"/>
          </a:xfrm>
          <a:prstGeom prst="roundRect">
            <a:avLst>
              <a:gd name="adj" fmla="val 488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Bildplatzhalter 37">
            <a:extLst>
              <a:ext uri="{FF2B5EF4-FFF2-40B4-BE49-F238E27FC236}">
                <a16:creationId xmlns:a16="http://schemas.microsoft.com/office/drawing/2014/main" id="{F96A69E8-284D-ABA5-C1D1-35132EBD5F9E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5319132" y="3939997"/>
            <a:ext cx="608790" cy="6087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10" name="Textplatzhalter 13">
            <a:extLst>
              <a:ext uri="{FF2B5EF4-FFF2-40B4-BE49-F238E27FC236}">
                <a16:creationId xmlns:a16="http://schemas.microsoft.com/office/drawing/2014/main" id="{68370172-26C6-EB15-4625-FE03AF21D06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319132" y="4643781"/>
            <a:ext cx="6093770" cy="1288314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11" name="Bildplatzhalter 37">
            <a:extLst>
              <a:ext uri="{FF2B5EF4-FFF2-40B4-BE49-F238E27FC236}">
                <a16:creationId xmlns:a16="http://schemas.microsoft.com/office/drawing/2014/main" id="{68CFFA9D-5591-36F8-20A0-2B3E159B64CF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319132" y="1219768"/>
            <a:ext cx="608790" cy="6087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3EDB265B-A54B-425D-9883-77516718C47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19132" y="1923552"/>
            <a:ext cx="6093770" cy="1288314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11480D25-8D11-B976-A4E4-7A6D521B0E37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6096000" y="1219767"/>
            <a:ext cx="5316902" cy="6087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FD075AAC-97DC-5DB0-496D-440B26B368C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096000" y="3939997"/>
            <a:ext cx="5316902" cy="6087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FFCD11B-3EBC-8036-0B89-CFB5CBB3A0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0871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95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  <p15:guide id="3" pos="3114" userDrawn="1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Textfelder rech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bgerundetes Rechteck 15">
            <a:extLst>
              <a:ext uri="{FF2B5EF4-FFF2-40B4-BE49-F238E27FC236}">
                <a16:creationId xmlns:a16="http://schemas.microsoft.com/office/drawing/2014/main" id="{7A2B8D1E-BBED-7ABD-9340-6B3E0B4C7DFF}"/>
              </a:ext>
            </a:extLst>
          </p:cNvPr>
          <p:cNvSpPr/>
          <p:nvPr userDrawn="1"/>
        </p:nvSpPr>
        <p:spPr>
          <a:xfrm>
            <a:off x="4939990" y="951996"/>
            <a:ext cx="6852054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Abgerundetes Rechteck 17">
            <a:extLst>
              <a:ext uri="{FF2B5EF4-FFF2-40B4-BE49-F238E27FC236}">
                <a16:creationId xmlns:a16="http://schemas.microsoft.com/office/drawing/2014/main" id="{498830A6-7357-EF51-217F-9A057E32569F}"/>
              </a:ext>
            </a:extLst>
          </p:cNvPr>
          <p:cNvSpPr/>
          <p:nvPr userDrawn="1"/>
        </p:nvSpPr>
        <p:spPr>
          <a:xfrm>
            <a:off x="4939990" y="2763170"/>
            <a:ext cx="6852054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Abgerundetes Rechteck 18">
            <a:extLst>
              <a:ext uri="{FF2B5EF4-FFF2-40B4-BE49-F238E27FC236}">
                <a16:creationId xmlns:a16="http://schemas.microsoft.com/office/drawing/2014/main" id="{A4B8D842-1B59-8F6A-2340-BDA3CCF42EF6}"/>
              </a:ext>
            </a:extLst>
          </p:cNvPr>
          <p:cNvSpPr/>
          <p:nvPr userDrawn="1"/>
        </p:nvSpPr>
        <p:spPr>
          <a:xfrm>
            <a:off x="4939990" y="4574344"/>
            <a:ext cx="6852054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0D36327-78A7-FBE1-41AE-8E560602E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D08BD4A-A847-AA65-A262-64943FAC00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348DDDE2-3704-40BD-85BB-B1DF1C354E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6876" y="951996"/>
            <a:ext cx="4213626" cy="5059102"/>
          </a:xfr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600" b="1">
                <a:latin typeface="+mj-lt"/>
              </a:defRPr>
            </a:lvl1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09724CC2-630E-C3D2-8E09-99D4A3B7A97C}"/>
              </a:ext>
            </a:extLst>
          </p:cNvPr>
          <p:cNvSpPr/>
          <p:nvPr/>
        </p:nvSpPr>
        <p:spPr>
          <a:xfrm>
            <a:off x="4939990" y="951996"/>
            <a:ext cx="6852054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FA983A3D-3C0F-4982-470F-5F75D9ADA35D}"/>
              </a:ext>
            </a:extLst>
          </p:cNvPr>
          <p:cNvSpPr/>
          <p:nvPr/>
        </p:nvSpPr>
        <p:spPr>
          <a:xfrm>
            <a:off x="4939990" y="2763170"/>
            <a:ext cx="6852054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Abgerundetes Rechteck 18">
            <a:extLst>
              <a:ext uri="{FF2B5EF4-FFF2-40B4-BE49-F238E27FC236}">
                <a16:creationId xmlns:a16="http://schemas.microsoft.com/office/drawing/2014/main" id="{712D37C9-6B9F-F361-16EB-A97ACAC59389}"/>
              </a:ext>
            </a:extLst>
          </p:cNvPr>
          <p:cNvSpPr/>
          <p:nvPr/>
        </p:nvSpPr>
        <p:spPr>
          <a:xfrm>
            <a:off x="4939990" y="4574344"/>
            <a:ext cx="6852054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Bildplatzhalter 37">
            <a:extLst>
              <a:ext uri="{FF2B5EF4-FFF2-40B4-BE49-F238E27FC236}">
                <a16:creationId xmlns:a16="http://schemas.microsoft.com/office/drawing/2014/main" id="{9338BC26-263C-A75F-429A-184C7F36FBA9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251976" y="1402968"/>
            <a:ext cx="775287" cy="7752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00987232-8269-B6AC-4688-9FCC3D0518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305796" y="1183111"/>
            <a:ext cx="5107105" cy="1215000"/>
          </a:xfrm>
        </p:spPr>
        <p:txBody>
          <a:bodyPr anchor="ctr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5" name="Bildplatzhalter 37">
            <a:extLst>
              <a:ext uri="{FF2B5EF4-FFF2-40B4-BE49-F238E27FC236}">
                <a16:creationId xmlns:a16="http://schemas.microsoft.com/office/drawing/2014/main" id="{00270957-B142-157F-46F3-4F0CD441AA9C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5251976" y="3214142"/>
            <a:ext cx="775287" cy="7752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ECC66C8F-655D-19E9-6076-E8E1982C4C6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305796" y="2994285"/>
            <a:ext cx="5107105" cy="1215000"/>
          </a:xfrm>
        </p:spPr>
        <p:txBody>
          <a:bodyPr anchor="ctr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7" name="Bildplatzhalter 37">
            <a:extLst>
              <a:ext uri="{FF2B5EF4-FFF2-40B4-BE49-F238E27FC236}">
                <a16:creationId xmlns:a16="http://schemas.microsoft.com/office/drawing/2014/main" id="{75A17EE7-402A-0A57-5431-1CCBC8E04AA4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5251976" y="5025316"/>
            <a:ext cx="775287" cy="7752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8" name="Textplatzhalter 13">
            <a:extLst>
              <a:ext uri="{FF2B5EF4-FFF2-40B4-BE49-F238E27FC236}">
                <a16:creationId xmlns:a16="http://schemas.microsoft.com/office/drawing/2014/main" id="{136AC140-2EC2-3725-274D-DA4CB3780BC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05796" y="4805459"/>
            <a:ext cx="5107105" cy="1215000"/>
          </a:xfrm>
        </p:spPr>
        <p:txBody>
          <a:bodyPr anchor="ctr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61C96A1-E09E-12BF-8B6D-5FC91058FC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4304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95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  <p15:guide id="3" pos="3114" userDrawn="1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Textfelder rech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bgerundetes Rechteck 13">
            <a:extLst>
              <a:ext uri="{FF2B5EF4-FFF2-40B4-BE49-F238E27FC236}">
                <a16:creationId xmlns:a16="http://schemas.microsoft.com/office/drawing/2014/main" id="{54559012-AF96-A70A-BC2C-7EA6593556D4}"/>
              </a:ext>
            </a:extLst>
          </p:cNvPr>
          <p:cNvSpPr/>
          <p:nvPr userDrawn="1"/>
        </p:nvSpPr>
        <p:spPr>
          <a:xfrm>
            <a:off x="4939990" y="951997"/>
            <a:ext cx="6852054" cy="1216079"/>
          </a:xfrm>
          <a:prstGeom prst="roundRect">
            <a:avLst>
              <a:gd name="adj" fmla="val 1036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Abgerundetes Rechteck 19">
            <a:extLst>
              <a:ext uri="{FF2B5EF4-FFF2-40B4-BE49-F238E27FC236}">
                <a16:creationId xmlns:a16="http://schemas.microsoft.com/office/drawing/2014/main" id="{55161780-3B49-1748-5F42-C0EFC94CE527}"/>
              </a:ext>
            </a:extLst>
          </p:cNvPr>
          <p:cNvSpPr/>
          <p:nvPr userDrawn="1"/>
        </p:nvSpPr>
        <p:spPr>
          <a:xfrm>
            <a:off x="4939990" y="2313162"/>
            <a:ext cx="6852054" cy="1216080"/>
          </a:xfrm>
          <a:prstGeom prst="roundRect">
            <a:avLst>
              <a:gd name="adj" fmla="val 1036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Abgerundetes Rechteck 22">
            <a:extLst>
              <a:ext uri="{FF2B5EF4-FFF2-40B4-BE49-F238E27FC236}">
                <a16:creationId xmlns:a16="http://schemas.microsoft.com/office/drawing/2014/main" id="{B7E47965-AD3C-F07F-4955-592ACC52FF0E}"/>
              </a:ext>
            </a:extLst>
          </p:cNvPr>
          <p:cNvSpPr/>
          <p:nvPr userDrawn="1"/>
        </p:nvSpPr>
        <p:spPr>
          <a:xfrm>
            <a:off x="4939990" y="3674328"/>
            <a:ext cx="6852054" cy="1216080"/>
          </a:xfrm>
          <a:prstGeom prst="roundRect">
            <a:avLst>
              <a:gd name="adj" fmla="val 1036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Abgerundetes Rechteck 28">
            <a:extLst>
              <a:ext uri="{FF2B5EF4-FFF2-40B4-BE49-F238E27FC236}">
                <a16:creationId xmlns:a16="http://schemas.microsoft.com/office/drawing/2014/main" id="{19EA2958-27B1-D7EC-EC50-9D6AF36FDBF5}"/>
              </a:ext>
            </a:extLst>
          </p:cNvPr>
          <p:cNvSpPr/>
          <p:nvPr userDrawn="1"/>
        </p:nvSpPr>
        <p:spPr>
          <a:xfrm>
            <a:off x="4939990" y="5035495"/>
            <a:ext cx="6852054" cy="1216080"/>
          </a:xfrm>
          <a:prstGeom prst="roundRect">
            <a:avLst>
              <a:gd name="adj" fmla="val 1036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0D36327-78A7-FBE1-41AE-8E560602E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D08BD4A-A847-AA65-A262-64943FAC00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348DDDE2-3704-40BD-85BB-B1DF1C354E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6876" y="951996"/>
            <a:ext cx="4213626" cy="5059102"/>
          </a:xfr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600" b="1">
                <a:latin typeface="+mj-lt"/>
              </a:defRPr>
            </a:lvl1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1361D3DF-0409-31F4-511A-50F15095A109}"/>
              </a:ext>
            </a:extLst>
          </p:cNvPr>
          <p:cNvSpPr/>
          <p:nvPr/>
        </p:nvSpPr>
        <p:spPr>
          <a:xfrm>
            <a:off x="4939990" y="951997"/>
            <a:ext cx="6852054" cy="1216079"/>
          </a:xfrm>
          <a:prstGeom prst="roundRect">
            <a:avLst>
              <a:gd name="adj" fmla="val 1036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Abgerundetes Rechteck 19">
            <a:extLst>
              <a:ext uri="{FF2B5EF4-FFF2-40B4-BE49-F238E27FC236}">
                <a16:creationId xmlns:a16="http://schemas.microsoft.com/office/drawing/2014/main" id="{ECCF9394-0163-A7E9-EAEA-32A97CF5FB89}"/>
              </a:ext>
            </a:extLst>
          </p:cNvPr>
          <p:cNvSpPr/>
          <p:nvPr/>
        </p:nvSpPr>
        <p:spPr>
          <a:xfrm>
            <a:off x="4939990" y="2313162"/>
            <a:ext cx="6852054" cy="1216080"/>
          </a:xfrm>
          <a:prstGeom prst="roundRect">
            <a:avLst>
              <a:gd name="adj" fmla="val 1036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Abgerundetes Rechteck 22">
            <a:extLst>
              <a:ext uri="{FF2B5EF4-FFF2-40B4-BE49-F238E27FC236}">
                <a16:creationId xmlns:a16="http://schemas.microsoft.com/office/drawing/2014/main" id="{52208270-45A0-81D4-60DF-2570916321A1}"/>
              </a:ext>
            </a:extLst>
          </p:cNvPr>
          <p:cNvSpPr/>
          <p:nvPr/>
        </p:nvSpPr>
        <p:spPr>
          <a:xfrm>
            <a:off x="4939990" y="3674328"/>
            <a:ext cx="6852054" cy="1216080"/>
          </a:xfrm>
          <a:prstGeom prst="roundRect">
            <a:avLst>
              <a:gd name="adj" fmla="val 1036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Abgerundetes Rechteck 28">
            <a:extLst>
              <a:ext uri="{FF2B5EF4-FFF2-40B4-BE49-F238E27FC236}">
                <a16:creationId xmlns:a16="http://schemas.microsoft.com/office/drawing/2014/main" id="{68932B5F-2BCC-6748-2CE2-D66C73F5BEE1}"/>
              </a:ext>
            </a:extLst>
          </p:cNvPr>
          <p:cNvSpPr/>
          <p:nvPr/>
        </p:nvSpPr>
        <p:spPr>
          <a:xfrm>
            <a:off x="4939990" y="5035495"/>
            <a:ext cx="6852054" cy="1216080"/>
          </a:xfrm>
          <a:prstGeom prst="roundRect">
            <a:avLst>
              <a:gd name="adj" fmla="val 1036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Bildplatzhalter 37">
            <a:extLst>
              <a:ext uri="{FF2B5EF4-FFF2-40B4-BE49-F238E27FC236}">
                <a16:creationId xmlns:a16="http://schemas.microsoft.com/office/drawing/2014/main" id="{A73CC244-3CCF-951A-B5BE-D0288D9D44B9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251976" y="1172393"/>
            <a:ext cx="775287" cy="7752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32" name="Textplatzhalter 13">
            <a:extLst>
              <a:ext uri="{FF2B5EF4-FFF2-40B4-BE49-F238E27FC236}">
                <a16:creationId xmlns:a16="http://schemas.microsoft.com/office/drawing/2014/main" id="{B133B753-5BF3-E7BE-03E5-D5FB3E9B66B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305796" y="1062464"/>
            <a:ext cx="5107105" cy="995144"/>
          </a:xfrm>
        </p:spPr>
        <p:txBody>
          <a:bodyPr anchor="ctr">
            <a:noAutofit/>
          </a:bodyPr>
          <a:lstStyle>
            <a:lvl1pPr>
              <a:spcBef>
                <a:spcPts val="5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33" name="Bildplatzhalter 37">
            <a:extLst>
              <a:ext uri="{FF2B5EF4-FFF2-40B4-BE49-F238E27FC236}">
                <a16:creationId xmlns:a16="http://schemas.microsoft.com/office/drawing/2014/main" id="{F8D6AD81-DA06-2F2B-3F7B-5628DF842260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5251976" y="2533559"/>
            <a:ext cx="775287" cy="7752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34" name="Textplatzhalter 13">
            <a:extLst>
              <a:ext uri="{FF2B5EF4-FFF2-40B4-BE49-F238E27FC236}">
                <a16:creationId xmlns:a16="http://schemas.microsoft.com/office/drawing/2014/main" id="{72551A18-AC16-7FA8-C1D4-36CF78EB8D9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305796" y="2423630"/>
            <a:ext cx="5107105" cy="995144"/>
          </a:xfrm>
        </p:spPr>
        <p:txBody>
          <a:bodyPr anchor="ctr">
            <a:noAutofit/>
          </a:bodyPr>
          <a:lstStyle>
            <a:lvl1pPr>
              <a:spcBef>
                <a:spcPts val="5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35" name="Bildplatzhalter 37">
            <a:extLst>
              <a:ext uri="{FF2B5EF4-FFF2-40B4-BE49-F238E27FC236}">
                <a16:creationId xmlns:a16="http://schemas.microsoft.com/office/drawing/2014/main" id="{235C9175-033B-F560-2EDA-873B5D75811D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5251976" y="3894725"/>
            <a:ext cx="775287" cy="7752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36" name="Textplatzhalter 13">
            <a:extLst>
              <a:ext uri="{FF2B5EF4-FFF2-40B4-BE49-F238E27FC236}">
                <a16:creationId xmlns:a16="http://schemas.microsoft.com/office/drawing/2014/main" id="{97A6E2C2-5B8C-3BFF-370C-51129E7B2ED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05796" y="3784796"/>
            <a:ext cx="5107105" cy="995144"/>
          </a:xfrm>
        </p:spPr>
        <p:txBody>
          <a:bodyPr anchor="ctr">
            <a:noAutofit/>
          </a:bodyPr>
          <a:lstStyle>
            <a:lvl1pPr>
              <a:spcBef>
                <a:spcPts val="5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37" name="Bildplatzhalter 37">
            <a:extLst>
              <a:ext uri="{FF2B5EF4-FFF2-40B4-BE49-F238E27FC236}">
                <a16:creationId xmlns:a16="http://schemas.microsoft.com/office/drawing/2014/main" id="{B196AA35-1B37-6500-24D1-439FA12FE1A6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5251976" y="5255892"/>
            <a:ext cx="775287" cy="7752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38" name="Textplatzhalter 13">
            <a:extLst>
              <a:ext uri="{FF2B5EF4-FFF2-40B4-BE49-F238E27FC236}">
                <a16:creationId xmlns:a16="http://schemas.microsoft.com/office/drawing/2014/main" id="{3451E5F4-58B2-5C86-629A-3A1F726AE4A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05796" y="5145963"/>
            <a:ext cx="5107105" cy="995144"/>
          </a:xfrm>
        </p:spPr>
        <p:txBody>
          <a:bodyPr anchor="ctr">
            <a:noAutofit/>
          </a:bodyPr>
          <a:lstStyle>
            <a:lvl1pPr>
              <a:spcBef>
                <a:spcPts val="5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18232EC-F7A0-DBC4-3F5A-B859F78D0E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71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95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  <p15:guide id="3" pos="3114" userDrawn="1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Textfelder +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6">
            <a:extLst>
              <a:ext uri="{FF2B5EF4-FFF2-40B4-BE49-F238E27FC236}">
                <a16:creationId xmlns:a16="http://schemas.microsoft.com/office/drawing/2014/main" id="{22D59DC1-6B80-3719-6A66-4B3DA08CF1AA}"/>
              </a:ext>
            </a:extLst>
          </p:cNvPr>
          <p:cNvSpPr/>
          <p:nvPr userDrawn="1"/>
        </p:nvSpPr>
        <p:spPr>
          <a:xfrm>
            <a:off x="4939990" y="951996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Abgerundetes Rechteck 21">
            <a:extLst>
              <a:ext uri="{FF2B5EF4-FFF2-40B4-BE49-F238E27FC236}">
                <a16:creationId xmlns:a16="http://schemas.microsoft.com/office/drawing/2014/main" id="{2198FB8E-9110-4E41-0D1D-597AC929919A}"/>
              </a:ext>
            </a:extLst>
          </p:cNvPr>
          <p:cNvSpPr/>
          <p:nvPr userDrawn="1"/>
        </p:nvSpPr>
        <p:spPr>
          <a:xfrm>
            <a:off x="8433037" y="951996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Abgerundetes Rechteck 26">
            <a:extLst>
              <a:ext uri="{FF2B5EF4-FFF2-40B4-BE49-F238E27FC236}">
                <a16:creationId xmlns:a16="http://schemas.microsoft.com/office/drawing/2014/main" id="{07518F85-2F4B-5D7A-9C1F-61945F25A38C}"/>
              </a:ext>
            </a:extLst>
          </p:cNvPr>
          <p:cNvSpPr/>
          <p:nvPr userDrawn="1"/>
        </p:nvSpPr>
        <p:spPr>
          <a:xfrm>
            <a:off x="4939990" y="2763170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Abgerundetes Rechteck 27">
            <a:extLst>
              <a:ext uri="{FF2B5EF4-FFF2-40B4-BE49-F238E27FC236}">
                <a16:creationId xmlns:a16="http://schemas.microsoft.com/office/drawing/2014/main" id="{4899BEEE-C816-E9E6-6893-65AE5931BFAA}"/>
              </a:ext>
            </a:extLst>
          </p:cNvPr>
          <p:cNvSpPr/>
          <p:nvPr userDrawn="1"/>
        </p:nvSpPr>
        <p:spPr>
          <a:xfrm>
            <a:off x="8433037" y="2763170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Abgerundetes Rechteck 38">
            <a:extLst>
              <a:ext uri="{FF2B5EF4-FFF2-40B4-BE49-F238E27FC236}">
                <a16:creationId xmlns:a16="http://schemas.microsoft.com/office/drawing/2014/main" id="{F7128E0E-124C-195D-1B45-0D37728761C3}"/>
              </a:ext>
            </a:extLst>
          </p:cNvPr>
          <p:cNvSpPr/>
          <p:nvPr userDrawn="1"/>
        </p:nvSpPr>
        <p:spPr>
          <a:xfrm>
            <a:off x="4939990" y="4574344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Abgerundetes Rechteck 39">
            <a:extLst>
              <a:ext uri="{FF2B5EF4-FFF2-40B4-BE49-F238E27FC236}">
                <a16:creationId xmlns:a16="http://schemas.microsoft.com/office/drawing/2014/main" id="{781744AE-A7CC-2C1D-739D-AF3A86224E04}"/>
              </a:ext>
            </a:extLst>
          </p:cNvPr>
          <p:cNvSpPr/>
          <p:nvPr userDrawn="1"/>
        </p:nvSpPr>
        <p:spPr>
          <a:xfrm>
            <a:off x="8433037" y="4574344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E9BE19EC-E653-F841-5F40-4E039463519F}"/>
              </a:ext>
            </a:extLst>
          </p:cNvPr>
          <p:cNvSpPr/>
          <p:nvPr/>
        </p:nvSpPr>
        <p:spPr>
          <a:xfrm>
            <a:off x="4939990" y="951996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Abgerundetes Rechteck 21">
            <a:extLst>
              <a:ext uri="{FF2B5EF4-FFF2-40B4-BE49-F238E27FC236}">
                <a16:creationId xmlns:a16="http://schemas.microsoft.com/office/drawing/2014/main" id="{077EA993-CB27-A051-F30D-5843EDB2C212}"/>
              </a:ext>
            </a:extLst>
          </p:cNvPr>
          <p:cNvSpPr/>
          <p:nvPr/>
        </p:nvSpPr>
        <p:spPr>
          <a:xfrm>
            <a:off x="8433037" y="951996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Abgerundetes Rechteck 26">
            <a:extLst>
              <a:ext uri="{FF2B5EF4-FFF2-40B4-BE49-F238E27FC236}">
                <a16:creationId xmlns:a16="http://schemas.microsoft.com/office/drawing/2014/main" id="{85947807-0CDE-6A94-ECEA-D8A11FA067B7}"/>
              </a:ext>
            </a:extLst>
          </p:cNvPr>
          <p:cNvSpPr/>
          <p:nvPr/>
        </p:nvSpPr>
        <p:spPr>
          <a:xfrm>
            <a:off x="4939990" y="2763170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Abgerundetes Rechteck 27">
            <a:extLst>
              <a:ext uri="{FF2B5EF4-FFF2-40B4-BE49-F238E27FC236}">
                <a16:creationId xmlns:a16="http://schemas.microsoft.com/office/drawing/2014/main" id="{B92CBB7B-A7F7-4E2F-6528-EDF2A94CE24C}"/>
              </a:ext>
            </a:extLst>
          </p:cNvPr>
          <p:cNvSpPr/>
          <p:nvPr/>
        </p:nvSpPr>
        <p:spPr>
          <a:xfrm>
            <a:off x="8433037" y="2763170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9" name="Abgerundetes Rechteck 38">
            <a:extLst>
              <a:ext uri="{FF2B5EF4-FFF2-40B4-BE49-F238E27FC236}">
                <a16:creationId xmlns:a16="http://schemas.microsoft.com/office/drawing/2014/main" id="{7E0222BA-3E43-7463-66CF-5C56731531EC}"/>
              </a:ext>
            </a:extLst>
          </p:cNvPr>
          <p:cNvSpPr/>
          <p:nvPr/>
        </p:nvSpPr>
        <p:spPr>
          <a:xfrm>
            <a:off x="4939990" y="4574344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0" name="Abgerundetes Rechteck 39">
            <a:extLst>
              <a:ext uri="{FF2B5EF4-FFF2-40B4-BE49-F238E27FC236}">
                <a16:creationId xmlns:a16="http://schemas.microsoft.com/office/drawing/2014/main" id="{21CF4A5D-938F-E767-4F02-F22EDBC368A9}"/>
              </a:ext>
            </a:extLst>
          </p:cNvPr>
          <p:cNvSpPr/>
          <p:nvPr/>
        </p:nvSpPr>
        <p:spPr>
          <a:xfrm>
            <a:off x="8433037" y="4574344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0D36327-78A7-FBE1-41AE-8E560602E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D08BD4A-A847-AA65-A262-64943FAC00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348DDDE2-3704-40BD-85BB-B1DF1C354E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6876" y="951996"/>
            <a:ext cx="4213626" cy="5059102"/>
          </a:xfr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600" b="1">
                <a:latin typeface="+mj-lt"/>
              </a:defRPr>
            </a:lvl1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10" name="Bildplatzhalter 37">
            <a:extLst>
              <a:ext uri="{FF2B5EF4-FFF2-40B4-BE49-F238E27FC236}">
                <a16:creationId xmlns:a16="http://schemas.microsoft.com/office/drawing/2014/main" id="{44EDACF0-3757-2110-84A2-529D8646D89E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198494" y="1140754"/>
            <a:ext cx="456097" cy="45609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69E1470D-2D03-D68F-D414-508ECD5AB1D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198494" y="1671503"/>
            <a:ext cx="2841999" cy="836306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42" name="Bildplatzhalter 37">
            <a:extLst>
              <a:ext uri="{FF2B5EF4-FFF2-40B4-BE49-F238E27FC236}">
                <a16:creationId xmlns:a16="http://schemas.microsoft.com/office/drawing/2014/main" id="{428DE197-4CB9-03B1-337C-40202857FB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8693131" y="1140754"/>
            <a:ext cx="456097" cy="45609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43" name="Textplatzhalter 13">
            <a:extLst>
              <a:ext uri="{FF2B5EF4-FFF2-40B4-BE49-F238E27FC236}">
                <a16:creationId xmlns:a16="http://schemas.microsoft.com/office/drawing/2014/main" id="{E8CC250E-EB52-FEB2-02D4-735EEA4B537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91541" y="1671503"/>
            <a:ext cx="2841999" cy="836306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52" name="Bildplatzhalter 37">
            <a:extLst>
              <a:ext uri="{FF2B5EF4-FFF2-40B4-BE49-F238E27FC236}">
                <a16:creationId xmlns:a16="http://schemas.microsoft.com/office/drawing/2014/main" id="{04FBEF6F-96B3-619F-F3BE-17C9D600220D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5198494" y="2948548"/>
            <a:ext cx="456097" cy="45609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53" name="Textplatzhalter 13">
            <a:extLst>
              <a:ext uri="{FF2B5EF4-FFF2-40B4-BE49-F238E27FC236}">
                <a16:creationId xmlns:a16="http://schemas.microsoft.com/office/drawing/2014/main" id="{3395EA9B-2A12-DA88-D131-CFB699E5ABB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198494" y="3479297"/>
            <a:ext cx="2841999" cy="836306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54" name="Bildplatzhalter 37">
            <a:extLst>
              <a:ext uri="{FF2B5EF4-FFF2-40B4-BE49-F238E27FC236}">
                <a16:creationId xmlns:a16="http://schemas.microsoft.com/office/drawing/2014/main" id="{F09F4599-9DE7-1864-D876-958578982DE2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8693131" y="2948548"/>
            <a:ext cx="456097" cy="45609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55" name="Textplatzhalter 13">
            <a:extLst>
              <a:ext uri="{FF2B5EF4-FFF2-40B4-BE49-F238E27FC236}">
                <a16:creationId xmlns:a16="http://schemas.microsoft.com/office/drawing/2014/main" id="{02741D87-21AA-D9C9-E70F-0F071ED0339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691541" y="3479297"/>
            <a:ext cx="2841999" cy="836306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56" name="Bildplatzhalter 37">
            <a:extLst>
              <a:ext uri="{FF2B5EF4-FFF2-40B4-BE49-F238E27FC236}">
                <a16:creationId xmlns:a16="http://schemas.microsoft.com/office/drawing/2014/main" id="{36B13F22-A9FF-1181-6569-B3CD751F84B2}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5198494" y="4763102"/>
            <a:ext cx="456097" cy="45609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57" name="Textplatzhalter 13">
            <a:extLst>
              <a:ext uri="{FF2B5EF4-FFF2-40B4-BE49-F238E27FC236}">
                <a16:creationId xmlns:a16="http://schemas.microsoft.com/office/drawing/2014/main" id="{92ABCD8E-68F2-C6FF-D1D6-6731403D2AF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98494" y="5293851"/>
            <a:ext cx="2841999" cy="836306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58" name="Bildplatzhalter 37">
            <a:extLst>
              <a:ext uri="{FF2B5EF4-FFF2-40B4-BE49-F238E27FC236}">
                <a16:creationId xmlns:a16="http://schemas.microsoft.com/office/drawing/2014/main" id="{E29E569F-2F3A-0C4A-8D52-8BA3040337E9}"/>
              </a:ext>
            </a:extLst>
          </p:cNvPr>
          <p:cNvSpPr>
            <a:spLocks noGrp="1" noChangeAspect="1"/>
          </p:cNvSpPr>
          <p:nvPr>
            <p:ph type="pic" sz="quarter" idx="41" hasCustomPrompt="1"/>
          </p:nvPr>
        </p:nvSpPr>
        <p:spPr>
          <a:xfrm>
            <a:off x="8693131" y="4763102"/>
            <a:ext cx="456097" cy="45609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59" name="Textplatzhalter 13">
            <a:extLst>
              <a:ext uri="{FF2B5EF4-FFF2-40B4-BE49-F238E27FC236}">
                <a16:creationId xmlns:a16="http://schemas.microsoft.com/office/drawing/2014/main" id="{C4F7A4F4-B402-B3C0-EB5A-30483866E0B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691541" y="5293851"/>
            <a:ext cx="2841999" cy="836306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1598315E-0781-C994-D928-D61A920AA9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612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114" userDrawn="1">
          <p15:clr>
            <a:srgbClr val="5ACBF0"/>
          </p15:clr>
        </p15:guide>
        <p15:guide id="2" orient="horz" pos="595" userDrawn="1">
          <p15:clr>
            <a:srgbClr val="5ACBF0"/>
          </p15:clr>
        </p15:guide>
        <p15:guide id="3" orient="horz" pos="3929" userDrawn="1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4129087"/>
            <a:ext cx="11395074" cy="2122488"/>
          </a:xfrm>
        </p:spPr>
        <p:txBody>
          <a:bodyPr lIns="0" tIns="0" rIns="0" bIns="0" anchor="t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 err="1"/>
              <a:t>Kapiteltrenner</a:t>
            </a:r>
            <a:r>
              <a:rPr lang="de-AT" noProof="0"/>
              <a:t> 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2E3A09BB-75CC-D2E0-56A2-1DA12B61F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ED17B827-B2AA-7549-0910-6B786C39AB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2857" y="562798"/>
            <a:ext cx="2499093" cy="18511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D98B9442-0E2E-D654-C778-B85D96923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C601040-8DB8-D9B7-4847-0B8228D19D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6875" y="2006599"/>
            <a:ext cx="4589653" cy="2122488"/>
          </a:xfrm>
        </p:spPr>
        <p:txBody>
          <a:bodyPr anchor="b">
            <a:normAutofit/>
          </a:bodyPr>
          <a:lstStyle>
            <a:lvl1pPr marL="0" indent="0">
              <a:buNone/>
              <a:defRPr sz="8800" b="1"/>
            </a:lvl1pPr>
          </a:lstStyle>
          <a:p>
            <a:pPr lvl="0"/>
            <a:r>
              <a:rPr lang="de-DE"/>
              <a:t>01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9858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_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4129087"/>
            <a:ext cx="11395074" cy="2122488"/>
          </a:xfrm>
        </p:spPr>
        <p:txBody>
          <a:bodyPr lIns="0" tIns="0" rIns="0" bIns="0" anchor="t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 err="1"/>
              <a:t>Kapiteltrenner</a:t>
            </a:r>
            <a:r>
              <a:rPr lang="de-AT" noProof="0"/>
              <a:t> 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2E3A09BB-75CC-D2E0-56A2-1DA12B61F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D98B9442-0E2E-D654-C778-B85D96923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C601040-8DB8-D9B7-4847-0B8228D19D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6875" y="2006599"/>
            <a:ext cx="4589653" cy="2122488"/>
          </a:xfrm>
        </p:spPr>
        <p:txBody>
          <a:bodyPr anchor="b">
            <a:normAutofit/>
          </a:bodyPr>
          <a:lstStyle>
            <a:lvl1pPr marL="0" indent="0">
              <a:buNone/>
              <a:defRPr sz="8800" b="1"/>
            </a:lvl1pPr>
          </a:lstStyle>
          <a:p>
            <a:pPr lvl="0"/>
            <a:r>
              <a:rPr lang="de-DE"/>
              <a:t>01</a:t>
            </a:r>
            <a:endParaRPr lang="de-AT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C84B879-6514-60BE-CF0C-1D32AEFF24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4651" y="562344"/>
            <a:ext cx="2164400" cy="18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557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_weiß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rafik 33">
            <a:extLst>
              <a:ext uri="{FF2B5EF4-FFF2-40B4-BE49-F238E27FC236}">
                <a16:creationId xmlns:a16="http://schemas.microsoft.com/office/drawing/2014/main" id="{2E3A09BB-75CC-D2E0-56A2-1DA12B61F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ED17B827-B2AA-7549-0910-6B786C39AB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2857" y="562798"/>
            <a:ext cx="2499093" cy="18511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D98B9442-0E2E-D654-C778-B85D96923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E8CA517-7F97-42DE-AC97-3D88E583B7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92857" y="562798"/>
            <a:ext cx="2499093" cy="185118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77372C20-9736-171D-DD9F-1E43278730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4129087"/>
            <a:ext cx="11395074" cy="2122488"/>
          </a:xfrm>
        </p:spPr>
        <p:txBody>
          <a:bodyPr lIns="0" tIns="0" rIns="0" bIns="0" anchor="t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 err="1"/>
              <a:t>Kapiteltrenner</a:t>
            </a:r>
            <a:r>
              <a:rPr lang="de-AT" noProof="0"/>
              <a:t> </a:t>
            </a:r>
          </a:p>
        </p:txBody>
      </p:sp>
      <p:sp>
        <p:nvSpPr>
          <p:cNvPr id="5" name="Textplatzhalter 8">
            <a:extLst>
              <a:ext uri="{FF2B5EF4-FFF2-40B4-BE49-F238E27FC236}">
                <a16:creationId xmlns:a16="http://schemas.microsoft.com/office/drawing/2014/main" id="{92026138-5FB3-C71F-B27E-54B00A5C03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6875" y="2006599"/>
            <a:ext cx="4589653" cy="2122488"/>
          </a:xfrm>
        </p:spPr>
        <p:txBody>
          <a:bodyPr anchor="b">
            <a:normAutofit/>
          </a:bodyPr>
          <a:lstStyle>
            <a:lvl1pPr marL="0" indent="0">
              <a:buNone/>
              <a:defRPr sz="8800" b="1"/>
            </a:lvl1pPr>
          </a:lstStyle>
          <a:p>
            <a:pPr lvl="0"/>
            <a:r>
              <a:rPr lang="de-DE"/>
              <a:t>01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4704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_weiß 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3EBD99BB-6610-A628-D231-FD8CDEE314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24651" y="562344"/>
            <a:ext cx="2164400" cy="186185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2E3A09BB-75CC-D2E0-56A2-1DA12B61F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D98B9442-0E2E-D654-C778-B85D96923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77372C20-9736-171D-DD9F-1E43278730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4129087"/>
            <a:ext cx="11395074" cy="2122488"/>
          </a:xfrm>
        </p:spPr>
        <p:txBody>
          <a:bodyPr lIns="0" tIns="0" rIns="0" bIns="0" anchor="t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 err="1"/>
              <a:t>Kapiteltrenner</a:t>
            </a:r>
            <a:r>
              <a:rPr lang="de-AT" noProof="0"/>
              <a:t> </a:t>
            </a:r>
          </a:p>
        </p:txBody>
      </p:sp>
      <p:sp>
        <p:nvSpPr>
          <p:cNvPr id="5" name="Textplatzhalter 8">
            <a:extLst>
              <a:ext uri="{FF2B5EF4-FFF2-40B4-BE49-F238E27FC236}">
                <a16:creationId xmlns:a16="http://schemas.microsoft.com/office/drawing/2014/main" id="{92026138-5FB3-C71F-B27E-54B00A5C03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6875" y="2006599"/>
            <a:ext cx="4589653" cy="2122488"/>
          </a:xfrm>
        </p:spPr>
        <p:txBody>
          <a:bodyPr anchor="b">
            <a:normAutofit/>
          </a:bodyPr>
          <a:lstStyle>
            <a:lvl1pPr marL="0" indent="0">
              <a:buNone/>
              <a:defRPr sz="8800" b="1"/>
            </a:lvl1pPr>
          </a:lstStyle>
          <a:p>
            <a:pPr lvl="0"/>
            <a:r>
              <a:rPr lang="de-DE"/>
              <a:t>01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63835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extfelder + 2 Bi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bgerundetes Rechteck 1">
            <a:extLst>
              <a:ext uri="{FF2B5EF4-FFF2-40B4-BE49-F238E27FC236}">
                <a16:creationId xmlns:a16="http://schemas.microsoft.com/office/drawing/2014/main" id="{E78E1706-383F-A725-0E64-3F6F03B1A3D7}"/>
              </a:ext>
            </a:extLst>
          </p:cNvPr>
          <p:cNvSpPr/>
          <p:nvPr userDrawn="1"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Abgerundetes Rechteck 9">
            <a:extLst>
              <a:ext uri="{FF2B5EF4-FFF2-40B4-BE49-F238E27FC236}">
                <a16:creationId xmlns:a16="http://schemas.microsoft.com/office/drawing/2014/main" id="{22E6FAB8-50F4-E052-B0AD-BFD8D58639D8}"/>
              </a:ext>
            </a:extLst>
          </p:cNvPr>
          <p:cNvSpPr/>
          <p:nvPr userDrawn="1"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E345BF5C-D357-03F9-E50E-2BD30D642DFF}"/>
              </a:ext>
            </a:extLst>
          </p:cNvPr>
          <p:cNvSpPr/>
          <p:nvPr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Bildplatzhalter 11">
            <a:extLst>
              <a:ext uri="{FF2B5EF4-FFF2-40B4-BE49-F238E27FC236}">
                <a16:creationId xmlns:a16="http://schemas.microsoft.com/office/drawing/2014/main" id="{4C82CB49-68AD-2200-0FB8-C5D90CE3EA8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00237" y="1807029"/>
            <a:ext cx="5619628" cy="2426944"/>
          </a:xfrm>
          <a:prstGeom prst="round2SameRect">
            <a:avLst>
              <a:gd name="adj1" fmla="val 5192"/>
              <a:gd name="adj2" fmla="val 0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9" name="Bildplatzhalter 11">
            <a:extLst>
              <a:ext uri="{FF2B5EF4-FFF2-40B4-BE49-F238E27FC236}">
                <a16:creationId xmlns:a16="http://schemas.microsoft.com/office/drawing/2014/main" id="{AE4E177B-EDFC-EDC5-C99B-0FA3AADA888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72416" y="1807029"/>
            <a:ext cx="5619628" cy="2426944"/>
          </a:xfrm>
          <a:prstGeom prst="round2SameRect">
            <a:avLst>
              <a:gd name="adj1" fmla="val 5192"/>
              <a:gd name="adj2" fmla="val 0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20291B4F-DDF2-A924-A594-09A9070F6BD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27646" y="4450582"/>
            <a:ext cx="4964807" cy="1584383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21" name="Textplatzhalter 13">
            <a:extLst>
              <a:ext uri="{FF2B5EF4-FFF2-40B4-BE49-F238E27FC236}">
                <a16:creationId xmlns:a16="http://schemas.microsoft.com/office/drawing/2014/main" id="{38B95EB0-810A-A601-7714-C80E20B8195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499547" y="4450582"/>
            <a:ext cx="4964807" cy="1584383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D7D42D3D-EB30-968B-FE8A-5715497F0F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5025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Textfelder + 3 Bi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bgerundetes Rechteck 1">
            <a:extLst>
              <a:ext uri="{FF2B5EF4-FFF2-40B4-BE49-F238E27FC236}">
                <a16:creationId xmlns:a16="http://schemas.microsoft.com/office/drawing/2014/main" id="{6644876E-C681-7243-8137-D3B5887226CE}"/>
              </a:ext>
            </a:extLst>
          </p:cNvPr>
          <p:cNvSpPr/>
          <p:nvPr userDrawn="1"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Abgerundetes Rechteck 38">
            <a:extLst>
              <a:ext uri="{FF2B5EF4-FFF2-40B4-BE49-F238E27FC236}">
                <a16:creationId xmlns:a16="http://schemas.microsoft.com/office/drawing/2014/main" id="{C64415E9-1A6C-13F1-F1F9-0E5D901B6267}"/>
              </a:ext>
            </a:extLst>
          </p:cNvPr>
          <p:cNvSpPr/>
          <p:nvPr userDrawn="1"/>
        </p:nvSpPr>
        <p:spPr>
          <a:xfrm>
            <a:off x="4248246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Abgerundetes Rechteck 39">
            <a:extLst>
              <a:ext uri="{FF2B5EF4-FFF2-40B4-BE49-F238E27FC236}">
                <a16:creationId xmlns:a16="http://schemas.microsoft.com/office/drawing/2014/main" id="{9F4FB90B-0402-67D1-352E-FB234D20914B}"/>
              </a:ext>
            </a:extLst>
          </p:cNvPr>
          <p:cNvSpPr/>
          <p:nvPr userDrawn="1"/>
        </p:nvSpPr>
        <p:spPr>
          <a:xfrm>
            <a:off x="8096254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39" name="Abgerundetes Rechteck 38">
            <a:extLst>
              <a:ext uri="{FF2B5EF4-FFF2-40B4-BE49-F238E27FC236}">
                <a16:creationId xmlns:a16="http://schemas.microsoft.com/office/drawing/2014/main" id="{81578355-0D9B-64FA-E4CE-98AD72ED456C}"/>
              </a:ext>
            </a:extLst>
          </p:cNvPr>
          <p:cNvSpPr/>
          <p:nvPr/>
        </p:nvSpPr>
        <p:spPr>
          <a:xfrm>
            <a:off x="4248246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0" name="Abgerundetes Rechteck 39">
            <a:extLst>
              <a:ext uri="{FF2B5EF4-FFF2-40B4-BE49-F238E27FC236}">
                <a16:creationId xmlns:a16="http://schemas.microsoft.com/office/drawing/2014/main" id="{7A244AA8-1DFA-A55B-5B2F-10E5D6A09F96}"/>
              </a:ext>
            </a:extLst>
          </p:cNvPr>
          <p:cNvSpPr/>
          <p:nvPr/>
        </p:nvSpPr>
        <p:spPr>
          <a:xfrm>
            <a:off x="8096254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37CD29BA-F68A-92AD-BD41-DFDA8DCE1DE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00237" y="1807029"/>
            <a:ext cx="3695790" cy="2426944"/>
          </a:xfrm>
          <a:prstGeom prst="round2SameRect">
            <a:avLst>
              <a:gd name="adj1" fmla="val 5192"/>
              <a:gd name="adj2" fmla="val 0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3" name="Bildplatzhalter 11">
            <a:extLst>
              <a:ext uri="{FF2B5EF4-FFF2-40B4-BE49-F238E27FC236}">
                <a16:creationId xmlns:a16="http://schemas.microsoft.com/office/drawing/2014/main" id="{1F2A302D-1F1F-7DC5-3059-BAF9884FE0C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48246" y="1807029"/>
            <a:ext cx="3695790" cy="2426944"/>
          </a:xfrm>
          <a:prstGeom prst="round2SameRect">
            <a:avLst>
              <a:gd name="adj1" fmla="val 5192"/>
              <a:gd name="adj2" fmla="val 0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4" name="Bildplatzhalter 11">
            <a:extLst>
              <a:ext uri="{FF2B5EF4-FFF2-40B4-BE49-F238E27FC236}">
                <a16:creationId xmlns:a16="http://schemas.microsoft.com/office/drawing/2014/main" id="{40A2F63F-9F24-7D26-2B17-9F81BF507B2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96254" y="1807029"/>
            <a:ext cx="3695790" cy="2426944"/>
          </a:xfrm>
          <a:prstGeom prst="round2SameRect">
            <a:avLst>
              <a:gd name="adj1" fmla="val 5192"/>
              <a:gd name="adj2" fmla="val 0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21" name="Textplatzhalter 13">
            <a:extLst>
              <a:ext uri="{FF2B5EF4-FFF2-40B4-BE49-F238E27FC236}">
                <a16:creationId xmlns:a16="http://schemas.microsoft.com/office/drawing/2014/main" id="{967E97A0-A3C1-5268-D757-86DBAE5A553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27647" y="4450582"/>
            <a:ext cx="3040970" cy="1584383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825BB11A-4771-5B05-D606-B1F73A63A23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75656" y="4450582"/>
            <a:ext cx="3040970" cy="1584383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34310FC9-2589-2EC2-47AE-E03B9DA2716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23664" y="4450582"/>
            <a:ext cx="3040970" cy="1584383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51D07FF-0C4E-9322-E813-5108801CD0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3090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er +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11">
            <a:extLst>
              <a:ext uri="{FF2B5EF4-FFF2-40B4-BE49-F238E27FC236}">
                <a16:creationId xmlns:a16="http://schemas.microsoft.com/office/drawing/2014/main" id="{0101A8E4-493A-EB04-B828-7892BBA3574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00237" y="1807029"/>
            <a:ext cx="3695790" cy="3842082"/>
          </a:xfrm>
          <a:prstGeom prst="roundRect">
            <a:avLst>
              <a:gd name="adj" fmla="val 3409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9" name="Bildplatzhalter 11">
            <a:extLst>
              <a:ext uri="{FF2B5EF4-FFF2-40B4-BE49-F238E27FC236}">
                <a16:creationId xmlns:a16="http://schemas.microsoft.com/office/drawing/2014/main" id="{7D035DF2-8C12-690C-F7FD-815D4211E24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48246" y="1807029"/>
            <a:ext cx="3695790" cy="3842082"/>
          </a:xfrm>
          <a:prstGeom prst="roundRect">
            <a:avLst>
              <a:gd name="adj" fmla="val 3409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20" name="Bildplatzhalter 11">
            <a:extLst>
              <a:ext uri="{FF2B5EF4-FFF2-40B4-BE49-F238E27FC236}">
                <a16:creationId xmlns:a16="http://schemas.microsoft.com/office/drawing/2014/main" id="{8DF0FE01-9432-3C6D-58D6-62E40F0B663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96254" y="1807029"/>
            <a:ext cx="3695790" cy="3842082"/>
          </a:xfrm>
          <a:prstGeom prst="roundRect">
            <a:avLst>
              <a:gd name="adj" fmla="val 3409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4" name="Textplatzhalter 13">
            <a:extLst>
              <a:ext uri="{FF2B5EF4-FFF2-40B4-BE49-F238E27FC236}">
                <a16:creationId xmlns:a16="http://schemas.microsoft.com/office/drawing/2014/main" id="{11061068-E2E2-CCFE-9303-E4481171223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00236" y="5755341"/>
            <a:ext cx="3695789" cy="4819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5" name="Textplatzhalter 13">
            <a:extLst>
              <a:ext uri="{FF2B5EF4-FFF2-40B4-BE49-F238E27FC236}">
                <a16:creationId xmlns:a16="http://schemas.microsoft.com/office/drawing/2014/main" id="{8865DB95-B2E2-0BB2-C866-4F93C88E868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48246" y="5755341"/>
            <a:ext cx="3695789" cy="4819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499B011D-469B-50F2-279B-B8E65892BE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096254" y="5755341"/>
            <a:ext cx="3695789" cy="4819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7E2FBA2-1476-1BED-06EB-D64FD0EC26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386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557" userDrawn="1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links + 2 Textfelder + Ioc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bgerundetes Rechteck 24">
            <a:extLst>
              <a:ext uri="{FF2B5EF4-FFF2-40B4-BE49-F238E27FC236}">
                <a16:creationId xmlns:a16="http://schemas.microsoft.com/office/drawing/2014/main" id="{405DFA7C-FBBB-061D-BD10-2FB5A1DD93E8}"/>
              </a:ext>
            </a:extLst>
          </p:cNvPr>
          <p:cNvSpPr/>
          <p:nvPr userDrawn="1"/>
        </p:nvSpPr>
        <p:spPr>
          <a:xfrm>
            <a:off x="4248105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Abgerundetes Rechteck 28">
            <a:extLst>
              <a:ext uri="{FF2B5EF4-FFF2-40B4-BE49-F238E27FC236}">
                <a16:creationId xmlns:a16="http://schemas.microsoft.com/office/drawing/2014/main" id="{2E68E341-DEA0-F363-9269-6EECD8A57AAA}"/>
              </a:ext>
            </a:extLst>
          </p:cNvPr>
          <p:cNvSpPr/>
          <p:nvPr userDrawn="1"/>
        </p:nvSpPr>
        <p:spPr>
          <a:xfrm>
            <a:off x="8095973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7F52C770-A832-547B-85F7-F5D15330C40E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0" y="0"/>
            <a:ext cx="390705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44744" y="917607"/>
            <a:ext cx="7547019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5" name="Abgerundetes Rechteck 24">
            <a:extLst>
              <a:ext uri="{FF2B5EF4-FFF2-40B4-BE49-F238E27FC236}">
                <a16:creationId xmlns:a16="http://schemas.microsoft.com/office/drawing/2014/main" id="{A8DCE9C4-A0F9-6AF2-2DFE-C335CFCA5F9E}"/>
              </a:ext>
            </a:extLst>
          </p:cNvPr>
          <p:cNvSpPr/>
          <p:nvPr/>
        </p:nvSpPr>
        <p:spPr>
          <a:xfrm>
            <a:off x="4248105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Inhaltsplatzhalter 10">
            <a:extLst>
              <a:ext uri="{FF2B5EF4-FFF2-40B4-BE49-F238E27FC236}">
                <a16:creationId xmlns:a16="http://schemas.microsoft.com/office/drawing/2014/main" id="{A7E72EE2-41F1-C02C-4D47-8BD627E92F4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575514" y="2828925"/>
            <a:ext cx="3040972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27" name="Bildplatzhalter 37">
            <a:extLst>
              <a:ext uri="{FF2B5EF4-FFF2-40B4-BE49-F238E27FC236}">
                <a16:creationId xmlns:a16="http://schemas.microsoft.com/office/drawing/2014/main" id="{3B0D7E67-26C6-E81A-DD57-AF75B397F6A5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575514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3391B775-E400-8AFC-317F-9980169234A8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379883" y="2080194"/>
            <a:ext cx="2236604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29" name="Abgerundetes Rechteck 28">
            <a:extLst>
              <a:ext uri="{FF2B5EF4-FFF2-40B4-BE49-F238E27FC236}">
                <a16:creationId xmlns:a16="http://schemas.microsoft.com/office/drawing/2014/main" id="{DCA12221-82B9-A319-A180-89159BD24254}"/>
              </a:ext>
            </a:extLst>
          </p:cNvPr>
          <p:cNvSpPr/>
          <p:nvPr/>
        </p:nvSpPr>
        <p:spPr>
          <a:xfrm>
            <a:off x="8095973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0" name="Inhaltsplatzhalter 10">
            <a:extLst>
              <a:ext uri="{FF2B5EF4-FFF2-40B4-BE49-F238E27FC236}">
                <a16:creationId xmlns:a16="http://schemas.microsoft.com/office/drawing/2014/main" id="{138AD535-C258-13A0-958F-100D86D0B8BC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8423382" y="2828925"/>
            <a:ext cx="3040972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31" name="Bildplatzhalter 37">
            <a:extLst>
              <a:ext uri="{FF2B5EF4-FFF2-40B4-BE49-F238E27FC236}">
                <a16:creationId xmlns:a16="http://schemas.microsoft.com/office/drawing/2014/main" id="{22A1288A-05B3-CD2E-C3F8-A47DC18B57A0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8423382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32" name="Textplatzhalter 2">
            <a:extLst>
              <a:ext uri="{FF2B5EF4-FFF2-40B4-BE49-F238E27FC236}">
                <a16:creationId xmlns:a16="http://schemas.microsoft.com/office/drawing/2014/main" id="{7D36DE86-B6E6-CA6F-6258-75627E3CCC04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227751" y="2080194"/>
            <a:ext cx="2236604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D294433-6B91-EDA6-EBC9-352805F49A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234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extfelder + Bild + Ioc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bgerundetes Rechteck 24">
            <a:extLst>
              <a:ext uri="{FF2B5EF4-FFF2-40B4-BE49-F238E27FC236}">
                <a16:creationId xmlns:a16="http://schemas.microsoft.com/office/drawing/2014/main" id="{627108B2-D8AE-37EC-6399-94EABDF3180B}"/>
              </a:ext>
            </a:extLst>
          </p:cNvPr>
          <p:cNvSpPr/>
          <p:nvPr userDrawn="1"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Abgerundetes Rechteck 28">
            <a:extLst>
              <a:ext uri="{FF2B5EF4-FFF2-40B4-BE49-F238E27FC236}">
                <a16:creationId xmlns:a16="http://schemas.microsoft.com/office/drawing/2014/main" id="{8825AD30-7235-4828-5268-82EEA45EA82F}"/>
              </a:ext>
            </a:extLst>
          </p:cNvPr>
          <p:cNvSpPr/>
          <p:nvPr userDrawn="1"/>
        </p:nvSpPr>
        <p:spPr>
          <a:xfrm>
            <a:off x="4248105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7F52C770-A832-547B-85F7-F5D15330C40E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8284949" y="0"/>
            <a:ext cx="390705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7547019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5" name="Abgerundetes Rechteck 24">
            <a:extLst>
              <a:ext uri="{FF2B5EF4-FFF2-40B4-BE49-F238E27FC236}">
                <a16:creationId xmlns:a16="http://schemas.microsoft.com/office/drawing/2014/main" id="{A8DCE9C4-A0F9-6AF2-2DFE-C335CFCA5F9E}"/>
              </a:ext>
            </a:extLst>
          </p:cNvPr>
          <p:cNvSpPr/>
          <p:nvPr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Inhaltsplatzhalter 10">
            <a:extLst>
              <a:ext uri="{FF2B5EF4-FFF2-40B4-BE49-F238E27FC236}">
                <a16:creationId xmlns:a16="http://schemas.microsoft.com/office/drawing/2014/main" id="{A7E72EE2-41F1-C02C-4D47-8BD627E92F4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27646" y="2828925"/>
            <a:ext cx="3040972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27" name="Bildplatzhalter 37">
            <a:extLst>
              <a:ext uri="{FF2B5EF4-FFF2-40B4-BE49-F238E27FC236}">
                <a16:creationId xmlns:a16="http://schemas.microsoft.com/office/drawing/2014/main" id="{3B0D7E67-26C6-E81A-DD57-AF75B397F6A5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727646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3391B775-E400-8AFC-317F-9980169234A8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532015" y="2080194"/>
            <a:ext cx="2236604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29" name="Abgerundetes Rechteck 28">
            <a:extLst>
              <a:ext uri="{FF2B5EF4-FFF2-40B4-BE49-F238E27FC236}">
                <a16:creationId xmlns:a16="http://schemas.microsoft.com/office/drawing/2014/main" id="{DCA12221-82B9-A319-A180-89159BD24254}"/>
              </a:ext>
            </a:extLst>
          </p:cNvPr>
          <p:cNvSpPr/>
          <p:nvPr/>
        </p:nvSpPr>
        <p:spPr>
          <a:xfrm>
            <a:off x="4248105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0" name="Inhaltsplatzhalter 10">
            <a:extLst>
              <a:ext uri="{FF2B5EF4-FFF2-40B4-BE49-F238E27FC236}">
                <a16:creationId xmlns:a16="http://schemas.microsoft.com/office/drawing/2014/main" id="{138AD535-C258-13A0-958F-100D86D0B8BC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4575514" y="2828925"/>
            <a:ext cx="3040972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31" name="Bildplatzhalter 37">
            <a:extLst>
              <a:ext uri="{FF2B5EF4-FFF2-40B4-BE49-F238E27FC236}">
                <a16:creationId xmlns:a16="http://schemas.microsoft.com/office/drawing/2014/main" id="{22A1288A-05B3-CD2E-C3F8-A47DC18B57A0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4575514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32" name="Textplatzhalter 2">
            <a:extLst>
              <a:ext uri="{FF2B5EF4-FFF2-40B4-BE49-F238E27FC236}">
                <a16:creationId xmlns:a16="http://schemas.microsoft.com/office/drawing/2014/main" id="{7D36DE86-B6E6-CA6F-6258-75627E3CCC04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379883" y="2080194"/>
            <a:ext cx="2236604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7799AD9-03CE-6DC5-5569-0D031F8925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9605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Textfelder + Bild +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bgerundetes Rechteck 1">
            <a:extLst>
              <a:ext uri="{FF2B5EF4-FFF2-40B4-BE49-F238E27FC236}">
                <a16:creationId xmlns:a16="http://schemas.microsoft.com/office/drawing/2014/main" id="{09D41656-10CF-60A1-9DEE-E1CA24F67108}"/>
              </a:ext>
            </a:extLst>
          </p:cNvPr>
          <p:cNvSpPr/>
          <p:nvPr userDrawn="1"/>
        </p:nvSpPr>
        <p:spPr>
          <a:xfrm>
            <a:off x="400237" y="1807029"/>
            <a:ext cx="7547019" cy="1372011"/>
          </a:xfrm>
          <a:prstGeom prst="roundRect">
            <a:avLst>
              <a:gd name="adj" fmla="val 9184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Abgerundetes Rechteck 7">
            <a:extLst>
              <a:ext uri="{FF2B5EF4-FFF2-40B4-BE49-F238E27FC236}">
                <a16:creationId xmlns:a16="http://schemas.microsoft.com/office/drawing/2014/main" id="{B06085FD-8F67-CF61-A67A-DDA9206AD3BB}"/>
              </a:ext>
            </a:extLst>
          </p:cNvPr>
          <p:cNvSpPr/>
          <p:nvPr userDrawn="1"/>
        </p:nvSpPr>
        <p:spPr>
          <a:xfrm>
            <a:off x="400237" y="3343296"/>
            <a:ext cx="7547019" cy="1372011"/>
          </a:xfrm>
          <a:prstGeom prst="roundRect">
            <a:avLst>
              <a:gd name="adj" fmla="val 9184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Abgerundetes Rechteck 8">
            <a:extLst>
              <a:ext uri="{FF2B5EF4-FFF2-40B4-BE49-F238E27FC236}">
                <a16:creationId xmlns:a16="http://schemas.microsoft.com/office/drawing/2014/main" id="{F7067E1E-0707-B34E-0EBA-7E9249C096EA}"/>
              </a:ext>
            </a:extLst>
          </p:cNvPr>
          <p:cNvSpPr/>
          <p:nvPr userDrawn="1"/>
        </p:nvSpPr>
        <p:spPr>
          <a:xfrm>
            <a:off x="400237" y="4879563"/>
            <a:ext cx="7547019" cy="1372011"/>
          </a:xfrm>
          <a:prstGeom prst="roundRect">
            <a:avLst>
              <a:gd name="adj" fmla="val 9184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7F52C770-A832-547B-85F7-F5D15330C40E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8284949" y="0"/>
            <a:ext cx="390705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7547019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F1F4F835-CCC6-75BB-0800-ADF5B2C12DDA}"/>
              </a:ext>
            </a:extLst>
          </p:cNvPr>
          <p:cNvSpPr/>
          <p:nvPr/>
        </p:nvSpPr>
        <p:spPr>
          <a:xfrm>
            <a:off x="400237" y="1807029"/>
            <a:ext cx="7547019" cy="1372011"/>
          </a:xfrm>
          <a:prstGeom prst="roundRect">
            <a:avLst>
              <a:gd name="adj" fmla="val 9184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3170CBA5-B1A4-1471-482D-24736E857C5E}"/>
              </a:ext>
            </a:extLst>
          </p:cNvPr>
          <p:cNvSpPr/>
          <p:nvPr/>
        </p:nvSpPr>
        <p:spPr>
          <a:xfrm>
            <a:off x="400237" y="3343296"/>
            <a:ext cx="7547019" cy="1372011"/>
          </a:xfrm>
          <a:prstGeom prst="roundRect">
            <a:avLst>
              <a:gd name="adj" fmla="val 9184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5B433EA3-711E-1367-8128-D7A1167FD1BE}"/>
              </a:ext>
            </a:extLst>
          </p:cNvPr>
          <p:cNvSpPr/>
          <p:nvPr/>
        </p:nvSpPr>
        <p:spPr>
          <a:xfrm>
            <a:off x="400237" y="4879563"/>
            <a:ext cx="7547019" cy="1372011"/>
          </a:xfrm>
          <a:prstGeom prst="roundRect">
            <a:avLst>
              <a:gd name="adj" fmla="val 9184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Bildplatzhalter 37">
            <a:extLst>
              <a:ext uri="{FF2B5EF4-FFF2-40B4-BE49-F238E27FC236}">
                <a16:creationId xmlns:a16="http://schemas.microsoft.com/office/drawing/2014/main" id="{24BED9C3-557D-8125-0E35-43AB7CB40CA4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708861" y="2105391"/>
            <a:ext cx="775287" cy="7752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664DD5FF-F58C-4A91-AFF6-4B36F6CBE82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762681" y="1995462"/>
            <a:ext cx="5864753" cy="995144"/>
          </a:xfrm>
        </p:spPr>
        <p:txBody>
          <a:bodyPr anchor="ctr">
            <a:noAutofit/>
          </a:bodyPr>
          <a:lstStyle>
            <a:lvl1pPr>
              <a:spcBef>
                <a:spcPts val="5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21" name="Bildplatzhalter 37">
            <a:extLst>
              <a:ext uri="{FF2B5EF4-FFF2-40B4-BE49-F238E27FC236}">
                <a16:creationId xmlns:a16="http://schemas.microsoft.com/office/drawing/2014/main" id="{E5F046E6-1D9F-0002-527E-46963A2C15A2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708861" y="3641658"/>
            <a:ext cx="775287" cy="7752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8EE0AEC5-42A0-D663-DE18-7EFDE8D1463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762681" y="3531729"/>
            <a:ext cx="5864753" cy="995144"/>
          </a:xfrm>
        </p:spPr>
        <p:txBody>
          <a:bodyPr anchor="ctr">
            <a:noAutofit/>
          </a:bodyPr>
          <a:lstStyle>
            <a:lvl1pPr>
              <a:spcBef>
                <a:spcPts val="5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23" name="Bildplatzhalter 37">
            <a:extLst>
              <a:ext uri="{FF2B5EF4-FFF2-40B4-BE49-F238E27FC236}">
                <a16:creationId xmlns:a16="http://schemas.microsoft.com/office/drawing/2014/main" id="{5A1767A6-4063-6055-3C7B-F8EE7B33DF1D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708861" y="5177925"/>
            <a:ext cx="775287" cy="7752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4" name="Textplatzhalter 13">
            <a:extLst>
              <a:ext uri="{FF2B5EF4-FFF2-40B4-BE49-F238E27FC236}">
                <a16:creationId xmlns:a16="http://schemas.microsoft.com/office/drawing/2014/main" id="{A45A38EA-99F1-AAB7-5661-0A68F00D12D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762681" y="5067996"/>
            <a:ext cx="5864753" cy="995144"/>
          </a:xfrm>
        </p:spPr>
        <p:txBody>
          <a:bodyPr anchor="ctr">
            <a:noAutofit/>
          </a:bodyPr>
          <a:lstStyle>
            <a:lvl1pPr>
              <a:spcBef>
                <a:spcPts val="5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81E123F-34A2-98BA-285F-10F0CEC71A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4931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links + Bild rechts weiß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112348" y="0"/>
            <a:ext cx="6079651" cy="6858000"/>
          </a:xfrm>
          <a:prstGeom prst="rect">
            <a:avLst/>
          </a:prstGeom>
          <a:solidFill>
            <a:srgbClr val="00264C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06207" y="271305"/>
            <a:ext cx="5485744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1" y="6556875"/>
            <a:ext cx="5001942" cy="219454"/>
          </a:xfrm>
        </p:spPr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A52981-3CA4-4342-A3CD-6DEDCD14014C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21" name="Textplatzhalter 13">
            <a:extLst>
              <a:ext uri="{FF2B5EF4-FFF2-40B4-BE49-F238E27FC236}">
                <a16:creationId xmlns:a16="http://schemas.microsoft.com/office/drawing/2014/main" id="{BBCE250A-42D7-D901-3D53-EF1E025A44A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814" y="1016000"/>
            <a:ext cx="5312063" cy="4903997"/>
          </a:xfrm>
        </p:spPr>
        <p:txBody>
          <a:bodyPr anchor="b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4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1B8BC4F8-94E9-E1DB-8010-0206E6E4ACC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79887" y="1016000"/>
            <a:ext cx="5312063" cy="4903996"/>
          </a:xfrm>
        </p:spPr>
        <p:txBody>
          <a:bodyPr anchor="t">
            <a:no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DB6B9047-342F-6978-B394-95E4C69954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6521EA8-9CD2-4F47-6795-06720F006A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5840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25" userDrawn="1">
          <p15:clr>
            <a:srgbClr val="5ACBF0"/>
          </p15:clr>
        </p15:guide>
        <p15:guide id="2" orient="horz" pos="640" userDrawn="1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links + größeres Bild rechts weiß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208926" y="0"/>
            <a:ext cx="7983073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47822" y="271305"/>
            <a:ext cx="7344129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1" y="6556875"/>
            <a:ext cx="5001942" cy="219454"/>
          </a:xfrm>
        </p:spPr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80B668F0-0E9A-9BC2-B2E5-64DCC33D3D0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814" y="1803183"/>
            <a:ext cx="3616923" cy="1575816"/>
          </a:xfrm>
        </p:spPr>
        <p:txBody>
          <a:bodyPr anchor="t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4400" b="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9339C54E-BA73-A7D4-A8D7-1302B3DD8FA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2814" y="3623733"/>
            <a:ext cx="3616923" cy="2627842"/>
          </a:xfrm>
        </p:spPr>
        <p:txBody>
          <a:bodyPr anchor="t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85832F44-47F9-AD2B-8755-E4E356EEB7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0620F9D-22EB-6472-4969-1FCF9F59D8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1889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130" userDrawn="1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akt + Bil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7">
            <a:extLst>
              <a:ext uri="{FF2B5EF4-FFF2-40B4-BE49-F238E27FC236}">
                <a16:creationId xmlns:a16="http://schemas.microsoft.com/office/drawing/2014/main" id="{ABDEA554-A244-44D1-6DD9-01C495D9ADB4}"/>
              </a:ext>
            </a:extLst>
          </p:cNvPr>
          <p:cNvSpPr/>
          <p:nvPr userDrawn="1"/>
        </p:nvSpPr>
        <p:spPr>
          <a:xfrm rot="5400000">
            <a:off x="6172495" y="636102"/>
            <a:ext cx="5111433" cy="6127477"/>
          </a:xfrm>
          <a:prstGeom prst="roundRect">
            <a:avLst>
              <a:gd name="adj" fmla="val 246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AT" sz="1600" noProof="0">
              <a:solidFill>
                <a:schemeClr val="tx1"/>
              </a:solidFill>
            </a:endParaRP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943135DE-F78E-E765-838A-2D41D7750E73}"/>
              </a:ext>
            </a:extLst>
          </p:cNvPr>
          <p:cNvSpPr/>
          <p:nvPr/>
        </p:nvSpPr>
        <p:spPr>
          <a:xfrm rot="5400000">
            <a:off x="6172495" y="636102"/>
            <a:ext cx="5111433" cy="6127477"/>
          </a:xfrm>
          <a:prstGeom prst="roundRect">
            <a:avLst>
              <a:gd name="adj" fmla="val 246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AT" sz="1600" noProof="0">
              <a:solidFill>
                <a:schemeClr val="tx1"/>
              </a:solidFill>
            </a:endParaRPr>
          </a:p>
        </p:txBody>
      </p:sp>
      <p:sp>
        <p:nvSpPr>
          <p:cNvPr id="21" name="Bildplatzhalter 11">
            <a:extLst>
              <a:ext uri="{FF2B5EF4-FFF2-40B4-BE49-F238E27FC236}">
                <a16:creationId xmlns:a16="http://schemas.microsoft.com/office/drawing/2014/main" id="{F873340C-4428-165F-267C-95EA043A370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00237" y="1144122"/>
            <a:ext cx="5040000" cy="5111435"/>
          </a:xfrm>
          <a:prstGeom prst="roundRect">
            <a:avLst>
              <a:gd name="adj" fmla="val 2500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1F612B08-E42D-B220-1926-340BE3E1BA6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62274" y="2084020"/>
            <a:ext cx="5174177" cy="4798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Vorname Nachname 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F63E9F8F-F968-42A9-A62E-B20CA465243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62274" y="2760009"/>
            <a:ext cx="5174177" cy="283832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Jobtitel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708C64AE-DA27-D725-08A7-8BDB69BA0DB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739509" y="3857275"/>
            <a:ext cx="4696941" cy="21544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Tel.</a:t>
            </a:r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2E2D0F95-759C-319D-0E66-4E35C78A4B40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739508" y="4546604"/>
            <a:ext cx="4696941" cy="21544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 err="1"/>
              <a:t>E-mail</a:t>
            </a:r>
            <a:endParaRPr lang="de-AT" noProof="0"/>
          </a:p>
        </p:txBody>
      </p: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52B0BC37-B1CC-FA22-308B-27A86EC4DCD9}"/>
              </a:ext>
            </a:extLst>
          </p:cNvPr>
          <p:cNvGrpSpPr/>
          <p:nvPr/>
        </p:nvGrpSpPr>
        <p:grpSpPr>
          <a:xfrm>
            <a:off x="6262274" y="3760316"/>
            <a:ext cx="409366" cy="409362"/>
            <a:chOff x="6262274" y="3760316"/>
            <a:chExt cx="409366" cy="409362"/>
          </a:xfrm>
        </p:grpSpPr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DE612D37-5472-AE31-14A3-530564E7E45F}"/>
                </a:ext>
              </a:extLst>
            </p:cNvPr>
            <p:cNvGrpSpPr/>
            <p:nvPr/>
          </p:nvGrpSpPr>
          <p:grpSpPr>
            <a:xfrm>
              <a:off x="6262274" y="3760316"/>
              <a:ext cx="409366" cy="409362"/>
              <a:chOff x="359996" y="1873714"/>
              <a:chExt cx="823904" cy="823901"/>
            </a:xfrm>
          </p:grpSpPr>
          <p:grpSp>
            <p:nvGrpSpPr>
              <p:cNvPr id="28" name="Gruppieren 27">
                <a:extLst>
                  <a:ext uri="{FF2B5EF4-FFF2-40B4-BE49-F238E27FC236}">
                    <a16:creationId xmlns:a16="http://schemas.microsoft.com/office/drawing/2014/main" id="{1194436C-E652-915C-555F-3197BC9B1B09}"/>
                  </a:ext>
                </a:extLst>
              </p:cNvPr>
              <p:cNvGrpSpPr/>
              <p:nvPr/>
            </p:nvGrpSpPr>
            <p:grpSpPr>
              <a:xfrm>
                <a:off x="359996" y="1873714"/>
                <a:ext cx="823904" cy="823901"/>
                <a:chOff x="674553" y="1932932"/>
                <a:chExt cx="883824" cy="883822"/>
              </a:xfrm>
            </p:grpSpPr>
            <p:sp>
              <p:nvSpPr>
                <p:cNvPr id="30" name="Oval 307">
                  <a:extLst>
                    <a:ext uri="{FF2B5EF4-FFF2-40B4-BE49-F238E27FC236}">
                      <a16:creationId xmlns:a16="http://schemas.microsoft.com/office/drawing/2014/main" id="{108DE4FF-B9F6-FBE1-BD8D-978DE3CE6E5B}"/>
                    </a:ext>
                  </a:extLst>
                </p:cNvPr>
                <p:cNvSpPr/>
                <p:nvPr/>
              </p:nvSpPr>
              <p:spPr>
                <a:xfrm>
                  <a:off x="674553" y="1932932"/>
                  <a:ext cx="883824" cy="883822"/>
                </a:xfrm>
                <a:prstGeom prst="ellipse">
                  <a:avLst/>
                </a:prstGeom>
                <a:solidFill>
                  <a:srgbClr val="D3DBF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AT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1" name="Oval 308">
                  <a:extLst>
                    <a:ext uri="{FF2B5EF4-FFF2-40B4-BE49-F238E27FC236}">
                      <a16:creationId xmlns:a16="http://schemas.microsoft.com/office/drawing/2014/main" id="{A3CE7C68-BE18-6B30-B780-F0406315C12F}"/>
                    </a:ext>
                  </a:extLst>
                </p:cNvPr>
                <p:cNvSpPr/>
                <p:nvPr/>
              </p:nvSpPr>
              <p:spPr>
                <a:xfrm>
                  <a:off x="746571" y="2004948"/>
                  <a:ext cx="739792" cy="739790"/>
                </a:xfrm>
                <a:prstGeom prst="ellipse">
                  <a:avLst/>
                </a:prstGeom>
                <a:solidFill>
                  <a:srgbClr val="005CA9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AT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pic>
            <p:nvPicPr>
              <p:cNvPr id="29" name="Grafik 28">
                <a:extLst>
                  <a:ext uri="{FF2B5EF4-FFF2-40B4-BE49-F238E27FC236}">
                    <a16:creationId xmlns:a16="http://schemas.microsoft.com/office/drawing/2014/main" id="{13FD49ED-65C6-37AF-8081-EE8F47EA12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563402" y="2077117"/>
                <a:ext cx="417093" cy="417094"/>
              </a:xfrm>
              <a:prstGeom prst="rect">
                <a:avLst/>
              </a:prstGeom>
            </p:spPr>
          </p:pic>
        </p:grpSp>
        <p:pic>
          <p:nvPicPr>
            <p:cNvPr id="40" name="Grafik 39">
              <a:extLst>
                <a:ext uri="{FF2B5EF4-FFF2-40B4-BE49-F238E27FC236}">
                  <a16:creationId xmlns:a16="http://schemas.microsoft.com/office/drawing/2014/main" id="{24C3C635-6129-23AD-04D0-73F764DD41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384631" y="3882671"/>
              <a:ext cx="164652" cy="164652"/>
            </a:xfrm>
            <a:prstGeom prst="rect">
              <a:avLst/>
            </a:prstGeom>
          </p:spPr>
        </p:pic>
      </p:grpSp>
      <p:pic>
        <p:nvPicPr>
          <p:cNvPr id="9" name="Grafik 8">
            <a:extLst>
              <a:ext uri="{FF2B5EF4-FFF2-40B4-BE49-F238E27FC236}">
                <a16:creationId xmlns:a16="http://schemas.microsoft.com/office/drawing/2014/main" id="{C8F3C885-F6F3-E4A2-03E2-05FBB5D00D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4A37E2A5-0D65-3787-EABF-3209D1208608}"/>
              </a:ext>
            </a:extLst>
          </p:cNvPr>
          <p:cNvGrpSpPr/>
          <p:nvPr userDrawn="1"/>
        </p:nvGrpSpPr>
        <p:grpSpPr>
          <a:xfrm>
            <a:off x="6262274" y="3760316"/>
            <a:ext cx="409366" cy="409362"/>
            <a:chOff x="6262274" y="3760316"/>
            <a:chExt cx="409366" cy="409362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5E8C0858-E759-8499-188A-8690653D0D33}"/>
                </a:ext>
              </a:extLst>
            </p:cNvPr>
            <p:cNvGrpSpPr/>
            <p:nvPr userDrawn="1"/>
          </p:nvGrpSpPr>
          <p:grpSpPr>
            <a:xfrm>
              <a:off x="6262274" y="3760316"/>
              <a:ext cx="409366" cy="409362"/>
              <a:chOff x="359996" y="1873714"/>
              <a:chExt cx="823904" cy="823901"/>
            </a:xfrm>
          </p:grpSpPr>
          <p:grpSp>
            <p:nvGrpSpPr>
              <p:cNvPr id="25" name="Gruppieren 24">
                <a:extLst>
                  <a:ext uri="{FF2B5EF4-FFF2-40B4-BE49-F238E27FC236}">
                    <a16:creationId xmlns:a16="http://schemas.microsoft.com/office/drawing/2014/main" id="{BFAD3FC3-CAA5-6F29-A9CF-F0382101C9A7}"/>
                  </a:ext>
                </a:extLst>
              </p:cNvPr>
              <p:cNvGrpSpPr/>
              <p:nvPr/>
            </p:nvGrpSpPr>
            <p:grpSpPr>
              <a:xfrm>
                <a:off x="359996" y="1873714"/>
                <a:ext cx="823904" cy="823901"/>
                <a:chOff x="674553" y="1932932"/>
                <a:chExt cx="883824" cy="883822"/>
              </a:xfrm>
            </p:grpSpPr>
            <p:sp>
              <p:nvSpPr>
                <p:cNvPr id="37" name="Oval 307">
                  <a:extLst>
                    <a:ext uri="{FF2B5EF4-FFF2-40B4-BE49-F238E27FC236}">
                      <a16:creationId xmlns:a16="http://schemas.microsoft.com/office/drawing/2014/main" id="{25EBAD82-1B29-86CA-7C55-CCCE8C404DF1}"/>
                    </a:ext>
                  </a:extLst>
                </p:cNvPr>
                <p:cNvSpPr/>
                <p:nvPr/>
              </p:nvSpPr>
              <p:spPr>
                <a:xfrm>
                  <a:off x="674553" y="1932932"/>
                  <a:ext cx="883824" cy="883822"/>
                </a:xfrm>
                <a:prstGeom prst="ellipse">
                  <a:avLst/>
                </a:prstGeom>
                <a:solidFill>
                  <a:srgbClr val="D3DBF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AT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9" name="Oval 308">
                  <a:extLst>
                    <a:ext uri="{FF2B5EF4-FFF2-40B4-BE49-F238E27FC236}">
                      <a16:creationId xmlns:a16="http://schemas.microsoft.com/office/drawing/2014/main" id="{5889E241-88F6-E719-C625-A13B16D01F86}"/>
                    </a:ext>
                  </a:extLst>
                </p:cNvPr>
                <p:cNvSpPr/>
                <p:nvPr/>
              </p:nvSpPr>
              <p:spPr>
                <a:xfrm>
                  <a:off x="746571" y="2004948"/>
                  <a:ext cx="739792" cy="739790"/>
                </a:xfrm>
                <a:prstGeom prst="ellipse">
                  <a:avLst/>
                </a:prstGeom>
                <a:solidFill>
                  <a:srgbClr val="005CA9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AT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pic>
            <p:nvPicPr>
              <p:cNvPr id="26" name="Grafik 25">
                <a:extLst>
                  <a:ext uri="{FF2B5EF4-FFF2-40B4-BE49-F238E27FC236}">
                    <a16:creationId xmlns:a16="http://schemas.microsoft.com/office/drawing/2014/main" id="{9D07897B-8906-C581-F8F6-79279CF13D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563402" y="2077117"/>
                <a:ext cx="417093" cy="417094"/>
              </a:xfrm>
              <a:prstGeom prst="rect">
                <a:avLst/>
              </a:prstGeom>
            </p:spPr>
          </p:pic>
        </p:grpSp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63F7997C-12F0-EF4F-D529-9D9141C469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84631" y="3882671"/>
              <a:ext cx="164652" cy="164652"/>
            </a:xfrm>
            <a:prstGeom prst="rect">
              <a:avLst/>
            </a:prstGeom>
          </p:spPr>
        </p:pic>
      </p:grpSp>
      <p:pic>
        <p:nvPicPr>
          <p:cNvPr id="43" name="Grafik 42">
            <a:extLst>
              <a:ext uri="{FF2B5EF4-FFF2-40B4-BE49-F238E27FC236}">
                <a16:creationId xmlns:a16="http://schemas.microsoft.com/office/drawing/2014/main" id="{D5AF1C4B-46D1-8AE6-F39B-0FD9FA541FF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2278" y="4449645"/>
            <a:ext cx="409362" cy="40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040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724" userDrawn="1">
          <p15:clr>
            <a:srgbClr val="5ACBF0"/>
          </p15:clr>
        </p15:guide>
        <p15:guide id="2" orient="horz" pos="3939" userDrawn="1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ak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cken des Rechtecks auf der gleichen Seite abrunden 7">
            <a:extLst>
              <a:ext uri="{FF2B5EF4-FFF2-40B4-BE49-F238E27FC236}">
                <a16:creationId xmlns:a16="http://schemas.microsoft.com/office/drawing/2014/main" id="{32BA422F-006E-42D5-8E88-0A774AEEAED7}"/>
              </a:ext>
            </a:extLst>
          </p:cNvPr>
          <p:cNvSpPr/>
          <p:nvPr userDrawn="1"/>
        </p:nvSpPr>
        <p:spPr>
          <a:xfrm rot="5400000">
            <a:off x="3888367" y="-2186176"/>
            <a:ext cx="4015218" cy="11791951"/>
          </a:xfrm>
          <a:prstGeom prst="round2SameRect">
            <a:avLst>
              <a:gd name="adj1" fmla="val 3138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AT" sz="1600" noProof="0">
              <a:solidFill>
                <a:schemeClr val="tx1"/>
              </a:solidFill>
            </a:endParaRPr>
          </a:p>
        </p:txBody>
      </p:sp>
      <p:sp>
        <p:nvSpPr>
          <p:cNvPr id="8" name="Ecken des Rechtecks auf der gleichen Seite abrunden 7">
            <a:extLst>
              <a:ext uri="{FF2B5EF4-FFF2-40B4-BE49-F238E27FC236}">
                <a16:creationId xmlns:a16="http://schemas.microsoft.com/office/drawing/2014/main" id="{943135DE-F78E-E765-838A-2D41D7750E73}"/>
              </a:ext>
            </a:extLst>
          </p:cNvPr>
          <p:cNvSpPr/>
          <p:nvPr/>
        </p:nvSpPr>
        <p:spPr>
          <a:xfrm rot="5400000">
            <a:off x="3888367" y="-2186176"/>
            <a:ext cx="4015218" cy="11791951"/>
          </a:xfrm>
          <a:prstGeom prst="round2SameRect">
            <a:avLst>
              <a:gd name="adj1" fmla="val 3138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AT" sz="1600" noProof="0">
              <a:solidFill>
                <a:schemeClr val="tx1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1F612B08-E42D-B220-1926-340BE3E1BA6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304194" y="2429003"/>
            <a:ext cx="8378286" cy="4798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Vorname Nachname 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F63E9F8F-F968-42A9-A62E-B20CA465243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304194" y="3104992"/>
            <a:ext cx="8378286" cy="283832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Jobtitel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708C64AE-DA27-D725-08A7-8BDB69BA0DB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781429" y="3965296"/>
            <a:ext cx="4696941" cy="21544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Tel.</a:t>
            </a:r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2E2D0F95-759C-319D-0E66-4E35C78A4B40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1781428" y="4556764"/>
            <a:ext cx="4696941" cy="21544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 err="1"/>
              <a:t>E-mail</a:t>
            </a:r>
            <a:endParaRPr lang="de-AT" noProof="0"/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DE612D37-5472-AE31-14A3-530564E7E45F}"/>
              </a:ext>
            </a:extLst>
          </p:cNvPr>
          <p:cNvGrpSpPr/>
          <p:nvPr/>
        </p:nvGrpSpPr>
        <p:grpSpPr>
          <a:xfrm>
            <a:off x="1304194" y="3868337"/>
            <a:ext cx="409366" cy="409362"/>
            <a:chOff x="359996" y="1873714"/>
            <a:chExt cx="823904" cy="823901"/>
          </a:xfrm>
        </p:grpSpPr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1194436C-E652-915C-555F-3197BC9B1B09}"/>
                </a:ext>
              </a:extLst>
            </p:cNvPr>
            <p:cNvGrpSpPr/>
            <p:nvPr/>
          </p:nvGrpSpPr>
          <p:grpSpPr>
            <a:xfrm>
              <a:off x="359996" y="1873714"/>
              <a:ext cx="823904" cy="823901"/>
              <a:chOff x="674553" y="1932932"/>
              <a:chExt cx="883824" cy="883822"/>
            </a:xfrm>
          </p:grpSpPr>
          <p:sp>
            <p:nvSpPr>
              <p:cNvPr id="30" name="Oval 307">
                <a:extLst>
                  <a:ext uri="{FF2B5EF4-FFF2-40B4-BE49-F238E27FC236}">
                    <a16:creationId xmlns:a16="http://schemas.microsoft.com/office/drawing/2014/main" id="{108DE4FF-B9F6-FBE1-BD8D-978DE3CE6E5B}"/>
                  </a:ext>
                </a:extLst>
              </p:cNvPr>
              <p:cNvSpPr/>
              <p:nvPr/>
            </p:nvSpPr>
            <p:spPr>
              <a:xfrm>
                <a:off x="674553" y="1932932"/>
                <a:ext cx="883824" cy="883822"/>
              </a:xfrm>
              <a:prstGeom prst="ellipse">
                <a:avLst/>
              </a:prstGeom>
              <a:solidFill>
                <a:srgbClr val="D3DBF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A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" name="Oval 308">
                <a:extLst>
                  <a:ext uri="{FF2B5EF4-FFF2-40B4-BE49-F238E27FC236}">
                    <a16:creationId xmlns:a16="http://schemas.microsoft.com/office/drawing/2014/main" id="{A3CE7C68-BE18-6B30-B780-F0406315C12F}"/>
                  </a:ext>
                </a:extLst>
              </p:cNvPr>
              <p:cNvSpPr/>
              <p:nvPr/>
            </p:nvSpPr>
            <p:spPr>
              <a:xfrm>
                <a:off x="746571" y="2004948"/>
                <a:ext cx="739792" cy="739790"/>
              </a:xfrm>
              <a:prstGeom prst="ellipse">
                <a:avLst/>
              </a:prstGeom>
              <a:solidFill>
                <a:srgbClr val="005C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A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pic>
          <p:nvPicPr>
            <p:cNvPr id="29" name="Grafik 28">
              <a:extLst>
                <a:ext uri="{FF2B5EF4-FFF2-40B4-BE49-F238E27FC236}">
                  <a16:creationId xmlns:a16="http://schemas.microsoft.com/office/drawing/2014/main" id="{13FD49ED-65C6-37AF-8081-EE8F47EA12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63402" y="2077117"/>
              <a:ext cx="417093" cy="417094"/>
            </a:xfrm>
            <a:prstGeom prst="rect">
              <a:avLst/>
            </a:prstGeom>
          </p:spPr>
        </p:pic>
      </p:grpSp>
      <p:pic>
        <p:nvPicPr>
          <p:cNvPr id="40" name="Grafik 39">
            <a:extLst>
              <a:ext uri="{FF2B5EF4-FFF2-40B4-BE49-F238E27FC236}">
                <a16:creationId xmlns:a16="http://schemas.microsoft.com/office/drawing/2014/main" id="{24C3C635-6129-23AD-04D0-73F764DD41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6551" y="3990692"/>
            <a:ext cx="164652" cy="16465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99639AAC-AA79-354A-3AE1-2830C45702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010DDB15-5C43-7765-CFE7-4C15BEE3A575}"/>
              </a:ext>
            </a:extLst>
          </p:cNvPr>
          <p:cNvGrpSpPr/>
          <p:nvPr userDrawn="1"/>
        </p:nvGrpSpPr>
        <p:grpSpPr>
          <a:xfrm>
            <a:off x="1304194" y="3868337"/>
            <a:ext cx="409366" cy="409362"/>
            <a:chOff x="359996" y="1873714"/>
            <a:chExt cx="823904" cy="823901"/>
          </a:xfrm>
        </p:grpSpPr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D975B2A7-57BE-FEFF-A520-B49DDAF7E24C}"/>
                </a:ext>
              </a:extLst>
            </p:cNvPr>
            <p:cNvGrpSpPr/>
            <p:nvPr/>
          </p:nvGrpSpPr>
          <p:grpSpPr>
            <a:xfrm>
              <a:off x="359996" y="1873714"/>
              <a:ext cx="823904" cy="823901"/>
              <a:chOff x="674553" y="1932932"/>
              <a:chExt cx="883824" cy="883822"/>
            </a:xfrm>
          </p:grpSpPr>
          <p:sp>
            <p:nvSpPr>
              <p:cNvPr id="15" name="Oval 307">
                <a:extLst>
                  <a:ext uri="{FF2B5EF4-FFF2-40B4-BE49-F238E27FC236}">
                    <a16:creationId xmlns:a16="http://schemas.microsoft.com/office/drawing/2014/main" id="{248945C0-DF3A-83CD-5404-99E4120DFA87}"/>
                  </a:ext>
                </a:extLst>
              </p:cNvPr>
              <p:cNvSpPr/>
              <p:nvPr/>
            </p:nvSpPr>
            <p:spPr>
              <a:xfrm>
                <a:off x="674553" y="1932932"/>
                <a:ext cx="883824" cy="883822"/>
              </a:xfrm>
              <a:prstGeom prst="ellipse">
                <a:avLst/>
              </a:prstGeom>
              <a:solidFill>
                <a:srgbClr val="D3DBF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A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" name="Oval 308">
                <a:extLst>
                  <a:ext uri="{FF2B5EF4-FFF2-40B4-BE49-F238E27FC236}">
                    <a16:creationId xmlns:a16="http://schemas.microsoft.com/office/drawing/2014/main" id="{82337602-992D-2024-6A95-8A69162BAF2D}"/>
                  </a:ext>
                </a:extLst>
              </p:cNvPr>
              <p:cNvSpPr/>
              <p:nvPr/>
            </p:nvSpPr>
            <p:spPr>
              <a:xfrm>
                <a:off x="746571" y="2004948"/>
                <a:ext cx="739792" cy="739790"/>
              </a:xfrm>
              <a:prstGeom prst="ellipse">
                <a:avLst/>
              </a:prstGeom>
              <a:solidFill>
                <a:srgbClr val="005C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A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7D7F39D8-A45F-9B96-25EC-3F93A7B670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563402" y="2077117"/>
              <a:ext cx="417093" cy="417094"/>
            </a:xfrm>
            <a:prstGeom prst="rect">
              <a:avLst/>
            </a:prstGeom>
          </p:spPr>
        </p:pic>
      </p:grpSp>
      <p:pic>
        <p:nvPicPr>
          <p:cNvPr id="25" name="Grafik 24">
            <a:extLst>
              <a:ext uri="{FF2B5EF4-FFF2-40B4-BE49-F238E27FC236}">
                <a16:creationId xmlns:a16="http://schemas.microsoft.com/office/drawing/2014/main" id="{2CFC65FE-909A-E8FB-5D88-F7C8805215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26551" y="3990692"/>
            <a:ext cx="164652" cy="164652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387891C3-3A30-0AD7-652B-41F0E4B37A1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4194" y="4459805"/>
            <a:ext cx="409362" cy="40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1348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71" userDrawn="1">
          <p15:clr>
            <a:srgbClr val="5ACBF0"/>
          </p15:clr>
        </p15:guide>
        <p15:guide id="2" orient="horz" pos="3589" userDrawn="1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Gradien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7CE337EB-2454-1484-56B9-F37F895B8FE1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  <a:gradFill>
            <a:gsLst>
              <a:gs pos="29000">
                <a:srgbClr val="005CA9"/>
              </a:gs>
              <a:gs pos="100000">
                <a:srgbClr val="A5C8FF"/>
              </a:gs>
              <a:gs pos="72000">
                <a:srgbClr val="5492E3"/>
              </a:gs>
            </a:gsLst>
            <a:lin ang="18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-1" y="-1"/>
            <a:ext cx="12192000" cy="6858000"/>
          </a:xfrm>
          <a:prstGeom prst="rect">
            <a:avLst/>
          </a:prstGeom>
          <a:gradFill>
            <a:gsLst>
              <a:gs pos="29000">
                <a:srgbClr val="005CA9"/>
              </a:gs>
              <a:gs pos="100000">
                <a:srgbClr val="A5C8FF"/>
              </a:gs>
              <a:gs pos="72000">
                <a:srgbClr val="5492E3"/>
              </a:gs>
            </a:gsLst>
            <a:lin ang="18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D36284D-290E-595A-1135-EEA302A1AA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0842" y="2139951"/>
            <a:ext cx="5129609" cy="1885214"/>
          </a:xfrm>
          <a:prstGeom prst="roundRect">
            <a:avLst>
              <a:gd name="adj" fmla="val 6743"/>
            </a:avLst>
          </a:prstGeom>
          <a:solidFill>
            <a:schemeClr val="tx1">
              <a:alpha val="25000"/>
            </a:schemeClr>
          </a:solidFill>
        </p:spPr>
        <p:txBody>
          <a:bodyPr lIns="251999" tIns="360000">
            <a:no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4" name="Textplatzhalter 13">
            <a:extLst>
              <a:ext uri="{FF2B5EF4-FFF2-40B4-BE49-F238E27FC236}">
                <a16:creationId xmlns:a16="http://schemas.microsoft.com/office/drawing/2014/main" id="{800C194B-03EC-2B39-66BF-4C49F8E25A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45022" y="2228082"/>
            <a:ext cx="618482" cy="492443"/>
          </a:xfrm>
        </p:spPr>
        <p:txBody>
          <a:bodyPr wrap="square">
            <a:spAutoFit/>
          </a:bodyPr>
          <a:lstStyle>
            <a:lvl1pPr marL="0" indent="0" algn="r">
              <a:buNone/>
              <a:defRPr sz="3200" b="1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AT" noProof="0"/>
              <a:t>01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54B1E-EE8E-9B42-8826-03AB784C90A8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FF5981-2895-C798-0C92-59C1B191DA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8" name="Titel 14">
            <a:extLst>
              <a:ext uri="{FF2B5EF4-FFF2-40B4-BE49-F238E27FC236}">
                <a16:creationId xmlns:a16="http://schemas.microsoft.com/office/drawing/2014/main" id="{71F556B9-6CB9-29C7-1498-F715AA71F4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463" y="965090"/>
            <a:ext cx="11395074" cy="843073"/>
          </a:xfrm>
        </p:spPr>
        <p:txBody>
          <a:bodyPr anchor="t">
            <a:noAutofit/>
          </a:bodyPr>
          <a:lstStyle>
            <a:lvl1pPr algn="ctr">
              <a:defRPr sz="5000">
                <a:solidFill>
                  <a:schemeClr val="tx1"/>
                </a:solidFill>
              </a:defRPr>
            </a:lvl1pPr>
          </a:lstStyle>
          <a:p>
            <a:r>
              <a:rPr lang="de-AT" noProof="0"/>
              <a:t>Agenda</a:t>
            </a:r>
          </a:p>
        </p:txBody>
      </p:sp>
      <p:sp>
        <p:nvSpPr>
          <p:cNvPr id="29" name="Textplatzhalter 21">
            <a:extLst>
              <a:ext uri="{FF2B5EF4-FFF2-40B4-BE49-F238E27FC236}">
                <a16:creationId xmlns:a16="http://schemas.microsoft.com/office/drawing/2014/main" id="{4A7731F3-0272-FE64-9F1E-994ECA8695D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68641" y="2139951"/>
            <a:ext cx="5129609" cy="1885214"/>
          </a:xfrm>
          <a:prstGeom prst="roundRect">
            <a:avLst>
              <a:gd name="adj" fmla="val 6743"/>
            </a:avLst>
          </a:prstGeom>
          <a:solidFill>
            <a:schemeClr val="tx1">
              <a:alpha val="25000"/>
            </a:schemeClr>
          </a:solidFill>
        </p:spPr>
        <p:txBody>
          <a:bodyPr lIns="251999" tIns="360000">
            <a:no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30" name="Textplatzhalter 13">
            <a:extLst>
              <a:ext uri="{FF2B5EF4-FFF2-40B4-BE49-F238E27FC236}">
                <a16:creationId xmlns:a16="http://schemas.microsoft.com/office/drawing/2014/main" id="{19B47785-41CA-D2CE-3773-544D14EF87F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602821" y="2228082"/>
            <a:ext cx="618482" cy="492443"/>
          </a:xfrm>
        </p:spPr>
        <p:txBody>
          <a:bodyPr wrap="square">
            <a:spAutoFit/>
          </a:bodyPr>
          <a:lstStyle>
            <a:lvl1pPr marL="0" indent="0" algn="r">
              <a:buNone/>
              <a:defRPr sz="3200" b="1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AT" noProof="0"/>
              <a:t>02</a:t>
            </a:r>
          </a:p>
        </p:txBody>
      </p:sp>
      <p:sp>
        <p:nvSpPr>
          <p:cNvPr id="31" name="Textplatzhalter 21">
            <a:extLst>
              <a:ext uri="{FF2B5EF4-FFF2-40B4-BE49-F238E27FC236}">
                <a16:creationId xmlns:a16="http://schemas.microsoft.com/office/drawing/2014/main" id="{7EB9E461-B2BE-3245-CC10-48EED54E104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10842" y="4367828"/>
            <a:ext cx="5129609" cy="1885214"/>
          </a:xfrm>
          <a:prstGeom prst="roundRect">
            <a:avLst>
              <a:gd name="adj" fmla="val 6743"/>
            </a:avLst>
          </a:prstGeom>
          <a:solidFill>
            <a:schemeClr val="tx1">
              <a:alpha val="25000"/>
            </a:schemeClr>
          </a:solidFill>
        </p:spPr>
        <p:txBody>
          <a:bodyPr lIns="251999" tIns="360000">
            <a:no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32" name="Textplatzhalter 13">
            <a:extLst>
              <a:ext uri="{FF2B5EF4-FFF2-40B4-BE49-F238E27FC236}">
                <a16:creationId xmlns:a16="http://schemas.microsoft.com/office/drawing/2014/main" id="{85CFF4DB-B576-20EA-CDBF-98263B36487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45022" y="4455959"/>
            <a:ext cx="618482" cy="492443"/>
          </a:xfrm>
        </p:spPr>
        <p:txBody>
          <a:bodyPr wrap="square">
            <a:spAutoFit/>
          </a:bodyPr>
          <a:lstStyle>
            <a:lvl1pPr marL="0" indent="0" algn="r">
              <a:buNone/>
              <a:defRPr sz="3200" b="1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AT" noProof="0"/>
              <a:t>03</a:t>
            </a:r>
          </a:p>
        </p:txBody>
      </p:sp>
      <p:sp>
        <p:nvSpPr>
          <p:cNvPr id="33" name="Textplatzhalter 21">
            <a:extLst>
              <a:ext uri="{FF2B5EF4-FFF2-40B4-BE49-F238E27FC236}">
                <a16:creationId xmlns:a16="http://schemas.microsoft.com/office/drawing/2014/main" id="{37FF7232-FD5A-D2CB-4122-B541F34C5CA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268641" y="4367828"/>
            <a:ext cx="5129609" cy="1885214"/>
          </a:xfrm>
          <a:prstGeom prst="roundRect">
            <a:avLst>
              <a:gd name="adj" fmla="val 6743"/>
            </a:avLst>
          </a:prstGeom>
          <a:solidFill>
            <a:schemeClr val="tx1">
              <a:alpha val="25000"/>
            </a:schemeClr>
          </a:solidFill>
        </p:spPr>
        <p:txBody>
          <a:bodyPr lIns="251999" tIns="360000">
            <a:no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34" name="Textplatzhalter 13">
            <a:extLst>
              <a:ext uri="{FF2B5EF4-FFF2-40B4-BE49-F238E27FC236}">
                <a16:creationId xmlns:a16="http://schemas.microsoft.com/office/drawing/2014/main" id="{F140D453-1C1C-573A-D67F-B23DF459181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602821" y="4455959"/>
            <a:ext cx="618482" cy="492443"/>
          </a:xfrm>
        </p:spPr>
        <p:txBody>
          <a:bodyPr wrap="square">
            <a:spAutoFit/>
          </a:bodyPr>
          <a:lstStyle>
            <a:lvl1pPr marL="0" indent="0" algn="r">
              <a:buNone/>
              <a:defRPr sz="3200" b="1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AT" noProof="0"/>
              <a:t>04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1368A693-D57F-0F88-2208-1A663ED29D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5174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orient="horz" pos="3940" userDrawn="1">
          <p15:clr>
            <a:srgbClr val="5ACBF0"/>
          </p15:clr>
        </p15:guide>
        <p15:guide id="3" pos="506" userDrawn="1">
          <p15:clr>
            <a:srgbClr val="5ACBF0"/>
          </p15:clr>
        </p15:guide>
        <p15:guide id="4" pos="7174" userDrawn="1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vollflächig +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3FF29A22-035E-20D7-0765-D6C3FB19303B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4E3C9492-034D-5506-222F-6E44C964A86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95038" y="345856"/>
            <a:ext cx="1415976" cy="24625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71FA70C8-18AB-A4A8-5EC2-29ECBC123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875" y="6556875"/>
            <a:ext cx="588192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fld id="{A59CD13C-BBB2-EB46-B570-08D6E3877884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AEDB545B-D710-2DBF-CD8E-E53396AA2B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010" y="6556875"/>
            <a:ext cx="6127477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D00CC7C-2BC5-2455-3756-558A46667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3759" y="6556875"/>
            <a:ext cx="588191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A58712F-B9FD-4486-4173-2E9568410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F303C7AA-759C-73C2-7D75-184656B0AF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100" y="5142259"/>
            <a:ext cx="3046811" cy="755106"/>
          </a:xfrm>
          <a:prstGeom prst="roundRect">
            <a:avLst>
              <a:gd name="adj" fmla="val 16686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0" name="Textplatzhalter 18">
            <a:extLst>
              <a:ext uri="{FF2B5EF4-FFF2-40B4-BE49-F238E27FC236}">
                <a16:creationId xmlns:a16="http://schemas.microsoft.com/office/drawing/2014/main" id="{E87E5A8F-BE19-0FFE-38B3-EC65367444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595" y="5142259"/>
            <a:ext cx="3046811" cy="755106"/>
          </a:xfrm>
          <a:prstGeom prst="roundRect">
            <a:avLst>
              <a:gd name="adj" fmla="val 16686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1" name="Textplatzhalter 18">
            <a:extLst>
              <a:ext uri="{FF2B5EF4-FFF2-40B4-BE49-F238E27FC236}">
                <a16:creationId xmlns:a16="http://schemas.microsoft.com/office/drawing/2014/main" id="{466A5647-63CC-9E8F-66C5-57249A42D56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90089" y="5142259"/>
            <a:ext cx="3046811" cy="755106"/>
          </a:xfrm>
          <a:prstGeom prst="roundRect">
            <a:avLst>
              <a:gd name="adj" fmla="val 16686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2" name="Titel 1">
            <a:extLst>
              <a:ext uri="{FF2B5EF4-FFF2-40B4-BE49-F238E27FC236}">
                <a16:creationId xmlns:a16="http://schemas.microsoft.com/office/drawing/2014/main" id="{6B4827DF-EAB3-49A2-3AD2-6C60C57A1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463" y="1808163"/>
            <a:ext cx="11395074" cy="3004341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80000"/>
              </a:lnSpc>
              <a:defRPr sz="66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/>
              <a:t>„Mastertitelformat bearbeiten“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2CB8A91D-323B-E0AF-BD81-5B3E3DF40C6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00236" y="1118626"/>
            <a:ext cx="11393301" cy="607865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 err="1"/>
              <a:t>Lorem</a:t>
            </a:r>
            <a:r>
              <a:rPr lang="de-AT" noProof="0"/>
              <a:t> </a:t>
            </a:r>
            <a:r>
              <a:rPr lang="de-AT" noProof="0" err="1"/>
              <a:t>ipsum</a:t>
            </a:r>
            <a:endParaRPr lang="de-AT" noProof="0"/>
          </a:p>
        </p:txBody>
      </p:sp>
    </p:spTree>
    <p:extLst>
      <p:ext uri="{BB962C8B-B14F-4D97-AF65-F5344CB8AC3E}">
        <p14:creationId xmlns:p14="http://schemas.microsoft.com/office/powerpoint/2010/main" val="22784517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90" userDrawn="1">
          <p15:clr>
            <a:srgbClr val="5ACBF0"/>
          </p15:clr>
        </p15:guide>
        <p15:guide id="2" orient="horz" pos="3720" userDrawn="1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5 + 3 Textfel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651B2E5-689C-7D77-5D64-B15DFA65EA6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Titel 14">
            <a:extLst>
              <a:ext uri="{FF2B5EF4-FFF2-40B4-BE49-F238E27FC236}">
                <a16:creationId xmlns:a16="http://schemas.microsoft.com/office/drawing/2014/main" id="{439BD23F-2024-2902-2704-44EF807694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237" y="1039015"/>
            <a:ext cx="11395074" cy="1370905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AT" noProof="0"/>
              <a:t>Headline</a:t>
            </a:r>
            <a:br>
              <a:rPr lang="de-AT" noProof="0"/>
            </a:br>
            <a:r>
              <a:rPr lang="de-AT" noProof="0"/>
              <a:t>Headline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9" name="Textplatzhalter 21">
            <a:extLst>
              <a:ext uri="{FF2B5EF4-FFF2-40B4-BE49-F238E27FC236}">
                <a16:creationId xmlns:a16="http://schemas.microsoft.com/office/drawing/2014/main" id="{394052BB-2B3E-EEC9-20D8-3971025A5F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0237" y="2932160"/>
            <a:ext cx="3569640" cy="2594272"/>
          </a:xfrm>
          <a:prstGeom prst="roundRect">
            <a:avLst>
              <a:gd name="adj" fmla="val 4857"/>
            </a:avLst>
          </a:prstGeom>
          <a:solidFill>
            <a:schemeClr val="tx1">
              <a:alpha val="25000"/>
            </a:schemeClr>
          </a:solidFill>
        </p:spPr>
        <p:txBody>
          <a:bodyPr lIns="288000" tIns="288000" rIns="288000" bIns="288000">
            <a:no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0" name="Textplatzhalter 21">
            <a:extLst>
              <a:ext uri="{FF2B5EF4-FFF2-40B4-BE49-F238E27FC236}">
                <a16:creationId xmlns:a16="http://schemas.microsoft.com/office/drawing/2014/main" id="{918140AB-C200-FA15-241F-33812D2E59F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1180" y="2932160"/>
            <a:ext cx="3569640" cy="2594272"/>
          </a:xfrm>
          <a:prstGeom prst="roundRect">
            <a:avLst>
              <a:gd name="adj" fmla="val 4857"/>
            </a:avLst>
          </a:prstGeom>
          <a:solidFill>
            <a:schemeClr val="tx1">
              <a:alpha val="25000"/>
            </a:schemeClr>
          </a:solidFill>
        </p:spPr>
        <p:txBody>
          <a:bodyPr lIns="288000" tIns="288000" rIns="288000" bIns="288000">
            <a:no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1" name="Textplatzhalter 21">
            <a:extLst>
              <a:ext uri="{FF2B5EF4-FFF2-40B4-BE49-F238E27FC236}">
                <a16:creationId xmlns:a16="http://schemas.microsoft.com/office/drawing/2014/main" id="{D61639D5-94C4-64E2-1369-15479E154BB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22123" y="2932160"/>
            <a:ext cx="3569640" cy="2594272"/>
          </a:xfrm>
          <a:prstGeom prst="roundRect">
            <a:avLst>
              <a:gd name="adj" fmla="val 4857"/>
            </a:avLst>
          </a:prstGeom>
          <a:solidFill>
            <a:schemeClr val="tx1">
              <a:alpha val="25000"/>
            </a:schemeClr>
          </a:solidFill>
        </p:spPr>
        <p:txBody>
          <a:bodyPr lIns="288000" tIns="288000" rIns="288000" bIns="288000">
            <a:no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2FF510D-42DF-7A8F-2B55-D4F1E8FE12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621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42" userDrawn="1">
          <p15:clr>
            <a:srgbClr val="5ACBF0"/>
          </p15:clr>
        </p15:guide>
        <p15:guide id="2" orient="horz" pos="3475" userDrawn="1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vollflächig + 3 Textfel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9" name="Textplatzhalter 21">
            <a:extLst>
              <a:ext uri="{FF2B5EF4-FFF2-40B4-BE49-F238E27FC236}">
                <a16:creationId xmlns:a16="http://schemas.microsoft.com/office/drawing/2014/main" id="{394052BB-2B3E-EEC9-20D8-3971025A5F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0237" y="2932160"/>
            <a:ext cx="3569640" cy="2594272"/>
          </a:xfrm>
          <a:prstGeom prst="roundRect">
            <a:avLst>
              <a:gd name="adj" fmla="val 4857"/>
            </a:avLst>
          </a:prstGeom>
          <a:solidFill>
            <a:schemeClr val="tx1">
              <a:alpha val="90000"/>
            </a:schemeClr>
          </a:solidFill>
        </p:spPr>
        <p:txBody>
          <a:bodyPr lIns="288000" tIns="288000" rIns="288000" bIns="28800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28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0" name="Textplatzhalter 21">
            <a:extLst>
              <a:ext uri="{FF2B5EF4-FFF2-40B4-BE49-F238E27FC236}">
                <a16:creationId xmlns:a16="http://schemas.microsoft.com/office/drawing/2014/main" id="{918140AB-C200-FA15-241F-33812D2E59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1180" y="2932160"/>
            <a:ext cx="3569640" cy="2594272"/>
          </a:xfrm>
          <a:prstGeom prst="roundRect">
            <a:avLst>
              <a:gd name="adj" fmla="val 4857"/>
            </a:avLst>
          </a:prstGeom>
          <a:solidFill>
            <a:schemeClr val="tx1">
              <a:alpha val="90000"/>
            </a:schemeClr>
          </a:solidFill>
        </p:spPr>
        <p:txBody>
          <a:bodyPr lIns="288000" tIns="288000" rIns="288000" bIns="28800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28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1" name="Textplatzhalter 21">
            <a:extLst>
              <a:ext uri="{FF2B5EF4-FFF2-40B4-BE49-F238E27FC236}">
                <a16:creationId xmlns:a16="http://schemas.microsoft.com/office/drawing/2014/main" id="{D61639D5-94C4-64E2-1369-15479E154B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22123" y="2932160"/>
            <a:ext cx="3569640" cy="2594272"/>
          </a:xfrm>
          <a:prstGeom prst="roundRect">
            <a:avLst>
              <a:gd name="adj" fmla="val 4857"/>
            </a:avLst>
          </a:prstGeom>
          <a:solidFill>
            <a:schemeClr val="tx1">
              <a:alpha val="90000"/>
            </a:schemeClr>
          </a:solidFill>
        </p:spPr>
        <p:txBody>
          <a:bodyPr lIns="288000" tIns="288000" rIns="288000" bIns="28800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28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8" name="Titel 14">
            <a:extLst>
              <a:ext uri="{FF2B5EF4-FFF2-40B4-BE49-F238E27FC236}">
                <a16:creationId xmlns:a16="http://schemas.microsoft.com/office/drawing/2014/main" id="{DBEBCD20-9DD7-04FE-BC0A-8D14B3F3B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463" y="1399874"/>
            <a:ext cx="11395074" cy="843073"/>
          </a:xfrm>
        </p:spPr>
        <p:txBody>
          <a:bodyPr anchor="ctr">
            <a:noAutofit/>
          </a:bodyPr>
          <a:lstStyle>
            <a:lvl1pPr algn="ctr">
              <a:defRPr sz="5000">
                <a:solidFill>
                  <a:schemeClr val="tx1"/>
                </a:solidFill>
              </a:defRPr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F8427037-BC78-80E8-AB53-BB9BA269002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95038" y="345856"/>
            <a:ext cx="1415976" cy="24625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7287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42" userDrawn="1">
          <p15:clr>
            <a:srgbClr val="5ACBF0"/>
          </p15:clr>
        </p15:guide>
        <p15:guide id="2" orient="horz" pos="3475" userDrawn="1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vollflächig + 3 kleine Textfel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3" name="Textplatzhalter 21">
            <a:extLst>
              <a:ext uri="{FF2B5EF4-FFF2-40B4-BE49-F238E27FC236}">
                <a16:creationId xmlns:a16="http://schemas.microsoft.com/office/drawing/2014/main" id="{B15B2A6E-6465-9709-D37B-AFAA9295D9E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038" y="3674339"/>
            <a:ext cx="3709890" cy="755106"/>
          </a:xfrm>
          <a:prstGeom prst="roundRect">
            <a:avLst>
              <a:gd name="adj" fmla="val 16686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1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8" name="Titel 14">
            <a:extLst>
              <a:ext uri="{FF2B5EF4-FFF2-40B4-BE49-F238E27FC236}">
                <a16:creationId xmlns:a16="http://schemas.microsoft.com/office/drawing/2014/main" id="{DBEBCD20-9DD7-04FE-BC0A-8D14B3F3B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038" y="964092"/>
            <a:ext cx="11395074" cy="2065851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F8427037-BC78-80E8-AB53-BB9BA269002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95038" y="345856"/>
            <a:ext cx="1415976" cy="24625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sp>
        <p:nvSpPr>
          <p:cNvPr id="14" name="Textplatzhalter 21">
            <a:extLst>
              <a:ext uri="{FF2B5EF4-FFF2-40B4-BE49-F238E27FC236}">
                <a16:creationId xmlns:a16="http://schemas.microsoft.com/office/drawing/2014/main" id="{0179BC64-4263-D7AC-3F2A-7857656C84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5038" y="5491610"/>
            <a:ext cx="3709890" cy="755106"/>
          </a:xfrm>
          <a:prstGeom prst="roundRect">
            <a:avLst>
              <a:gd name="adj" fmla="val 16686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1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15" name="Textplatzhalter 21">
            <a:extLst>
              <a:ext uri="{FF2B5EF4-FFF2-40B4-BE49-F238E27FC236}">
                <a16:creationId xmlns:a16="http://schemas.microsoft.com/office/drawing/2014/main" id="{0442107D-1C8D-70EB-039B-C7FB887114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5038" y="4582974"/>
            <a:ext cx="3709890" cy="755106"/>
          </a:xfrm>
          <a:prstGeom prst="roundRect">
            <a:avLst>
              <a:gd name="adj" fmla="val 16686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1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53960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95" userDrawn="1">
          <p15:clr>
            <a:srgbClr val="5ACBF0"/>
          </p15:clr>
        </p15:guide>
        <p15:guide id="2" orient="horz" pos="3929" userDrawn="1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vollflächig + 2 kleine Textfel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6" name="Textplatzhalter 21">
            <a:extLst>
              <a:ext uri="{FF2B5EF4-FFF2-40B4-BE49-F238E27FC236}">
                <a16:creationId xmlns:a16="http://schemas.microsoft.com/office/drawing/2014/main" id="{C5E9F97C-17D0-2357-3FA7-D9E9921D33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0237" y="3794945"/>
            <a:ext cx="11395075" cy="3063055"/>
          </a:xfrm>
          <a:prstGeom prst="round2SameRect">
            <a:avLst>
              <a:gd name="adj1" fmla="val 9402"/>
              <a:gd name="adj2" fmla="val 0"/>
            </a:avLst>
          </a:prstGeom>
          <a:solidFill>
            <a:schemeClr val="tx1">
              <a:alpha val="90000"/>
            </a:schemeClr>
          </a:solidFill>
        </p:spPr>
        <p:txBody>
          <a:bodyPr lIns="432000" tIns="216000" rIns="5544000" bIns="288000" anchor="ctr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Clr>
                <a:schemeClr val="bg1"/>
              </a:buClr>
              <a:buNone/>
              <a:defRPr sz="44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17" name="Textplatzhalter 21">
            <a:extLst>
              <a:ext uri="{FF2B5EF4-FFF2-40B4-BE49-F238E27FC236}">
                <a16:creationId xmlns:a16="http://schemas.microsoft.com/office/drawing/2014/main" id="{F6DF1D3F-DDC4-B2D7-F2ED-6DC8A21A24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47300" y="4191802"/>
            <a:ext cx="4610002" cy="873663"/>
          </a:xfrm>
          <a:prstGeom prst="roundRect">
            <a:avLst>
              <a:gd name="adj" fmla="val 14422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1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F8427037-BC78-80E8-AB53-BB9BA269002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95038" y="345856"/>
            <a:ext cx="1415976" cy="24625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sp>
        <p:nvSpPr>
          <p:cNvPr id="18" name="Textplatzhalter 21">
            <a:extLst>
              <a:ext uri="{FF2B5EF4-FFF2-40B4-BE49-F238E27FC236}">
                <a16:creationId xmlns:a16="http://schemas.microsoft.com/office/drawing/2014/main" id="{23442E91-2B83-3B07-E9B4-4B09A67AB3D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47300" y="5377912"/>
            <a:ext cx="4610002" cy="873663"/>
          </a:xfrm>
          <a:prstGeom prst="roundRect">
            <a:avLst>
              <a:gd name="adj" fmla="val 14422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1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23915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387" userDrawn="1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links + Bild rechts 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112348" y="0"/>
            <a:ext cx="6079651" cy="6858000"/>
          </a:xfrm>
          <a:prstGeom prst="rect">
            <a:avLst/>
          </a:prstGeom>
          <a:solidFill>
            <a:srgbClr val="00264C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06207" y="271305"/>
            <a:ext cx="5485744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1" y="6556875"/>
            <a:ext cx="5001942" cy="219454"/>
          </a:xfrm>
        </p:spPr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21" name="Textplatzhalter 13">
            <a:extLst>
              <a:ext uri="{FF2B5EF4-FFF2-40B4-BE49-F238E27FC236}">
                <a16:creationId xmlns:a16="http://schemas.microsoft.com/office/drawing/2014/main" id="{BBCE250A-42D7-D901-3D53-EF1E025A44A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814" y="1016000"/>
            <a:ext cx="5312063" cy="4903997"/>
          </a:xfrm>
        </p:spPr>
        <p:txBody>
          <a:bodyPr anchor="b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4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1B8BC4F8-94E9-E1DB-8010-0206E6E4ACC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79887" y="1015999"/>
            <a:ext cx="5312063" cy="4903997"/>
          </a:xfrm>
        </p:spPr>
        <p:txBody>
          <a:bodyPr anchor="t">
            <a:no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buNone/>
              <a:defRPr sz="4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DB6B9047-342F-6978-B394-95E4C69954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0B96CAB-F1B9-782B-02B9-5309B3D53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080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40" userDrawn="1">
          <p15:clr>
            <a:srgbClr val="5ACBF0"/>
          </p15:clr>
        </p15:guide>
        <p15:guide id="2" orient="horz" pos="3725" userDrawn="1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links + größeres Bild rechts 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208926" y="0"/>
            <a:ext cx="7983073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47822" y="271305"/>
            <a:ext cx="7344129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1" y="6556875"/>
            <a:ext cx="5001942" cy="219454"/>
          </a:xfrm>
        </p:spPr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80B668F0-0E9A-9BC2-B2E5-64DCC33D3D0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814" y="1803183"/>
            <a:ext cx="3616923" cy="1575816"/>
          </a:xfrm>
        </p:spPr>
        <p:txBody>
          <a:bodyPr anchor="t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4400" b="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9339C54E-BA73-A7D4-A8D7-1302B3DD8FA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2814" y="3623733"/>
            <a:ext cx="3616923" cy="2627842"/>
          </a:xfrm>
        </p:spPr>
        <p:txBody>
          <a:bodyPr anchor="t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85832F44-47F9-AD2B-8755-E4E356EEB7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9638BE7-8052-B9DE-3A28-0AEB35C20D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765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links  + Text rech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9013F5DB-60EA-91C9-E066-77F534F06B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43091" y="1016000"/>
            <a:ext cx="4448860" cy="4903997"/>
          </a:xfrm>
        </p:spPr>
        <p:txBody>
          <a:bodyPr anchor="ctr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4000"/>
              </a:spcAft>
              <a:buNone/>
              <a:defRPr sz="3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6D5A9824-4341-6A3F-0DC0-A1B5C5034B73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0" y="0"/>
            <a:ext cx="6079651" cy="6858000"/>
          </a:xfrm>
          <a:prstGeom prst="rect">
            <a:avLst/>
          </a:prstGeom>
          <a:solidFill>
            <a:srgbClr val="00264C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5333" y="271305"/>
            <a:ext cx="552661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F8427037-BC78-80E8-AB53-BB9BA269002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95038" y="345856"/>
            <a:ext cx="1415976" cy="24625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1" y="6556875"/>
            <a:ext cx="5001942" cy="219454"/>
          </a:xfrm>
        </p:spPr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9487F053-7B65-ACBB-E7FC-283821DDEF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814" y="1016000"/>
            <a:ext cx="5312063" cy="4903997"/>
          </a:xfrm>
        </p:spPr>
        <p:txBody>
          <a:bodyPr anchor="b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4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974773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25" userDrawn="1">
          <p15:clr>
            <a:srgbClr val="5ACBF0"/>
          </p15:clr>
        </p15:guide>
        <p15:guide id="2" orient="horz" pos="640" userDrawn="1">
          <p15:clr>
            <a:srgbClr val="5ACBF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oben + Bild unt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21">
            <a:extLst>
              <a:ext uri="{FF2B5EF4-FFF2-40B4-BE49-F238E27FC236}">
                <a16:creationId xmlns:a16="http://schemas.microsoft.com/office/drawing/2014/main" id="{134C2819-F58E-778D-4D16-1D02050301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2581" y="986335"/>
            <a:ext cx="1686838" cy="455874"/>
          </a:xfrm>
          <a:prstGeom prst="roundRect">
            <a:avLst>
              <a:gd name="adj" fmla="val 27639"/>
            </a:avLst>
          </a:prstGeom>
          <a:solidFill>
            <a:schemeClr val="tx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800" b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0" y="2641598"/>
            <a:ext cx="12192000" cy="4216401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ADAACFD-360C-5201-4331-9481888EB9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2" name="Titel 14">
            <a:extLst>
              <a:ext uri="{FF2B5EF4-FFF2-40B4-BE49-F238E27FC236}">
                <a16:creationId xmlns:a16="http://schemas.microsoft.com/office/drawing/2014/main" id="{E5247B9E-E1D0-F1B0-34C9-3EF89DD3B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463" y="1472355"/>
            <a:ext cx="11395074" cy="963759"/>
          </a:xfrm>
        </p:spPr>
        <p:txBody>
          <a:bodyPr anchor="ctr">
            <a:noAutofit/>
          </a:bodyPr>
          <a:lstStyle>
            <a:lvl1pPr algn="ctr">
              <a:defRPr sz="5400" b="0">
                <a:solidFill>
                  <a:schemeClr val="tx1"/>
                </a:solidFill>
              </a:defRPr>
            </a:lvl1pPr>
          </a:lstStyle>
          <a:p>
            <a:r>
              <a:rPr lang="de-AT" noProof="0"/>
              <a:t>Headline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3B1D025-34F0-F707-AC6F-F38CC623C3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646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18" userDrawn="1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oben + Text unt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5E02234-C335-9955-F394-203398EFF76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5037" y="4118981"/>
            <a:ext cx="5159601" cy="694971"/>
          </a:xfrm>
          <a:prstGeom prst="roundRect">
            <a:avLst>
              <a:gd name="adj" fmla="val 18130"/>
            </a:avLst>
          </a:prstGeom>
          <a:solidFill>
            <a:schemeClr val="tx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0" y="1"/>
            <a:ext cx="12192000" cy="3429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ADAACFD-360C-5201-4331-9481888EB9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2" name="Titel 14">
            <a:extLst>
              <a:ext uri="{FF2B5EF4-FFF2-40B4-BE49-F238E27FC236}">
                <a16:creationId xmlns:a16="http://schemas.microsoft.com/office/drawing/2014/main" id="{E5247B9E-E1D0-F1B0-34C9-3EF89DD3B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463" y="1472355"/>
            <a:ext cx="11395074" cy="963759"/>
          </a:xfrm>
        </p:spPr>
        <p:txBody>
          <a:bodyPr anchor="ctr">
            <a:noAutofit/>
          </a:bodyPr>
          <a:lstStyle>
            <a:lvl1pPr algn="ctr">
              <a:defRPr sz="5400" b="0">
                <a:solidFill>
                  <a:schemeClr val="tx1"/>
                </a:solidFill>
              </a:defRPr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23" name="Textplatzhalter 21">
            <a:extLst>
              <a:ext uri="{FF2B5EF4-FFF2-40B4-BE49-F238E27FC236}">
                <a16:creationId xmlns:a16="http://schemas.microsoft.com/office/drawing/2014/main" id="{B9789406-923B-F4B8-BD19-6CE3C162056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5037" y="5251745"/>
            <a:ext cx="5159601" cy="694971"/>
          </a:xfrm>
          <a:prstGeom prst="roundRect">
            <a:avLst>
              <a:gd name="adj" fmla="val 18130"/>
            </a:avLst>
          </a:prstGeom>
          <a:solidFill>
            <a:schemeClr val="tx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4" name="Textplatzhalter 21">
            <a:extLst>
              <a:ext uri="{FF2B5EF4-FFF2-40B4-BE49-F238E27FC236}">
                <a16:creationId xmlns:a16="http://schemas.microsoft.com/office/drawing/2014/main" id="{8B4F6CD0-D36F-6531-9E6F-814372B6CB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32349" y="4118981"/>
            <a:ext cx="5159601" cy="694971"/>
          </a:xfrm>
          <a:prstGeom prst="roundRect">
            <a:avLst>
              <a:gd name="adj" fmla="val 18130"/>
            </a:avLst>
          </a:prstGeom>
          <a:solidFill>
            <a:schemeClr val="tx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5" name="Textplatzhalter 21">
            <a:extLst>
              <a:ext uri="{FF2B5EF4-FFF2-40B4-BE49-F238E27FC236}">
                <a16:creationId xmlns:a16="http://schemas.microsoft.com/office/drawing/2014/main" id="{1D2312D9-1AA6-E7E9-B24B-7763DCA36A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2349" y="5251745"/>
            <a:ext cx="5159601" cy="694971"/>
          </a:xfrm>
          <a:prstGeom prst="roundRect">
            <a:avLst>
              <a:gd name="adj" fmla="val 18130"/>
            </a:avLst>
          </a:prstGeom>
          <a:solidFill>
            <a:schemeClr val="tx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6" name="Textplatzhalter 2">
            <a:extLst>
              <a:ext uri="{FF2B5EF4-FFF2-40B4-BE49-F238E27FC236}">
                <a16:creationId xmlns:a16="http://schemas.microsoft.com/office/drawing/2014/main" id="{60E337AD-8D95-156E-B242-9D810E6F1E35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95038" y="345856"/>
            <a:ext cx="1415976" cy="24625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889C224-9A37-0807-727F-E71BCBE18B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642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591" userDrawn="1">
          <p15:clr>
            <a:srgbClr val="5ACBF0"/>
          </p15:clr>
        </p15:guide>
        <p15:guide id="2" orient="horz" pos="3748" userDrawn="1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1 + 3 Bil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ACCF73E8-10B0-0B84-1404-85AABDF6467C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  <a:gradFill>
            <a:gsLst>
              <a:gs pos="29000">
                <a:srgbClr val="005CA9"/>
              </a:gs>
              <a:gs pos="100000">
                <a:srgbClr val="A5C8FF"/>
              </a:gs>
              <a:gs pos="72000">
                <a:srgbClr val="5492E3"/>
              </a:gs>
            </a:gsLst>
            <a:lin ang="18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-1" y="-1"/>
            <a:ext cx="12192000" cy="6858000"/>
          </a:xfrm>
          <a:prstGeom prst="rect">
            <a:avLst/>
          </a:prstGeom>
          <a:gradFill>
            <a:gsLst>
              <a:gs pos="29000">
                <a:srgbClr val="005CA9"/>
              </a:gs>
              <a:gs pos="100000">
                <a:srgbClr val="A5C8FF"/>
              </a:gs>
              <a:gs pos="72000">
                <a:srgbClr val="5492E3"/>
              </a:gs>
            </a:gsLst>
            <a:lin ang="18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54B1E-EE8E-9B42-8826-03AB784C90A8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FF5981-2895-C798-0C92-59C1B191DA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" name="Bildplatzhalter 11">
            <a:extLst>
              <a:ext uri="{FF2B5EF4-FFF2-40B4-BE49-F238E27FC236}">
                <a16:creationId xmlns:a16="http://schemas.microsoft.com/office/drawing/2014/main" id="{316C6D6D-16BB-8646-E58E-CAAD2A8A86C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00237" y="1507959"/>
            <a:ext cx="3695790" cy="3842082"/>
          </a:xfrm>
          <a:prstGeom prst="roundRect">
            <a:avLst>
              <a:gd name="adj" fmla="val 3409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8" name="Bildplatzhalter 11">
            <a:extLst>
              <a:ext uri="{FF2B5EF4-FFF2-40B4-BE49-F238E27FC236}">
                <a16:creationId xmlns:a16="http://schemas.microsoft.com/office/drawing/2014/main" id="{076C221C-A1EE-7021-275B-815D27E4B57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48246" y="1507959"/>
            <a:ext cx="3695790" cy="3842082"/>
          </a:xfrm>
          <a:prstGeom prst="roundRect">
            <a:avLst>
              <a:gd name="adj" fmla="val 3409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0" name="Bildplatzhalter 11">
            <a:extLst>
              <a:ext uri="{FF2B5EF4-FFF2-40B4-BE49-F238E27FC236}">
                <a16:creationId xmlns:a16="http://schemas.microsoft.com/office/drawing/2014/main" id="{A2730ED5-2673-B04B-7E4C-FFD96DD2D51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96254" y="1507959"/>
            <a:ext cx="3695790" cy="3842082"/>
          </a:xfrm>
          <a:prstGeom prst="roundRect">
            <a:avLst>
              <a:gd name="adj" fmla="val 3409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D6A7D0DD-BCA8-0AE5-526E-55FE556AC15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00236" y="5544567"/>
            <a:ext cx="3695789" cy="70700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7213C2DD-ED92-586E-9FCB-C0774E184F9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48246" y="5544567"/>
            <a:ext cx="3695789" cy="70700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0A0DE34-7C14-0DCF-3443-30D57AE062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096254" y="5544567"/>
            <a:ext cx="3695789" cy="70700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605AB16-8607-0578-B12F-6658CBD4BB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413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946" userDrawn="1">
          <p15:clr>
            <a:srgbClr val="5ACBF0"/>
          </p15:clr>
        </p15:guide>
        <p15:guide id="2" orient="horz" pos="3372" userDrawn="1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iß_Blau + 3 Textfelder +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CE898E0-4463-731D-C77B-A26E818186C3}"/>
              </a:ext>
            </a:extLst>
          </p:cNvPr>
          <p:cNvSpPr/>
          <p:nvPr userDrawn="1"/>
        </p:nvSpPr>
        <p:spPr>
          <a:xfrm>
            <a:off x="0" y="2641600"/>
            <a:ext cx="12192000" cy="4216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AT" sz="1600" noProof="0">
              <a:solidFill>
                <a:schemeClr val="tx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5FE332B-7ABC-895B-262C-FABC5EE7A1C1}"/>
              </a:ext>
            </a:extLst>
          </p:cNvPr>
          <p:cNvSpPr/>
          <p:nvPr/>
        </p:nvSpPr>
        <p:spPr>
          <a:xfrm>
            <a:off x="0" y="2641600"/>
            <a:ext cx="12192000" cy="4216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AT" sz="1600" noProof="0">
              <a:solidFill>
                <a:schemeClr val="tx1"/>
              </a:solidFill>
            </a:endParaRPr>
          </a:p>
        </p:txBody>
      </p:sp>
      <p:sp>
        <p:nvSpPr>
          <p:cNvPr id="28" name="Textplatzhalter 21">
            <a:extLst>
              <a:ext uri="{FF2B5EF4-FFF2-40B4-BE49-F238E27FC236}">
                <a16:creationId xmlns:a16="http://schemas.microsoft.com/office/drawing/2014/main" id="{31DC8F40-CA89-035D-9FB9-427A98671A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0237" y="3125337"/>
            <a:ext cx="3569640" cy="3126237"/>
          </a:xfrm>
          <a:prstGeom prst="roundRect">
            <a:avLst>
              <a:gd name="adj" fmla="val 4857"/>
            </a:avLst>
          </a:prstGeom>
          <a:solidFill>
            <a:schemeClr val="bg1"/>
          </a:solidFill>
        </p:spPr>
        <p:txBody>
          <a:bodyPr lIns="180000" tIns="1512000" rIns="180000" bIns="0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4pPr marL="1371600" indent="0">
              <a:buNone/>
              <a:defRPr/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9" name="Textplatzhalter 21">
            <a:extLst>
              <a:ext uri="{FF2B5EF4-FFF2-40B4-BE49-F238E27FC236}">
                <a16:creationId xmlns:a16="http://schemas.microsoft.com/office/drawing/2014/main" id="{9E61F644-2FD9-2A07-4886-EEEC2CEF430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11273" y="3125337"/>
            <a:ext cx="3569640" cy="3126237"/>
          </a:xfrm>
          <a:prstGeom prst="roundRect">
            <a:avLst>
              <a:gd name="adj" fmla="val 4857"/>
            </a:avLst>
          </a:prstGeom>
          <a:solidFill>
            <a:schemeClr val="bg1"/>
          </a:solidFill>
        </p:spPr>
        <p:txBody>
          <a:bodyPr lIns="180000" tIns="1512000" rIns="180000" bIns="0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4pPr marL="1371600" indent="0">
              <a:buNone/>
              <a:defRPr/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30" name="Textplatzhalter 21">
            <a:extLst>
              <a:ext uri="{FF2B5EF4-FFF2-40B4-BE49-F238E27FC236}">
                <a16:creationId xmlns:a16="http://schemas.microsoft.com/office/drawing/2014/main" id="{117BE5BF-C985-A083-F058-60446210499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22310" y="3125337"/>
            <a:ext cx="3569640" cy="3126237"/>
          </a:xfrm>
          <a:prstGeom prst="roundRect">
            <a:avLst>
              <a:gd name="adj" fmla="val 4857"/>
            </a:avLst>
          </a:prstGeom>
          <a:solidFill>
            <a:schemeClr val="bg1"/>
          </a:solidFill>
        </p:spPr>
        <p:txBody>
          <a:bodyPr lIns="180000" tIns="1512000" rIns="180000" bIns="0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4pPr marL="1371600" indent="0">
              <a:buNone/>
              <a:defRPr/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0" name="Bildplatzhalter 37">
            <a:extLst>
              <a:ext uri="{FF2B5EF4-FFF2-40B4-BE49-F238E27FC236}">
                <a16:creationId xmlns:a16="http://schemas.microsoft.com/office/drawing/2014/main" id="{9007CD21-E331-59DD-B6E6-FAB99FA4476D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1667857" y="3397307"/>
            <a:ext cx="1034401" cy="103440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AC1EB0-53BB-3243-9B08-2A1EA0BAFB8B}" type="datetime1">
              <a:rPr lang="de-AT" noProof="0" smtClean="0"/>
              <a:pPr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A5A8C102-C7AE-E1B1-4044-521B5D7B79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1107996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  <a:br>
              <a:rPr lang="de-AT" noProof="0"/>
            </a:br>
            <a:r>
              <a:rPr lang="de-AT" b="0" noProof="0"/>
              <a:t>Headline</a:t>
            </a:r>
          </a:p>
        </p:txBody>
      </p:sp>
      <p:sp>
        <p:nvSpPr>
          <p:cNvPr id="24" name="Bildplatzhalter 37">
            <a:extLst>
              <a:ext uri="{FF2B5EF4-FFF2-40B4-BE49-F238E27FC236}">
                <a16:creationId xmlns:a16="http://schemas.microsoft.com/office/drawing/2014/main" id="{D581CC89-6C5D-A65C-46DB-83A88F5A16CB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5578893" y="3397307"/>
            <a:ext cx="1034401" cy="103440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7" name="Bildplatzhalter 37">
            <a:extLst>
              <a:ext uri="{FF2B5EF4-FFF2-40B4-BE49-F238E27FC236}">
                <a16:creationId xmlns:a16="http://schemas.microsoft.com/office/drawing/2014/main" id="{7883BF61-1DC2-091D-76A4-AD4CE358326C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489930" y="3397308"/>
            <a:ext cx="1034401" cy="103440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AT" noProof="0"/>
              <a:t>Icon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8D06AB6-D205-4BAD-9A0A-4BDB874A03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8586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61" userDrawn="1">
          <p15:clr>
            <a:srgbClr val="5ACBF0"/>
          </p15:clr>
        </p15:guide>
        <p15:guide id="2" orient="horz" pos="3940" userDrawn="1">
          <p15:clr>
            <a:srgbClr val="5ACBF0"/>
          </p15:clr>
        </p15:guide>
        <p15:guide id="3" orient="horz" pos="1967" userDrawn="1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IQA Bla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2A66D-DFCE-334C-BD3A-FC71B59CD867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19919588-06BF-CF90-2F5F-13D15DB99A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DE9F97FF-2E68-7F80-F075-0C044016AFF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13">
            <a:extLst>
              <a:ext uri="{FF2B5EF4-FFF2-40B4-BE49-F238E27FC236}">
                <a16:creationId xmlns:a16="http://schemas.microsoft.com/office/drawing/2014/main" id="{DCF544EE-9874-C9B2-0DF6-496BC7890B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876" y="1808163"/>
            <a:ext cx="11395074" cy="4443412"/>
          </a:xfrm>
        </p:spPr>
        <p:txBody>
          <a:bodyPr wrap="square" anchor="t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40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78876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1 +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30B21BD-4326-95E7-615D-BAB10A3DCB93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  <a:gradFill>
            <a:gsLst>
              <a:gs pos="29000">
                <a:srgbClr val="005CA9"/>
              </a:gs>
              <a:gs pos="100000">
                <a:srgbClr val="A5C8FF"/>
              </a:gs>
              <a:gs pos="72000">
                <a:srgbClr val="5492E3"/>
              </a:gs>
            </a:gsLst>
            <a:lin ang="18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54B1E-EE8E-9B42-8826-03AB784C90A8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FF5981-2895-C798-0C92-59C1B191DA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9" name="Textplatzhalter 13">
            <a:extLst>
              <a:ext uri="{FF2B5EF4-FFF2-40B4-BE49-F238E27FC236}">
                <a16:creationId xmlns:a16="http://schemas.microsoft.com/office/drawing/2014/main" id="{DFF7941A-9130-7A7B-108A-18590B26EE4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876" y="1808163"/>
            <a:ext cx="11395074" cy="4443412"/>
          </a:xfrm>
        </p:spPr>
        <p:txBody>
          <a:bodyPr wrap="square" anchor="t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40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21F1563-A380-881F-C66A-E21F84A9F3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7821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2 +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43362708-AE5F-2424-E2BB-4AFD53628521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  <a:gradFill flip="none" rotWithShape="1">
            <a:gsLst>
              <a:gs pos="90000">
                <a:srgbClr val="005CA9"/>
              </a:gs>
              <a:gs pos="0">
                <a:srgbClr val="71ADFF"/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FD7440A-ABE8-9EB8-477B-180253DEFEA9}"/>
              </a:ext>
            </a:extLst>
          </p:cNvPr>
          <p:cNvSpPr/>
          <p:nvPr/>
        </p:nvSpPr>
        <p:spPr>
          <a:xfrm>
            <a:off x="-1" y="-1"/>
            <a:ext cx="12192000" cy="6858000"/>
          </a:xfrm>
          <a:prstGeom prst="rect">
            <a:avLst/>
          </a:prstGeom>
          <a:gradFill flip="none" rotWithShape="1">
            <a:gsLst>
              <a:gs pos="90000">
                <a:srgbClr val="005CA9"/>
              </a:gs>
              <a:gs pos="0">
                <a:srgbClr val="71ADFF"/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D20BD-985F-B24C-AB1B-306C4174C38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4AE7F5F-7721-5C1A-4648-78A635DFB0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" name="Textplatzhalter 13">
            <a:extLst>
              <a:ext uri="{FF2B5EF4-FFF2-40B4-BE49-F238E27FC236}">
                <a16:creationId xmlns:a16="http://schemas.microsoft.com/office/drawing/2014/main" id="{8A2DA6C3-0642-66F4-7872-14CCD111F0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876" y="1808163"/>
            <a:ext cx="11395074" cy="4443412"/>
          </a:xfrm>
        </p:spPr>
        <p:txBody>
          <a:bodyPr wrap="square" anchor="t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40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1B0D30B-9D3D-D6D4-F27A-72FCC6F1FA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53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4 + Text + Bild 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4AF809C-9E39-1A44-81C9-732CDC5BE660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55000">
                <a:schemeClr val="bg1"/>
              </a:gs>
              <a:gs pos="14000">
                <a:schemeClr val="bg1"/>
              </a:gs>
              <a:gs pos="100000">
                <a:srgbClr val="6393C6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55000">
                <a:schemeClr val="bg1"/>
              </a:gs>
              <a:gs pos="14000">
                <a:schemeClr val="bg1"/>
              </a:gs>
              <a:gs pos="100000">
                <a:srgbClr val="6393C6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platzhalter 13">
            <a:extLst>
              <a:ext uri="{FF2B5EF4-FFF2-40B4-BE49-F238E27FC236}">
                <a16:creationId xmlns:a16="http://schemas.microsoft.com/office/drawing/2014/main" id="{1EA7E588-BB1B-4D8B-714A-331B9CF47D2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876" y="1808163"/>
            <a:ext cx="11395074" cy="4443412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914C8-7C5F-FE49-BF49-2F889180DDF4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8" name="Textplatzhalter 5">
            <a:extLst>
              <a:ext uri="{FF2B5EF4-FFF2-40B4-BE49-F238E27FC236}">
                <a16:creationId xmlns:a16="http://schemas.microsoft.com/office/drawing/2014/main" id="{921AC4C9-F7BA-B282-2451-EE4463ED1C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0D7D275D-13F3-898C-B158-EBE16D12C5A0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417416" y="1135405"/>
            <a:ext cx="5372101" cy="5722595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B36BE31-0770-3387-A09D-0ED48CBD97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114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5 + blaue Form mit Text + Bild 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366C960-AE82-4DE6-3224-F44988D814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extplatzhalter 21">
            <a:extLst>
              <a:ext uri="{FF2B5EF4-FFF2-40B4-BE49-F238E27FC236}">
                <a16:creationId xmlns:a16="http://schemas.microsoft.com/office/drawing/2014/main" id="{E2B2D849-D938-48CD-3A96-04DB0D14C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05050" y="2203696"/>
            <a:ext cx="9163053" cy="3511304"/>
          </a:xfrm>
          <a:prstGeom prst="roundRect">
            <a:avLst>
              <a:gd name="adj" fmla="val 3588"/>
            </a:avLst>
          </a:prstGeom>
          <a:solidFill>
            <a:schemeClr val="accent6"/>
          </a:solidFill>
        </p:spPr>
        <p:txBody>
          <a:bodyPr lIns="1368000" tIns="0" rIns="0" bIns="0" anchor="ctr">
            <a:noAutofit/>
          </a:bodyPr>
          <a:lstStyle>
            <a:lvl1pPr marL="0" indent="0" algn="l">
              <a:spcBef>
                <a:spcPts val="0"/>
              </a:spcBef>
              <a:buClr>
                <a:schemeClr val="bg1"/>
              </a:buClr>
              <a:buNone/>
              <a:defRPr sz="6000" b="1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3A14E167-39B9-9C54-31FA-0970BD3BF0C6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00050" y="1108406"/>
            <a:ext cx="3733800" cy="5749594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6766B3F-0AA3-3EBB-7246-DA9BF9F5BB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477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89" userDrawn="1">
          <p15:clr>
            <a:srgbClr val="5ACBF0"/>
          </p15:clr>
        </p15:guide>
        <p15:guide id="2" orient="horz" pos="3603" userDrawn="1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5 + Bild +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81C47D8-5CC1-AF33-330B-C97D11459D6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9" name="Bildplatzhalter 2">
            <a:extLst>
              <a:ext uri="{FF2B5EF4-FFF2-40B4-BE49-F238E27FC236}">
                <a16:creationId xmlns:a16="http://schemas.microsoft.com/office/drawing/2014/main" id="{CA733F10-6FBB-75DA-1526-E6698C11C23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00050" y="1108406"/>
            <a:ext cx="7829550" cy="5749594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0" name="Textplatzhalter 13">
            <a:extLst>
              <a:ext uri="{FF2B5EF4-FFF2-40B4-BE49-F238E27FC236}">
                <a16:creationId xmlns:a16="http://schemas.microsoft.com/office/drawing/2014/main" id="{670B457E-F786-333D-4D58-A64A600937F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93867" y="1682295"/>
            <a:ext cx="6598083" cy="4569280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F2FA06E-2342-CE8D-D07F-5CAA757EC8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2322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49" userDrawn="1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ild vollflächi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3FF29A22-035E-20D7-0765-D6C3FB19303B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4E3C9492-034D-5506-222F-6E44C964A86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95038" y="345856"/>
            <a:ext cx="1415976" cy="24625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71FA70C8-18AB-A4A8-5EC2-29ECBC123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875" y="6556875"/>
            <a:ext cx="588192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fld id="{A59CD13C-BBB2-EB46-B570-08D6E3877884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AEDB545B-D710-2DBF-CD8E-E53396AA2B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010" y="6556875"/>
            <a:ext cx="6127477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D00CC7C-2BC5-2455-3756-558A46667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3759" y="6556875"/>
            <a:ext cx="588191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A58712F-B9FD-4486-4173-2E9568410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</p:spTree>
    <p:extLst>
      <p:ext uri="{BB962C8B-B14F-4D97-AF65-F5344CB8AC3E}">
        <p14:creationId xmlns:p14="http://schemas.microsoft.com/office/powerpoint/2010/main" val="41263580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6C83138-BB26-4741-1BDC-F26CE11E24A2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  <a:gradFill>
            <a:gsLst>
              <a:gs pos="29000">
                <a:srgbClr val="005CA9"/>
              </a:gs>
              <a:gs pos="100000">
                <a:srgbClr val="A5C8FF"/>
              </a:gs>
              <a:gs pos="72000">
                <a:srgbClr val="5492E3"/>
              </a:gs>
            </a:gsLst>
            <a:lin ang="18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-1" y="-1"/>
            <a:ext cx="12192000" cy="6858000"/>
          </a:xfrm>
          <a:prstGeom prst="rect">
            <a:avLst/>
          </a:prstGeom>
          <a:gradFill>
            <a:gsLst>
              <a:gs pos="29000">
                <a:srgbClr val="005CA9"/>
              </a:gs>
              <a:gs pos="100000">
                <a:srgbClr val="A5C8FF"/>
              </a:gs>
              <a:gs pos="72000">
                <a:srgbClr val="5492E3"/>
              </a:gs>
            </a:gsLst>
            <a:lin ang="18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54B1E-EE8E-9B42-8826-03AB784C90A8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FF5981-2895-C798-0C92-59C1B191DA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6B3C506-584C-65AE-2F0D-D8C35422BD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7381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86260CD-4B4F-353B-1875-78E81571B789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  <a:gradFill flip="none" rotWithShape="1">
            <a:gsLst>
              <a:gs pos="90000">
                <a:srgbClr val="005CA9"/>
              </a:gs>
              <a:gs pos="0">
                <a:srgbClr val="71ADFF"/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FD7440A-ABE8-9EB8-477B-180253DEFEA9}"/>
              </a:ext>
            </a:extLst>
          </p:cNvPr>
          <p:cNvSpPr/>
          <p:nvPr/>
        </p:nvSpPr>
        <p:spPr>
          <a:xfrm>
            <a:off x="-1" y="-1"/>
            <a:ext cx="12192000" cy="6858000"/>
          </a:xfrm>
          <a:prstGeom prst="rect">
            <a:avLst/>
          </a:prstGeom>
          <a:gradFill flip="none" rotWithShape="1">
            <a:gsLst>
              <a:gs pos="90000">
                <a:srgbClr val="005CA9"/>
              </a:gs>
              <a:gs pos="0">
                <a:srgbClr val="71ADFF"/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D20BD-985F-B24C-AB1B-306C4174C38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4AE7F5F-7721-5C1A-4648-78A635DFB0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475795F-DB14-C9DB-2626-C959EC8176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9684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BB23F233-FF94-CDB5-B450-929B3EC79131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55000">
                <a:schemeClr val="bg1"/>
              </a:gs>
              <a:gs pos="14000">
                <a:schemeClr val="bg1"/>
              </a:gs>
              <a:gs pos="100000">
                <a:srgbClr val="6393C6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55000">
                <a:schemeClr val="bg1"/>
              </a:gs>
              <a:gs pos="14000">
                <a:schemeClr val="bg1"/>
              </a:gs>
              <a:gs pos="100000">
                <a:srgbClr val="6393C6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914C8-7C5F-FE49-BF49-2F889180DDF4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8" name="Textplatzhalter 5">
            <a:extLst>
              <a:ext uri="{FF2B5EF4-FFF2-40B4-BE49-F238E27FC236}">
                <a16:creationId xmlns:a16="http://schemas.microsoft.com/office/drawing/2014/main" id="{921AC4C9-F7BA-B282-2451-EE4463ED1C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15C5D54-5C79-3A9E-01A5-55D4BB491F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2884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565A09C2-2C97-9731-038A-517C071CB27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013E7CE-67F4-C37A-F342-765ECC972B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1886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+ Bil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013E7CE-67F4-C37A-F342-765ECC972B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A04B3C58-63F7-6491-8DE4-4C3E66008335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112349" y="0"/>
            <a:ext cx="6079651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51B4BE4C-EF8B-A124-B931-94A022B5EB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876" y="1808163"/>
            <a:ext cx="5211444" cy="2992437"/>
          </a:xfrm>
        </p:spPr>
        <p:txBody>
          <a:bodyPr wrap="square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 err="1"/>
              <a:t>Thank</a:t>
            </a:r>
            <a:r>
              <a:rPr lang="de-AT" noProof="0"/>
              <a:t> </a:t>
            </a:r>
            <a:r>
              <a:rPr lang="de-AT" noProof="0" err="1"/>
              <a:t>you</a:t>
            </a:r>
            <a:r>
              <a:rPr lang="de-AT" noProof="0"/>
              <a:t> </a:t>
            </a:r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B7800E84-48C2-B591-51A4-0105DC84120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96876" y="5013960"/>
            <a:ext cx="5211444" cy="1237616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334302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0" userDrawn="1">
          <p15:clr>
            <a:srgbClr val="5ACBF0"/>
          </p15:clr>
        </p15:guide>
        <p15:guide id="2" orient="horz" pos="3940" userDrawn="1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013E7CE-67F4-C37A-F342-765ECC972B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51B4BE4C-EF8B-A124-B931-94A022B5EB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876" y="1808163"/>
            <a:ext cx="11395074" cy="2992437"/>
          </a:xfrm>
        </p:spPr>
        <p:txBody>
          <a:bodyPr wrap="square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 err="1"/>
              <a:t>Thank</a:t>
            </a:r>
            <a:r>
              <a:rPr lang="de-AT" noProof="0"/>
              <a:t> </a:t>
            </a:r>
            <a:r>
              <a:rPr lang="de-AT" noProof="0" err="1"/>
              <a:t>you</a:t>
            </a:r>
            <a:r>
              <a:rPr lang="de-AT" noProof="0"/>
              <a:t> </a:t>
            </a:r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B7800E84-48C2-B591-51A4-0105DC84120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96876" y="5013960"/>
            <a:ext cx="11395074" cy="1237616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848084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0">
          <p15:clr>
            <a:srgbClr val="5ACBF0"/>
          </p15:clr>
        </p15:guide>
        <p15:guide id="2" orient="horz" pos="3940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934964"/>
            <a:ext cx="11395074" cy="1661993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/>
              <a:t>Titel</a:t>
            </a:r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7108EFA4-837F-37FB-F994-17240AD724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5" y="5974576"/>
            <a:ext cx="6886241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2E3A09BB-75CC-D2E0-56A2-1DA12B61F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ED17B827-B2AA-7549-0910-6B786C39AB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2857" y="562798"/>
            <a:ext cx="2499093" cy="18511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A4C882EE-A21E-3AF4-AA03-AA805A1138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9794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78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1 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934964"/>
            <a:ext cx="11395074" cy="1661993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/>
              <a:t>Titel</a:t>
            </a:r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7108EFA4-837F-37FB-F994-17240AD724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5" y="5974576"/>
            <a:ext cx="6886241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2E3A09BB-75CC-D2E0-56A2-1DA12B61F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A4C882EE-A21E-3AF4-AA03-AA805A1138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7A390CF-CECC-A174-3F3E-E9ECA0E253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4651" y="562344"/>
            <a:ext cx="2164400" cy="18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2001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78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934964"/>
            <a:ext cx="11395074" cy="1661993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/>
              <a:t>Titel</a:t>
            </a:r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7108EFA4-837F-37FB-F994-17240AD724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5" y="5974576"/>
            <a:ext cx="6886241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2E3A09BB-75CC-D2E0-56A2-1DA12B61F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1C9975E-B9E6-EA5D-363C-561E6EA890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2857" y="562798"/>
            <a:ext cx="2499093" cy="18511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85C03211-695A-6E0A-67AE-305C01B0BA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119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78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2 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934964"/>
            <a:ext cx="11395074" cy="1661993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/>
              <a:t>Titel</a:t>
            </a:r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7108EFA4-837F-37FB-F994-17240AD724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5" y="5974576"/>
            <a:ext cx="6886241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2E3A09BB-75CC-D2E0-56A2-1DA12B61F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85C03211-695A-6E0A-67AE-305C01B0BA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A8A2FD7-6EA3-FA2C-8B3B-E7A317D36C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4651" y="562344"/>
            <a:ext cx="2164400" cy="18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389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78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E6C689BF-E482-EE41-9AAD-256666DD751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096001" y="0"/>
            <a:ext cx="6096000" cy="68579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AT" noProof="0"/>
              <a:t>Bild in den Vordergrund bringen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D7D4DFF-73A4-21B0-51DB-F3E1347E54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81652244-3BA9-68C1-717E-551648C33D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103967"/>
            <a:ext cx="5388783" cy="2492990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/>
              <a:t>Titel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4F2ACA68-D895-99BE-6004-A6004F1E4A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6" y="5974576"/>
            <a:ext cx="5388782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5D3F69B6-0002-1521-94D1-899BAB54D54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9292857" y="562798"/>
            <a:ext cx="2499093" cy="18511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86991B3A-3A01-9896-9BB0-CE11457692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8771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3 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E6C689BF-E482-EE41-9AAD-256666DD751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096001" y="0"/>
            <a:ext cx="6096000" cy="68579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AT" noProof="0"/>
              <a:t>Bild in den Vordergrund bringen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D7D4DFF-73A4-21B0-51DB-F3E1347E54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81652244-3BA9-68C1-717E-551648C33D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103967"/>
            <a:ext cx="5388783" cy="2492990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/>
              <a:t>Titel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4F2ACA68-D895-99BE-6004-A6004F1E4A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6" y="5974576"/>
            <a:ext cx="5388782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86991B3A-3A01-9896-9BB0-CE11457692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5D3F69B6-0002-1521-94D1-899BAB54D54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9624651" y="562344"/>
            <a:ext cx="2164400" cy="186185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0876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3FF29A22-035E-20D7-0765-D6C3FB19303B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64C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934964"/>
            <a:ext cx="11395074" cy="1661993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/>
              <a:t>Titel</a:t>
            </a:r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7108EFA4-837F-37FB-F994-17240AD724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5" y="5974576"/>
            <a:ext cx="6886241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5DE2A2-1352-F19A-43A3-BE2B7A3EA75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9292857" y="562798"/>
            <a:ext cx="2499093" cy="18511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02EB183F-1CEB-0327-D274-BBE0D6725E45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02949" y="345856"/>
            <a:ext cx="1833265" cy="31882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72126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78">
          <p15:clr>
            <a:srgbClr val="5ACBF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4 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3FF29A22-035E-20D7-0765-D6C3FB19303B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64C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3934964"/>
            <a:ext cx="11395074" cy="1661993"/>
          </a:xfrm>
        </p:spPr>
        <p:txBody>
          <a:bodyPr lIns="0" tIns="0" rIns="0" bIns="0" anchor="b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/>
              <a:t>Titel</a:t>
            </a:r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7108EFA4-837F-37FB-F994-17240AD724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6875" y="5974576"/>
            <a:ext cx="6886241" cy="2769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02EB183F-1CEB-0327-D274-BBE0D6725E45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02949" y="345856"/>
            <a:ext cx="1833265" cy="31882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0D368C3F-B71A-4AFE-5F30-35CA14B2E22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9624651" y="562344"/>
            <a:ext cx="2164400" cy="186185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96130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78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gemeinsam besser leb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3FF29A22-035E-20D7-0765-D6C3FB19303B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4E3C9492-034D-5506-222F-6E44C964A86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95038" y="345856"/>
            <a:ext cx="1415976" cy="24625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429F7A40-D5EA-55AB-F952-99DF79B8F0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875" y="6556875"/>
            <a:ext cx="588192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fld id="{CBF93674-A1DF-C041-9015-68BDAFCCE66C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F31187EA-2973-C6A1-6FD2-A9DA6B3C74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010" y="6556875"/>
            <a:ext cx="6127477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52A069EC-9AC1-B424-CE74-26FA8BA58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3759" y="6556875"/>
            <a:ext cx="588191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F88123D-CBE3-D5ED-DCF7-9F6CEB62F9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3600" y="1339200"/>
            <a:ext cx="4024800" cy="41796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de-A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77173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5ACBF0"/>
          </p15:clr>
        </p15:guide>
        <p15:guide id="2" orient="horz" pos="3475">
          <p15:clr>
            <a:srgbClr val="5ACBF0"/>
          </p15:clr>
        </p15:guide>
        <p15:guide id="3" pos="2570">
          <p15:clr>
            <a:srgbClr val="5ACBF0"/>
          </p15:clr>
        </p15:guide>
        <p15:guide id="4" pos="5110">
          <p15:clr>
            <a:srgbClr val="5ACBF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living better togeth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3FF29A22-035E-20D7-0765-D6C3FB19303B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4E3C9492-034D-5506-222F-6E44C964A86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95038" y="345856"/>
            <a:ext cx="1415976" cy="24625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429F7A40-D5EA-55AB-F952-99DF79B8F0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875" y="6556875"/>
            <a:ext cx="588192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fld id="{CBF93674-A1DF-C041-9015-68BDAFCCE66C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F31187EA-2973-C6A1-6FD2-A9DA6B3C74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010" y="6556875"/>
            <a:ext cx="6127477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52A069EC-9AC1-B424-CE74-26FA8BA58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3759" y="6556875"/>
            <a:ext cx="588191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6" name="Bildplatzhalter 25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BEFE6A99-D67F-2FFE-A8CC-F7B92A92C4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660" b="-1660"/>
          <a:stretch/>
        </p:blipFill>
        <p:spPr>
          <a:xfrm>
            <a:off x="4083600" y="1339200"/>
            <a:ext cx="4024800" cy="4179600"/>
          </a:xfrm>
          <a:prstGeom prst="rect">
            <a:avLst/>
          </a:prstGeom>
        </p:spPr>
      </p:pic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D9412C4B-F421-2862-BA8C-6EE38C1356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3600" y="1339200"/>
            <a:ext cx="4024800" cy="4179600"/>
          </a:xfr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de-A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47612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5ACBF0"/>
          </p15:clr>
        </p15:guide>
        <p15:guide id="2" orient="horz" pos="3475">
          <p15:clr>
            <a:srgbClr val="5ACBF0"/>
          </p15:clr>
        </p15:guide>
        <p15:guide id="3" pos="2570">
          <p15:clr>
            <a:srgbClr val="5ACBF0"/>
          </p15:clr>
        </p15:guide>
        <p15:guide id="4" pos="5110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meinsam besser leben 2 fes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3B66-C98F-7345-A02C-1F772B030CC7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517D1CD-E90A-6BE1-108F-325658C3A1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pic>
        <p:nvPicPr>
          <p:cNvPr id="9" name="Grafik 8" descr="Ein Bild, das Schrift, Text, Grafiken, Kreis enthält.&#10;&#10;KI-generierte Inhalte können fehlerhaft sein.">
            <a:extLst>
              <a:ext uri="{FF2B5EF4-FFF2-40B4-BE49-F238E27FC236}">
                <a16:creationId xmlns:a16="http://schemas.microsoft.com/office/drawing/2014/main" id="{FC13C760-9D5E-C53C-4CA9-00B10F0E57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83600" y="1339200"/>
            <a:ext cx="4024800" cy="41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4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5ACBF0"/>
          </p15:clr>
        </p15:guide>
        <p15:guide id="2" orient="horz" pos="3475">
          <p15:clr>
            <a:srgbClr val="5ACBF0"/>
          </p15:clr>
        </p15:guide>
        <p15:guide id="3" pos="2570">
          <p15:clr>
            <a:srgbClr val="5ACBF0"/>
          </p15:clr>
        </p15:guide>
        <p15:guide id="4" pos="5110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ving better together 2 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3B66-C98F-7345-A02C-1F772B030CC7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517D1CD-E90A-6BE1-108F-325658C3A1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pic>
        <p:nvPicPr>
          <p:cNvPr id="7" name="Grafik 6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CD7B7549-2849-049A-CAE9-1D96B5BD55E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79874" y="1341438"/>
            <a:ext cx="4032251" cy="417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4565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5ACBF0"/>
          </p15:clr>
        </p15:guide>
        <p15:guide id="2" orient="horz" pos="3475">
          <p15:clr>
            <a:srgbClr val="5ACBF0"/>
          </p15:clr>
        </p15:guide>
        <p15:guide id="3" pos="2570">
          <p15:clr>
            <a:srgbClr val="5ACBF0"/>
          </p15:clr>
        </p15:guide>
        <p15:guide id="4" pos="5110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4 Punk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0D36327-78A7-FBE1-41AE-8E560602E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D08BD4A-A847-AA65-A262-64943FAC00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348DDDE2-3704-40BD-85BB-B1DF1C354E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6875" y="951996"/>
            <a:ext cx="5197809" cy="505910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6600" b="1">
                <a:latin typeface="+mj-lt"/>
              </a:defRPr>
            </a:lvl1pPr>
          </a:lstStyle>
          <a:p>
            <a:pPr lvl="0"/>
            <a:r>
              <a:rPr lang="de-AT" noProof="0"/>
              <a:t>Agenda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4AF5E9CE-C6C0-2FE0-AF3B-1BB86FD42B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951995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de-AT" noProof="0"/>
              <a:t>1</a:t>
            </a:r>
          </a:p>
        </p:txBody>
      </p:sp>
      <p:sp>
        <p:nvSpPr>
          <p:cNvPr id="31" name="Textplatzhalter 26">
            <a:extLst>
              <a:ext uri="{FF2B5EF4-FFF2-40B4-BE49-F238E27FC236}">
                <a16:creationId xmlns:a16="http://schemas.microsoft.com/office/drawing/2014/main" id="{95DE74C7-EEF6-7F93-266F-476A210FA57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2314325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de-AT" noProof="0"/>
              <a:t>2</a:t>
            </a:r>
          </a:p>
        </p:txBody>
      </p:sp>
      <p:sp>
        <p:nvSpPr>
          <p:cNvPr id="32" name="Textplatzhalter 26">
            <a:extLst>
              <a:ext uri="{FF2B5EF4-FFF2-40B4-BE49-F238E27FC236}">
                <a16:creationId xmlns:a16="http://schemas.microsoft.com/office/drawing/2014/main" id="{DAA80D19-9AC4-DBBD-2C7C-9DEB9DD0AB5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3676655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de-AT" noProof="0"/>
              <a:t>3</a:t>
            </a:r>
          </a:p>
        </p:txBody>
      </p:sp>
      <p:sp>
        <p:nvSpPr>
          <p:cNvPr id="33" name="Textplatzhalter 26">
            <a:extLst>
              <a:ext uri="{FF2B5EF4-FFF2-40B4-BE49-F238E27FC236}">
                <a16:creationId xmlns:a16="http://schemas.microsoft.com/office/drawing/2014/main" id="{9E88F120-40FF-4AD1-58E6-E03E082F979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0" y="5038984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de-AT" noProof="0"/>
              <a:t>4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90D9284E-E7C7-09CC-D097-9F1D43C151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76011" y="1423692"/>
            <a:ext cx="4915937" cy="786219"/>
          </a:xfrm>
        </p:spPr>
        <p:txBody>
          <a:bodyPr>
            <a:normAutofit/>
          </a:bodyPr>
          <a:lstStyle>
            <a:lvl1pPr marL="184150" indent="-184150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600"/>
            </a:lvl1pPr>
          </a:lstStyle>
          <a:p>
            <a:pPr lvl="0"/>
            <a:r>
              <a:rPr lang="de-AT" noProof="0" err="1"/>
              <a:t>Subitem</a:t>
            </a:r>
            <a:endParaRPr lang="de-AT" noProof="0"/>
          </a:p>
        </p:txBody>
      </p:sp>
      <p:sp>
        <p:nvSpPr>
          <p:cNvPr id="53" name="Textplatzhalter 51">
            <a:extLst>
              <a:ext uri="{FF2B5EF4-FFF2-40B4-BE49-F238E27FC236}">
                <a16:creationId xmlns:a16="http://schemas.microsoft.com/office/drawing/2014/main" id="{CF02CD1F-69C0-4AB7-599A-E03ED655E9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76011" y="2787017"/>
            <a:ext cx="4915937" cy="786219"/>
          </a:xfrm>
        </p:spPr>
        <p:txBody>
          <a:bodyPr>
            <a:normAutofit/>
          </a:bodyPr>
          <a:lstStyle>
            <a:lvl1pPr marL="184150" indent="-184150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600"/>
            </a:lvl1pPr>
          </a:lstStyle>
          <a:p>
            <a:pPr lvl="0"/>
            <a:r>
              <a:rPr lang="de-AT" noProof="0" err="1"/>
              <a:t>Subitem</a:t>
            </a:r>
            <a:endParaRPr lang="de-AT" noProof="0"/>
          </a:p>
        </p:txBody>
      </p:sp>
      <p:sp>
        <p:nvSpPr>
          <p:cNvPr id="54" name="Textplatzhalter 51">
            <a:extLst>
              <a:ext uri="{FF2B5EF4-FFF2-40B4-BE49-F238E27FC236}">
                <a16:creationId xmlns:a16="http://schemas.microsoft.com/office/drawing/2014/main" id="{ED320F84-C880-2B5B-DCCA-09CF03CD103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76011" y="4147120"/>
            <a:ext cx="4915937" cy="786219"/>
          </a:xfrm>
        </p:spPr>
        <p:txBody>
          <a:bodyPr>
            <a:normAutofit/>
          </a:bodyPr>
          <a:lstStyle>
            <a:lvl1pPr marL="184150" indent="-184150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600"/>
            </a:lvl1pPr>
          </a:lstStyle>
          <a:p>
            <a:pPr lvl="0"/>
            <a:r>
              <a:rPr lang="de-AT" noProof="0" err="1"/>
              <a:t>Subitem</a:t>
            </a:r>
            <a:endParaRPr lang="de-AT" noProof="0"/>
          </a:p>
        </p:txBody>
      </p:sp>
      <p:sp>
        <p:nvSpPr>
          <p:cNvPr id="55" name="Textplatzhalter 51">
            <a:extLst>
              <a:ext uri="{FF2B5EF4-FFF2-40B4-BE49-F238E27FC236}">
                <a16:creationId xmlns:a16="http://schemas.microsoft.com/office/drawing/2014/main" id="{917E45F7-2FAB-862E-819F-DAAD8D897EF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76011" y="5510446"/>
            <a:ext cx="4915937" cy="786219"/>
          </a:xfrm>
        </p:spPr>
        <p:txBody>
          <a:bodyPr>
            <a:normAutofit/>
          </a:bodyPr>
          <a:lstStyle>
            <a:lvl1pPr marL="184150" indent="-184150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600"/>
            </a:lvl1pPr>
          </a:lstStyle>
          <a:p>
            <a:pPr lvl="0"/>
            <a:r>
              <a:rPr lang="de-AT" noProof="0" err="1"/>
              <a:t>Subitem</a:t>
            </a:r>
            <a:endParaRPr lang="de-AT" noProof="0"/>
          </a:p>
        </p:txBody>
      </p:sp>
      <p:sp>
        <p:nvSpPr>
          <p:cNvPr id="35" name="Textplatzhalter 34">
            <a:extLst>
              <a:ext uri="{FF2B5EF4-FFF2-40B4-BE49-F238E27FC236}">
                <a16:creationId xmlns:a16="http://schemas.microsoft.com/office/drawing/2014/main" id="{8E30D0CC-E9D2-0B98-1CBD-C81D559298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6012" y="983774"/>
            <a:ext cx="4915937" cy="494443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AT" noProof="0"/>
              <a:t>Agenda item</a:t>
            </a:r>
          </a:p>
        </p:txBody>
      </p:sp>
      <p:sp>
        <p:nvSpPr>
          <p:cNvPr id="37" name="Textplatzhalter 34">
            <a:extLst>
              <a:ext uri="{FF2B5EF4-FFF2-40B4-BE49-F238E27FC236}">
                <a16:creationId xmlns:a16="http://schemas.microsoft.com/office/drawing/2014/main" id="{BC3D6733-D616-8406-7243-CA9ED3D71F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76012" y="2346104"/>
            <a:ext cx="4915937" cy="494443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AT" noProof="0"/>
              <a:t>Agenda item</a:t>
            </a:r>
          </a:p>
        </p:txBody>
      </p:sp>
      <p:sp>
        <p:nvSpPr>
          <p:cNvPr id="38" name="Textplatzhalter 34">
            <a:extLst>
              <a:ext uri="{FF2B5EF4-FFF2-40B4-BE49-F238E27FC236}">
                <a16:creationId xmlns:a16="http://schemas.microsoft.com/office/drawing/2014/main" id="{B4360482-7D98-5BA3-B625-1339338F0B6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76012" y="3708434"/>
            <a:ext cx="4915937" cy="494443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AT" noProof="0"/>
              <a:t>Agenda item</a:t>
            </a:r>
          </a:p>
        </p:txBody>
      </p:sp>
      <p:sp>
        <p:nvSpPr>
          <p:cNvPr id="39" name="Textplatzhalter 34">
            <a:extLst>
              <a:ext uri="{FF2B5EF4-FFF2-40B4-BE49-F238E27FC236}">
                <a16:creationId xmlns:a16="http://schemas.microsoft.com/office/drawing/2014/main" id="{7CF1074D-5F7F-4D04-872A-8A7A577470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76012" y="5070763"/>
            <a:ext cx="4915937" cy="494443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AT" noProof="0"/>
              <a:t>Agenda item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A343054-5F5C-6EE3-108B-EB51E422B2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975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5ACBF0"/>
          </p15:clr>
        </p15:guide>
        <p15:guide id="2" orient="horz" pos="595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6 Punk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0D36327-78A7-FBE1-41AE-8E560602E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D08BD4A-A847-AA65-A262-64943FAC00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348DDDE2-3704-40BD-85BB-B1DF1C354E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6876" y="951996"/>
            <a:ext cx="4213626" cy="505910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6600" b="1">
                <a:latin typeface="+mj-lt"/>
              </a:defRPr>
            </a:lvl1pPr>
          </a:lstStyle>
          <a:p>
            <a:pPr lvl="0"/>
            <a:r>
              <a:rPr lang="de-AT" noProof="0"/>
              <a:t>Agenda</a:t>
            </a:r>
          </a:p>
        </p:txBody>
      </p:sp>
      <p:sp>
        <p:nvSpPr>
          <p:cNvPr id="21" name="Textplatzhalter 26">
            <a:extLst>
              <a:ext uri="{FF2B5EF4-FFF2-40B4-BE49-F238E27FC236}">
                <a16:creationId xmlns:a16="http://schemas.microsoft.com/office/drawing/2014/main" id="{0D034184-53CF-D850-508B-745C38329E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77024" y="951996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de-AT" noProof="0"/>
              <a:t>1</a:t>
            </a:r>
          </a:p>
        </p:txBody>
      </p:sp>
      <p:sp>
        <p:nvSpPr>
          <p:cNvPr id="22" name="Textplatzhalter 26">
            <a:extLst>
              <a:ext uri="{FF2B5EF4-FFF2-40B4-BE49-F238E27FC236}">
                <a16:creationId xmlns:a16="http://schemas.microsoft.com/office/drawing/2014/main" id="{C4616070-FF22-4A47-813C-08982A8B712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77024" y="5322694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de-AT" noProof="0"/>
              <a:t>6</a:t>
            </a:r>
          </a:p>
        </p:txBody>
      </p:sp>
      <p:sp>
        <p:nvSpPr>
          <p:cNvPr id="25" name="Textplatzhalter 26">
            <a:extLst>
              <a:ext uri="{FF2B5EF4-FFF2-40B4-BE49-F238E27FC236}">
                <a16:creationId xmlns:a16="http://schemas.microsoft.com/office/drawing/2014/main" id="{05449A48-9A07-97E1-B75A-9C72EE7DC1E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77024" y="1826136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de-AT" noProof="0"/>
              <a:t>2</a:t>
            </a:r>
          </a:p>
        </p:txBody>
      </p:sp>
      <p:sp>
        <p:nvSpPr>
          <p:cNvPr id="26" name="Textplatzhalter 26">
            <a:extLst>
              <a:ext uri="{FF2B5EF4-FFF2-40B4-BE49-F238E27FC236}">
                <a16:creationId xmlns:a16="http://schemas.microsoft.com/office/drawing/2014/main" id="{308D7424-25F6-9BC7-64AC-82E10AA81AC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77024" y="2700276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de-AT" noProof="0"/>
              <a:t>3</a:t>
            </a:r>
          </a:p>
        </p:txBody>
      </p:sp>
      <p:sp>
        <p:nvSpPr>
          <p:cNvPr id="28" name="Textplatzhalter 26">
            <a:extLst>
              <a:ext uri="{FF2B5EF4-FFF2-40B4-BE49-F238E27FC236}">
                <a16:creationId xmlns:a16="http://schemas.microsoft.com/office/drawing/2014/main" id="{7C958954-2963-6FF4-11B5-171288C95E6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77024" y="3574416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de-AT" noProof="0"/>
              <a:t>4</a:t>
            </a:r>
          </a:p>
        </p:txBody>
      </p:sp>
      <p:sp>
        <p:nvSpPr>
          <p:cNvPr id="29" name="Textplatzhalter 26">
            <a:extLst>
              <a:ext uri="{FF2B5EF4-FFF2-40B4-BE49-F238E27FC236}">
                <a16:creationId xmlns:a16="http://schemas.microsoft.com/office/drawing/2014/main" id="{CB0C854B-FCB4-91D6-A9A4-8812E2579B0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77024" y="4448556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de-AT" noProof="0"/>
              <a:t>5</a:t>
            </a:r>
          </a:p>
        </p:txBody>
      </p:sp>
      <p:sp>
        <p:nvSpPr>
          <p:cNvPr id="30" name="Textplatzhalter 34">
            <a:extLst>
              <a:ext uri="{FF2B5EF4-FFF2-40B4-BE49-F238E27FC236}">
                <a16:creationId xmlns:a16="http://schemas.microsoft.com/office/drawing/2014/main" id="{828D89F0-DA7D-A805-93E6-46C4B2C31D0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98173" y="951996"/>
            <a:ext cx="6193777" cy="558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de-AT" noProof="0"/>
              <a:t>Agenda item</a:t>
            </a:r>
          </a:p>
        </p:txBody>
      </p:sp>
      <p:sp>
        <p:nvSpPr>
          <p:cNvPr id="34" name="Textplatzhalter 34">
            <a:extLst>
              <a:ext uri="{FF2B5EF4-FFF2-40B4-BE49-F238E27FC236}">
                <a16:creationId xmlns:a16="http://schemas.microsoft.com/office/drawing/2014/main" id="{C2B492E7-4E7A-AC06-3ECB-8B3EE6EC435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98173" y="1826136"/>
            <a:ext cx="6193777" cy="558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de-AT" noProof="0"/>
              <a:t>Agenda item</a:t>
            </a:r>
          </a:p>
        </p:txBody>
      </p:sp>
      <p:sp>
        <p:nvSpPr>
          <p:cNvPr id="36" name="Textplatzhalter 34">
            <a:extLst>
              <a:ext uri="{FF2B5EF4-FFF2-40B4-BE49-F238E27FC236}">
                <a16:creationId xmlns:a16="http://schemas.microsoft.com/office/drawing/2014/main" id="{C86FBA41-F2EA-7B9D-13AC-E44E33BDEA7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598173" y="2700276"/>
            <a:ext cx="6193777" cy="558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de-AT" noProof="0"/>
              <a:t>Agenda item</a:t>
            </a:r>
          </a:p>
        </p:txBody>
      </p:sp>
      <p:sp>
        <p:nvSpPr>
          <p:cNvPr id="40" name="Textplatzhalter 34">
            <a:extLst>
              <a:ext uri="{FF2B5EF4-FFF2-40B4-BE49-F238E27FC236}">
                <a16:creationId xmlns:a16="http://schemas.microsoft.com/office/drawing/2014/main" id="{C6384BFA-3423-8854-C95E-11F8EE5AAC2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598173" y="3574416"/>
            <a:ext cx="6193777" cy="558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de-AT" noProof="0"/>
              <a:t>Agenda item</a:t>
            </a:r>
          </a:p>
        </p:txBody>
      </p:sp>
      <p:sp>
        <p:nvSpPr>
          <p:cNvPr id="41" name="Textplatzhalter 34">
            <a:extLst>
              <a:ext uri="{FF2B5EF4-FFF2-40B4-BE49-F238E27FC236}">
                <a16:creationId xmlns:a16="http://schemas.microsoft.com/office/drawing/2014/main" id="{274CCFD5-287A-5A87-2E03-48563D9D92D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98173" y="4448556"/>
            <a:ext cx="6193777" cy="558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de-AT" noProof="0"/>
              <a:t>Agenda item</a:t>
            </a:r>
          </a:p>
        </p:txBody>
      </p:sp>
      <p:sp>
        <p:nvSpPr>
          <p:cNvPr id="42" name="Textplatzhalter 34">
            <a:extLst>
              <a:ext uri="{FF2B5EF4-FFF2-40B4-BE49-F238E27FC236}">
                <a16:creationId xmlns:a16="http://schemas.microsoft.com/office/drawing/2014/main" id="{7C77DB04-0870-2D7A-4E86-06922FD35D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98173" y="5322694"/>
            <a:ext cx="6193777" cy="558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</a:lstStyle>
          <a:p>
            <a:pPr lvl="0"/>
            <a:r>
              <a:rPr lang="de-AT" noProof="0"/>
              <a:t>Agenda item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04E797E-6CE2-DCF8-5E86-53653AEC2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5598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5ACBF0"/>
          </p15:clr>
        </p15:guide>
        <p15:guide id="2" pos="3001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Headline + Color pick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1039605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AE03C45-8687-7BB0-6E60-ECD9043B04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EFA68666-4BC5-43D8-E22A-11105B692335}"/>
              </a:ext>
            </a:extLst>
          </p:cNvPr>
          <p:cNvGrpSpPr/>
          <p:nvPr userDrawn="1"/>
        </p:nvGrpSpPr>
        <p:grpSpPr>
          <a:xfrm>
            <a:off x="12353366" y="0"/>
            <a:ext cx="600046" cy="3153491"/>
            <a:chOff x="12353366" y="228601"/>
            <a:chExt cx="770964" cy="3428999"/>
          </a:xfrm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E3CEED34-2A3C-2BF9-0959-4794872528CB}"/>
                </a:ext>
              </a:extLst>
            </p:cNvPr>
            <p:cNvSpPr/>
            <p:nvPr userDrawn="1"/>
          </p:nvSpPr>
          <p:spPr>
            <a:xfrm>
              <a:off x="12353366" y="228601"/>
              <a:ext cx="770964" cy="228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r>
                <a:rPr lang="de-AT" sz="700">
                  <a:solidFill>
                    <a:schemeClr val="bg1"/>
                  </a:solidFill>
                </a:rPr>
                <a:t>UNIQA BLUE</a:t>
              </a: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6AAED119-48BA-F258-74D0-3C26AC1C5206}"/>
                </a:ext>
              </a:extLst>
            </p:cNvPr>
            <p:cNvSpPr/>
            <p:nvPr userDrawn="1"/>
          </p:nvSpPr>
          <p:spPr>
            <a:xfrm>
              <a:off x="12353366" y="457201"/>
              <a:ext cx="770964" cy="228600"/>
            </a:xfrm>
            <a:prstGeom prst="rect">
              <a:avLst/>
            </a:prstGeom>
            <a:solidFill>
              <a:srgbClr val="F7F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AEE8459D-6CDD-645E-6829-DAC6104EEFFA}"/>
                </a:ext>
              </a:extLst>
            </p:cNvPr>
            <p:cNvSpPr/>
            <p:nvPr userDrawn="1"/>
          </p:nvSpPr>
          <p:spPr>
            <a:xfrm>
              <a:off x="12353366" y="685801"/>
              <a:ext cx="770964" cy="228600"/>
            </a:xfrm>
            <a:prstGeom prst="rect">
              <a:avLst/>
            </a:prstGeom>
            <a:solidFill>
              <a:srgbClr val="E8E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1C85CED7-B0CD-6F98-E67E-E76DDD109870}"/>
                </a:ext>
              </a:extLst>
            </p:cNvPr>
            <p:cNvSpPr/>
            <p:nvPr userDrawn="1"/>
          </p:nvSpPr>
          <p:spPr>
            <a:xfrm>
              <a:off x="12353366" y="914401"/>
              <a:ext cx="770964" cy="228600"/>
            </a:xfrm>
            <a:prstGeom prst="rect">
              <a:avLst/>
            </a:prstGeom>
            <a:solidFill>
              <a:srgbClr val="D4E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7396D38F-CD8D-6B71-D924-67027A2BDC01}"/>
                </a:ext>
              </a:extLst>
            </p:cNvPr>
            <p:cNvSpPr/>
            <p:nvPr userDrawn="1"/>
          </p:nvSpPr>
          <p:spPr>
            <a:xfrm>
              <a:off x="12353366" y="1143001"/>
              <a:ext cx="770964" cy="228600"/>
            </a:xfrm>
            <a:prstGeom prst="rect">
              <a:avLst/>
            </a:prstGeom>
            <a:solidFill>
              <a:srgbClr val="A5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FEBEC902-4DC9-7F6B-B9A2-668ED8642021}"/>
                </a:ext>
              </a:extLst>
            </p:cNvPr>
            <p:cNvSpPr/>
            <p:nvPr userDrawn="1"/>
          </p:nvSpPr>
          <p:spPr>
            <a:xfrm>
              <a:off x="12353366" y="1371601"/>
              <a:ext cx="770964" cy="228600"/>
            </a:xfrm>
            <a:prstGeom prst="rect">
              <a:avLst/>
            </a:prstGeom>
            <a:solidFill>
              <a:srgbClr val="71AD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397A81F0-2DE5-37BE-A5B3-993A3E545FB5}"/>
                </a:ext>
              </a:extLst>
            </p:cNvPr>
            <p:cNvSpPr/>
            <p:nvPr userDrawn="1"/>
          </p:nvSpPr>
          <p:spPr>
            <a:xfrm>
              <a:off x="12353366" y="1600201"/>
              <a:ext cx="770964" cy="228600"/>
            </a:xfrm>
            <a:prstGeom prst="rect">
              <a:avLst/>
            </a:prstGeom>
            <a:solidFill>
              <a:srgbClr val="5492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1318B621-BECF-6CA9-0EEF-912B8147A075}"/>
                </a:ext>
              </a:extLst>
            </p:cNvPr>
            <p:cNvSpPr/>
            <p:nvPr userDrawn="1"/>
          </p:nvSpPr>
          <p:spPr>
            <a:xfrm>
              <a:off x="12353366" y="1828801"/>
              <a:ext cx="770964" cy="228600"/>
            </a:xfrm>
            <a:prstGeom prst="rect">
              <a:avLst/>
            </a:prstGeom>
            <a:solidFill>
              <a:srgbClr val="3578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191B223C-49B4-5F7B-E1C2-C78D68406C18}"/>
                </a:ext>
              </a:extLst>
            </p:cNvPr>
            <p:cNvSpPr/>
            <p:nvPr userDrawn="1"/>
          </p:nvSpPr>
          <p:spPr>
            <a:xfrm>
              <a:off x="12353366" y="2057401"/>
              <a:ext cx="770964" cy="228600"/>
            </a:xfrm>
            <a:prstGeom prst="rect">
              <a:avLst/>
            </a:prstGeom>
            <a:solidFill>
              <a:srgbClr val="005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69E31208-52E3-F327-AC76-8AF88200376A}"/>
                </a:ext>
              </a:extLst>
            </p:cNvPr>
            <p:cNvSpPr/>
            <p:nvPr userDrawn="1"/>
          </p:nvSpPr>
          <p:spPr>
            <a:xfrm>
              <a:off x="12353366" y="2286000"/>
              <a:ext cx="770964" cy="228600"/>
            </a:xfrm>
            <a:prstGeom prst="rect">
              <a:avLst/>
            </a:prstGeom>
            <a:solidFill>
              <a:srgbClr val="0047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677EA8F5-ADD9-6C88-55A4-1699430DDC67}"/>
                </a:ext>
              </a:extLst>
            </p:cNvPr>
            <p:cNvSpPr/>
            <p:nvPr userDrawn="1"/>
          </p:nvSpPr>
          <p:spPr>
            <a:xfrm>
              <a:off x="12353366" y="2514600"/>
              <a:ext cx="770964" cy="228600"/>
            </a:xfrm>
            <a:prstGeom prst="rect">
              <a:avLst/>
            </a:prstGeom>
            <a:solidFill>
              <a:srgbClr val="003C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1CC49D49-74B0-1E74-0ED0-01EA6C04B15D}"/>
                </a:ext>
              </a:extLst>
            </p:cNvPr>
            <p:cNvSpPr/>
            <p:nvPr userDrawn="1"/>
          </p:nvSpPr>
          <p:spPr>
            <a:xfrm>
              <a:off x="12353366" y="2743200"/>
              <a:ext cx="770964" cy="228600"/>
            </a:xfrm>
            <a:prstGeom prst="rect">
              <a:avLst/>
            </a:prstGeom>
            <a:solidFill>
              <a:srgbClr val="0031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02B111C0-0D5E-06C5-8D03-8F1911772627}"/>
                </a:ext>
              </a:extLst>
            </p:cNvPr>
            <p:cNvSpPr/>
            <p:nvPr userDrawn="1"/>
          </p:nvSpPr>
          <p:spPr>
            <a:xfrm>
              <a:off x="12353366" y="2971800"/>
              <a:ext cx="770964" cy="228600"/>
            </a:xfrm>
            <a:prstGeom prst="rect">
              <a:avLst/>
            </a:prstGeom>
            <a:solidFill>
              <a:srgbClr val="0026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D343E217-8BC4-A112-604F-C4823B586078}"/>
                </a:ext>
              </a:extLst>
            </p:cNvPr>
            <p:cNvSpPr/>
            <p:nvPr userDrawn="1"/>
          </p:nvSpPr>
          <p:spPr>
            <a:xfrm>
              <a:off x="12353366" y="3200400"/>
              <a:ext cx="770964" cy="228600"/>
            </a:xfrm>
            <a:prstGeom prst="rect">
              <a:avLst/>
            </a:prstGeom>
            <a:solidFill>
              <a:srgbClr val="001C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A8DAE50F-1571-F364-716E-D08CE3E644E1}"/>
                </a:ext>
              </a:extLst>
            </p:cNvPr>
            <p:cNvSpPr/>
            <p:nvPr userDrawn="1"/>
          </p:nvSpPr>
          <p:spPr>
            <a:xfrm>
              <a:off x="12353366" y="3429000"/>
              <a:ext cx="770964" cy="228600"/>
            </a:xfrm>
            <a:prstGeom prst="rect">
              <a:avLst/>
            </a:prstGeom>
            <a:solidFill>
              <a:srgbClr val="0011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26955167-2888-DEE8-B53F-9E24D780C2EC}"/>
              </a:ext>
            </a:extLst>
          </p:cNvPr>
          <p:cNvGrpSpPr/>
          <p:nvPr userDrawn="1"/>
        </p:nvGrpSpPr>
        <p:grpSpPr>
          <a:xfrm>
            <a:off x="12353366" y="3218765"/>
            <a:ext cx="600046" cy="1681863"/>
            <a:chOff x="12353366" y="3657600"/>
            <a:chExt cx="770964" cy="1828800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26FC64D1-3CB2-A1A4-832D-442453AA6E9B}"/>
                </a:ext>
              </a:extLst>
            </p:cNvPr>
            <p:cNvSpPr/>
            <p:nvPr userDrawn="1"/>
          </p:nvSpPr>
          <p:spPr>
            <a:xfrm>
              <a:off x="12353366" y="3657600"/>
              <a:ext cx="770964" cy="228600"/>
            </a:xfrm>
            <a:prstGeom prst="rect">
              <a:avLst/>
            </a:prstGeom>
            <a:solidFill>
              <a:srgbClr val="CD4B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2174BF12-DEBC-0C53-E652-D5C01336877D}"/>
                </a:ext>
              </a:extLst>
            </p:cNvPr>
            <p:cNvSpPr/>
            <p:nvPr userDrawn="1"/>
          </p:nvSpPr>
          <p:spPr>
            <a:xfrm>
              <a:off x="12353366" y="3886200"/>
              <a:ext cx="770964" cy="228600"/>
            </a:xfrm>
            <a:prstGeom prst="rect">
              <a:avLst/>
            </a:prstGeom>
            <a:solidFill>
              <a:srgbClr val="FFEF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C162FD25-47B7-393B-5860-7946FA916FE6}"/>
                </a:ext>
              </a:extLst>
            </p:cNvPr>
            <p:cNvSpPr/>
            <p:nvPr userDrawn="1"/>
          </p:nvSpPr>
          <p:spPr>
            <a:xfrm>
              <a:off x="12353366" y="4114800"/>
              <a:ext cx="770964" cy="228600"/>
            </a:xfrm>
            <a:prstGeom prst="rect">
              <a:avLst/>
            </a:prstGeom>
            <a:solidFill>
              <a:srgbClr val="FFD8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74177735-B031-94E9-9C3A-04D936D332CE}"/>
                </a:ext>
              </a:extLst>
            </p:cNvPr>
            <p:cNvSpPr/>
            <p:nvPr userDrawn="1"/>
          </p:nvSpPr>
          <p:spPr>
            <a:xfrm>
              <a:off x="12353366" y="4343400"/>
              <a:ext cx="770964" cy="228600"/>
            </a:xfrm>
            <a:prstGeom prst="rect">
              <a:avLst/>
            </a:prstGeom>
            <a:solidFill>
              <a:srgbClr val="FFC8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5E3DC40B-2386-B992-2597-DAA6B27555E3}"/>
                </a:ext>
              </a:extLst>
            </p:cNvPr>
            <p:cNvSpPr/>
            <p:nvPr userDrawn="1"/>
          </p:nvSpPr>
          <p:spPr>
            <a:xfrm>
              <a:off x="12353366" y="4572000"/>
              <a:ext cx="770964" cy="228600"/>
            </a:xfrm>
            <a:prstGeom prst="rect">
              <a:avLst/>
            </a:prstGeom>
            <a:solidFill>
              <a:srgbClr val="FFB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4E158093-A5D0-3097-305D-9C2D35D6D1AD}"/>
                </a:ext>
              </a:extLst>
            </p:cNvPr>
            <p:cNvSpPr/>
            <p:nvPr userDrawn="1"/>
          </p:nvSpPr>
          <p:spPr>
            <a:xfrm>
              <a:off x="12353366" y="4800600"/>
              <a:ext cx="770964" cy="228600"/>
            </a:xfrm>
            <a:prstGeom prst="rect">
              <a:avLst/>
            </a:prstGeom>
            <a:solidFill>
              <a:srgbClr val="FF9E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E1F6B9D3-78A9-6165-149C-240445DF8A0B}"/>
                </a:ext>
              </a:extLst>
            </p:cNvPr>
            <p:cNvSpPr/>
            <p:nvPr userDrawn="1"/>
          </p:nvSpPr>
          <p:spPr>
            <a:xfrm>
              <a:off x="12353366" y="5029200"/>
              <a:ext cx="770964" cy="228600"/>
            </a:xfrm>
            <a:prstGeom prst="rect">
              <a:avLst/>
            </a:prstGeom>
            <a:solidFill>
              <a:srgbClr val="FF7E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2BF7EC0F-D1DB-D96B-1A67-1C897BD6CA13}"/>
                </a:ext>
              </a:extLst>
            </p:cNvPr>
            <p:cNvSpPr/>
            <p:nvPr userDrawn="1"/>
          </p:nvSpPr>
          <p:spPr>
            <a:xfrm>
              <a:off x="12353366" y="5257800"/>
              <a:ext cx="770964" cy="228600"/>
            </a:xfrm>
            <a:prstGeom prst="rect">
              <a:avLst/>
            </a:prstGeom>
            <a:solidFill>
              <a:srgbClr val="F261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59A1E040-70E5-5E72-6205-ECA782AE8FA3}"/>
              </a:ext>
            </a:extLst>
          </p:cNvPr>
          <p:cNvGrpSpPr/>
          <p:nvPr userDrawn="1"/>
        </p:nvGrpSpPr>
        <p:grpSpPr>
          <a:xfrm>
            <a:off x="12353366" y="4965903"/>
            <a:ext cx="600046" cy="1892097"/>
            <a:chOff x="12353366" y="5486400"/>
            <a:chExt cx="770964" cy="2057401"/>
          </a:xfrm>
        </p:grpSpPr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6E1782BB-F361-3C1D-6D45-995D948BC699}"/>
                </a:ext>
              </a:extLst>
            </p:cNvPr>
            <p:cNvSpPr/>
            <p:nvPr userDrawn="1"/>
          </p:nvSpPr>
          <p:spPr>
            <a:xfrm>
              <a:off x="12353366" y="5486400"/>
              <a:ext cx="770964" cy="228600"/>
            </a:xfrm>
            <a:prstGeom prst="rect">
              <a:avLst/>
            </a:prstGeom>
            <a:solidFill>
              <a:srgbClr val="DC00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2A797C27-FF49-9821-E04A-B0A90A30EF64}"/>
                </a:ext>
              </a:extLst>
            </p:cNvPr>
            <p:cNvSpPr/>
            <p:nvPr userDrawn="1"/>
          </p:nvSpPr>
          <p:spPr>
            <a:xfrm>
              <a:off x="12353366" y="5715000"/>
              <a:ext cx="770964" cy="228600"/>
            </a:xfrm>
            <a:prstGeom prst="rect">
              <a:avLst/>
            </a:prstGeom>
            <a:solidFill>
              <a:srgbClr val="FFEB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335A1996-BA01-7C71-85C0-EB90002BB8A9}"/>
                </a:ext>
              </a:extLst>
            </p:cNvPr>
            <p:cNvSpPr/>
            <p:nvPr userDrawn="1"/>
          </p:nvSpPr>
          <p:spPr>
            <a:xfrm>
              <a:off x="12353366" y="5943600"/>
              <a:ext cx="770964" cy="228600"/>
            </a:xfrm>
            <a:prstGeom prst="rect">
              <a:avLst/>
            </a:prstGeom>
            <a:solidFill>
              <a:srgbClr val="FBBB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83DDB37D-5975-EA20-0BC7-11E504E24C80}"/>
                </a:ext>
              </a:extLst>
            </p:cNvPr>
            <p:cNvSpPr/>
            <p:nvPr userDrawn="1"/>
          </p:nvSpPr>
          <p:spPr>
            <a:xfrm>
              <a:off x="12353366" y="6172201"/>
              <a:ext cx="770964" cy="228600"/>
            </a:xfrm>
            <a:prstGeom prst="rect">
              <a:avLst/>
            </a:prstGeom>
            <a:solidFill>
              <a:srgbClr val="F98B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C9CE4826-467B-4AF9-250F-88A403118B7A}"/>
                </a:ext>
              </a:extLst>
            </p:cNvPr>
            <p:cNvSpPr/>
            <p:nvPr userDrawn="1"/>
          </p:nvSpPr>
          <p:spPr>
            <a:xfrm>
              <a:off x="12353366" y="6400801"/>
              <a:ext cx="770964" cy="228600"/>
            </a:xfrm>
            <a:prstGeom prst="rect">
              <a:avLst/>
            </a:prstGeom>
            <a:solidFill>
              <a:srgbClr val="F65A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D8415855-5289-E438-7125-627C8B14304D}"/>
                </a:ext>
              </a:extLst>
            </p:cNvPr>
            <p:cNvSpPr/>
            <p:nvPr userDrawn="1"/>
          </p:nvSpPr>
          <p:spPr>
            <a:xfrm>
              <a:off x="12353366" y="6629401"/>
              <a:ext cx="770964" cy="228600"/>
            </a:xfrm>
            <a:prstGeom prst="rect">
              <a:avLst/>
            </a:prstGeom>
            <a:solidFill>
              <a:srgbClr val="EA3E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FEB38EFA-FCE4-D93C-50AF-C65007B61D65}"/>
                </a:ext>
              </a:extLst>
            </p:cNvPr>
            <p:cNvSpPr/>
            <p:nvPr userDrawn="1"/>
          </p:nvSpPr>
          <p:spPr>
            <a:xfrm>
              <a:off x="12353366" y="6858001"/>
              <a:ext cx="770964" cy="228600"/>
            </a:xfrm>
            <a:prstGeom prst="rect">
              <a:avLst/>
            </a:prstGeom>
            <a:solidFill>
              <a:srgbClr val="B200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961FA8F3-B725-3D4B-F3D6-C16DE1044AA2}"/>
                </a:ext>
              </a:extLst>
            </p:cNvPr>
            <p:cNvSpPr/>
            <p:nvPr userDrawn="1"/>
          </p:nvSpPr>
          <p:spPr>
            <a:xfrm>
              <a:off x="12353366" y="7086601"/>
              <a:ext cx="770964" cy="228600"/>
            </a:xfrm>
            <a:prstGeom prst="rect">
              <a:avLst/>
            </a:prstGeom>
            <a:solidFill>
              <a:srgbClr val="990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E9E6DA49-06E3-F74B-DC9E-D54E8DF36F42}"/>
                </a:ext>
              </a:extLst>
            </p:cNvPr>
            <p:cNvSpPr/>
            <p:nvPr userDrawn="1"/>
          </p:nvSpPr>
          <p:spPr>
            <a:xfrm>
              <a:off x="12353366" y="7315201"/>
              <a:ext cx="770964" cy="228600"/>
            </a:xfrm>
            <a:prstGeom prst="rect">
              <a:avLst/>
            </a:prstGeom>
            <a:solidFill>
              <a:srgbClr val="6600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977B23F-B9E1-BB0E-2C10-8FB7F46B507D}"/>
              </a:ext>
            </a:extLst>
          </p:cNvPr>
          <p:cNvGrpSpPr/>
          <p:nvPr userDrawn="1"/>
        </p:nvGrpSpPr>
        <p:grpSpPr>
          <a:xfrm>
            <a:off x="13249478" y="0"/>
            <a:ext cx="600046" cy="1892097"/>
            <a:chOff x="13249478" y="0"/>
            <a:chExt cx="600046" cy="1819021"/>
          </a:xfrm>
        </p:grpSpPr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40F2027D-E984-5180-8C1F-A20117C07BF8}"/>
                </a:ext>
              </a:extLst>
            </p:cNvPr>
            <p:cNvSpPr/>
            <p:nvPr userDrawn="1"/>
          </p:nvSpPr>
          <p:spPr>
            <a:xfrm>
              <a:off x="13249478" y="0"/>
              <a:ext cx="600046" cy="202113"/>
            </a:xfrm>
            <a:prstGeom prst="rect">
              <a:avLst/>
            </a:prstGeom>
            <a:solidFill>
              <a:srgbClr val="FB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700">
                <a:solidFill>
                  <a:schemeClr val="bg1"/>
                </a:solidFill>
              </a:endParaRPr>
            </a:p>
          </p:txBody>
        </p:sp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E3918633-2578-7315-B9A4-00F4B298AE09}"/>
                </a:ext>
              </a:extLst>
            </p:cNvPr>
            <p:cNvSpPr/>
            <p:nvPr userDrawn="1"/>
          </p:nvSpPr>
          <p:spPr>
            <a:xfrm>
              <a:off x="13249478" y="202113"/>
              <a:ext cx="600046" cy="202113"/>
            </a:xfrm>
            <a:prstGeom prst="rect">
              <a:avLst/>
            </a:prstGeom>
            <a:solidFill>
              <a:srgbClr val="F7D2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2AE66B01-34E9-853E-BB5C-4C2DA8953E71}"/>
                </a:ext>
              </a:extLst>
            </p:cNvPr>
            <p:cNvSpPr/>
            <p:nvPr userDrawn="1"/>
          </p:nvSpPr>
          <p:spPr>
            <a:xfrm>
              <a:off x="13249478" y="404227"/>
              <a:ext cx="600046" cy="202113"/>
            </a:xfrm>
            <a:prstGeom prst="rect">
              <a:avLst/>
            </a:prstGeom>
            <a:solidFill>
              <a:srgbClr val="F3BB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33914E25-95FF-1835-9FBC-F838D80B049E}"/>
                </a:ext>
              </a:extLst>
            </p:cNvPr>
            <p:cNvSpPr/>
            <p:nvPr userDrawn="1"/>
          </p:nvSpPr>
          <p:spPr>
            <a:xfrm>
              <a:off x="13249478" y="606340"/>
              <a:ext cx="600046" cy="202113"/>
            </a:xfrm>
            <a:prstGeom prst="rect">
              <a:avLst/>
            </a:prstGeom>
            <a:solidFill>
              <a:srgbClr val="E361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957E930B-E730-E1F9-9499-2E73AF144F03}"/>
                </a:ext>
              </a:extLst>
            </p:cNvPr>
            <p:cNvSpPr/>
            <p:nvPr userDrawn="1"/>
          </p:nvSpPr>
          <p:spPr>
            <a:xfrm>
              <a:off x="13249478" y="808454"/>
              <a:ext cx="600046" cy="202113"/>
            </a:xfrm>
            <a:prstGeom prst="rect">
              <a:avLst/>
            </a:prstGeom>
            <a:solidFill>
              <a:srgbClr val="DB33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BB90730E-D854-B881-6CCC-45DBDB3062F2}"/>
                </a:ext>
              </a:extLst>
            </p:cNvPr>
            <p:cNvSpPr/>
            <p:nvPr userDrawn="1"/>
          </p:nvSpPr>
          <p:spPr>
            <a:xfrm>
              <a:off x="13249478" y="1010567"/>
              <a:ext cx="600046" cy="202113"/>
            </a:xfrm>
            <a:prstGeom prst="rect">
              <a:avLst/>
            </a:prstGeom>
            <a:solidFill>
              <a:srgbClr val="D71C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06CA6B7B-F33E-CBB4-D4A7-2376031A650A}"/>
                </a:ext>
              </a:extLst>
            </p:cNvPr>
            <p:cNvSpPr/>
            <p:nvPr userDrawn="1"/>
          </p:nvSpPr>
          <p:spPr>
            <a:xfrm>
              <a:off x="13249478" y="1212681"/>
              <a:ext cx="600046" cy="202113"/>
            </a:xfrm>
            <a:prstGeom prst="rect">
              <a:avLst/>
            </a:prstGeom>
            <a:solidFill>
              <a:srgbClr val="AB16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D46245D3-8E58-38A5-DBA4-999EEC9A1295}"/>
                </a:ext>
              </a:extLst>
            </p:cNvPr>
            <p:cNvSpPr/>
            <p:nvPr userDrawn="1"/>
          </p:nvSpPr>
          <p:spPr>
            <a:xfrm>
              <a:off x="13249478" y="1414794"/>
              <a:ext cx="600046" cy="202113"/>
            </a:xfrm>
            <a:prstGeom prst="rect">
              <a:avLst/>
            </a:prstGeom>
            <a:solidFill>
              <a:srgbClr val="7E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35FDB353-0D6F-A327-BCFC-61ADE1BB3EB4}"/>
                </a:ext>
              </a:extLst>
            </p:cNvPr>
            <p:cNvSpPr/>
            <p:nvPr userDrawn="1"/>
          </p:nvSpPr>
          <p:spPr>
            <a:xfrm>
              <a:off x="13249478" y="1616908"/>
              <a:ext cx="600046" cy="202113"/>
            </a:xfrm>
            <a:prstGeom prst="rect">
              <a:avLst/>
            </a:prstGeom>
            <a:solidFill>
              <a:srgbClr val="680D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A5F4D62B-C3A9-1C7A-CE67-895A08267E2B}"/>
              </a:ext>
            </a:extLst>
          </p:cNvPr>
          <p:cNvGrpSpPr/>
          <p:nvPr userDrawn="1"/>
        </p:nvGrpSpPr>
        <p:grpSpPr>
          <a:xfrm>
            <a:off x="13249478" y="1957368"/>
            <a:ext cx="600046" cy="1892097"/>
            <a:chOff x="12353366" y="228601"/>
            <a:chExt cx="770964" cy="2057400"/>
          </a:xfrm>
        </p:grpSpPr>
        <p:sp>
          <p:nvSpPr>
            <p:cNvPr id="67" name="Rechteck 66">
              <a:extLst>
                <a:ext uri="{FF2B5EF4-FFF2-40B4-BE49-F238E27FC236}">
                  <a16:creationId xmlns:a16="http://schemas.microsoft.com/office/drawing/2014/main" id="{953E715F-98F3-059E-42C9-F0482010820B}"/>
                </a:ext>
              </a:extLst>
            </p:cNvPr>
            <p:cNvSpPr/>
            <p:nvPr userDrawn="1"/>
          </p:nvSpPr>
          <p:spPr>
            <a:xfrm>
              <a:off x="12353366" y="228601"/>
              <a:ext cx="770964" cy="228600"/>
            </a:xfrm>
            <a:prstGeom prst="rect">
              <a:avLst/>
            </a:prstGeom>
            <a:solidFill>
              <a:srgbClr val="FEF7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700">
                <a:solidFill>
                  <a:schemeClr val="bg1"/>
                </a:solidFill>
              </a:endParaRPr>
            </a:p>
          </p:txBody>
        </p:sp>
        <p:sp>
          <p:nvSpPr>
            <p:cNvPr id="68" name="Rechteck 67">
              <a:extLst>
                <a:ext uri="{FF2B5EF4-FFF2-40B4-BE49-F238E27FC236}">
                  <a16:creationId xmlns:a16="http://schemas.microsoft.com/office/drawing/2014/main" id="{3ECB087F-718B-F4BD-C090-3AF564EF4102}"/>
                </a:ext>
              </a:extLst>
            </p:cNvPr>
            <p:cNvSpPr/>
            <p:nvPr userDrawn="1"/>
          </p:nvSpPr>
          <p:spPr>
            <a:xfrm>
              <a:off x="12353366" y="457201"/>
              <a:ext cx="770964" cy="228600"/>
            </a:xfrm>
            <a:prstGeom prst="rect">
              <a:avLst/>
            </a:prstGeom>
            <a:solidFill>
              <a:srgbClr val="FDED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97BCA42D-5812-28A9-E48F-FB2FD99B79C1}"/>
                </a:ext>
              </a:extLst>
            </p:cNvPr>
            <p:cNvSpPr/>
            <p:nvPr userDrawn="1"/>
          </p:nvSpPr>
          <p:spPr>
            <a:xfrm>
              <a:off x="12353366" y="685801"/>
              <a:ext cx="770964" cy="228600"/>
            </a:xfrm>
            <a:prstGeom prst="rect">
              <a:avLst/>
            </a:prstGeom>
            <a:solidFill>
              <a:srgbClr val="FCE5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70" name="Rechteck 69">
              <a:extLst>
                <a:ext uri="{FF2B5EF4-FFF2-40B4-BE49-F238E27FC236}">
                  <a16:creationId xmlns:a16="http://schemas.microsoft.com/office/drawing/2014/main" id="{07CF32B2-2870-3DCF-C117-2A2E5F4FAEB9}"/>
                </a:ext>
              </a:extLst>
            </p:cNvPr>
            <p:cNvSpPr/>
            <p:nvPr userDrawn="1"/>
          </p:nvSpPr>
          <p:spPr>
            <a:xfrm>
              <a:off x="12353366" y="914401"/>
              <a:ext cx="770964" cy="228600"/>
            </a:xfrm>
            <a:prstGeom prst="rect">
              <a:avLst/>
            </a:prstGeom>
            <a:solidFill>
              <a:srgbClr val="F8C1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71" name="Rechteck 70">
              <a:extLst>
                <a:ext uri="{FF2B5EF4-FFF2-40B4-BE49-F238E27FC236}">
                  <a16:creationId xmlns:a16="http://schemas.microsoft.com/office/drawing/2014/main" id="{BD85C01A-42C1-E4B5-6FD2-588C89DC5249}"/>
                </a:ext>
              </a:extLst>
            </p:cNvPr>
            <p:cNvSpPr/>
            <p:nvPr userDrawn="1"/>
          </p:nvSpPr>
          <p:spPr>
            <a:xfrm>
              <a:off x="12353366" y="1143001"/>
              <a:ext cx="770964" cy="228600"/>
            </a:xfrm>
            <a:prstGeom prst="rect">
              <a:avLst/>
            </a:prstGeom>
            <a:solidFill>
              <a:srgbClr val="F6AF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6D053C32-B80B-F07A-FB7B-12FBB7CAB19B}"/>
                </a:ext>
              </a:extLst>
            </p:cNvPr>
            <p:cNvSpPr/>
            <p:nvPr userDrawn="1"/>
          </p:nvSpPr>
          <p:spPr>
            <a:xfrm>
              <a:off x="12353366" y="1371601"/>
              <a:ext cx="770964" cy="228600"/>
            </a:xfrm>
            <a:prstGeom prst="rect">
              <a:avLst/>
            </a:prstGeom>
            <a:solidFill>
              <a:srgbClr val="F5A6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8B075919-1AAC-C224-0530-C6AA42C72073}"/>
                </a:ext>
              </a:extLst>
            </p:cNvPr>
            <p:cNvSpPr/>
            <p:nvPr userDrawn="1"/>
          </p:nvSpPr>
          <p:spPr>
            <a:xfrm>
              <a:off x="12353366" y="1600201"/>
              <a:ext cx="770964" cy="228600"/>
            </a:xfrm>
            <a:prstGeom prst="rect">
              <a:avLst/>
            </a:prstGeom>
            <a:solidFill>
              <a:srgbClr val="DC8D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583921B0-917C-0CC4-F069-14E902004ED6}"/>
                </a:ext>
              </a:extLst>
            </p:cNvPr>
            <p:cNvSpPr/>
            <p:nvPr userDrawn="1"/>
          </p:nvSpPr>
          <p:spPr>
            <a:xfrm>
              <a:off x="12353366" y="1828801"/>
              <a:ext cx="770964" cy="228600"/>
            </a:xfrm>
            <a:prstGeom prst="rect">
              <a:avLst/>
            </a:prstGeom>
            <a:solidFill>
              <a:srgbClr val="C37D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82A0AC9D-EA0C-363D-842B-FBEE65E769D7}"/>
                </a:ext>
              </a:extLst>
            </p:cNvPr>
            <p:cNvSpPr/>
            <p:nvPr userDrawn="1"/>
          </p:nvSpPr>
          <p:spPr>
            <a:xfrm>
              <a:off x="12353366" y="2057401"/>
              <a:ext cx="770964" cy="228600"/>
            </a:xfrm>
            <a:prstGeom prst="rect">
              <a:avLst/>
            </a:prstGeom>
            <a:solidFill>
              <a:srgbClr val="A167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0BAEE999-D44C-0C43-61CA-F50079592FBE}"/>
              </a:ext>
            </a:extLst>
          </p:cNvPr>
          <p:cNvGrpSpPr/>
          <p:nvPr userDrawn="1"/>
        </p:nvGrpSpPr>
        <p:grpSpPr>
          <a:xfrm>
            <a:off x="13249478" y="3914736"/>
            <a:ext cx="600046" cy="1892097"/>
            <a:chOff x="12353366" y="228601"/>
            <a:chExt cx="770964" cy="2057400"/>
          </a:xfrm>
        </p:grpSpPr>
        <p:sp>
          <p:nvSpPr>
            <p:cNvPr id="77" name="Rechteck 76">
              <a:extLst>
                <a:ext uri="{FF2B5EF4-FFF2-40B4-BE49-F238E27FC236}">
                  <a16:creationId xmlns:a16="http://schemas.microsoft.com/office/drawing/2014/main" id="{CE53DB4A-FD0D-5EF3-7702-68193CEFFA3F}"/>
                </a:ext>
              </a:extLst>
            </p:cNvPr>
            <p:cNvSpPr/>
            <p:nvPr userDrawn="1"/>
          </p:nvSpPr>
          <p:spPr>
            <a:xfrm>
              <a:off x="12353366" y="228601"/>
              <a:ext cx="770964" cy="228600"/>
            </a:xfrm>
            <a:prstGeom prst="rect">
              <a:avLst/>
            </a:prstGeom>
            <a:solidFill>
              <a:srgbClr val="E6F6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700">
                <a:solidFill>
                  <a:schemeClr val="bg1"/>
                </a:solidFill>
              </a:endParaRPr>
            </a:p>
          </p:txBody>
        </p:sp>
        <p:sp>
          <p:nvSpPr>
            <p:cNvPr id="78" name="Rechteck 77">
              <a:extLst>
                <a:ext uri="{FF2B5EF4-FFF2-40B4-BE49-F238E27FC236}">
                  <a16:creationId xmlns:a16="http://schemas.microsoft.com/office/drawing/2014/main" id="{B59C282E-A073-A55E-0363-96644EBE1807}"/>
                </a:ext>
              </a:extLst>
            </p:cNvPr>
            <p:cNvSpPr/>
            <p:nvPr userDrawn="1"/>
          </p:nvSpPr>
          <p:spPr>
            <a:xfrm>
              <a:off x="12353366" y="457201"/>
              <a:ext cx="770964" cy="228600"/>
            </a:xfrm>
            <a:prstGeom prst="rect">
              <a:avLst/>
            </a:prstGeom>
            <a:solidFill>
              <a:srgbClr val="CDEC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79" name="Rechteck 78">
              <a:extLst>
                <a:ext uri="{FF2B5EF4-FFF2-40B4-BE49-F238E27FC236}">
                  <a16:creationId xmlns:a16="http://schemas.microsoft.com/office/drawing/2014/main" id="{D35C839B-0630-832C-FEA8-F6CAF0253072}"/>
                </a:ext>
              </a:extLst>
            </p:cNvPr>
            <p:cNvSpPr/>
            <p:nvPr userDrawn="1"/>
          </p:nvSpPr>
          <p:spPr>
            <a:xfrm>
              <a:off x="12353366" y="685801"/>
              <a:ext cx="770964" cy="228600"/>
            </a:xfrm>
            <a:prstGeom prst="rect">
              <a:avLst/>
            </a:prstGeom>
            <a:solidFill>
              <a:srgbClr val="B4E3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80" name="Rechteck 79">
              <a:extLst>
                <a:ext uri="{FF2B5EF4-FFF2-40B4-BE49-F238E27FC236}">
                  <a16:creationId xmlns:a16="http://schemas.microsoft.com/office/drawing/2014/main" id="{D721FA38-8882-7070-3A61-20D4A774C692}"/>
                </a:ext>
              </a:extLst>
            </p:cNvPr>
            <p:cNvSpPr/>
            <p:nvPr userDrawn="1"/>
          </p:nvSpPr>
          <p:spPr>
            <a:xfrm>
              <a:off x="12353366" y="914401"/>
              <a:ext cx="770964" cy="228600"/>
            </a:xfrm>
            <a:prstGeom prst="rect">
              <a:avLst/>
            </a:prstGeom>
            <a:solidFill>
              <a:srgbClr val="4FBE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81" name="Rechteck 80">
              <a:extLst>
                <a:ext uri="{FF2B5EF4-FFF2-40B4-BE49-F238E27FC236}">
                  <a16:creationId xmlns:a16="http://schemas.microsoft.com/office/drawing/2014/main" id="{FA5F95B5-572A-F622-AE1D-1908B38FDE67}"/>
                </a:ext>
              </a:extLst>
            </p:cNvPr>
            <p:cNvSpPr/>
            <p:nvPr userDrawn="1"/>
          </p:nvSpPr>
          <p:spPr>
            <a:xfrm>
              <a:off x="12353366" y="1143001"/>
              <a:ext cx="770964" cy="228600"/>
            </a:xfrm>
            <a:prstGeom prst="rect">
              <a:avLst/>
            </a:prstGeom>
            <a:solidFill>
              <a:srgbClr val="1DAB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82" name="Rechteck 81">
              <a:extLst>
                <a:ext uri="{FF2B5EF4-FFF2-40B4-BE49-F238E27FC236}">
                  <a16:creationId xmlns:a16="http://schemas.microsoft.com/office/drawing/2014/main" id="{96FA9C61-6ED2-EF6D-F54B-5355FE90D6F4}"/>
                </a:ext>
              </a:extLst>
            </p:cNvPr>
            <p:cNvSpPr/>
            <p:nvPr userDrawn="1"/>
          </p:nvSpPr>
          <p:spPr>
            <a:xfrm>
              <a:off x="12353366" y="1371601"/>
              <a:ext cx="770964" cy="228600"/>
            </a:xfrm>
            <a:prstGeom prst="rect">
              <a:avLst/>
            </a:prstGeom>
            <a:solidFill>
              <a:srgbClr val="03A1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83" name="Rechteck 82">
              <a:extLst>
                <a:ext uri="{FF2B5EF4-FFF2-40B4-BE49-F238E27FC236}">
                  <a16:creationId xmlns:a16="http://schemas.microsoft.com/office/drawing/2014/main" id="{905694AC-AFCE-1AEC-57D5-C8D95BA29EA3}"/>
                </a:ext>
              </a:extLst>
            </p:cNvPr>
            <p:cNvSpPr/>
            <p:nvPr userDrawn="1"/>
          </p:nvSpPr>
          <p:spPr>
            <a:xfrm>
              <a:off x="12353366" y="1600201"/>
              <a:ext cx="770964" cy="228600"/>
            </a:xfrm>
            <a:prstGeom prst="rect">
              <a:avLst/>
            </a:prstGeom>
            <a:solidFill>
              <a:srgbClr val="026E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84" name="Rechteck 83">
              <a:extLst>
                <a:ext uri="{FF2B5EF4-FFF2-40B4-BE49-F238E27FC236}">
                  <a16:creationId xmlns:a16="http://schemas.microsoft.com/office/drawing/2014/main" id="{4CCB4F69-4644-FC1E-C23D-C24D931D34DB}"/>
                </a:ext>
              </a:extLst>
            </p:cNvPr>
            <p:cNvSpPr/>
            <p:nvPr userDrawn="1"/>
          </p:nvSpPr>
          <p:spPr>
            <a:xfrm>
              <a:off x="12353366" y="1828801"/>
              <a:ext cx="770964" cy="228600"/>
            </a:xfrm>
            <a:prstGeom prst="rect">
              <a:avLst/>
            </a:prstGeom>
            <a:solidFill>
              <a:srgbClr val="013C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  <p:sp>
          <p:nvSpPr>
            <p:cNvPr id="85" name="Rechteck 84">
              <a:extLst>
                <a:ext uri="{FF2B5EF4-FFF2-40B4-BE49-F238E27FC236}">
                  <a16:creationId xmlns:a16="http://schemas.microsoft.com/office/drawing/2014/main" id="{82193855-6AA8-C1C8-2B64-30B1D88C06A3}"/>
                </a:ext>
              </a:extLst>
            </p:cNvPr>
            <p:cNvSpPr/>
            <p:nvPr userDrawn="1"/>
          </p:nvSpPr>
          <p:spPr>
            <a:xfrm>
              <a:off x="12353366" y="2057401"/>
              <a:ext cx="770964" cy="228600"/>
            </a:xfrm>
            <a:prstGeom prst="rect">
              <a:avLst/>
            </a:prstGeom>
            <a:solidFill>
              <a:srgbClr val="012D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spcAft>
                  <a:spcPts val="1000"/>
                </a:spcAft>
              </a:pPr>
              <a:endParaRPr lang="de-AT" sz="10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06825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Head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1039605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AE03C45-8687-7BB0-6E60-ECD9043B04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598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0D36327-78A7-FBE1-41AE-8E560602E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D08BD4A-A847-AA65-A262-64943FAC00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4DC9FA21-E381-A27E-F999-A9EA61DCB7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628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C1AC357D-EE62-1AF1-FECB-AB78753A094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96876" y="1808163"/>
            <a:ext cx="11395074" cy="4429125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0C8B49C-710C-410C-F23A-A38BB8F97F8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851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5ACBF0"/>
          </p15:clr>
        </p15:guide>
        <p15:guide id="2" orient="horz" pos="3929">
          <p15:clr>
            <a:srgbClr val="5ACBF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6" y="1807029"/>
            <a:ext cx="1139180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Abgerundetes Rechteck 9">
            <a:extLst>
              <a:ext uri="{FF2B5EF4-FFF2-40B4-BE49-F238E27FC236}">
                <a16:creationId xmlns:a16="http://schemas.microsoft.com/office/drawing/2014/main" id="{BF6D2400-AE81-80A1-E585-7FC917822841}"/>
              </a:ext>
            </a:extLst>
          </p:cNvPr>
          <p:cNvSpPr/>
          <p:nvPr userDrawn="1"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C1AC357D-EE62-1AF1-FECB-AB78753A094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27645" y="1998680"/>
            <a:ext cx="10736988" cy="4061242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0C8B49C-710C-410C-F23A-A38BB8F97F8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0454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5ACBF0"/>
          </p15:clr>
        </p15:guide>
        <p15:guide id="2" orient="horz" pos="3929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2 Textfe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bgerundetes Rechteck 1">
            <a:extLst>
              <a:ext uri="{FF2B5EF4-FFF2-40B4-BE49-F238E27FC236}">
                <a16:creationId xmlns:a16="http://schemas.microsoft.com/office/drawing/2014/main" id="{1BEFD293-06B1-814D-94FD-A26ADB3C27BB}"/>
              </a:ext>
            </a:extLst>
          </p:cNvPr>
          <p:cNvSpPr/>
          <p:nvPr userDrawn="1"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Abgerundetes Rechteck 9">
            <a:extLst>
              <a:ext uri="{FF2B5EF4-FFF2-40B4-BE49-F238E27FC236}">
                <a16:creationId xmlns:a16="http://schemas.microsoft.com/office/drawing/2014/main" id="{BF6D2400-AE81-80A1-E585-7FC917822841}"/>
              </a:ext>
            </a:extLst>
          </p:cNvPr>
          <p:cNvSpPr/>
          <p:nvPr userDrawn="1"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E345BF5C-D357-03F9-E50E-2BD30D642DFF}"/>
              </a:ext>
            </a:extLst>
          </p:cNvPr>
          <p:cNvSpPr/>
          <p:nvPr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C1AC357D-EE62-1AF1-FECB-AB78753A094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27646" y="1998680"/>
            <a:ext cx="4964809" cy="4061242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31F07F57-D126-50C0-DE7F-35B19F7F8B38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499825" y="1998680"/>
            <a:ext cx="4964809" cy="4061242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0C8B49C-710C-410C-F23A-A38BB8F97F8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424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5ACBF0"/>
          </p15:clr>
        </p15:guide>
        <p15:guide id="2" orient="horz" pos="3929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extfelder mit blauer Form +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bgerundetes Rechteck 1">
            <a:extLst>
              <a:ext uri="{FF2B5EF4-FFF2-40B4-BE49-F238E27FC236}">
                <a16:creationId xmlns:a16="http://schemas.microsoft.com/office/drawing/2014/main" id="{1C61FA82-9680-5C95-D274-F1ACB7847B8B}"/>
              </a:ext>
            </a:extLst>
          </p:cNvPr>
          <p:cNvSpPr/>
          <p:nvPr userDrawn="1"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Abgerundetes Rechteck 9">
            <a:extLst>
              <a:ext uri="{FF2B5EF4-FFF2-40B4-BE49-F238E27FC236}">
                <a16:creationId xmlns:a16="http://schemas.microsoft.com/office/drawing/2014/main" id="{A4C7F1BC-D20C-BBBA-8E2D-4A277AA9CE29}"/>
              </a:ext>
            </a:extLst>
          </p:cNvPr>
          <p:cNvSpPr/>
          <p:nvPr userDrawn="1"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5A843CC8-C921-BBE2-523A-DABBBEACE23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27646" y="3429000"/>
            <a:ext cx="4964809" cy="2630922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E345BF5C-D357-03F9-E50E-2BD30D642DFF}"/>
              </a:ext>
            </a:extLst>
          </p:cNvPr>
          <p:cNvSpPr/>
          <p:nvPr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D703F022-8B6B-E2BD-D686-41359221073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499825" y="3429000"/>
            <a:ext cx="4964809" cy="2630922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13" name="Bildplatzhalter 37">
            <a:extLst>
              <a:ext uri="{FF2B5EF4-FFF2-40B4-BE49-F238E27FC236}">
                <a16:creationId xmlns:a16="http://schemas.microsoft.com/office/drawing/2014/main" id="{9373CE6C-0C45-D67F-B27A-942CDAF7D959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727646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16" name="Bildplatzhalter 37">
            <a:extLst>
              <a:ext uri="{FF2B5EF4-FFF2-40B4-BE49-F238E27FC236}">
                <a16:creationId xmlns:a16="http://schemas.microsoft.com/office/drawing/2014/main" id="{B4005A1B-DB59-667A-137C-45B05A4B1D65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6499825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8" name="Textplatzhalter 21">
            <a:extLst>
              <a:ext uri="{FF2B5EF4-FFF2-40B4-BE49-F238E27FC236}">
                <a16:creationId xmlns:a16="http://schemas.microsoft.com/office/drawing/2014/main" id="{20EC0BFA-C64D-A0C6-CF7A-C775C35F7FF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9840" y="2893354"/>
            <a:ext cx="5280420" cy="389513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 lIns="108000" tIns="0" rIns="0" bIns="0" anchor="ctr">
            <a:noAutofit/>
          </a:bodyPr>
          <a:lstStyle>
            <a:lvl1pPr marL="0" indent="0" algn="l">
              <a:spcBef>
                <a:spcPts val="0"/>
              </a:spcBef>
              <a:buClr>
                <a:schemeClr val="bg1"/>
              </a:buClr>
              <a:buNone/>
              <a:defRPr sz="18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9" name="Textplatzhalter 21">
            <a:extLst>
              <a:ext uri="{FF2B5EF4-FFF2-40B4-BE49-F238E27FC236}">
                <a16:creationId xmlns:a16="http://schemas.microsoft.com/office/drawing/2014/main" id="{57404441-53AB-13F3-70F5-CD87BAD88E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42019" y="2893354"/>
            <a:ext cx="5280420" cy="389513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 lIns="108000" tIns="0" rIns="0" bIns="0" anchor="ctr">
            <a:noAutofit/>
          </a:bodyPr>
          <a:lstStyle>
            <a:lvl1pPr marL="0" indent="0" algn="l">
              <a:spcBef>
                <a:spcPts val="0"/>
              </a:spcBef>
              <a:buClr>
                <a:schemeClr val="bg1"/>
              </a:buClr>
              <a:buNone/>
              <a:defRPr sz="18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Headline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CF1200DC-7683-DD36-AA37-E10394F370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0534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5ACBF0"/>
          </p15:clr>
        </p15:guide>
        <p15:guide id="2" orient="horz" pos="3929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extfelder +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bgerundetes Rechteck 1">
            <a:extLst>
              <a:ext uri="{FF2B5EF4-FFF2-40B4-BE49-F238E27FC236}">
                <a16:creationId xmlns:a16="http://schemas.microsoft.com/office/drawing/2014/main" id="{93326E70-4284-C77A-6AEA-0E84B8344AC8}"/>
              </a:ext>
            </a:extLst>
          </p:cNvPr>
          <p:cNvSpPr/>
          <p:nvPr userDrawn="1"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Abgerundetes Rechteck 9">
            <a:extLst>
              <a:ext uri="{FF2B5EF4-FFF2-40B4-BE49-F238E27FC236}">
                <a16:creationId xmlns:a16="http://schemas.microsoft.com/office/drawing/2014/main" id="{6C71BAAC-369B-DB1F-9B69-3A3F9A95F2FD}"/>
              </a:ext>
            </a:extLst>
          </p:cNvPr>
          <p:cNvSpPr/>
          <p:nvPr userDrawn="1"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5A843CC8-C921-BBE2-523A-DABBBEACE23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27646" y="2828925"/>
            <a:ext cx="4964809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E345BF5C-D357-03F9-E50E-2BD30D642DFF}"/>
              </a:ext>
            </a:extLst>
          </p:cNvPr>
          <p:cNvSpPr/>
          <p:nvPr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D703F022-8B6B-E2BD-D686-41359221073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499825" y="2828925"/>
            <a:ext cx="4964809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13" name="Bildplatzhalter 37">
            <a:extLst>
              <a:ext uri="{FF2B5EF4-FFF2-40B4-BE49-F238E27FC236}">
                <a16:creationId xmlns:a16="http://schemas.microsoft.com/office/drawing/2014/main" id="{9373CE6C-0C45-D67F-B27A-942CDAF7D959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727646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16" name="Bildplatzhalter 37">
            <a:extLst>
              <a:ext uri="{FF2B5EF4-FFF2-40B4-BE49-F238E27FC236}">
                <a16:creationId xmlns:a16="http://schemas.microsoft.com/office/drawing/2014/main" id="{B4005A1B-DB59-667A-137C-45B05A4B1D65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6499825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22A2A79A-3DD8-B2AF-47B8-455A86B9706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1532486" y="2080194"/>
            <a:ext cx="4159969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0E9B1506-AA0A-B7BB-6514-EA428F511A97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7304665" y="2080194"/>
            <a:ext cx="4159969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480C993-7671-6A90-5820-C97C09C837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1976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5ACBF0"/>
          </p15:clr>
        </p15:guide>
        <p15:guide id="2" orient="horz" pos="3929">
          <p15:clr>
            <a:srgbClr val="5ACBF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Textfelder + kleine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bgerundetes Rechteck 1">
            <a:extLst>
              <a:ext uri="{FF2B5EF4-FFF2-40B4-BE49-F238E27FC236}">
                <a16:creationId xmlns:a16="http://schemas.microsoft.com/office/drawing/2014/main" id="{3D53292C-582C-7B3C-88B8-6EAECC4250B4}"/>
              </a:ext>
            </a:extLst>
          </p:cNvPr>
          <p:cNvSpPr/>
          <p:nvPr userDrawn="1"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Abgerundetes Rechteck 15">
            <a:extLst>
              <a:ext uri="{FF2B5EF4-FFF2-40B4-BE49-F238E27FC236}">
                <a16:creationId xmlns:a16="http://schemas.microsoft.com/office/drawing/2014/main" id="{B1A47490-9E71-C3FC-714B-13D89308F58B}"/>
              </a:ext>
            </a:extLst>
          </p:cNvPr>
          <p:cNvSpPr/>
          <p:nvPr userDrawn="1"/>
        </p:nvSpPr>
        <p:spPr>
          <a:xfrm>
            <a:off x="4248105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Abgerundetes Rechteck 20">
            <a:extLst>
              <a:ext uri="{FF2B5EF4-FFF2-40B4-BE49-F238E27FC236}">
                <a16:creationId xmlns:a16="http://schemas.microsoft.com/office/drawing/2014/main" id="{4FA2A046-E3F6-E001-FF88-F7C4268BB78B}"/>
              </a:ext>
            </a:extLst>
          </p:cNvPr>
          <p:cNvSpPr/>
          <p:nvPr userDrawn="1"/>
        </p:nvSpPr>
        <p:spPr>
          <a:xfrm>
            <a:off x="8095973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D67F53A2-7CAB-35B7-E1AF-BFE4B99E6F0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27646" y="2828925"/>
            <a:ext cx="3040972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9" name="Bildplatzhalter 37">
            <a:extLst>
              <a:ext uri="{FF2B5EF4-FFF2-40B4-BE49-F238E27FC236}">
                <a16:creationId xmlns:a16="http://schemas.microsoft.com/office/drawing/2014/main" id="{D7579333-08AB-4A34-E947-3C4926DA43A9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727646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5C2B8632-A9D5-3F09-9FD8-221BC1FA4C6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532015" y="2080194"/>
            <a:ext cx="2236604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B97A1C69-9D63-4764-F537-3989FB951DD4}"/>
              </a:ext>
            </a:extLst>
          </p:cNvPr>
          <p:cNvSpPr/>
          <p:nvPr/>
        </p:nvSpPr>
        <p:spPr>
          <a:xfrm>
            <a:off x="4248105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Inhaltsplatzhalter 10">
            <a:extLst>
              <a:ext uri="{FF2B5EF4-FFF2-40B4-BE49-F238E27FC236}">
                <a16:creationId xmlns:a16="http://schemas.microsoft.com/office/drawing/2014/main" id="{3F0C00CD-9615-DC12-1736-E09EF1D92745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4575514" y="2828925"/>
            <a:ext cx="3040972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19" name="Bildplatzhalter 37">
            <a:extLst>
              <a:ext uri="{FF2B5EF4-FFF2-40B4-BE49-F238E27FC236}">
                <a16:creationId xmlns:a16="http://schemas.microsoft.com/office/drawing/2014/main" id="{49C8EE49-281C-BBA6-8BA6-6F1C01C7D449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4575514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0C407996-2BF1-AAA6-C780-E30913A0F00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379883" y="2080194"/>
            <a:ext cx="2236604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21" name="Abgerundetes Rechteck 20">
            <a:extLst>
              <a:ext uri="{FF2B5EF4-FFF2-40B4-BE49-F238E27FC236}">
                <a16:creationId xmlns:a16="http://schemas.microsoft.com/office/drawing/2014/main" id="{282A727E-ECE1-793C-E44A-80BEB47AD2B1}"/>
              </a:ext>
            </a:extLst>
          </p:cNvPr>
          <p:cNvSpPr/>
          <p:nvPr/>
        </p:nvSpPr>
        <p:spPr>
          <a:xfrm>
            <a:off x="8095973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F291F6D3-AAE7-63F4-3B60-AB99E61E44AD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423382" y="2828925"/>
            <a:ext cx="3040972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23" name="Bildplatzhalter 37">
            <a:extLst>
              <a:ext uri="{FF2B5EF4-FFF2-40B4-BE49-F238E27FC236}">
                <a16:creationId xmlns:a16="http://schemas.microsoft.com/office/drawing/2014/main" id="{DADD026C-D7EF-DA1F-2453-A76D64521C4C}"/>
              </a:ext>
            </a:extLst>
          </p:cNvPr>
          <p:cNvSpPr>
            <a:spLocks noGrp="1" noChangeAspect="1"/>
          </p:cNvSpPr>
          <p:nvPr>
            <p:ph type="pic" sz="quarter" idx="38" hasCustomPrompt="1"/>
          </p:nvPr>
        </p:nvSpPr>
        <p:spPr>
          <a:xfrm>
            <a:off x="8423382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C4EF13A4-5C99-8016-392C-69FC41D98299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227751" y="2080194"/>
            <a:ext cx="2236604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3DF338A-5D6B-E4CB-9E75-AEB6E98CBC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4610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5ACBF0"/>
          </p15:clr>
        </p15:guide>
        <p15:guide id="2" orient="horz" pos="3929">
          <p15:clr>
            <a:srgbClr val="5ACBF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3 Textfelder +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bgerundetes Rechteck 1">
            <a:extLst>
              <a:ext uri="{FF2B5EF4-FFF2-40B4-BE49-F238E27FC236}">
                <a16:creationId xmlns:a16="http://schemas.microsoft.com/office/drawing/2014/main" id="{04046D22-0D14-8B07-BF4A-A72FF2BB545D}"/>
              </a:ext>
            </a:extLst>
          </p:cNvPr>
          <p:cNvSpPr/>
          <p:nvPr userDrawn="1"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Abgerundetes Rechteck 38">
            <a:extLst>
              <a:ext uri="{FF2B5EF4-FFF2-40B4-BE49-F238E27FC236}">
                <a16:creationId xmlns:a16="http://schemas.microsoft.com/office/drawing/2014/main" id="{A403CC7A-F4D2-5629-CDC3-08E18A686C23}"/>
              </a:ext>
            </a:extLst>
          </p:cNvPr>
          <p:cNvSpPr/>
          <p:nvPr userDrawn="1"/>
        </p:nvSpPr>
        <p:spPr>
          <a:xfrm>
            <a:off x="4248246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Abgerundetes Rechteck 39">
            <a:extLst>
              <a:ext uri="{FF2B5EF4-FFF2-40B4-BE49-F238E27FC236}">
                <a16:creationId xmlns:a16="http://schemas.microsoft.com/office/drawing/2014/main" id="{1707A0EC-496D-7AA0-D07F-F4C99833832D}"/>
              </a:ext>
            </a:extLst>
          </p:cNvPr>
          <p:cNvSpPr/>
          <p:nvPr userDrawn="1"/>
        </p:nvSpPr>
        <p:spPr>
          <a:xfrm>
            <a:off x="8096254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9976A064-2A8F-E7E0-F152-B0AE9F9396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7647" y="1998680"/>
            <a:ext cx="3040970" cy="531446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38" name="Bildplatzhalter 37">
            <a:extLst>
              <a:ext uri="{FF2B5EF4-FFF2-40B4-BE49-F238E27FC236}">
                <a16:creationId xmlns:a16="http://schemas.microsoft.com/office/drawing/2014/main" id="{113A6A42-4D53-73E2-BC4D-36E0A3C552AB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1565932" y="2759653"/>
            <a:ext cx="1364400" cy="136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39" name="Abgerundetes Rechteck 38">
            <a:extLst>
              <a:ext uri="{FF2B5EF4-FFF2-40B4-BE49-F238E27FC236}">
                <a16:creationId xmlns:a16="http://schemas.microsoft.com/office/drawing/2014/main" id="{81578355-0D9B-64FA-E4CE-98AD72ED456C}"/>
              </a:ext>
            </a:extLst>
          </p:cNvPr>
          <p:cNvSpPr/>
          <p:nvPr/>
        </p:nvSpPr>
        <p:spPr>
          <a:xfrm>
            <a:off x="4248246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0" name="Abgerundetes Rechteck 39">
            <a:extLst>
              <a:ext uri="{FF2B5EF4-FFF2-40B4-BE49-F238E27FC236}">
                <a16:creationId xmlns:a16="http://schemas.microsoft.com/office/drawing/2014/main" id="{7A244AA8-1DFA-A55B-5B2F-10E5D6A09F96}"/>
              </a:ext>
            </a:extLst>
          </p:cNvPr>
          <p:cNvSpPr/>
          <p:nvPr/>
        </p:nvSpPr>
        <p:spPr>
          <a:xfrm>
            <a:off x="8096254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1" name="Textplatzhalter 13">
            <a:extLst>
              <a:ext uri="{FF2B5EF4-FFF2-40B4-BE49-F238E27FC236}">
                <a16:creationId xmlns:a16="http://schemas.microsoft.com/office/drawing/2014/main" id="{AEC3F5D8-1649-025A-4003-9597DF65C5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5656" y="1998680"/>
            <a:ext cx="3040970" cy="531446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43" name="Bildplatzhalter 37">
            <a:extLst>
              <a:ext uri="{FF2B5EF4-FFF2-40B4-BE49-F238E27FC236}">
                <a16:creationId xmlns:a16="http://schemas.microsoft.com/office/drawing/2014/main" id="{636E05DD-15DE-B425-1938-A4D83B6D405C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13941" y="2759653"/>
            <a:ext cx="1364400" cy="136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AT" noProof="0" err="1"/>
              <a:t>icon</a:t>
            </a:r>
            <a:endParaRPr lang="de-AT" noProof="0"/>
          </a:p>
        </p:txBody>
      </p:sp>
      <p:sp>
        <p:nvSpPr>
          <p:cNvPr id="44" name="Textplatzhalter 13">
            <a:extLst>
              <a:ext uri="{FF2B5EF4-FFF2-40B4-BE49-F238E27FC236}">
                <a16:creationId xmlns:a16="http://schemas.microsoft.com/office/drawing/2014/main" id="{FB6FF847-22A1-33ED-F946-EDE59766FF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23664" y="1998680"/>
            <a:ext cx="3040970" cy="531446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46" name="Bildplatzhalter 37">
            <a:extLst>
              <a:ext uri="{FF2B5EF4-FFF2-40B4-BE49-F238E27FC236}">
                <a16:creationId xmlns:a16="http://schemas.microsoft.com/office/drawing/2014/main" id="{DF3DB8C4-A2A9-AC4F-EDCC-8C35D88AF034}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9261949" y="2759653"/>
            <a:ext cx="1364400" cy="136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AT" noProof="0" err="1"/>
              <a:t>icon</a:t>
            </a:r>
            <a:endParaRPr lang="de-AT" noProof="0"/>
          </a:p>
        </p:txBody>
      </p:sp>
      <p:sp>
        <p:nvSpPr>
          <p:cNvPr id="52" name="Textplatzhalter 13">
            <a:extLst>
              <a:ext uri="{FF2B5EF4-FFF2-40B4-BE49-F238E27FC236}">
                <a16:creationId xmlns:a16="http://schemas.microsoft.com/office/drawing/2014/main" id="{303F4482-D250-E1FA-B40E-FA8EB32A35F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27647" y="4581527"/>
            <a:ext cx="3040970" cy="1482389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53" name="Textplatzhalter 13">
            <a:extLst>
              <a:ext uri="{FF2B5EF4-FFF2-40B4-BE49-F238E27FC236}">
                <a16:creationId xmlns:a16="http://schemas.microsoft.com/office/drawing/2014/main" id="{05988A13-5F79-F27E-304F-93FDC16F671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75656" y="4581527"/>
            <a:ext cx="3040970" cy="1482389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54" name="Textplatzhalter 13">
            <a:extLst>
              <a:ext uri="{FF2B5EF4-FFF2-40B4-BE49-F238E27FC236}">
                <a16:creationId xmlns:a16="http://schemas.microsoft.com/office/drawing/2014/main" id="{20EDF27E-0490-3843-725F-01CE69F7E79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23664" y="4581527"/>
            <a:ext cx="3040970" cy="1482389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74182E2-1242-9DDA-FC17-97AA0BF867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9671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5ACBF0"/>
          </p15:clr>
        </p15:guide>
        <p15:guide id="2" orient="horz" pos="3929">
          <p15:clr>
            <a:srgbClr val="5ACBF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Textfelder +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bgerundetes Rechteck 1">
            <a:extLst>
              <a:ext uri="{FF2B5EF4-FFF2-40B4-BE49-F238E27FC236}">
                <a16:creationId xmlns:a16="http://schemas.microsoft.com/office/drawing/2014/main" id="{FC2AE4DC-CA7C-C48B-6DA8-8EEE652E475C}"/>
              </a:ext>
            </a:extLst>
          </p:cNvPr>
          <p:cNvSpPr/>
          <p:nvPr userDrawn="1"/>
        </p:nvSpPr>
        <p:spPr>
          <a:xfrm>
            <a:off x="400237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Abgerundetes Rechteck 13">
            <a:extLst>
              <a:ext uri="{FF2B5EF4-FFF2-40B4-BE49-F238E27FC236}">
                <a16:creationId xmlns:a16="http://schemas.microsoft.com/office/drawing/2014/main" id="{713257BF-BBDA-EC01-FBC6-7672D803546D}"/>
              </a:ext>
            </a:extLst>
          </p:cNvPr>
          <p:cNvSpPr/>
          <p:nvPr userDrawn="1"/>
        </p:nvSpPr>
        <p:spPr>
          <a:xfrm>
            <a:off x="3282760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Abgerundetes Rechteck 15">
            <a:extLst>
              <a:ext uri="{FF2B5EF4-FFF2-40B4-BE49-F238E27FC236}">
                <a16:creationId xmlns:a16="http://schemas.microsoft.com/office/drawing/2014/main" id="{19C22D00-107B-F0BB-80EC-A26136003B45}"/>
              </a:ext>
            </a:extLst>
          </p:cNvPr>
          <p:cNvSpPr/>
          <p:nvPr userDrawn="1"/>
        </p:nvSpPr>
        <p:spPr>
          <a:xfrm>
            <a:off x="6165283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Abgerundetes Rechteck 16">
            <a:extLst>
              <a:ext uri="{FF2B5EF4-FFF2-40B4-BE49-F238E27FC236}">
                <a16:creationId xmlns:a16="http://schemas.microsoft.com/office/drawing/2014/main" id="{D693B120-A0FA-296B-B49E-67F38B6F8A7F}"/>
              </a:ext>
            </a:extLst>
          </p:cNvPr>
          <p:cNvSpPr/>
          <p:nvPr userDrawn="1"/>
        </p:nvSpPr>
        <p:spPr>
          <a:xfrm>
            <a:off x="9047806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7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E27F0588-B76F-0929-F2B5-7626FA998126}"/>
              </a:ext>
            </a:extLst>
          </p:cNvPr>
          <p:cNvSpPr/>
          <p:nvPr/>
        </p:nvSpPr>
        <p:spPr>
          <a:xfrm>
            <a:off x="3282760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110989CA-36BC-7174-C2B9-35694DD6BD8F}"/>
              </a:ext>
            </a:extLst>
          </p:cNvPr>
          <p:cNvSpPr/>
          <p:nvPr/>
        </p:nvSpPr>
        <p:spPr>
          <a:xfrm>
            <a:off x="6165283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5CA9B1EA-EE91-33A7-1B0E-507FD449EEAC}"/>
              </a:ext>
            </a:extLst>
          </p:cNvPr>
          <p:cNvSpPr/>
          <p:nvPr/>
        </p:nvSpPr>
        <p:spPr>
          <a:xfrm>
            <a:off x="9047806" y="1807029"/>
            <a:ext cx="2744238" cy="4444545"/>
          </a:xfrm>
          <a:prstGeom prst="roundRect">
            <a:avLst>
              <a:gd name="adj" fmla="val 459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Inhaltsplatzhalter 10">
            <a:extLst>
              <a:ext uri="{FF2B5EF4-FFF2-40B4-BE49-F238E27FC236}">
                <a16:creationId xmlns:a16="http://schemas.microsoft.com/office/drawing/2014/main" id="{3FEA1ED8-F676-3F0D-75B7-041257DA17F4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27646" y="2828925"/>
            <a:ext cx="2089420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20" name="Bildplatzhalter 37">
            <a:extLst>
              <a:ext uri="{FF2B5EF4-FFF2-40B4-BE49-F238E27FC236}">
                <a16:creationId xmlns:a16="http://schemas.microsoft.com/office/drawing/2014/main" id="{30BBDD4E-1C1A-4781-E0C3-D7B0AE2F4A4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727646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3" name="Inhaltsplatzhalter 10">
            <a:extLst>
              <a:ext uri="{FF2B5EF4-FFF2-40B4-BE49-F238E27FC236}">
                <a16:creationId xmlns:a16="http://schemas.microsoft.com/office/drawing/2014/main" id="{B939B316-EE01-FB4F-ADFA-896C9B7EB628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3604662" y="2828925"/>
            <a:ext cx="2089420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24" name="Bildplatzhalter 37">
            <a:extLst>
              <a:ext uri="{FF2B5EF4-FFF2-40B4-BE49-F238E27FC236}">
                <a16:creationId xmlns:a16="http://schemas.microsoft.com/office/drawing/2014/main" id="{8CE21DA3-6E86-D205-58B7-36B68B4A55E6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3604662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6" name="Inhaltsplatzhalter 10">
            <a:extLst>
              <a:ext uri="{FF2B5EF4-FFF2-40B4-BE49-F238E27FC236}">
                <a16:creationId xmlns:a16="http://schemas.microsoft.com/office/drawing/2014/main" id="{1D20FBCE-987E-AFA8-86E9-BE4FA50D7C2B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481676" y="2828925"/>
            <a:ext cx="2089420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27" name="Bildplatzhalter 37">
            <a:extLst>
              <a:ext uri="{FF2B5EF4-FFF2-40B4-BE49-F238E27FC236}">
                <a16:creationId xmlns:a16="http://schemas.microsoft.com/office/drawing/2014/main" id="{5367A017-7A95-B462-6C15-A16C1F9931F9}"/>
              </a:ext>
            </a:extLst>
          </p:cNvPr>
          <p:cNvSpPr>
            <a:spLocks noGrp="1" noChangeAspect="1"/>
          </p:cNvSpPr>
          <p:nvPr>
            <p:ph type="pic" sz="quarter" idx="38" hasCustomPrompt="1"/>
          </p:nvPr>
        </p:nvSpPr>
        <p:spPr>
          <a:xfrm>
            <a:off x="6481676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9" name="Inhaltsplatzhalter 10">
            <a:extLst>
              <a:ext uri="{FF2B5EF4-FFF2-40B4-BE49-F238E27FC236}">
                <a16:creationId xmlns:a16="http://schemas.microsoft.com/office/drawing/2014/main" id="{1E28899B-C574-A9A5-6843-9939078CBC67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374934" y="2828925"/>
            <a:ext cx="2089420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30" name="Bildplatzhalter 37">
            <a:extLst>
              <a:ext uri="{FF2B5EF4-FFF2-40B4-BE49-F238E27FC236}">
                <a16:creationId xmlns:a16="http://schemas.microsoft.com/office/drawing/2014/main" id="{DC7E724F-17DD-AD89-445D-9086DD27E8F0}"/>
              </a:ext>
            </a:extLst>
          </p:cNvPr>
          <p:cNvSpPr>
            <a:spLocks noGrp="1" noChangeAspect="1"/>
          </p:cNvSpPr>
          <p:nvPr>
            <p:ph type="pic" sz="quarter" idx="41" hasCustomPrompt="1"/>
          </p:nvPr>
        </p:nvSpPr>
        <p:spPr>
          <a:xfrm>
            <a:off x="9374934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523EF45-B995-8361-F7AF-FFA045E8E9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926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5ACBF0"/>
          </p15:clr>
        </p15:guide>
        <p15:guide id="2" orient="horz" pos="3929">
          <p15:clr>
            <a:srgbClr val="5ACBF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extfelder rech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bgerundetes Rechteck 1">
            <a:extLst>
              <a:ext uri="{FF2B5EF4-FFF2-40B4-BE49-F238E27FC236}">
                <a16:creationId xmlns:a16="http://schemas.microsoft.com/office/drawing/2014/main" id="{02A2FE73-F30F-4A23-4A2C-F8C260B4D960}"/>
              </a:ext>
            </a:extLst>
          </p:cNvPr>
          <p:cNvSpPr/>
          <p:nvPr userDrawn="1"/>
        </p:nvSpPr>
        <p:spPr>
          <a:xfrm>
            <a:off x="4939990" y="3670789"/>
            <a:ext cx="6852054" cy="2580786"/>
          </a:xfrm>
          <a:prstGeom prst="roundRect">
            <a:avLst>
              <a:gd name="adj" fmla="val 488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Abgerundetes Rechteck 6">
            <a:extLst>
              <a:ext uri="{FF2B5EF4-FFF2-40B4-BE49-F238E27FC236}">
                <a16:creationId xmlns:a16="http://schemas.microsoft.com/office/drawing/2014/main" id="{4E1689A9-5DE4-DE1A-68D0-442E1A719FFE}"/>
              </a:ext>
            </a:extLst>
          </p:cNvPr>
          <p:cNvSpPr/>
          <p:nvPr userDrawn="1"/>
        </p:nvSpPr>
        <p:spPr>
          <a:xfrm>
            <a:off x="4939990" y="951996"/>
            <a:ext cx="6852054" cy="2580786"/>
          </a:xfrm>
          <a:prstGeom prst="roundRect">
            <a:avLst>
              <a:gd name="adj" fmla="val 488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0D36327-78A7-FBE1-41AE-8E560602E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D08BD4A-A847-AA65-A262-64943FAC00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348DDDE2-3704-40BD-85BB-B1DF1C354E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6876" y="951996"/>
            <a:ext cx="4213626" cy="5059102"/>
          </a:xfr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600" b="1">
                <a:latin typeface="+mj-lt"/>
              </a:defRPr>
            </a:lvl1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D981929E-1AF1-D477-F72F-9CD0F2B0F86A}"/>
              </a:ext>
            </a:extLst>
          </p:cNvPr>
          <p:cNvSpPr/>
          <p:nvPr/>
        </p:nvSpPr>
        <p:spPr>
          <a:xfrm>
            <a:off x="4939990" y="3670789"/>
            <a:ext cx="6852054" cy="2580786"/>
          </a:xfrm>
          <a:prstGeom prst="roundRect">
            <a:avLst>
              <a:gd name="adj" fmla="val 488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FD6820DF-53EF-F356-39EF-8AD5082150AD}"/>
              </a:ext>
            </a:extLst>
          </p:cNvPr>
          <p:cNvSpPr/>
          <p:nvPr/>
        </p:nvSpPr>
        <p:spPr>
          <a:xfrm>
            <a:off x="4939990" y="951996"/>
            <a:ext cx="6852054" cy="2580786"/>
          </a:xfrm>
          <a:prstGeom prst="roundRect">
            <a:avLst>
              <a:gd name="adj" fmla="val 488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Bildplatzhalter 37">
            <a:extLst>
              <a:ext uri="{FF2B5EF4-FFF2-40B4-BE49-F238E27FC236}">
                <a16:creationId xmlns:a16="http://schemas.microsoft.com/office/drawing/2014/main" id="{F96A69E8-284D-ABA5-C1D1-35132EBD5F9E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5319132" y="3939997"/>
            <a:ext cx="608790" cy="6087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10" name="Textplatzhalter 13">
            <a:extLst>
              <a:ext uri="{FF2B5EF4-FFF2-40B4-BE49-F238E27FC236}">
                <a16:creationId xmlns:a16="http://schemas.microsoft.com/office/drawing/2014/main" id="{68370172-26C6-EB15-4625-FE03AF21D06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319132" y="4643781"/>
            <a:ext cx="6093770" cy="1288314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11" name="Bildplatzhalter 37">
            <a:extLst>
              <a:ext uri="{FF2B5EF4-FFF2-40B4-BE49-F238E27FC236}">
                <a16:creationId xmlns:a16="http://schemas.microsoft.com/office/drawing/2014/main" id="{68CFFA9D-5591-36F8-20A0-2B3E159B64CF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319132" y="1219768"/>
            <a:ext cx="608790" cy="6087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3EDB265B-A54B-425D-9883-77516718C47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19132" y="1923552"/>
            <a:ext cx="6093770" cy="1288314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11480D25-8D11-B976-A4E4-7A6D521B0E37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6096000" y="1219767"/>
            <a:ext cx="5316902" cy="6087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FD075AAC-97DC-5DB0-496D-440B26B368C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096000" y="3939997"/>
            <a:ext cx="5316902" cy="6087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FFCD11B-3EBC-8036-0B89-CFB5CBB3A0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957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5ACBF0"/>
          </p15:clr>
        </p15:guide>
        <p15:guide id="2" orient="horz" pos="3929">
          <p15:clr>
            <a:srgbClr val="5ACBF0"/>
          </p15:clr>
        </p15:guide>
        <p15:guide id="3" pos="3114">
          <p15:clr>
            <a:srgbClr val="5ACBF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Textfelder rech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bgerundetes Rechteck 15">
            <a:extLst>
              <a:ext uri="{FF2B5EF4-FFF2-40B4-BE49-F238E27FC236}">
                <a16:creationId xmlns:a16="http://schemas.microsoft.com/office/drawing/2014/main" id="{7A2B8D1E-BBED-7ABD-9340-6B3E0B4C7DFF}"/>
              </a:ext>
            </a:extLst>
          </p:cNvPr>
          <p:cNvSpPr/>
          <p:nvPr userDrawn="1"/>
        </p:nvSpPr>
        <p:spPr>
          <a:xfrm>
            <a:off x="4939990" y="951996"/>
            <a:ext cx="6852054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Abgerundetes Rechteck 17">
            <a:extLst>
              <a:ext uri="{FF2B5EF4-FFF2-40B4-BE49-F238E27FC236}">
                <a16:creationId xmlns:a16="http://schemas.microsoft.com/office/drawing/2014/main" id="{498830A6-7357-EF51-217F-9A057E32569F}"/>
              </a:ext>
            </a:extLst>
          </p:cNvPr>
          <p:cNvSpPr/>
          <p:nvPr userDrawn="1"/>
        </p:nvSpPr>
        <p:spPr>
          <a:xfrm>
            <a:off x="4939990" y="2763170"/>
            <a:ext cx="6852054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Abgerundetes Rechteck 18">
            <a:extLst>
              <a:ext uri="{FF2B5EF4-FFF2-40B4-BE49-F238E27FC236}">
                <a16:creationId xmlns:a16="http://schemas.microsoft.com/office/drawing/2014/main" id="{A4B8D842-1B59-8F6A-2340-BDA3CCF42EF6}"/>
              </a:ext>
            </a:extLst>
          </p:cNvPr>
          <p:cNvSpPr/>
          <p:nvPr userDrawn="1"/>
        </p:nvSpPr>
        <p:spPr>
          <a:xfrm>
            <a:off x="4939990" y="4574344"/>
            <a:ext cx="6852054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0D36327-78A7-FBE1-41AE-8E560602E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D08BD4A-A847-AA65-A262-64943FAC00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348DDDE2-3704-40BD-85BB-B1DF1C354E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6876" y="951996"/>
            <a:ext cx="4213626" cy="5059102"/>
          </a:xfr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600" b="1">
                <a:latin typeface="+mj-lt"/>
              </a:defRPr>
            </a:lvl1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09724CC2-630E-C3D2-8E09-99D4A3B7A97C}"/>
              </a:ext>
            </a:extLst>
          </p:cNvPr>
          <p:cNvSpPr/>
          <p:nvPr/>
        </p:nvSpPr>
        <p:spPr>
          <a:xfrm>
            <a:off x="4939990" y="951996"/>
            <a:ext cx="6852054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FA983A3D-3C0F-4982-470F-5F75D9ADA35D}"/>
              </a:ext>
            </a:extLst>
          </p:cNvPr>
          <p:cNvSpPr/>
          <p:nvPr/>
        </p:nvSpPr>
        <p:spPr>
          <a:xfrm>
            <a:off x="4939990" y="2763170"/>
            <a:ext cx="6852054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Abgerundetes Rechteck 18">
            <a:extLst>
              <a:ext uri="{FF2B5EF4-FFF2-40B4-BE49-F238E27FC236}">
                <a16:creationId xmlns:a16="http://schemas.microsoft.com/office/drawing/2014/main" id="{712D37C9-6B9F-F361-16EB-A97ACAC59389}"/>
              </a:ext>
            </a:extLst>
          </p:cNvPr>
          <p:cNvSpPr/>
          <p:nvPr/>
        </p:nvSpPr>
        <p:spPr>
          <a:xfrm>
            <a:off x="4939990" y="4574344"/>
            <a:ext cx="6852054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Bildplatzhalter 37">
            <a:extLst>
              <a:ext uri="{FF2B5EF4-FFF2-40B4-BE49-F238E27FC236}">
                <a16:creationId xmlns:a16="http://schemas.microsoft.com/office/drawing/2014/main" id="{9338BC26-263C-A75F-429A-184C7F36FBA9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251976" y="1402968"/>
            <a:ext cx="775287" cy="7752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00987232-8269-B6AC-4688-9FCC3D0518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305796" y="1183111"/>
            <a:ext cx="5107105" cy="1215000"/>
          </a:xfrm>
        </p:spPr>
        <p:txBody>
          <a:bodyPr anchor="ctr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5" name="Bildplatzhalter 37">
            <a:extLst>
              <a:ext uri="{FF2B5EF4-FFF2-40B4-BE49-F238E27FC236}">
                <a16:creationId xmlns:a16="http://schemas.microsoft.com/office/drawing/2014/main" id="{00270957-B142-157F-46F3-4F0CD441AA9C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5251976" y="3214142"/>
            <a:ext cx="775287" cy="7752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ECC66C8F-655D-19E9-6076-E8E1982C4C6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305796" y="2994285"/>
            <a:ext cx="5107105" cy="1215000"/>
          </a:xfrm>
        </p:spPr>
        <p:txBody>
          <a:bodyPr anchor="ctr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7" name="Bildplatzhalter 37">
            <a:extLst>
              <a:ext uri="{FF2B5EF4-FFF2-40B4-BE49-F238E27FC236}">
                <a16:creationId xmlns:a16="http://schemas.microsoft.com/office/drawing/2014/main" id="{75A17EE7-402A-0A57-5431-1CCBC8E04AA4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5251976" y="5025316"/>
            <a:ext cx="775287" cy="7752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8" name="Textplatzhalter 13">
            <a:extLst>
              <a:ext uri="{FF2B5EF4-FFF2-40B4-BE49-F238E27FC236}">
                <a16:creationId xmlns:a16="http://schemas.microsoft.com/office/drawing/2014/main" id="{136AC140-2EC2-3725-274D-DA4CB3780BC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05796" y="4805459"/>
            <a:ext cx="5107105" cy="1215000"/>
          </a:xfrm>
        </p:spPr>
        <p:txBody>
          <a:bodyPr anchor="ctr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61C96A1-E09E-12BF-8B6D-5FC91058FC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671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5ACBF0"/>
          </p15:clr>
        </p15:guide>
        <p15:guide id="2" orient="horz" pos="3929">
          <p15:clr>
            <a:srgbClr val="5ACBF0"/>
          </p15:clr>
        </p15:guide>
        <p15:guide id="3" pos="3114">
          <p15:clr>
            <a:srgbClr val="5ACBF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Textfelder rech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bgerundetes Rechteck 13">
            <a:extLst>
              <a:ext uri="{FF2B5EF4-FFF2-40B4-BE49-F238E27FC236}">
                <a16:creationId xmlns:a16="http://schemas.microsoft.com/office/drawing/2014/main" id="{54559012-AF96-A70A-BC2C-7EA6593556D4}"/>
              </a:ext>
            </a:extLst>
          </p:cNvPr>
          <p:cNvSpPr/>
          <p:nvPr userDrawn="1"/>
        </p:nvSpPr>
        <p:spPr>
          <a:xfrm>
            <a:off x="4939990" y="951997"/>
            <a:ext cx="6852054" cy="1216079"/>
          </a:xfrm>
          <a:prstGeom prst="roundRect">
            <a:avLst>
              <a:gd name="adj" fmla="val 1036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Abgerundetes Rechteck 19">
            <a:extLst>
              <a:ext uri="{FF2B5EF4-FFF2-40B4-BE49-F238E27FC236}">
                <a16:creationId xmlns:a16="http://schemas.microsoft.com/office/drawing/2014/main" id="{55161780-3B49-1748-5F42-C0EFC94CE527}"/>
              </a:ext>
            </a:extLst>
          </p:cNvPr>
          <p:cNvSpPr/>
          <p:nvPr userDrawn="1"/>
        </p:nvSpPr>
        <p:spPr>
          <a:xfrm>
            <a:off x="4939990" y="2313162"/>
            <a:ext cx="6852054" cy="1216080"/>
          </a:xfrm>
          <a:prstGeom prst="roundRect">
            <a:avLst>
              <a:gd name="adj" fmla="val 1036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Abgerundetes Rechteck 22">
            <a:extLst>
              <a:ext uri="{FF2B5EF4-FFF2-40B4-BE49-F238E27FC236}">
                <a16:creationId xmlns:a16="http://schemas.microsoft.com/office/drawing/2014/main" id="{B7E47965-AD3C-F07F-4955-592ACC52FF0E}"/>
              </a:ext>
            </a:extLst>
          </p:cNvPr>
          <p:cNvSpPr/>
          <p:nvPr userDrawn="1"/>
        </p:nvSpPr>
        <p:spPr>
          <a:xfrm>
            <a:off x="4939990" y="3674328"/>
            <a:ext cx="6852054" cy="1216080"/>
          </a:xfrm>
          <a:prstGeom prst="roundRect">
            <a:avLst>
              <a:gd name="adj" fmla="val 1036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Abgerundetes Rechteck 28">
            <a:extLst>
              <a:ext uri="{FF2B5EF4-FFF2-40B4-BE49-F238E27FC236}">
                <a16:creationId xmlns:a16="http://schemas.microsoft.com/office/drawing/2014/main" id="{19EA2958-27B1-D7EC-EC50-9D6AF36FDBF5}"/>
              </a:ext>
            </a:extLst>
          </p:cNvPr>
          <p:cNvSpPr/>
          <p:nvPr userDrawn="1"/>
        </p:nvSpPr>
        <p:spPr>
          <a:xfrm>
            <a:off x="4939990" y="5035495"/>
            <a:ext cx="6852054" cy="1216080"/>
          </a:xfrm>
          <a:prstGeom prst="roundRect">
            <a:avLst>
              <a:gd name="adj" fmla="val 1036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0D36327-78A7-FBE1-41AE-8E560602E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D08BD4A-A847-AA65-A262-64943FAC00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348DDDE2-3704-40BD-85BB-B1DF1C354E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6876" y="951996"/>
            <a:ext cx="4213626" cy="5059102"/>
          </a:xfr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600" b="1">
                <a:latin typeface="+mj-lt"/>
              </a:defRPr>
            </a:lvl1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1361D3DF-0409-31F4-511A-50F15095A109}"/>
              </a:ext>
            </a:extLst>
          </p:cNvPr>
          <p:cNvSpPr/>
          <p:nvPr/>
        </p:nvSpPr>
        <p:spPr>
          <a:xfrm>
            <a:off x="4939990" y="951997"/>
            <a:ext cx="6852054" cy="1216079"/>
          </a:xfrm>
          <a:prstGeom prst="roundRect">
            <a:avLst>
              <a:gd name="adj" fmla="val 1036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Abgerundetes Rechteck 19">
            <a:extLst>
              <a:ext uri="{FF2B5EF4-FFF2-40B4-BE49-F238E27FC236}">
                <a16:creationId xmlns:a16="http://schemas.microsoft.com/office/drawing/2014/main" id="{ECCF9394-0163-A7E9-EAEA-32A97CF5FB89}"/>
              </a:ext>
            </a:extLst>
          </p:cNvPr>
          <p:cNvSpPr/>
          <p:nvPr/>
        </p:nvSpPr>
        <p:spPr>
          <a:xfrm>
            <a:off x="4939990" y="2313162"/>
            <a:ext cx="6852054" cy="1216080"/>
          </a:xfrm>
          <a:prstGeom prst="roundRect">
            <a:avLst>
              <a:gd name="adj" fmla="val 1036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Abgerundetes Rechteck 22">
            <a:extLst>
              <a:ext uri="{FF2B5EF4-FFF2-40B4-BE49-F238E27FC236}">
                <a16:creationId xmlns:a16="http://schemas.microsoft.com/office/drawing/2014/main" id="{52208270-45A0-81D4-60DF-2570916321A1}"/>
              </a:ext>
            </a:extLst>
          </p:cNvPr>
          <p:cNvSpPr/>
          <p:nvPr/>
        </p:nvSpPr>
        <p:spPr>
          <a:xfrm>
            <a:off x="4939990" y="3674328"/>
            <a:ext cx="6852054" cy="1216080"/>
          </a:xfrm>
          <a:prstGeom prst="roundRect">
            <a:avLst>
              <a:gd name="adj" fmla="val 1036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Abgerundetes Rechteck 28">
            <a:extLst>
              <a:ext uri="{FF2B5EF4-FFF2-40B4-BE49-F238E27FC236}">
                <a16:creationId xmlns:a16="http://schemas.microsoft.com/office/drawing/2014/main" id="{68932B5F-2BCC-6748-2CE2-D66C73F5BEE1}"/>
              </a:ext>
            </a:extLst>
          </p:cNvPr>
          <p:cNvSpPr/>
          <p:nvPr/>
        </p:nvSpPr>
        <p:spPr>
          <a:xfrm>
            <a:off x="4939990" y="5035495"/>
            <a:ext cx="6852054" cy="1216080"/>
          </a:xfrm>
          <a:prstGeom prst="roundRect">
            <a:avLst>
              <a:gd name="adj" fmla="val 10361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Bildplatzhalter 37">
            <a:extLst>
              <a:ext uri="{FF2B5EF4-FFF2-40B4-BE49-F238E27FC236}">
                <a16:creationId xmlns:a16="http://schemas.microsoft.com/office/drawing/2014/main" id="{A73CC244-3CCF-951A-B5BE-D0288D9D44B9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251976" y="1172393"/>
            <a:ext cx="775287" cy="7752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32" name="Textplatzhalter 13">
            <a:extLst>
              <a:ext uri="{FF2B5EF4-FFF2-40B4-BE49-F238E27FC236}">
                <a16:creationId xmlns:a16="http://schemas.microsoft.com/office/drawing/2014/main" id="{B133B753-5BF3-E7BE-03E5-D5FB3E9B66B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305796" y="1062464"/>
            <a:ext cx="5107105" cy="995144"/>
          </a:xfrm>
        </p:spPr>
        <p:txBody>
          <a:bodyPr anchor="ctr">
            <a:noAutofit/>
          </a:bodyPr>
          <a:lstStyle>
            <a:lvl1pPr>
              <a:spcBef>
                <a:spcPts val="5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33" name="Bildplatzhalter 37">
            <a:extLst>
              <a:ext uri="{FF2B5EF4-FFF2-40B4-BE49-F238E27FC236}">
                <a16:creationId xmlns:a16="http://schemas.microsoft.com/office/drawing/2014/main" id="{F8D6AD81-DA06-2F2B-3F7B-5628DF842260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5251976" y="2533559"/>
            <a:ext cx="775287" cy="7752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34" name="Textplatzhalter 13">
            <a:extLst>
              <a:ext uri="{FF2B5EF4-FFF2-40B4-BE49-F238E27FC236}">
                <a16:creationId xmlns:a16="http://schemas.microsoft.com/office/drawing/2014/main" id="{72551A18-AC16-7FA8-C1D4-36CF78EB8D9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305796" y="2423630"/>
            <a:ext cx="5107105" cy="995144"/>
          </a:xfrm>
        </p:spPr>
        <p:txBody>
          <a:bodyPr anchor="ctr">
            <a:noAutofit/>
          </a:bodyPr>
          <a:lstStyle>
            <a:lvl1pPr>
              <a:spcBef>
                <a:spcPts val="5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35" name="Bildplatzhalter 37">
            <a:extLst>
              <a:ext uri="{FF2B5EF4-FFF2-40B4-BE49-F238E27FC236}">
                <a16:creationId xmlns:a16="http://schemas.microsoft.com/office/drawing/2014/main" id="{235C9175-033B-F560-2EDA-873B5D75811D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5251976" y="3894725"/>
            <a:ext cx="775287" cy="7752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36" name="Textplatzhalter 13">
            <a:extLst>
              <a:ext uri="{FF2B5EF4-FFF2-40B4-BE49-F238E27FC236}">
                <a16:creationId xmlns:a16="http://schemas.microsoft.com/office/drawing/2014/main" id="{97A6E2C2-5B8C-3BFF-370C-51129E7B2ED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05796" y="3784796"/>
            <a:ext cx="5107105" cy="995144"/>
          </a:xfrm>
        </p:spPr>
        <p:txBody>
          <a:bodyPr anchor="ctr">
            <a:noAutofit/>
          </a:bodyPr>
          <a:lstStyle>
            <a:lvl1pPr>
              <a:spcBef>
                <a:spcPts val="5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37" name="Bildplatzhalter 37">
            <a:extLst>
              <a:ext uri="{FF2B5EF4-FFF2-40B4-BE49-F238E27FC236}">
                <a16:creationId xmlns:a16="http://schemas.microsoft.com/office/drawing/2014/main" id="{B196AA35-1B37-6500-24D1-439FA12FE1A6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5251976" y="5255892"/>
            <a:ext cx="775287" cy="7752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38" name="Textplatzhalter 13">
            <a:extLst>
              <a:ext uri="{FF2B5EF4-FFF2-40B4-BE49-F238E27FC236}">
                <a16:creationId xmlns:a16="http://schemas.microsoft.com/office/drawing/2014/main" id="{3451E5F4-58B2-5C86-629A-3A1F726AE4A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05796" y="5145963"/>
            <a:ext cx="5107105" cy="995144"/>
          </a:xfrm>
        </p:spPr>
        <p:txBody>
          <a:bodyPr anchor="ctr">
            <a:noAutofit/>
          </a:bodyPr>
          <a:lstStyle>
            <a:lvl1pPr>
              <a:spcBef>
                <a:spcPts val="5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18232EC-F7A0-DBC4-3F5A-B859F78D0E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699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5ACBF0"/>
          </p15:clr>
        </p15:guide>
        <p15:guide id="2" orient="horz" pos="3929">
          <p15:clr>
            <a:srgbClr val="5ACBF0"/>
          </p15:clr>
        </p15:guide>
        <p15:guide id="3" pos="3114">
          <p15:clr>
            <a:srgbClr val="5ACBF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Textfelder +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6">
            <a:extLst>
              <a:ext uri="{FF2B5EF4-FFF2-40B4-BE49-F238E27FC236}">
                <a16:creationId xmlns:a16="http://schemas.microsoft.com/office/drawing/2014/main" id="{22D59DC1-6B80-3719-6A66-4B3DA08CF1AA}"/>
              </a:ext>
            </a:extLst>
          </p:cNvPr>
          <p:cNvSpPr/>
          <p:nvPr userDrawn="1"/>
        </p:nvSpPr>
        <p:spPr>
          <a:xfrm>
            <a:off x="4939990" y="951996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Abgerundetes Rechteck 21">
            <a:extLst>
              <a:ext uri="{FF2B5EF4-FFF2-40B4-BE49-F238E27FC236}">
                <a16:creationId xmlns:a16="http://schemas.microsoft.com/office/drawing/2014/main" id="{2198FB8E-9110-4E41-0D1D-597AC929919A}"/>
              </a:ext>
            </a:extLst>
          </p:cNvPr>
          <p:cNvSpPr/>
          <p:nvPr userDrawn="1"/>
        </p:nvSpPr>
        <p:spPr>
          <a:xfrm>
            <a:off x="8433037" y="951996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Abgerundetes Rechteck 26">
            <a:extLst>
              <a:ext uri="{FF2B5EF4-FFF2-40B4-BE49-F238E27FC236}">
                <a16:creationId xmlns:a16="http://schemas.microsoft.com/office/drawing/2014/main" id="{07518F85-2F4B-5D7A-9C1F-61945F25A38C}"/>
              </a:ext>
            </a:extLst>
          </p:cNvPr>
          <p:cNvSpPr/>
          <p:nvPr userDrawn="1"/>
        </p:nvSpPr>
        <p:spPr>
          <a:xfrm>
            <a:off x="4939990" y="2763170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Abgerundetes Rechteck 27">
            <a:extLst>
              <a:ext uri="{FF2B5EF4-FFF2-40B4-BE49-F238E27FC236}">
                <a16:creationId xmlns:a16="http://schemas.microsoft.com/office/drawing/2014/main" id="{4899BEEE-C816-E9E6-6893-65AE5931BFAA}"/>
              </a:ext>
            </a:extLst>
          </p:cNvPr>
          <p:cNvSpPr/>
          <p:nvPr userDrawn="1"/>
        </p:nvSpPr>
        <p:spPr>
          <a:xfrm>
            <a:off x="8433037" y="2763170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Abgerundetes Rechteck 38">
            <a:extLst>
              <a:ext uri="{FF2B5EF4-FFF2-40B4-BE49-F238E27FC236}">
                <a16:creationId xmlns:a16="http://schemas.microsoft.com/office/drawing/2014/main" id="{F7128E0E-124C-195D-1B45-0D37728761C3}"/>
              </a:ext>
            </a:extLst>
          </p:cNvPr>
          <p:cNvSpPr/>
          <p:nvPr userDrawn="1"/>
        </p:nvSpPr>
        <p:spPr>
          <a:xfrm>
            <a:off x="4939990" y="4574344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Abgerundetes Rechteck 39">
            <a:extLst>
              <a:ext uri="{FF2B5EF4-FFF2-40B4-BE49-F238E27FC236}">
                <a16:creationId xmlns:a16="http://schemas.microsoft.com/office/drawing/2014/main" id="{781744AE-A7CC-2C1D-739D-AF3A86224E04}"/>
              </a:ext>
            </a:extLst>
          </p:cNvPr>
          <p:cNvSpPr/>
          <p:nvPr userDrawn="1"/>
        </p:nvSpPr>
        <p:spPr>
          <a:xfrm>
            <a:off x="8433037" y="4574344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E9BE19EC-E653-F841-5F40-4E039463519F}"/>
              </a:ext>
            </a:extLst>
          </p:cNvPr>
          <p:cNvSpPr/>
          <p:nvPr/>
        </p:nvSpPr>
        <p:spPr>
          <a:xfrm>
            <a:off x="4939990" y="951996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Abgerundetes Rechteck 21">
            <a:extLst>
              <a:ext uri="{FF2B5EF4-FFF2-40B4-BE49-F238E27FC236}">
                <a16:creationId xmlns:a16="http://schemas.microsoft.com/office/drawing/2014/main" id="{077EA993-CB27-A051-F30D-5843EDB2C212}"/>
              </a:ext>
            </a:extLst>
          </p:cNvPr>
          <p:cNvSpPr/>
          <p:nvPr/>
        </p:nvSpPr>
        <p:spPr>
          <a:xfrm>
            <a:off x="8433037" y="951996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Abgerundetes Rechteck 26">
            <a:extLst>
              <a:ext uri="{FF2B5EF4-FFF2-40B4-BE49-F238E27FC236}">
                <a16:creationId xmlns:a16="http://schemas.microsoft.com/office/drawing/2014/main" id="{85947807-0CDE-6A94-ECEA-D8A11FA067B7}"/>
              </a:ext>
            </a:extLst>
          </p:cNvPr>
          <p:cNvSpPr/>
          <p:nvPr/>
        </p:nvSpPr>
        <p:spPr>
          <a:xfrm>
            <a:off x="4939990" y="2763170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Abgerundetes Rechteck 27">
            <a:extLst>
              <a:ext uri="{FF2B5EF4-FFF2-40B4-BE49-F238E27FC236}">
                <a16:creationId xmlns:a16="http://schemas.microsoft.com/office/drawing/2014/main" id="{B92CBB7B-A7F7-4E2F-6528-EDF2A94CE24C}"/>
              </a:ext>
            </a:extLst>
          </p:cNvPr>
          <p:cNvSpPr/>
          <p:nvPr/>
        </p:nvSpPr>
        <p:spPr>
          <a:xfrm>
            <a:off x="8433037" y="2763170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9" name="Abgerundetes Rechteck 38">
            <a:extLst>
              <a:ext uri="{FF2B5EF4-FFF2-40B4-BE49-F238E27FC236}">
                <a16:creationId xmlns:a16="http://schemas.microsoft.com/office/drawing/2014/main" id="{7E0222BA-3E43-7463-66CF-5C56731531EC}"/>
              </a:ext>
            </a:extLst>
          </p:cNvPr>
          <p:cNvSpPr/>
          <p:nvPr/>
        </p:nvSpPr>
        <p:spPr>
          <a:xfrm>
            <a:off x="4939990" y="4574344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0" name="Abgerundetes Rechteck 39">
            <a:extLst>
              <a:ext uri="{FF2B5EF4-FFF2-40B4-BE49-F238E27FC236}">
                <a16:creationId xmlns:a16="http://schemas.microsoft.com/office/drawing/2014/main" id="{21CF4A5D-938F-E767-4F02-F22EDBC368A9}"/>
              </a:ext>
            </a:extLst>
          </p:cNvPr>
          <p:cNvSpPr/>
          <p:nvPr/>
        </p:nvSpPr>
        <p:spPr>
          <a:xfrm>
            <a:off x="8433037" y="4574344"/>
            <a:ext cx="3359007" cy="1677231"/>
          </a:xfrm>
          <a:prstGeom prst="roundRect">
            <a:avLst>
              <a:gd name="adj" fmla="val 7512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0D36327-78A7-FBE1-41AE-8E560602E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D08BD4A-A847-AA65-A262-64943FAC00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348DDDE2-3704-40BD-85BB-B1DF1C354E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6876" y="951996"/>
            <a:ext cx="4213626" cy="5059102"/>
          </a:xfr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600" b="1">
                <a:latin typeface="+mj-lt"/>
              </a:defRPr>
            </a:lvl1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10" name="Bildplatzhalter 37">
            <a:extLst>
              <a:ext uri="{FF2B5EF4-FFF2-40B4-BE49-F238E27FC236}">
                <a16:creationId xmlns:a16="http://schemas.microsoft.com/office/drawing/2014/main" id="{44EDACF0-3757-2110-84A2-529D8646D89E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198494" y="1140754"/>
            <a:ext cx="456097" cy="45609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69E1470D-2D03-D68F-D414-508ECD5AB1D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198494" y="1671503"/>
            <a:ext cx="2841999" cy="836306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42" name="Bildplatzhalter 37">
            <a:extLst>
              <a:ext uri="{FF2B5EF4-FFF2-40B4-BE49-F238E27FC236}">
                <a16:creationId xmlns:a16="http://schemas.microsoft.com/office/drawing/2014/main" id="{428DE197-4CB9-03B1-337C-40202857FB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8693131" y="1140754"/>
            <a:ext cx="456097" cy="45609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43" name="Textplatzhalter 13">
            <a:extLst>
              <a:ext uri="{FF2B5EF4-FFF2-40B4-BE49-F238E27FC236}">
                <a16:creationId xmlns:a16="http://schemas.microsoft.com/office/drawing/2014/main" id="{E8CC250E-EB52-FEB2-02D4-735EEA4B537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91541" y="1671503"/>
            <a:ext cx="2841999" cy="836306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52" name="Bildplatzhalter 37">
            <a:extLst>
              <a:ext uri="{FF2B5EF4-FFF2-40B4-BE49-F238E27FC236}">
                <a16:creationId xmlns:a16="http://schemas.microsoft.com/office/drawing/2014/main" id="{04FBEF6F-96B3-619F-F3BE-17C9D600220D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5198494" y="2948548"/>
            <a:ext cx="456097" cy="45609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53" name="Textplatzhalter 13">
            <a:extLst>
              <a:ext uri="{FF2B5EF4-FFF2-40B4-BE49-F238E27FC236}">
                <a16:creationId xmlns:a16="http://schemas.microsoft.com/office/drawing/2014/main" id="{3395EA9B-2A12-DA88-D131-CFB699E5ABB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198494" y="3479297"/>
            <a:ext cx="2841999" cy="836306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54" name="Bildplatzhalter 37">
            <a:extLst>
              <a:ext uri="{FF2B5EF4-FFF2-40B4-BE49-F238E27FC236}">
                <a16:creationId xmlns:a16="http://schemas.microsoft.com/office/drawing/2014/main" id="{F09F4599-9DE7-1864-D876-958578982DE2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8693131" y="2948548"/>
            <a:ext cx="456097" cy="45609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55" name="Textplatzhalter 13">
            <a:extLst>
              <a:ext uri="{FF2B5EF4-FFF2-40B4-BE49-F238E27FC236}">
                <a16:creationId xmlns:a16="http://schemas.microsoft.com/office/drawing/2014/main" id="{02741D87-21AA-D9C9-E70F-0F071ED0339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691541" y="3479297"/>
            <a:ext cx="2841999" cy="836306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56" name="Bildplatzhalter 37">
            <a:extLst>
              <a:ext uri="{FF2B5EF4-FFF2-40B4-BE49-F238E27FC236}">
                <a16:creationId xmlns:a16="http://schemas.microsoft.com/office/drawing/2014/main" id="{36B13F22-A9FF-1181-6569-B3CD751F84B2}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5198494" y="4763102"/>
            <a:ext cx="456097" cy="45609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57" name="Textplatzhalter 13">
            <a:extLst>
              <a:ext uri="{FF2B5EF4-FFF2-40B4-BE49-F238E27FC236}">
                <a16:creationId xmlns:a16="http://schemas.microsoft.com/office/drawing/2014/main" id="{92ABCD8E-68F2-C6FF-D1D6-6731403D2AF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98494" y="5293851"/>
            <a:ext cx="2841999" cy="836306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58" name="Bildplatzhalter 37">
            <a:extLst>
              <a:ext uri="{FF2B5EF4-FFF2-40B4-BE49-F238E27FC236}">
                <a16:creationId xmlns:a16="http://schemas.microsoft.com/office/drawing/2014/main" id="{E29E569F-2F3A-0C4A-8D52-8BA3040337E9}"/>
              </a:ext>
            </a:extLst>
          </p:cNvPr>
          <p:cNvSpPr>
            <a:spLocks noGrp="1" noChangeAspect="1"/>
          </p:cNvSpPr>
          <p:nvPr>
            <p:ph type="pic" sz="quarter" idx="41" hasCustomPrompt="1"/>
          </p:nvPr>
        </p:nvSpPr>
        <p:spPr>
          <a:xfrm>
            <a:off x="8693131" y="4763102"/>
            <a:ext cx="456097" cy="45609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59" name="Textplatzhalter 13">
            <a:extLst>
              <a:ext uri="{FF2B5EF4-FFF2-40B4-BE49-F238E27FC236}">
                <a16:creationId xmlns:a16="http://schemas.microsoft.com/office/drawing/2014/main" id="{C4F7A4F4-B402-B3C0-EB5A-30483866E0B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691541" y="5293851"/>
            <a:ext cx="2841999" cy="836306"/>
          </a:xfrm>
        </p:spPr>
        <p:txBody>
          <a:bodyPr anchor="t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1598315E-0781-C994-D928-D61A920AA9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16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114">
          <p15:clr>
            <a:srgbClr val="5ACBF0"/>
          </p15:clr>
        </p15:guide>
        <p15:guide id="2" orient="horz" pos="595">
          <p15:clr>
            <a:srgbClr val="5ACBF0"/>
          </p15:clr>
        </p15:guide>
        <p15:guide id="3" orient="horz" pos="3929">
          <p15:clr>
            <a:srgbClr val="5ACBF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4129087"/>
            <a:ext cx="11395074" cy="2122488"/>
          </a:xfrm>
        </p:spPr>
        <p:txBody>
          <a:bodyPr lIns="0" tIns="0" rIns="0" bIns="0" anchor="t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 err="1"/>
              <a:t>Kapiteltrenner</a:t>
            </a:r>
            <a:r>
              <a:rPr lang="de-AT" noProof="0"/>
              <a:t> 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2E3A09BB-75CC-D2E0-56A2-1DA12B61F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ED17B827-B2AA-7549-0910-6B786C39AB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2857" y="562798"/>
            <a:ext cx="2499093" cy="18511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D98B9442-0E2E-D654-C778-B85D96923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C601040-8DB8-D9B7-4847-0B8228D19D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6875" y="2006599"/>
            <a:ext cx="4589653" cy="2122488"/>
          </a:xfrm>
        </p:spPr>
        <p:txBody>
          <a:bodyPr anchor="b">
            <a:normAutofit/>
          </a:bodyPr>
          <a:lstStyle>
            <a:lvl1pPr marL="0" indent="0">
              <a:buNone/>
              <a:defRPr sz="8800" b="1"/>
            </a:lvl1pPr>
          </a:lstStyle>
          <a:p>
            <a:pPr lvl="0"/>
            <a:r>
              <a:rPr lang="de-DE"/>
              <a:t>01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74966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5ACBF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_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">
            <a:extLst>
              <a:ext uri="{FF2B5EF4-FFF2-40B4-BE49-F238E27FC236}">
                <a16:creationId xmlns:a16="http://schemas.microsoft.com/office/drawing/2014/main" id="{19A118D0-ECE5-B2E1-C7AD-36D7EEDFFA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4129087"/>
            <a:ext cx="11395074" cy="2122488"/>
          </a:xfrm>
        </p:spPr>
        <p:txBody>
          <a:bodyPr lIns="0" tIns="0" rIns="0" bIns="0" anchor="t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 err="1"/>
              <a:t>Kapiteltrenner</a:t>
            </a:r>
            <a:r>
              <a:rPr lang="de-AT" noProof="0"/>
              <a:t> 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2E3A09BB-75CC-D2E0-56A2-1DA12B61F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D98B9442-0E2E-D654-C778-B85D96923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C601040-8DB8-D9B7-4847-0B8228D19D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6875" y="2006599"/>
            <a:ext cx="4589653" cy="2122488"/>
          </a:xfrm>
        </p:spPr>
        <p:txBody>
          <a:bodyPr anchor="b">
            <a:normAutofit/>
          </a:bodyPr>
          <a:lstStyle>
            <a:lvl1pPr marL="0" indent="0">
              <a:buNone/>
              <a:defRPr sz="8800" b="1"/>
            </a:lvl1pPr>
          </a:lstStyle>
          <a:p>
            <a:pPr lvl="0"/>
            <a:r>
              <a:rPr lang="de-DE"/>
              <a:t>01</a:t>
            </a:r>
            <a:endParaRPr lang="de-AT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C84B879-6514-60BE-CF0C-1D32AEFF24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4651" y="562344"/>
            <a:ext cx="2164400" cy="18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5622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5ACBF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_weiß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rafik 33">
            <a:extLst>
              <a:ext uri="{FF2B5EF4-FFF2-40B4-BE49-F238E27FC236}">
                <a16:creationId xmlns:a16="http://schemas.microsoft.com/office/drawing/2014/main" id="{2E3A09BB-75CC-D2E0-56A2-1DA12B61F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ED17B827-B2AA-7549-0910-6B786C39AB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2857" y="562798"/>
            <a:ext cx="2499093" cy="18511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D98B9442-0E2E-D654-C778-B85D96923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E8CA517-7F97-42DE-AC97-3D88E583B7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92857" y="562798"/>
            <a:ext cx="2499093" cy="185118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77372C20-9736-171D-DD9F-1E43278730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4129087"/>
            <a:ext cx="11395074" cy="2122488"/>
          </a:xfrm>
        </p:spPr>
        <p:txBody>
          <a:bodyPr lIns="0" tIns="0" rIns="0" bIns="0" anchor="t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 err="1"/>
              <a:t>Kapiteltrenner</a:t>
            </a:r>
            <a:r>
              <a:rPr lang="de-AT" noProof="0"/>
              <a:t> </a:t>
            </a:r>
          </a:p>
        </p:txBody>
      </p:sp>
      <p:sp>
        <p:nvSpPr>
          <p:cNvPr id="5" name="Textplatzhalter 8">
            <a:extLst>
              <a:ext uri="{FF2B5EF4-FFF2-40B4-BE49-F238E27FC236}">
                <a16:creationId xmlns:a16="http://schemas.microsoft.com/office/drawing/2014/main" id="{92026138-5FB3-C71F-B27E-54B00A5C03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6875" y="2006599"/>
            <a:ext cx="4589653" cy="2122488"/>
          </a:xfrm>
        </p:spPr>
        <p:txBody>
          <a:bodyPr anchor="b">
            <a:normAutofit/>
          </a:bodyPr>
          <a:lstStyle>
            <a:lvl1pPr marL="0" indent="0">
              <a:buNone/>
              <a:defRPr sz="8800" b="1"/>
            </a:lvl1pPr>
          </a:lstStyle>
          <a:p>
            <a:pPr lvl="0"/>
            <a:r>
              <a:rPr lang="de-DE"/>
              <a:t>01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204448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5ACBF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_weiß 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3EBD99BB-6610-A628-D231-FD8CDEE314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24651" y="562344"/>
            <a:ext cx="2164400" cy="186185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2E3A09BB-75CC-D2E0-56A2-1DA12B61F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D98B9442-0E2E-D654-C778-B85D96923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949" y="345856"/>
            <a:ext cx="1833265" cy="318829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77372C20-9736-171D-DD9F-1E43278730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5" y="4129087"/>
            <a:ext cx="11395074" cy="2122488"/>
          </a:xfrm>
        </p:spPr>
        <p:txBody>
          <a:bodyPr lIns="0" tIns="0" rIns="0" bIns="0" anchor="t" anchorCtr="0">
            <a:noAutofit/>
          </a:bodyPr>
          <a:lstStyle>
            <a:lvl1pPr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 err="1"/>
              <a:t>Kapiteltrenner</a:t>
            </a:r>
            <a:r>
              <a:rPr lang="de-AT" noProof="0"/>
              <a:t> </a:t>
            </a:r>
          </a:p>
        </p:txBody>
      </p:sp>
      <p:sp>
        <p:nvSpPr>
          <p:cNvPr id="5" name="Textplatzhalter 8">
            <a:extLst>
              <a:ext uri="{FF2B5EF4-FFF2-40B4-BE49-F238E27FC236}">
                <a16:creationId xmlns:a16="http://schemas.microsoft.com/office/drawing/2014/main" id="{92026138-5FB3-C71F-B27E-54B00A5C03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6875" y="2006599"/>
            <a:ext cx="4589653" cy="2122488"/>
          </a:xfrm>
        </p:spPr>
        <p:txBody>
          <a:bodyPr anchor="b">
            <a:normAutofit/>
          </a:bodyPr>
          <a:lstStyle>
            <a:lvl1pPr marL="0" indent="0">
              <a:buNone/>
              <a:defRPr sz="8800" b="1"/>
            </a:lvl1pPr>
          </a:lstStyle>
          <a:p>
            <a:pPr lvl="0"/>
            <a:r>
              <a:rPr lang="de-DE"/>
              <a:t>01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410377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5ACBF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extfelder + 2 Bi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bgerundetes Rechteck 1">
            <a:extLst>
              <a:ext uri="{FF2B5EF4-FFF2-40B4-BE49-F238E27FC236}">
                <a16:creationId xmlns:a16="http://schemas.microsoft.com/office/drawing/2014/main" id="{E78E1706-383F-A725-0E64-3F6F03B1A3D7}"/>
              </a:ext>
            </a:extLst>
          </p:cNvPr>
          <p:cNvSpPr/>
          <p:nvPr userDrawn="1"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Abgerundetes Rechteck 9">
            <a:extLst>
              <a:ext uri="{FF2B5EF4-FFF2-40B4-BE49-F238E27FC236}">
                <a16:creationId xmlns:a16="http://schemas.microsoft.com/office/drawing/2014/main" id="{22E6FAB8-50F4-E052-B0AD-BFD8D58639D8}"/>
              </a:ext>
            </a:extLst>
          </p:cNvPr>
          <p:cNvSpPr/>
          <p:nvPr userDrawn="1"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6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E345BF5C-D357-03F9-E50E-2BD30D642DFF}"/>
              </a:ext>
            </a:extLst>
          </p:cNvPr>
          <p:cNvSpPr/>
          <p:nvPr/>
        </p:nvSpPr>
        <p:spPr>
          <a:xfrm>
            <a:off x="6172415" y="1807029"/>
            <a:ext cx="5619629" cy="4444545"/>
          </a:xfrm>
          <a:prstGeom prst="roundRect">
            <a:avLst>
              <a:gd name="adj" fmla="val 2835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Bildplatzhalter 11">
            <a:extLst>
              <a:ext uri="{FF2B5EF4-FFF2-40B4-BE49-F238E27FC236}">
                <a16:creationId xmlns:a16="http://schemas.microsoft.com/office/drawing/2014/main" id="{4C82CB49-68AD-2200-0FB8-C5D90CE3EA8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00237" y="1807029"/>
            <a:ext cx="5619628" cy="2426944"/>
          </a:xfrm>
          <a:prstGeom prst="round2SameRect">
            <a:avLst>
              <a:gd name="adj1" fmla="val 5192"/>
              <a:gd name="adj2" fmla="val 0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9" name="Bildplatzhalter 11">
            <a:extLst>
              <a:ext uri="{FF2B5EF4-FFF2-40B4-BE49-F238E27FC236}">
                <a16:creationId xmlns:a16="http://schemas.microsoft.com/office/drawing/2014/main" id="{AE4E177B-EDFC-EDC5-C99B-0FA3AADA888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72416" y="1807029"/>
            <a:ext cx="5619628" cy="2426944"/>
          </a:xfrm>
          <a:prstGeom prst="round2SameRect">
            <a:avLst>
              <a:gd name="adj1" fmla="val 5192"/>
              <a:gd name="adj2" fmla="val 0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20291B4F-DDF2-A924-A594-09A9070F6BD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27646" y="4450582"/>
            <a:ext cx="4964807" cy="1584383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21" name="Textplatzhalter 13">
            <a:extLst>
              <a:ext uri="{FF2B5EF4-FFF2-40B4-BE49-F238E27FC236}">
                <a16:creationId xmlns:a16="http://schemas.microsoft.com/office/drawing/2014/main" id="{38B95EB0-810A-A601-7714-C80E20B8195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499547" y="4450582"/>
            <a:ext cx="4964807" cy="1584383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D7D42D3D-EB30-968B-FE8A-5715497F0F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39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5ACBF0"/>
          </p15:clr>
        </p15:guide>
        <p15:guide id="2" orient="horz" pos="3929">
          <p15:clr>
            <a:srgbClr val="5ACBF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Textfelder + 3 Bi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bgerundetes Rechteck 1">
            <a:extLst>
              <a:ext uri="{FF2B5EF4-FFF2-40B4-BE49-F238E27FC236}">
                <a16:creationId xmlns:a16="http://schemas.microsoft.com/office/drawing/2014/main" id="{6644876E-C681-7243-8137-D3B5887226CE}"/>
              </a:ext>
            </a:extLst>
          </p:cNvPr>
          <p:cNvSpPr/>
          <p:nvPr userDrawn="1"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Abgerundetes Rechteck 38">
            <a:extLst>
              <a:ext uri="{FF2B5EF4-FFF2-40B4-BE49-F238E27FC236}">
                <a16:creationId xmlns:a16="http://schemas.microsoft.com/office/drawing/2014/main" id="{C64415E9-1A6C-13F1-F1F9-0E5D901B6267}"/>
              </a:ext>
            </a:extLst>
          </p:cNvPr>
          <p:cNvSpPr/>
          <p:nvPr userDrawn="1"/>
        </p:nvSpPr>
        <p:spPr>
          <a:xfrm>
            <a:off x="4248246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Abgerundetes Rechteck 39">
            <a:extLst>
              <a:ext uri="{FF2B5EF4-FFF2-40B4-BE49-F238E27FC236}">
                <a16:creationId xmlns:a16="http://schemas.microsoft.com/office/drawing/2014/main" id="{9F4FB90B-0402-67D1-352E-FB234D20914B}"/>
              </a:ext>
            </a:extLst>
          </p:cNvPr>
          <p:cNvSpPr/>
          <p:nvPr userDrawn="1"/>
        </p:nvSpPr>
        <p:spPr>
          <a:xfrm>
            <a:off x="8096254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97A1B4E-3E73-4DCE-55A6-3D7929339111}"/>
              </a:ext>
            </a:extLst>
          </p:cNvPr>
          <p:cNvSpPr/>
          <p:nvPr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39" name="Abgerundetes Rechteck 38">
            <a:extLst>
              <a:ext uri="{FF2B5EF4-FFF2-40B4-BE49-F238E27FC236}">
                <a16:creationId xmlns:a16="http://schemas.microsoft.com/office/drawing/2014/main" id="{81578355-0D9B-64FA-E4CE-98AD72ED456C}"/>
              </a:ext>
            </a:extLst>
          </p:cNvPr>
          <p:cNvSpPr/>
          <p:nvPr/>
        </p:nvSpPr>
        <p:spPr>
          <a:xfrm>
            <a:off x="4248246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0" name="Abgerundetes Rechteck 39">
            <a:extLst>
              <a:ext uri="{FF2B5EF4-FFF2-40B4-BE49-F238E27FC236}">
                <a16:creationId xmlns:a16="http://schemas.microsoft.com/office/drawing/2014/main" id="{7A244AA8-1DFA-A55B-5B2F-10E5D6A09F96}"/>
              </a:ext>
            </a:extLst>
          </p:cNvPr>
          <p:cNvSpPr/>
          <p:nvPr/>
        </p:nvSpPr>
        <p:spPr>
          <a:xfrm>
            <a:off x="8096254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37CD29BA-F68A-92AD-BD41-DFDA8DCE1DE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00237" y="1807029"/>
            <a:ext cx="3695790" cy="2426944"/>
          </a:xfrm>
          <a:prstGeom prst="round2SameRect">
            <a:avLst>
              <a:gd name="adj1" fmla="val 5192"/>
              <a:gd name="adj2" fmla="val 0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3" name="Bildplatzhalter 11">
            <a:extLst>
              <a:ext uri="{FF2B5EF4-FFF2-40B4-BE49-F238E27FC236}">
                <a16:creationId xmlns:a16="http://schemas.microsoft.com/office/drawing/2014/main" id="{1F2A302D-1F1F-7DC5-3059-BAF9884FE0C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48246" y="1807029"/>
            <a:ext cx="3695790" cy="2426944"/>
          </a:xfrm>
          <a:prstGeom prst="round2SameRect">
            <a:avLst>
              <a:gd name="adj1" fmla="val 5192"/>
              <a:gd name="adj2" fmla="val 0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4" name="Bildplatzhalter 11">
            <a:extLst>
              <a:ext uri="{FF2B5EF4-FFF2-40B4-BE49-F238E27FC236}">
                <a16:creationId xmlns:a16="http://schemas.microsoft.com/office/drawing/2014/main" id="{40A2F63F-9F24-7D26-2B17-9F81BF507B2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96254" y="1807029"/>
            <a:ext cx="3695790" cy="2426944"/>
          </a:xfrm>
          <a:prstGeom prst="round2SameRect">
            <a:avLst>
              <a:gd name="adj1" fmla="val 5192"/>
              <a:gd name="adj2" fmla="val 0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21" name="Textplatzhalter 13">
            <a:extLst>
              <a:ext uri="{FF2B5EF4-FFF2-40B4-BE49-F238E27FC236}">
                <a16:creationId xmlns:a16="http://schemas.microsoft.com/office/drawing/2014/main" id="{967E97A0-A3C1-5268-D757-86DBAE5A553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27647" y="4450582"/>
            <a:ext cx="3040970" cy="1584383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825BB11A-4771-5B05-D606-B1F73A63A23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75656" y="4450582"/>
            <a:ext cx="3040970" cy="1584383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34310FC9-2589-2EC2-47AE-E03B9DA2716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23664" y="4450582"/>
            <a:ext cx="3040970" cy="1584383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51D07FF-0C4E-9322-E813-5108801CD0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4926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5ACBF0"/>
          </p15:clr>
        </p15:guide>
        <p15:guide id="2" orient="horz" pos="3929">
          <p15:clr>
            <a:srgbClr val="5ACBF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er +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11">
            <a:extLst>
              <a:ext uri="{FF2B5EF4-FFF2-40B4-BE49-F238E27FC236}">
                <a16:creationId xmlns:a16="http://schemas.microsoft.com/office/drawing/2014/main" id="{0101A8E4-493A-EB04-B828-7892BBA3574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00237" y="1807029"/>
            <a:ext cx="3695790" cy="3842082"/>
          </a:xfrm>
          <a:prstGeom prst="roundRect">
            <a:avLst>
              <a:gd name="adj" fmla="val 3409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9" name="Bildplatzhalter 11">
            <a:extLst>
              <a:ext uri="{FF2B5EF4-FFF2-40B4-BE49-F238E27FC236}">
                <a16:creationId xmlns:a16="http://schemas.microsoft.com/office/drawing/2014/main" id="{7D035DF2-8C12-690C-F7FD-815D4211E24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48246" y="1807029"/>
            <a:ext cx="3695790" cy="3842082"/>
          </a:xfrm>
          <a:prstGeom prst="roundRect">
            <a:avLst>
              <a:gd name="adj" fmla="val 3409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20" name="Bildplatzhalter 11">
            <a:extLst>
              <a:ext uri="{FF2B5EF4-FFF2-40B4-BE49-F238E27FC236}">
                <a16:creationId xmlns:a16="http://schemas.microsoft.com/office/drawing/2014/main" id="{8DF0FE01-9432-3C6D-58D6-62E40F0B663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96254" y="1807029"/>
            <a:ext cx="3695790" cy="3842082"/>
          </a:xfrm>
          <a:prstGeom prst="roundRect">
            <a:avLst>
              <a:gd name="adj" fmla="val 3409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4" name="Textplatzhalter 13">
            <a:extLst>
              <a:ext uri="{FF2B5EF4-FFF2-40B4-BE49-F238E27FC236}">
                <a16:creationId xmlns:a16="http://schemas.microsoft.com/office/drawing/2014/main" id="{11061068-E2E2-CCFE-9303-E4481171223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00236" y="5755341"/>
            <a:ext cx="3695789" cy="4819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5" name="Textplatzhalter 13">
            <a:extLst>
              <a:ext uri="{FF2B5EF4-FFF2-40B4-BE49-F238E27FC236}">
                <a16:creationId xmlns:a16="http://schemas.microsoft.com/office/drawing/2014/main" id="{8865DB95-B2E2-0BB2-C866-4F93C88E868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48246" y="5755341"/>
            <a:ext cx="3695789" cy="4819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499B011D-469B-50F2-279B-B8E65892BE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096254" y="5755341"/>
            <a:ext cx="3695789" cy="4819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7E2FBA2-1476-1BED-06EB-D64FD0EC26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2895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5ACBF0"/>
          </p15:clr>
        </p15:guide>
        <p15:guide id="2" orient="horz" pos="3557">
          <p15:clr>
            <a:srgbClr val="5ACBF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links + 2 Textfelder + Ioc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bgerundetes Rechteck 24">
            <a:extLst>
              <a:ext uri="{FF2B5EF4-FFF2-40B4-BE49-F238E27FC236}">
                <a16:creationId xmlns:a16="http://schemas.microsoft.com/office/drawing/2014/main" id="{405DFA7C-FBBB-061D-BD10-2FB5A1DD93E8}"/>
              </a:ext>
            </a:extLst>
          </p:cNvPr>
          <p:cNvSpPr/>
          <p:nvPr userDrawn="1"/>
        </p:nvSpPr>
        <p:spPr>
          <a:xfrm>
            <a:off x="4248105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Abgerundetes Rechteck 28">
            <a:extLst>
              <a:ext uri="{FF2B5EF4-FFF2-40B4-BE49-F238E27FC236}">
                <a16:creationId xmlns:a16="http://schemas.microsoft.com/office/drawing/2014/main" id="{2E68E341-DEA0-F363-9269-6EECD8A57AAA}"/>
              </a:ext>
            </a:extLst>
          </p:cNvPr>
          <p:cNvSpPr/>
          <p:nvPr userDrawn="1"/>
        </p:nvSpPr>
        <p:spPr>
          <a:xfrm>
            <a:off x="8095973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7F52C770-A832-547B-85F7-F5D15330C40E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0" y="0"/>
            <a:ext cx="390705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44744" y="917607"/>
            <a:ext cx="7547019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5" name="Abgerundetes Rechteck 24">
            <a:extLst>
              <a:ext uri="{FF2B5EF4-FFF2-40B4-BE49-F238E27FC236}">
                <a16:creationId xmlns:a16="http://schemas.microsoft.com/office/drawing/2014/main" id="{A8DCE9C4-A0F9-6AF2-2DFE-C335CFCA5F9E}"/>
              </a:ext>
            </a:extLst>
          </p:cNvPr>
          <p:cNvSpPr/>
          <p:nvPr/>
        </p:nvSpPr>
        <p:spPr>
          <a:xfrm>
            <a:off x="4248105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Inhaltsplatzhalter 10">
            <a:extLst>
              <a:ext uri="{FF2B5EF4-FFF2-40B4-BE49-F238E27FC236}">
                <a16:creationId xmlns:a16="http://schemas.microsoft.com/office/drawing/2014/main" id="{A7E72EE2-41F1-C02C-4D47-8BD627E92F4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575514" y="2828925"/>
            <a:ext cx="3040972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27" name="Bildplatzhalter 37">
            <a:extLst>
              <a:ext uri="{FF2B5EF4-FFF2-40B4-BE49-F238E27FC236}">
                <a16:creationId xmlns:a16="http://schemas.microsoft.com/office/drawing/2014/main" id="{3B0D7E67-26C6-E81A-DD57-AF75B397F6A5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575514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3391B775-E400-8AFC-317F-9980169234A8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379883" y="2080194"/>
            <a:ext cx="2236604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29" name="Abgerundetes Rechteck 28">
            <a:extLst>
              <a:ext uri="{FF2B5EF4-FFF2-40B4-BE49-F238E27FC236}">
                <a16:creationId xmlns:a16="http://schemas.microsoft.com/office/drawing/2014/main" id="{DCA12221-82B9-A319-A180-89159BD24254}"/>
              </a:ext>
            </a:extLst>
          </p:cNvPr>
          <p:cNvSpPr/>
          <p:nvPr/>
        </p:nvSpPr>
        <p:spPr>
          <a:xfrm>
            <a:off x="8095973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0" name="Inhaltsplatzhalter 10">
            <a:extLst>
              <a:ext uri="{FF2B5EF4-FFF2-40B4-BE49-F238E27FC236}">
                <a16:creationId xmlns:a16="http://schemas.microsoft.com/office/drawing/2014/main" id="{138AD535-C258-13A0-958F-100D86D0B8BC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8423382" y="2828925"/>
            <a:ext cx="3040972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31" name="Bildplatzhalter 37">
            <a:extLst>
              <a:ext uri="{FF2B5EF4-FFF2-40B4-BE49-F238E27FC236}">
                <a16:creationId xmlns:a16="http://schemas.microsoft.com/office/drawing/2014/main" id="{22A1288A-05B3-CD2E-C3F8-A47DC18B57A0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8423382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32" name="Textplatzhalter 2">
            <a:extLst>
              <a:ext uri="{FF2B5EF4-FFF2-40B4-BE49-F238E27FC236}">
                <a16:creationId xmlns:a16="http://schemas.microsoft.com/office/drawing/2014/main" id="{7D36DE86-B6E6-CA6F-6258-75627E3CCC04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227751" y="2080194"/>
            <a:ext cx="2236604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D294433-6B91-EDA6-EBC9-352805F49A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4336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extfelder + Bild + Ioc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bgerundetes Rechteck 24">
            <a:extLst>
              <a:ext uri="{FF2B5EF4-FFF2-40B4-BE49-F238E27FC236}">
                <a16:creationId xmlns:a16="http://schemas.microsoft.com/office/drawing/2014/main" id="{627108B2-D8AE-37EC-6399-94EABDF3180B}"/>
              </a:ext>
            </a:extLst>
          </p:cNvPr>
          <p:cNvSpPr/>
          <p:nvPr userDrawn="1"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Abgerundetes Rechteck 28">
            <a:extLst>
              <a:ext uri="{FF2B5EF4-FFF2-40B4-BE49-F238E27FC236}">
                <a16:creationId xmlns:a16="http://schemas.microsoft.com/office/drawing/2014/main" id="{8825AD30-7235-4828-5268-82EEA45EA82F}"/>
              </a:ext>
            </a:extLst>
          </p:cNvPr>
          <p:cNvSpPr/>
          <p:nvPr userDrawn="1"/>
        </p:nvSpPr>
        <p:spPr>
          <a:xfrm>
            <a:off x="4248105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7F52C770-A832-547B-85F7-F5D15330C40E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8284949" y="0"/>
            <a:ext cx="390705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7547019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5" name="Abgerundetes Rechteck 24">
            <a:extLst>
              <a:ext uri="{FF2B5EF4-FFF2-40B4-BE49-F238E27FC236}">
                <a16:creationId xmlns:a16="http://schemas.microsoft.com/office/drawing/2014/main" id="{A8DCE9C4-A0F9-6AF2-2DFE-C335CFCA5F9E}"/>
              </a:ext>
            </a:extLst>
          </p:cNvPr>
          <p:cNvSpPr/>
          <p:nvPr/>
        </p:nvSpPr>
        <p:spPr>
          <a:xfrm>
            <a:off x="400237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Inhaltsplatzhalter 10">
            <a:extLst>
              <a:ext uri="{FF2B5EF4-FFF2-40B4-BE49-F238E27FC236}">
                <a16:creationId xmlns:a16="http://schemas.microsoft.com/office/drawing/2014/main" id="{A7E72EE2-41F1-C02C-4D47-8BD627E92F4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27646" y="2828925"/>
            <a:ext cx="3040972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27" name="Bildplatzhalter 37">
            <a:extLst>
              <a:ext uri="{FF2B5EF4-FFF2-40B4-BE49-F238E27FC236}">
                <a16:creationId xmlns:a16="http://schemas.microsoft.com/office/drawing/2014/main" id="{3B0D7E67-26C6-E81A-DD57-AF75B397F6A5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727646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3391B775-E400-8AFC-317F-9980169234A8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532015" y="2080194"/>
            <a:ext cx="2236604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sp>
        <p:nvSpPr>
          <p:cNvPr id="29" name="Abgerundetes Rechteck 28">
            <a:extLst>
              <a:ext uri="{FF2B5EF4-FFF2-40B4-BE49-F238E27FC236}">
                <a16:creationId xmlns:a16="http://schemas.microsoft.com/office/drawing/2014/main" id="{DCA12221-82B9-A319-A180-89159BD24254}"/>
              </a:ext>
            </a:extLst>
          </p:cNvPr>
          <p:cNvSpPr/>
          <p:nvPr/>
        </p:nvSpPr>
        <p:spPr>
          <a:xfrm>
            <a:off x="4248105" y="1807029"/>
            <a:ext cx="3695790" cy="4444545"/>
          </a:xfrm>
          <a:prstGeom prst="roundRect">
            <a:avLst>
              <a:gd name="adj" fmla="val 3409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0" name="Inhaltsplatzhalter 10">
            <a:extLst>
              <a:ext uri="{FF2B5EF4-FFF2-40B4-BE49-F238E27FC236}">
                <a16:creationId xmlns:a16="http://schemas.microsoft.com/office/drawing/2014/main" id="{138AD535-C258-13A0-958F-100D86D0B8BC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4575514" y="2828925"/>
            <a:ext cx="3040972" cy="323099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31" name="Bildplatzhalter 37">
            <a:extLst>
              <a:ext uri="{FF2B5EF4-FFF2-40B4-BE49-F238E27FC236}">
                <a16:creationId xmlns:a16="http://schemas.microsoft.com/office/drawing/2014/main" id="{22A1288A-05B3-CD2E-C3F8-A47DC18B57A0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4575514" y="2080194"/>
            <a:ext cx="652290" cy="652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32" name="Textplatzhalter 2">
            <a:extLst>
              <a:ext uri="{FF2B5EF4-FFF2-40B4-BE49-F238E27FC236}">
                <a16:creationId xmlns:a16="http://schemas.microsoft.com/office/drawing/2014/main" id="{7D36DE86-B6E6-CA6F-6258-75627E3CCC04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379883" y="2080194"/>
            <a:ext cx="2236604" cy="65229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Headline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7799AD9-03CE-6DC5-5569-0D031F8925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0513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5ACBF0"/>
          </p15:clr>
        </p15:guide>
        <p15:guide id="2" orient="horz" pos="3929">
          <p15:clr>
            <a:srgbClr val="5ACBF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Textfelder + Bild +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bgerundetes Rechteck 1">
            <a:extLst>
              <a:ext uri="{FF2B5EF4-FFF2-40B4-BE49-F238E27FC236}">
                <a16:creationId xmlns:a16="http://schemas.microsoft.com/office/drawing/2014/main" id="{09D41656-10CF-60A1-9DEE-E1CA24F67108}"/>
              </a:ext>
            </a:extLst>
          </p:cNvPr>
          <p:cNvSpPr/>
          <p:nvPr userDrawn="1"/>
        </p:nvSpPr>
        <p:spPr>
          <a:xfrm>
            <a:off x="400237" y="1807029"/>
            <a:ext cx="7547019" cy="1372011"/>
          </a:xfrm>
          <a:prstGeom prst="roundRect">
            <a:avLst>
              <a:gd name="adj" fmla="val 9184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Abgerundetes Rechteck 7">
            <a:extLst>
              <a:ext uri="{FF2B5EF4-FFF2-40B4-BE49-F238E27FC236}">
                <a16:creationId xmlns:a16="http://schemas.microsoft.com/office/drawing/2014/main" id="{B06085FD-8F67-CF61-A67A-DDA9206AD3BB}"/>
              </a:ext>
            </a:extLst>
          </p:cNvPr>
          <p:cNvSpPr/>
          <p:nvPr userDrawn="1"/>
        </p:nvSpPr>
        <p:spPr>
          <a:xfrm>
            <a:off x="400237" y="3343296"/>
            <a:ext cx="7547019" cy="1372011"/>
          </a:xfrm>
          <a:prstGeom prst="roundRect">
            <a:avLst>
              <a:gd name="adj" fmla="val 9184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Abgerundetes Rechteck 8">
            <a:extLst>
              <a:ext uri="{FF2B5EF4-FFF2-40B4-BE49-F238E27FC236}">
                <a16:creationId xmlns:a16="http://schemas.microsoft.com/office/drawing/2014/main" id="{F7067E1E-0707-B34E-0EBA-7E9249C096EA}"/>
              </a:ext>
            </a:extLst>
          </p:cNvPr>
          <p:cNvSpPr/>
          <p:nvPr userDrawn="1"/>
        </p:nvSpPr>
        <p:spPr>
          <a:xfrm>
            <a:off x="400237" y="4879563"/>
            <a:ext cx="7547019" cy="1372011"/>
          </a:xfrm>
          <a:prstGeom prst="roundRect">
            <a:avLst>
              <a:gd name="adj" fmla="val 9184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7F52C770-A832-547B-85F7-F5D15330C40E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8284949" y="0"/>
            <a:ext cx="390705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F2610184-0BC7-AD7C-C5BB-0CAD2A1EC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7547019" cy="739599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F1F4F835-CCC6-75BB-0800-ADF5B2C12DDA}"/>
              </a:ext>
            </a:extLst>
          </p:cNvPr>
          <p:cNvSpPr/>
          <p:nvPr/>
        </p:nvSpPr>
        <p:spPr>
          <a:xfrm>
            <a:off x="400237" y="1807029"/>
            <a:ext cx="7547019" cy="1372011"/>
          </a:xfrm>
          <a:prstGeom prst="roundRect">
            <a:avLst>
              <a:gd name="adj" fmla="val 9184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3170CBA5-B1A4-1471-482D-24736E857C5E}"/>
              </a:ext>
            </a:extLst>
          </p:cNvPr>
          <p:cNvSpPr/>
          <p:nvPr/>
        </p:nvSpPr>
        <p:spPr>
          <a:xfrm>
            <a:off x="400237" y="3343296"/>
            <a:ext cx="7547019" cy="1372011"/>
          </a:xfrm>
          <a:prstGeom prst="roundRect">
            <a:avLst>
              <a:gd name="adj" fmla="val 9184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5B433EA3-711E-1367-8128-D7A1167FD1BE}"/>
              </a:ext>
            </a:extLst>
          </p:cNvPr>
          <p:cNvSpPr/>
          <p:nvPr/>
        </p:nvSpPr>
        <p:spPr>
          <a:xfrm>
            <a:off x="400237" y="4879563"/>
            <a:ext cx="7547019" cy="1372011"/>
          </a:xfrm>
          <a:prstGeom prst="roundRect">
            <a:avLst>
              <a:gd name="adj" fmla="val 9184"/>
            </a:avLst>
          </a:prstGeom>
          <a:solidFill>
            <a:srgbClr val="E8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Bildplatzhalter 37">
            <a:extLst>
              <a:ext uri="{FF2B5EF4-FFF2-40B4-BE49-F238E27FC236}">
                <a16:creationId xmlns:a16="http://schemas.microsoft.com/office/drawing/2014/main" id="{24BED9C3-557D-8125-0E35-43AB7CB40CA4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708861" y="2105391"/>
            <a:ext cx="775287" cy="7752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664DD5FF-F58C-4A91-AFF6-4B36F6CBE82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762681" y="1995462"/>
            <a:ext cx="5864753" cy="995144"/>
          </a:xfrm>
        </p:spPr>
        <p:txBody>
          <a:bodyPr anchor="ctr">
            <a:noAutofit/>
          </a:bodyPr>
          <a:lstStyle>
            <a:lvl1pPr>
              <a:spcBef>
                <a:spcPts val="5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21" name="Bildplatzhalter 37">
            <a:extLst>
              <a:ext uri="{FF2B5EF4-FFF2-40B4-BE49-F238E27FC236}">
                <a16:creationId xmlns:a16="http://schemas.microsoft.com/office/drawing/2014/main" id="{E5F046E6-1D9F-0002-527E-46963A2C15A2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708861" y="3641658"/>
            <a:ext cx="775287" cy="7752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8EE0AEC5-42A0-D663-DE18-7EFDE8D1463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762681" y="3531729"/>
            <a:ext cx="5864753" cy="995144"/>
          </a:xfrm>
        </p:spPr>
        <p:txBody>
          <a:bodyPr anchor="ctr">
            <a:noAutofit/>
          </a:bodyPr>
          <a:lstStyle>
            <a:lvl1pPr>
              <a:spcBef>
                <a:spcPts val="5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23" name="Bildplatzhalter 37">
            <a:extLst>
              <a:ext uri="{FF2B5EF4-FFF2-40B4-BE49-F238E27FC236}">
                <a16:creationId xmlns:a16="http://schemas.microsoft.com/office/drawing/2014/main" id="{5A1767A6-4063-6055-3C7B-F8EE7B33DF1D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708861" y="5177925"/>
            <a:ext cx="775287" cy="7752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4" name="Textplatzhalter 13">
            <a:extLst>
              <a:ext uri="{FF2B5EF4-FFF2-40B4-BE49-F238E27FC236}">
                <a16:creationId xmlns:a16="http://schemas.microsoft.com/office/drawing/2014/main" id="{A45A38EA-99F1-AAB7-5661-0A68F00D12D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762681" y="5067996"/>
            <a:ext cx="5864753" cy="995144"/>
          </a:xfrm>
        </p:spPr>
        <p:txBody>
          <a:bodyPr anchor="ctr">
            <a:noAutofit/>
          </a:bodyPr>
          <a:lstStyle>
            <a:lvl1pPr>
              <a:spcBef>
                <a:spcPts val="5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81E123F-34A2-98BA-285F-10F0CEC71A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8862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5ACBF0"/>
          </p15:clr>
        </p15:guide>
        <p15:guide id="2" orient="horz" pos="3929">
          <p15:clr>
            <a:srgbClr val="5ACBF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links + Bild rechts weiß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112348" y="0"/>
            <a:ext cx="6079651" cy="6858000"/>
          </a:xfrm>
          <a:prstGeom prst="rect">
            <a:avLst/>
          </a:prstGeom>
          <a:solidFill>
            <a:srgbClr val="00264C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06207" y="271305"/>
            <a:ext cx="5485744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1" y="6556875"/>
            <a:ext cx="5001942" cy="219454"/>
          </a:xfrm>
        </p:spPr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A52981-3CA4-4342-A3CD-6DEDCD14014C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21" name="Textplatzhalter 13">
            <a:extLst>
              <a:ext uri="{FF2B5EF4-FFF2-40B4-BE49-F238E27FC236}">
                <a16:creationId xmlns:a16="http://schemas.microsoft.com/office/drawing/2014/main" id="{BBCE250A-42D7-D901-3D53-EF1E025A44A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814" y="1016000"/>
            <a:ext cx="5312063" cy="4903997"/>
          </a:xfrm>
        </p:spPr>
        <p:txBody>
          <a:bodyPr anchor="b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4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1B8BC4F8-94E9-E1DB-8010-0206E6E4ACC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79887" y="1016000"/>
            <a:ext cx="5312063" cy="4903996"/>
          </a:xfrm>
        </p:spPr>
        <p:txBody>
          <a:bodyPr anchor="t">
            <a:no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DB6B9047-342F-6978-B394-95E4C69954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6521EA8-9CD2-4F47-6795-06720F006A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022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25">
          <p15:clr>
            <a:srgbClr val="5ACBF0"/>
          </p15:clr>
        </p15:guide>
        <p15:guide id="2" orient="horz" pos="640">
          <p15:clr>
            <a:srgbClr val="5ACBF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links + größeres Bild rechts weiß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208926" y="0"/>
            <a:ext cx="7983073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47822" y="271305"/>
            <a:ext cx="7344129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1" y="6556875"/>
            <a:ext cx="5001942" cy="219454"/>
          </a:xfrm>
        </p:spPr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80B668F0-0E9A-9BC2-B2E5-64DCC33D3D0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814" y="1803183"/>
            <a:ext cx="3616923" cy="1575816"/>
          </a:xfrm>
        </p:spPr>
        <p:txBody>
          <a:bodyPr anchor="t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4400" b="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9339C54E-BA73-A7D4-A8D7-1302B3DD8FA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2814" y="3623733"/>
            <a:ext cx="3616923" cy="2627842"/>
          </a:xfrm>
        </p:spPr>
        <p:txBody>
          <a:bodyPr anchor="t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85832F44-47F9-AD2B-8755-E4E356EEB7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0620F9D-22EB-6472-4969-1FCF9F59D8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7950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130">
          <p15:clr>
            <a:srgbClr val="5ACBF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akt + Bil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7">
            <a:extLst>
              <a:ext uri="{FF2B5EF4-FFF2-40B4-BE49-F238E27FC236}">
                <a16:creationId xmlns:a16="http://schemas.microsoft.com/office/drawing/2014/main" id="{ABDEA554-A244-44D1-6DD9-01C495D9ADB4}"/>
              </a:ext>
            </a:extLst>
          </p:cNvPr>
          <p:cNvSpPr/>
          <p:nvPr userDrawn="1"/>
        </p:nvSpPr>
        <p:spPr>
          <a:xfrm rot="5400000">
            <a:off x="6172495" y="636102"/>
            <a:ext cx="5111433" cy="6127477"/>
          </a:xfrm>
          <a:prstGeom prst="roundRect">
            <a:avLst>
              <a:gd name="adj" fmla="val 246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AT" sz="1600" noProof="0">
              <a:solidFill>
                <a:schemeClr val="tx1"/>
              </a:solidFill>
            </a:endParaRP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943135DE-F78E-E765-838A-2D41D7750E73}"/>
              </a:ext>
            </a:extLst>
          </p:cNvPr>
          <p:cNvSpPr/>
          <p:nvPr/>
        </p:nvSpPr>
        <p:spPr>
          <a:xfrm rot="5400000">
            <a:off x="6172495" y="636102"/>
            <a:ext cx="5111433" cy="6127477"/>
          </a:xfrm>
          <a:prstGeom prst="roundRect">
            <a:avLst>
              <a:gd name="adj" fmla="val 246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AT" sz="1600" noProof="0">
              <a:solidFill>
                <a:schemeClr val="tx1"/>
              </a:solidFill>
            </a:endParaRPr>
          </a:p>
        </p:txBody>
      </p:sp>
      <p:sp>
        <p:nvSpPr>
          <p:cNvPr id="21" name="Bildplatzhalter 11">
            <a:extLst>
              <a:ext uri="{FF2B5EF4-FFF2-40B4-BE49-F238E27FC236}">
                <a16:creationId xmlns:a16="http://schemas.microsoft.com/office/drawing/2014/main" id="{F873340C-4428-165F-267C-95EA043A370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00237" y="1144122"/>
            <a:ext cx="5040000" cy="5111435"/>
          </a:xfrm>
          <a:prstGeom prst="roundRect">
            <a:avLst>
              <a:gd name="adj" fmla="val 2500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1F612B08-E42D-B220-1926-340BE3E1BA6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62274" y="2084020"/>
            <a:ext cx="5174177" cy="4798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Vorname Nachname 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F63E9F8F-F968-42A9-A62E-B20CA465243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62274" y="2760009"/>
            <a:ext cx="5174177" cy="283832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Jobtitel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708C64AE-DA27-D725-08A7-8BDB69BA0DB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739509" y="3857275"/>
            <a:ext cx="4696941" cy="21544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Tel.</a:t>
            </a:r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2E2D0F95-759C-319D-0E66-4E35C78A4B40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739508" y="4546604"/>
            <a:ext cx="4696941" cy="21544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 err="1"/>
              <a:t>E-mail</a:t>
            </a:r>
            <a:endParaRPr lang="de-AT" noProof="0"/>
          </a:p>
        </p:txBody>
      </p: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52B0BC37-B1CC-FA22-308B-27A86EC4DCD9}"/>
              </a:ext>
            </a:extLst>
          </p:cNvPr>
          <p:cNvGrpSpPr/>
          <p:nvPr/>
        </p:nvGrpSpPr>
        <p:grpSpPr>
          <a:xfrm>
            <a:off x="6262274" y="3760316"/>
            <a:ext cx="409366" cy="409362"/>
            <a:chOff x="6262274" y="3760316"/>
            <a:chExt cx="409366" cy="409362"/>
          </a:xfrm>
        </p:grpSpPr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DE612D37-5472-AE31-14A3-530564E7E45F}"/>
                </a:ext>
              </a:extLst>
            </p:cNvPr>
            <p:cNvGrpSpPr/>
            <p:nvPr/>
          </p:nvGrpSpPr>
          <p:grpSpPr>
            <a:xfrm>
              <a:off x="6262274" y="3760316"/>
              <a:ext cx="409366" cy="409362"/>
              <a:chOff x="359996" y="1873714"/>
              <a:chExt cx="823904" cy="823901"/>
            </a:xfrm>
          </p:grpSpPr>
          <p:grpSp>
            <p:nvGrpSpPr>
              <p:cNvPr id="28" name="Gruppieren 27">
                <a:extLst>
                  <a:ext uri="{FF2B5EF4-FFF2-40B4-BE49-F238E27FC236}">
                    <a16:creationId xmlns:a16="http://schemas.microsoft.com/office/drawing/2014/main" id="{1194436C-E652-915C-555F-3197BC9B1B09}"/>
                  </a:ext>
                </a:extLst>
              </p:cNvPr>
              <p:cNvGrpSpPr/>
              <p:nvPr/>
            </p:nvGrpSpPr>
            <p:grpSpPr>
              <a:xfrm>
                <a:off x="359996" y="1873714"/>
                <a:ext cx="823904" cy="823901"/>
                <a:chOff x="674553" y="1932932"/>
                <a:chExt cx="883824" cy="883822"/>
              </a:xfrm>
            </p:grpSpPr>
            <p:sp>
              <p:nvSpPr>
                <p:cNvPr id="30" name="Oval 307">
                  <a:extLst>
                    <a:ext uri="{FF2B5EF4-FFF2-40B4-BE49-F238E27FC236}">
                      <a16:creationId xmlns:a16="http://schemas.microsoft.com/office/drawing/2014/main" id="{108DE4FF-B9F6-FBE1-BD8D-978DE3CE6E5B}"/>
                    </a:ext>
                  </a:extLst>
                </p:cNvPr>
                <p:cNvSpPr/>
                <p:nvPr/>
              </p:nvSpPr>
              <p:spPr>
                <a:xfrm>
                  <a:off x="674553" y="1932932"/>
                  <a:ext cx="883824" cy="883822"/>
                </a:xfrm>
                <a:prstGeom prst="ellipse">
                  <a:avLst/>
                </a:prstGeom>
                <a:solidFill>
                  <a:srgbClr val="D3DBF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AT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1" name="Oval 308">
                  <a:extLst>
                    <a:ext uri="{FF2B5EF4-FFF2-40B4-BE49-F238E27FC236}">
                      <a16:creationId xmlns:a16="http://schemas.microsoft.com/office/drawing/2014/main" id="{A3CE7C68-BE18-6B30-B780-F0406315C12F}"/>
                    </a:ext>
                  </a:extLst>
                </p:cNvPr>
                <p:cNvSpPr/>
                <p:nvPr/>
              </p:nvSpPr>
              <p:spPr>
                <a:xfrm>
                  <a:off x="746571" y="2004948"/>
                  <a:ext cx="739792" cy="739790"/>
                </a:xfrm>
                <a:prstGeom prst="ellipse">
                  <a:avLst/>
                </a:prstGeom>
                <a:solidFill>
                  <a:srgbClr val="005CA9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AT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pic>
            <p:nvPicPr>
              <p:cNvPr id="29" name="Grafik 28">
                <a:extLst>
                  <a:ext uri="{FF2B5EF4-FFF2-40B4-BE49-F238E27FC236}">
                    <a16:creationId xmlns:a16="http://schemas.microsoft.com/office/drawing/2014/main" id="{13FD49ED-65C6-37AF-8081-EE8F47EA12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563402" y="2077117"/>
                <a:ext cx="417093" cy="417094"/>
              </a:xfrm>
              <a:prstGeom prst="rect">
                <a:avLst/>
              </a:prstGeom>
            </p:spPr>
          </p:pic>
        </p:grpSp>
        <p:pic>
          <p:nvPicPr>
            <p:cNvPr id="40" name="Grafik 39">
              <a:extLst>
                <a:ext uri="{FF2B5EF4-FFF2-40B4-BE49-F238E27FC236}">
                  <a16:creationId xmlns:a16="http://schemas.microsoft.com/office/drawing/2014/main" id="{24C3C635-6129-23AD-04D0-73F764DD41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384631" y="3882671"/>
              <a:ext cx="164652" cy="164652"/>
            </a:xfrm>
            <a:prstGeom prst="rect">
              <a:avLst/>
            </a:prstGeom>
          </p:spPr>
        </p:pic>
      </p:grpSp>
      <p:pic>
        <p:nvPicPr>
          <p:cNvPr id="9" name="Grafik 8">
            <a:extLst>
              <a:ext uri="{FF2B5EF4-FFF2-40B4-BE49-F238E27FC236}">
                <a16:creationId xmlns:a16="http://schemas.microsoft.com/office/drawing/2014/main" id="{C8F3C885-F6F3-E4A2-03E2-05FBB5D00D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4A37E2A5-0D65-3787-EABF-3209D1208608}"/>
              </a:ext>
            </a:extLst>
          </p:cNvPr>
          <p:cNvGrpSpPr/>
          <p:nvPr userDrawn="1"/>
        </p:nvGrpSpPr>
        <p:grpSpPr>
          <a:xfrm>
            <a:off x="6262274" y="3760316"/>
            <a:ext cx="409366" cy="409362"/>
            <a:chOff x="6262274" y="3760316"/>
            <a:chExt cx="409366" cy="409362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5E8C0858-E759-8499-188A-8690653D0D33}"/>
                </a:ext>
              </a:extLst>
            </p:cNvPr>
            <p:cNvGrpSpPr/>
            <p:nvPr userDrawn="1"/>
          </p:nvGrpSpPr>
          <p:grpSpPr>
            <a:xfrm>
              <a:off x="6262274" y="3760316"/>
              <a:ext cx="409366" cy="409362"/>
              <a:chOff x="359996" y="1873714"/>
              <a:chExt cx="823904" cy="823901"/>
            </a:xfrm>
          </p:grpSpPr>
          <p:grpSp>
            <p:nvGrpSpPr>
              <p:cNvPr id="25" name="Gruppieren 24">
                <a:extLst>
                  <a:ext uri="{FF2B5EF4-FFF2-40B4-BE49-F238E27FC236}">
                    <a16:creationId xmlns:a16="http://schemas.microsoft.com/office/drawing/2014/main" id="{BFAD3FC3-CAA5-6F29-A9CF-F0382101C9A7}"/>
                  </a:ext>
                </a:extLst>
              </p:cNvPr>
              <p:cNvGrpSpPr/>
              <p:nvPr/>
            </p:nvGrpSpPr>
            <p:grpSpPr>
              <a:xfrm>
                <a:off x="359996" y="1873714"/>
                <a:ext cx="823904" cy="823901"/>
                <a:chOff x="674553" y="1932932"/>
                <a:chExt cx="883824" cy="883822"/>
              </a:xfrm>
            </p:grpSpPr>
            <p:sp>
              <p:nvSpPr>
                <p:cNvPr id="37" name="Oval 307">
                  <a:extLst>
                    <a:ext uri="{FF2B5EF4-FFF2-40B4-BE49-F238E27FC236}">
                      <a16:creationId xmlns:a16="http://schemas.microsoft.com/office/drawing/2014/main" id="{25EBAD82-1B29-86CA-7C55-CCCE8C404DF1}"/>
                    </a:ext>
                  </a:extLst>
                </p:cNvPr>
                <p:cNvSpPr/>
                <p:nvPr/>
              </p:nvSpPr>
              <p:spPr>
                <a:xfrm>
                  <a:off x="674553" y="1932932"/>
                  <a:ext cx="883824" cy="883822"/>
                </a:xfrm>
                <a:prstGeom prst="ellipse">
                  <a:avLst/>
                </a:prstGeom>
                <a:solidFill>
                  <a:srgbClr val="D3DBF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AT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9" name="Oval 308">
                  <a:extLst>
                    <a:ext uri="{FF2B5EF4-FFF2-40B4-BE49-F238E27FC236}">
                      <a16:creationId xmlns:a16="http://schemas.microsoft.com/office/drawing/2014/main" id="{5889E241-88F6-E719-C625-A13B16D01F86}"/>
                    </a:ext>
                  </a:extLst>
                </p:cNvPr>
                <p:cNvSpPr/>
                <p:nvPr/>
              </p:nvSpPr>
              <p:spPr>
                <a:xfrm>
                  <a:off x="746571" y="2004948"/>
                  <a:ext cx="739792" cy="739790"/>
                </a:xfrm>
                <a:prstGeom prst="ellipse">
                  <a:avLst/>
                </a:prstGeom>
                <a:solidFill>
                  <a:srgbClr val="005CA9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AT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pic>
            <p:nvPicPr>
              <p:cNvPr id="26" name="Grafik 25">
                <a:extLst>
                  <a:ext uri="{FF2B5EF4-FFF2-40B4-BE49-F238E27FC236}">
                    <a16:creationId xmlns:a16="http://schemas.microsoft.com/office/drawing/2014/main" id="{9D07897B-8906-C581-F8F6-79279CF13D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563402" y="2077117"/>
                <a:ext cx="417093" cy="417094"/>
              </a:xfrm>
              <a:prstGeom prst="rect">
                <a:avLst/>
              </a:prstGeom>
            </p:spPr>
          </p:pic>
        </p:grpSp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63F7997C-12F0-EF4F-D529-9D9141C469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84631" y="3882671"/>
              <a:ext cx="164652" cy="164652"/>
            </a:xfrm>
            <a:prstGeom prst="rect">
              <a:avLst/>
            </a:prstGeom>
          </p:spPr>
        </p:pic>
      </p:grpSp>
      <p:pic>
        <p:nvPicPr>
          <p:cNvPr id="43" name="Grafik 42">
            <a:extLst>
              <a:ext uri="{FF2B5EF4-FFF2-40B4-BE49-F238E27FC236}">
                <a16:creationId xmlns:a16="http://schemas.microsoft.com/office/drawing/2014/main" id="{D5AF1C4B-46D1-8AE6-F39B-0FD9FA541FF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2278" y="4449645"/>
            <a:ext cx="409362" cy="40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4391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724">
          <p15:clr>
            <a:srgbClr val="5ACBF0"/>
          </p15:clr>
        </p15:guide>
        <p15:guide id="2" orient="horz" pos="3939">
          <p15:clr>
            <a:srgbClr val="5ACBF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ak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cken des Rechtecks auf der gleichen Seite abrunden 7">
            <a:extLst>
              <a:ext uri="{FF2B5EF4-FFF2-40B4-BE49-F238E27FC236}">
                <a16:creationId xmlns:a16="http://schemas.microsoft.com/office/drawing/2014/main" id="{32BA422F-006E-42D5-8E88-0A774AEEAED7}"/>
              </a:ext>
            </a:extLst>
          </p:cNvPr>
          <p:cNvSpPr/>
          <p:nvPr userDrawn="1"/>
        </p:nvSpPr>
        <p:spPr>
          <a:xfrm rot="5400000">
            <a:off x="3888367" y="-2186176"/>
            <a:ext cx="4015218" cy="11791951"/>
          </a:xfrm>
          <a:prstGeom prst="round2SameRect">
            <a:avLst>
              <a:gd name="adj1" fmla="val 3138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AT" sz="1600" noProof="0">
              <a:solidFill>
                <a:schemeClr val="tx1"/>
              </a:solidFill>
            </a:endParaRPr>
          </a:p>
        </p:txBody>
      </p:sp>
      <p:sp>
        <p:nvSpPr>
          <p:cNvPr id="8" name="Ecken des Rechtecks auf der gleichen Seite abrunden 7">
            <a:extLst>
              <a:ext uri="{FF2B5EF4-FFF2-40B4-BE49-F238E27FC236}">
                <a16:creationId xmlns:a16="http://schemas.microsoft.com/office/drawing/2014/main" id="{943135DE-F78E-E765-838A-2D41D7750E73}"/>
              </a:ext>
            </a:extLst>
          </p:cNvPr>
          <p:cNvSpPr/>
          <p:nvPr/>
        </p:nvSpPr>
        <p:spPr>
          <a:xfrm rot="5400000">
            <a:off x="3888367" y="-2186176"/>
            <a:ext cx="4015218" cy="11791951"/>
          </a:xfrm>
          <a:prstGeom prst="round2SameRect">
            <a:avLst>
              <a:gd name="adj1" fmla="val 3138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AT" sz="1600" noProof="0">
              <a:solidFill>
                <a:schemeClr val="tx1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1EB0-53BB-3243-9B08-2A1EA0BAFB8B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1F612B08-E42D-B220-1926-340BE3E1BA6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304194" y="2429003"/>
            <a:ext cx="8378286" cy="4798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Vorname Nachname 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F63E9F8F-F968-42A9-A62E-B20CA465243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304194" y="3104992"/>
            <a:ext cx="8378286" cy="283832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Jobtitel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708C64AE-DA27-D725-08A7-8BDB69BA0DB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781429" y="3965296"/>
            <a:ext cx="4696941" cy="21544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Tel.</a:t>
            </a:r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2E2D0F95-759C-319D-0E66-4E35C78A4B40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1781428" y="4556764"/>
            <a:ext cx="4696941" cy="21544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 err="1"/>
              <a:t>E-mail</a:t>
            </a:r>
            <a:endParaRPr lang="de-AT" noProof="0"/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DE612D37-5472-AE31-14A3-530564E7E45F}"/>
              </a:ext>
            </a:extLst>
          </p:cNvPr>
          <p:cNvGrpSpPr/>
          <p:nvPr/>
        </p:nvGrpSpPr>
        <p:grpSpPr>
          <a:xfrm>
            <a:off x="1304194" y="3868337"/>
            <a:ext cx="409366" cy="409362"/>
            <a:chOff x="359996" y="1873714"/>
            <a:chExt cx="823904" cy="823901"/>
          </a:xfrm>
        </p:grpSpPr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1194436C-E652-915C-555F-3197BC9B1B09}"/>
                </a:ext>
              </a:extLst>
            </p:cNvPr>
            <p:cNvGrpSpPr/>
            <p:nvPr/>
          </p:nvGrpSpPr>
          <p:grpSpPr>
            <a:xfrm>
              <a:off x="359996" y="1873714"/>
              <a:ext cx="823904" cy="823901"/>
              <a:chOff x="674553" y="1932932"/>
              <a:chExt cx="883824" cy="883822"/>
            </a:xfrm>
          </p:grpSpPr>
          <p:sp>
            <p:nvSpPr>
              <p:cNvPr id="30" name="Oval 307">
                <a:extLst>
                  <a:ext uri="{FF2B5EF4-FFF2-40B4-BE49-F238E27FC236}">
                    <a16:creationId xmlns:a16="http://schemas.microsoft.com/office/drawing/2014/main" id="{108DE4FF-B9F6-FBE1-BD8D-978DE3CE6E5B}"/>
                  </a:ext>
                </a:extLst>
              </p:cNvPr>
              <p:cNvSpPr/>
              <p:nvPr/>
            </p:nvSpPr>
            <p:spPr>
              <a:xfrm>
                <a:off x="674553" y="1932932"/>
                <a:ext cx="883824" cy="883822"/>
              </a:xfrm>
              <a:prstGeom prst="ellipse">
                <a:avLst/>
              </a:prstGeom>
              <a:solidFill>
                <a:srgbClr val="D3DBF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A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" name="Oval 308">
                <a:extLst>
                  <a:ext uri="{FF2B5EF4-FFF2-40B4-BE49-F238E27FC236}">
                    <a16:creationId xmlns:a16="http://schemas.microsoft.com/office/drawing/2014/main" id="{A3CE7C68-BE18-6B30-B780-F0406315C12F}"/>
                  </a:ext>
                </a:extLst>
              </p:cNvPr>
              <p:cNvSpPr/>
              <p:nvPr/>
            </p:nvSpPr>
            <p:spPr>
              <a:xfrm>
                <a:off x="746571" y="2004948"/>
                <a:ext cx="739792" cy="739790"/>
              </a:xfrm>
              <a:prstGeom prst="ellipse">
                <a:avLst/>
              </a:prstGeom>
              <a:solidFill>
                <a:srgbClr val="005C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A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pic>
          <p:nvPicPr>
            <p:cNvPr id="29" name="Grafik 28">
              <a:extLst>
                <a:ext uri="{FF2B5EF4-FFF2-40B4-BE49-F238E27FC236}">
                  <a16:creationId xmlns:a16="http://schemas.microsoft.com/office/drawing/2014/main" id="{13FD49ED-65C6-37AF-8081-EE8F47EA12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63402" y="2077117"/>
              <a:ext cx="417093" cy="417094"/>
            </a:xfrm>
            <a:prstGeom prst="rect">
              <a:avLst/>
            </a:prstGeom>
          </p:spPr>
        </p:pic>
      </p:grpSp>
      <p:pic>
        <p:nvPicPr>
          <p:cNvPr id="40" name="Grafik 39">
            <a:extLst>
              <a:ext uri="{FF2B5EF4-FFF2-40B4-BE49-F238E27FC236}">
                <a16:creationId xmlns:a16="http://schemas.microsoft.com/office/drawing/2014/main" id="{24C3C635-6129-23AD-04D0-73F764DD41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6551" y="3990692"/>
            <a:ext cx="164652" cy="16465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99639AAC-AA79-354A-3AE1-2830C45702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010DDB15-5C43-7765-CFE7-4C15BEE3A575}"/>
              </a:ext>
            </a:extLst>
          </p:cNvPr>
          <p:cNvGrpSpPr/>
          <p:nvPr userDrawn="1"/>
        </p:nvGrpSpPr>
        <p:grpSpPr>
          <a:xfrm>
            <a:off x="1304194" y="3868337"/>
            <a:ext cx="409366" cy="409362"/>
            <a:chOff x="359996" y="1873714"/>
            <a:chExt cx="823904" cy="823901"/>
          </a:xfrm>
        </p:grpSpPr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D975B2A7-57BE-FEFF-A520-B49DDAF7E24C}"/>
                </a:ext>
              </a:extLst>
            </p:cNvPr>
            <p:cNvGrpSpPr/>
            <p:nvPr/>
          </p:nvGrpSpPr>
          <p:grpSpPr>
            <a:xfrm>
              <a:off x="359996" y="1873714"/>
              <a:ext cx="823904" cy="823901"/>
              <a:chOff x="674553" y="1932932"/>
              <a:chExt cx="883824" cy="883822"/>
            </a:xfrm>
          </p:grpSpPr>
          <p:sp>
            <p:nvSpPr>
              <p:cNvPr id="15" name="Oval 307">
                <a:extLst>
                  <a:ext uri="{FF2B5EF4-FFF2-40B4-BE49-F238E27FC236}">
                    <a16:creationId xmlns:a16="http://schemas.microsoft.com/office/drawing/2014/main" id="{248945C0-DF3A-83CD-5404-99E4120DFA87}"/>
                  </a:ext>
                </a:extLst>
              </p:cNvPr>
              <p:cNvSpPr/>
              <p:nvPr/>
            </p:nvSpPr>
            <p:spPr>
              <a:xfrm>
                <a:off x="674553" y="1932932"/>
                <a:ext cx="883824" cy="883822"/>
              </a:xfrm>
              <a:prstGeom prst="ellipse">
                <a:avLst/>
              </a:prstGeom>
              <a:solidFill>
                <a:srgbClr val="D3DBF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A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" name="Oval 308">
                <a:extLst>
                  <a:ext uri="{FF2B5EF4-FFF2-40B4-BE49-F238E27FC236}">
                    <a16:creationId xmlns:a16="http://schemas.microsoft.com/office/drawing/2014/main" id="{82337602-992D-2024-6A95-8A69162BAF2D}"/>
                  </a:ext>
                </a:extLst>
              </p:cNvPr>
              <p:cNvSpPr/>
              <p:nvPr/>
            </p:nvSpPr>
            <p:spPr>
              <a:xfrm>
                <a:off x="746571" y="2004948"/>
                <a:ext cx="739792" cy="739790"/>
              </a:xfrm>
              <a:prstGeom prst="ellipse">
                <a:avLst/>
              </a:prstGeom>
              <a:solidFill>
                <a:srgbClr val="005C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A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7D7F39D8-A45F-9B96-25EC-3F93A7B670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563402" y="2077117"/>
              <a:ext cx="417093" cy="417094"/>
            </a:xfrm>
            <a:prstGeom prst="rect">
              <a:avLst/>
            </a:prstGeom>
          </p:spPr>
        </p:pic>
      </p:grpSp>
      <p:pic>
        <p:nvPicPr>
          <p:cNvPr id="25" name="Grafik 24">
            <a:extLst>
              <a:ext uri="{FF2B5EF4-FFF2-40B4-BE49-F238E27FC236}">
                <a16:creationId xmlns:a16="http://schemas.microsoft.com/office/drawing/2014/main" id="{2CFC65FE-909A-E8FB-5D88-F7C8805215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26551" y="3990692"/>
            <a:ext cx="164652" cy="164652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387891C3-3A30-0AD7-652B-41F0E4B37A1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4194" y="4459805"/>
            <a:ext cx="409362" cy="40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52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5ACBF0"/>
          </p15:clr>
        </p15:guide>
        <p15:guide id="2" orient="horz" pos="3589">
          <p15:clr>
            <a:srgbClr val="5ACBF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Gradien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7CE337EB-2454-1484-56B9-F37F895B8FE1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  <a:gradFill>
            <a:gsLst>
              <a:gs pos="29000">
                <a:srgbClr val="005CA9"/>
              </a:gs>
              <a:gs pos="100000">
                <a:srgbClr val="A5C8FF"/>
              </a:gs>
              <a:gs pos="72000">
                <a:srgbClr val="5492E3"/>
              </a:gs>
            </a:gsLst>
            <a:lin ang="18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-1" y="-1"/>
            <a:ext cx="12192000" cy="6858000"/>
          </a:xfrm>
          <a:prstGeom prst="rect">
            <a:avLst/>
          </a:prstGeom>
          <a:gradFill>
            <a:gsLst>
              <a:gs pos="29000">
                <a:srgbClr val="005CA9"/>
              </a:gs>
              <a:gs pos="100000">
                <a:srgbClr val="A5C8FF"/>
              </a:gs>
              <a:gs pos="72000">
                <a:srgbClr val="5492E3"/>
              </a:gs>
            </a:gsLst>
            <a:lin ang="18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D36284D-290E-595A-1135-EEA302A1AA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0842" y="2139951"/>
            <a:ext cx="5129609" cy="1885214"/>
          </a:xfrm>
          <a:prstGeom prst="roundRect">
            <a:avLst>
              <a:gd name="adj" fmla="val 6743"/>
            </a:avLst>
          </a:prstGeom>
          <a:solidFill>
            <a:schemeClr val="tx1">
              <a:alpha val="25000"/>
            </a:schemeClr>
          </a:solidFill>
        </p:spPr>
        <p:txBody>
          <a:bodyPr lIns="251999" tIns="360000">
            <a:no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4" name="Textplatzhalter 13">
            <a:extLst>
              <a:ext uri="{FF2B5EF4-FFF2-40B4-BE49-F238E27FC236}">
                <a16:creationId xmlns:a16="http://schemas.microsoft.com/office/drawing/2014/main" id="{800C194B-03EC-2B39-66BF-4C49F8E25A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45022" y="2228082"/>
            <a:ext cx="618482" cy="492443"/>
          </a:xfrm>
        </p:spPr>
        <p:txBody>
          <a:bodyPr wrap="square">
            <a:spAutoFit/>
          </a:bodyPr>
          <a:lstStyle>
            <a:lvl1pPr marL="0" indent="0" algn="r">
              <a:buNone/>
              <a:defRPr sz="3200" b="1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AT" noProof="0"/>
              <a:t>01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54B1E-EE8E-9B42-8826-03AB784C90A8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FF5981-2895-C798-0C92-59C1B191DA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8" name="Titel 14">
            <a:extLst>
              <a:ext uri="{FF2B5EF4-FFF2-40B4-BE49-F238E27FC236}">
                <a16:creationId xmlns:a16="http://schemas.microsoft.com/office/drawing/2014/main" id="{71F556B9-6CB9-29C7-1498-F715AA71F4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463" y="965090"/>
            <a:ext cx="11395074" cy="843073"/>
          </a:xfrm>
        </p:spPr>
        <p:txBody>
          <a:bodyPr anchor="t">
            <a:noAutofit/>
          </a:bodyPr>
          <a:lstStyle>
            <a:lvl1pPr algn="ctr">
              <a:defRPr sz="5000">
                <a:solidFill>
                  <a:schemeClr val="tx1"/>
                </a:solidFill>
              </a:defRPr>
            </a:lvl1pPr>
          </a:lstStyle>
          <a:p>
            <a:r>
              <a:rPr lang="de-AT" noProof="0"/>
              <a:t>Agenda</a:t>
            </a:r>
          </a:p>
        </p:txBody>
      </p:sp>
      <p:sp>
        <p:nvSpPr>
          <p:cNvPr id="29" name="Textplatzhalter 21">
            <a:extLst>
              <a:ext uri="{FF2B5EF4-FFF2-40B4-BE49-F238E27FC236}">
                <a16:creationId xmlns:a16="http://schemas.microsoft.com/office/drawing/2014/main" id="{4A7731F3-0272-FE64-9F1E-994ECA8695D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68641" y="2139951"/>
            <a:ext cx="5129609" cy="1885214"/>
          </a:xfrm>
          <a:prstGeom prst="roundRect">
            <a:avLst>
              <a:gd name="adj" fmla="val 6743"/>
            </a:avLst>
          </a:prstGeom>
          <a:solidFill>
            <a:schemeClr val="tx1">
              <a:alpha val="25000"/>
            </a:schemeClr>
          </a:solidFill>
        </p:spPr>
        <p:txBody>
          <a:bodyPr lIns="251999" tIns="360000">
            <a:no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30" name="Textplatzhalter 13">
            <a:extLst>
              <a:ext uri="{FF2B5EF4-FFF2-40B4-BE49-F238E27FC236}">
                <a16:creationId xmlns:a16="http://schemas.microsoft.com/office/drawing/2014/main" id="{19B47785-41CA-D2CE-3773-544D14EF87F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602821" y="2228082"/>
            <a:ext cx="618482" cy="492443"/>
          </a:xfrm>
        </p:spPr>
        <p:txBody>
          <a:bodyPr wrap="square">
            <a:spAutoFit/>
          </a:bodyPr>
          <a:lstStyle>
            <a:lvl1pPr marL="0" indent="0" algn="r">
              <a:buNone/>
              <a:defRPr sz="3200" b="1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AT" noProof="0"/>
              <a:t>02</a:t>
            </a:r>
          </a:p>
        </p:txBody>
      </p:sp>
      <p:sp>
        <p:nvSpPr>
          <p:cNvPr id="31" name="Textplatzhalter 21">
            <a:extLst>
              <a:ext uri="{FF2B5EF4-FFF2-40B4-BE49-F238E27FC236}">
                <a16:creationId xmlns:a16="http://schemas.microsoft.com/office/drawing/2014/main" id="{7EB9E461-B2BE-3245-CC10-48EED54E104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10842" y="4367828"/>
            <a:ext cx="5129609" cy="1885214"/>
          </a:xfrm>
          <a:prstGeom prst="roundRect">
            <a:avLst>
              <a:gd name="adj" fmla="val 6743"/>
            </a:avLst>
          </a:prstGeom>
          <a:solidFill>
            <a:schemeClr val="tx1">
              <a:alpha val="25000"/>
            </a:schemeClr>
          </a:solidFill>
        </p:spPr>
        <p:txBody>
          <a:bodyPr lIns="251999" tIns="360000">
            <a:no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32" name="Textplatzhalter 13">
            <a:extLst>
              <a:ext uri="{FF2B5EF4-FFF2-40B4-BE49-F238E27FC236}">
                <a16:creationId xmlns:a16="http://schemas.microsoft.com/office/drawing/2014/main" id="{85CFF4DB-B576-20EA-CDBF-98263B36487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45022" y="4455959"/>
            <a:ext cx="618482" cy="492443"/>
          </a:xfrm>
        </p:spPr>
        <p:txBody>
          <a:bodyPr wrap="square">
            <a:spAutoFit/>
          </a:bodyPr>
          <a:lstStyle>
            <a:lvl1pPr marL="0" indent="0" algn="r">
              <a:buNone/>
              <a:defRPr sz="3200" b="1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AT" noProof="0"/>
              <a:t>03</a:t>
            </a:r>
          </a:p>
        </p:txBody>
      </p:sp>
      <p:sp>
        <p:nvSpPr>
          <p:cNvPr id="33" name="Textplatzhalter 21">
            <a:extLst>
              <a:ext uri="{FF2B5EF4-FFF2-40B4-BE49-F238E27FC236}">
                <a16:creationId xmlns:a16="http://schemas.microsoft.com/office/drawing/2014/main" id="{37FF7232-FD5A-D2CB-4122-B541F34C5CA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268641" y="4367828"/>
            <a:ext cx="5129609" cy="1885214"/>
          </a:xfrm>
          <a:prstGeom prst="roundRect">
            <a:avLst>
              <a:gd name="adj" fmla="val 6743"/>
            </a:avLst>
          </a:prstGeom>
          <a:solidFill>
            <a:schemeClr val="tx1">
              <a:alpha val="25000"/>
            </a:schemeClr>
          </a:solidFill>
        </p:spPr>
        <p:txBody>
          <a:bodyPr lIns="251999" tIns="360000">
            <a:no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34" name="Textplatzhalter 13">
            <a:extLst>
              <a:ext uri="{FF2B5EF4-FFF2-40B4-BE49-F238E27FC236}">
                <a16:creationId xmlns:a16="http://schemas.microsoft.com/office/drawing/2014/main" id="{F140D453-1C1C-573A-D67F-B23DF459181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602821" y="4455959"/>
            <a:ext cx="618482" cy="492443"/>
          </a:xfrm>
        </p:spPr>
        <p:txBody>
          <a:bodyPr wrap="square">
            <a:spAutoFit/>
          </a:bodyPr>
          <a:lstStyle>
            <a:lvl1pPr marL="0" indent="0" algn="r">
              <a:buNone/>
              <a:defRPr sz="3200" b="1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AT" noProof="0"/>
              <a:t>04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1368A693-D57F-0F88-2208-1A663ED29D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895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940">
          <p15:clr>
            <a:srgbClr val="5ACBF0"/>
          </p15:clr>
        </p15:guide>
        <p15:guide id="3" pos="506">
          <p15:clr>
            <a:srgbClr val="5ACBF0"/>
          </p15:clr>
        </p15:guide>
        <p15:guide id="4" pos="7174">
          <p15:clr>
            <a:srgbClr val="5ACBF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vollflächig +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3FF29A22-035E-20D7-0765-D6C3FB19303B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4E3C9492-034D-5506-222F-6E44C964A86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95038" y="345856"/>
            <a:ext cx="1415976" cy="24625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71FA70C8-18AB-A4A8-5EC2-29ECBC123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875" y="6556875"/>
            <a:ext cx="588192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fld id="{A59CD13C-BBB2-EB46-B570-08D6E3877884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AEDB545B-D710-2DBF-CD8E-E53396AA2B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010" y="6556875"/>
            <a:ext cx="6127477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D00CC7C-2BC5-2455-3756-558A46667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3759" y="6556875"/>
            <a:ext cx="588191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A58712F-B9FD-4486-4173-2E9568410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F303C7AA-759C-73C2-7D75-184656B0AF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100" y="5142259"/>
            <a:ext cx="3046811" cy="755106"/>
          </a:xfrm>
          <a:prstGeom prst="roundRect">
            <a:avLst>
              <a:gd name="adj" fmla="val 16686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0" name="Textplatzhalter 18">
            <a:extLst>
              <a:ext uri="{FF2B5EF4-FFF2-40B4-BE49-F238E27FC236}">
                <a16:creationId xmlns:a16="http://schemas.microsoft.com/office/drawing/2014/main" id="{E87E5A8F-BE19-0FFE-38B3-EC65367444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595" y="5142259"/>
            <a:ext cx="3046811" cy="755106"/>
          </a:xfrm>
          <a:prstGeom prst="roundRect">
            <a:avLst>
              <a:gd name="adj" fmla="val 16686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1" name="Textplatzhalter 18">
            <a:extLst>
              <a:ext uri="{FF2B5EF4-FFF2-40B4-BE49-F238E27FC236}">
                <a16:creationId xmlns:a16="http://schemas.microsoft.com/office/drawing/2014/main" id="{466A5647-63CC-9E8F-66C5-57249A42D56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90089" y="5142259"/>
            <a:ext cx="3046811" cy="755106"/>
          </a:xfrm>
          <a:prstGeom prst="roundRect">
            <a:avLst>
              <a:gd name="adj" fmla="val 16686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2" name="Titel 1">
            <a:extLst>
              <a:ext uri="{FF2B5EF4-FFF2-40B4-BE49-F238E27FC236}">
                <a16:creationId xmlns:a16="http://schemas.microsoft.com/office/drawing/2014/main" id="{6B4827DF-EAB3-49A2-3AD2-6C60C57A1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463" y="1808163"/>
            <a:ext cx="11395074" cy="3004341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80000"/>
              </a:lnSpc>
              <a:defRPr sz="66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AT" noProof="0"/>
              <a:t>„Mastertitelformat bearbeiten“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2CB8A91D-323B-E0AF-BD81-5B3E3DF40C6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00236" y="1118626"/>
            <a:ext cx="11393301" cy="607865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 err="1"/>
              <a:t>Lorem</a:t>
            </a:r>
            <a:r>
              <a:rPr lang="de-AT" noProof="0"/>
              <a:t> </a:t>
            </a:r>
            <a:r>
              <a:rPr lang="de-AT" noProof="0" err="1"/>
              <a:t>ipsum</a:t>
            </a:r>
            <a:endParaRPr lang="de-AT" noProof="0"/>
          </a:p>
        </p:txBody>
      </p:sp>
    </p:spTree>
    <p:extLst>
      <p:ext uri="{BB962C8B-B14F-4D97-AF65-F5344CB8AC3E}">
        <p14:creationId xmlns:p14="http://schemas.microsoft.com/office/powerpoint/2010/main" val="7071488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90">
          <p15:clr>
            <a:srgbClr val="5ACBF0"/>
          </p15:clr>
        </p15:guide>
        <p15:guide id="2" orient="horz" pos="3720">
          <p15:clr>
            <a:srgbClr val="5ACBF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5 + 3 Textfel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651B2E5-689C-7D77-5D64-B15DFA65EA6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Titel 14">
            <a:extLst>
              <a:ext uri="{FF2B5EF4-FFF2-40B4-BE49-F238E27FC236}">
                <a16:creationId xmlns:a16="http://schemas.microsoft.com/office/drawing/2014/main" id="{439BD23F-2024-2902-2704-44EF807694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237" y="1039015"/>
            <a:ext cx="11395074" cy="1370905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AT" noProof="0"/>
              <a:t>Headline</a:t>
            </a:r>
            <a:br>
              <a:rPr lang="de-AT" noProof="0"/>
            </a:br>
            <a:r>
              <a:rPr lang="de-AT" noProof="0"/>
              <a:t>Headline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9" name="Textplatzhalter 21">
            <a:extLst>
              <a:ext uri="{FF2B5EF4-FFF2-40B4-BE49-F238E27FC236}">
                <a16:creationId xmlns:a16="http://schemas.microsoft.com/office/drawing/2014/main" id="{394052BB-2B3E-EEC9-20D8-3971025A5F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0237" y="2932160"/>
            <a:ext cx="3569640" cy="2594272"/>
          </a:xfrm>
          <a:prstGeom prst="roundRect">
            <a:avLst>
              <a:gd name="adj" fmla="val 4857"/>
            </a:avLst>
          </a:prstGeom>
          <a:solidFill>
            <a:schemeClr val="tx1">
              <a:alpha val="25000"/>
            </a:schemeClr>
          </a:solidFill>
        </p:spPr>
        <p:txBody>
          <a:bodyPr lIns="288000" tIns="288000" rIns="288000" bIns="288000">
            <a:no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0" name="Textplatzhalter 21">
            <a:extLst>
              <a:ext uri="{FF2B5EF4-FFF2-40B4-BE49-F238E27FC236}">
                <a16:creationId xmlns:a16="http://schemas.microsoft.com/office/drawing/2014/main" id="{918140AB-C200-FA15-241F-33812D2E59F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1180" y="2932160"/>
            <a:ext cx="3569640" cy="2594272"/>
          </a:xfrm>
          <a:prstGeom prst="roundRect">
            <a:avLst>
              <a:gd name="adj" fmla="val 4857"/>
            </a:avLst>
          </a:prstGeom>
          <a:solidFill>
            <a:schemeClr val="tx1">
              <a:alpha val="25000"/>
            </a:schemeClr>
          </a:solidFill>
        </p:spPr>
        <p:txBody>
          <a:bodyPr lIns="288000" tIns="288000" rIns="288000" bIns="288000">
            <a:no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1" name="Textplatzhalter 21">
            <a:extLst>
              <a:ext uri="{FF2B5EF4-FFF2-40B4-BE49-F238E27FC236}">
                <a16:creationId xmlns:a16="http://schemas.microsoft.com/office/drawing/2014/main" id="{D61639D5-94C4-64E2-1369-15479E154BB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22123" y="2932160"/>
            <a:ext cx="3569640" cy="2594272"/>
          </a:xfrm>
          <a:prstGeom prst="roundRect">
            <a:avLst>
              <a:gd name="adj" fmla="val 4857"/>
            </a:avLst>
          </a:prstGeom>
          <a:solidFill>
            <a:schemeClr val="tx1">
              <a:alpha val="25000"/>
            </a:schemeClr>
          </a:solidFill>
        </p:spPr>
        <p:txBody>
          <a:bodyPr lIns="288000" tIns="288000" rIns="288000" bIns="288000">
            <a:no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2FF510D-42DF-7A8F-2B55-D4F1E8FE12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0943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42">
          <p15:clr>
            <a:srgbClr val="5ACBF0"/>
          </p15:clr>
        </p15:guide>
        <p15:guide id="2" orient="horz" pos="3475">
          <p15:clr>
            <a:srgbClr val="5ACBF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vollflächig + 3 Textfel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9" name="Textplatzhalter 21">
            <a:extLst>
              <a:ext uri="{FF2B5EF4-FFF2-40B4-BE49-F238E27FC236}">
                <a16:creationId xmlns:a16="http://schemas.microsoft.com/office/drawing/2014/main" id="{394052BB-2B3E-EEC9-20D8-3971025A5F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0237" y="2932160"/>
            <a:ext cx="3569640" cy="2594272"/>
          </a:xfrm>
          <a:prstGeom prst="roundRect">
            <a:avLst>
              <a:gd name="adj" fmla="val 4857"/>
            </a:avLst>
          </a:prstGeom>
          <a:solidFill>
            <a:schemeClr val="tx1">
              <a:alpha val="90000"/>
            </a:schemeClr>
          </a:solidFill>
        </p:spPr>
        <p:txBody>
          <a:bodyPr lIns="288000" tIns="288000" rIns="288000" bIns="28800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28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0" name="Textplatzhalter 21">
            <a:extLst>
              <a:ext uri="{FF2B5EF4-FFF2-40B4-BE49-F238E27FC236}">
                <a16:creationId xmlns:a16="http://schemas.microsoft.com/office/drawing/2014/main" id="{918140AB-C200-FA15-241F-33812D2E59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1180" y="2932160"/>
            <a:ext cx="3569640" cy="2594272"/>
          </a:xfrm>
          <a:prstGeom prst="roundRect">
            <a:avLst>
              <a:gd name="adj" fmla="val 4857"/>
            </a:avLst>
          </a:prstGeom>
          <a:solidFill>
            <a:schemeClr val="tx1">
              <a:alpha val="90000"/>
            </a:schemeClr>
          </a:solidFill>
        </p:spPr>
        <p:txBody>
          <a:bodyPr lIns="288000" tIns="288000" rIns="288000" bIns="28800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28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1" name="Textplatzhalter 21">
            <a:extLst>
              <a:ext uri="{FF2B5EF4-FFF2-40B4-BE49-F238E27FC236}">
                <a16:creationId xmlns:a16="http://schemas.microsoft.com/office/drawing/2014/main" id="{D61639D5-94C4-64E2-1369-15479E154B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22123" y="2932160"/>
            <a:ext cx="3569640" cy="2594272"/>
          </a:xfrm>
          <a:prstGeom prst="roundRect">
            <a:avLst>
              <a:gd name="adj" fmla="val 4857"/>
            </a:avLst>
          </a:prstGeom>
          <a:solidFill>
            <a:schemeClr val="tx1">
              <a:alpha val="90000"/>
            </a:schemeClr>
          </a:solidFill>
        </p:spPr>
        <p:txBody>
          <a:bodyPr lIns="288000" tIns="288000" rIns="288000" bIns="28800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28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8" name="Titel 14">
            <a:extLst>
              <a:ext uri="{FF2B5EF4-FFF2-40B4-BE49-F238E27FC236}">
                <a16:creationId xmlns:a16="http://schemas.microsoft.com/office/drawing/2014/main" id="{DBEBCD20-9DD7-04FE-BC0A-8D14B3F3B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463" y="1399874"/>
            <a:ext cx="11395074" cy="843073"/>
          </a:xfrm>
        </p:spPr>
        <p:txBody>
          <a:bodyPr anchor="ctr">
            <a:noAutofit/>
          </a:bodyPr>
          <a:lstStyle>
            <a:lvl1pPr algn="ctr">
              <a:defRPr sz="5000">
                <a:solidFill>
                  <a:schemeClr val="tx1"/>
                </a:solidFill>
              </a:defRPr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F8427037-BC78-80E8-AB53-BB9BA269002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95038" y="345856"/>
            <a:ext cx="1415976" cy="24625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04297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42">
          <p15:clr>
            <a:srgbClr val="5ACBF0"/>
          </p15:clr>
        </p15:guide>
        <p15:guide id="2" orient="horz" pos="3475">
          <p15:clr>
            <a:srgbClr val="5ACBF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vollflächig + 3 kleine Textfel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3" name="Textplatzhalter 21">
            <a:extLst>
              <a:ext uri="{FF2B5EF4-FFF2-40B4-BE49-F238E27FC236}">
                <a16:creationId xmlns:a16="http://schemas.microsoft.com/office/drawing/2014/main" id="{B15B2A6E-6465-9709-D37B-AFAA9295D9E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038" y="3674339"/>
            <a:ext cx="3709890" cy="755106"/>
          </a:xfrm>
          <a:prstGeom prst="roundRect">
            <a:avLst>
              <a:gd name="adj" fmla="val 16686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1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8" name="Titel 14">
            <a:extLst>
              <a:ext uri="{FF2B5EF4-FFF2-40B4-BE49-F238E27FC236}">
                <a16:creationId xmlns:a16="http://schemas.microsoft.com/office/drawing/2014/main" id="{DBEBCD20-9DD7-04FE-BC0A-8D14B3F3B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038" y="964092"/>
            <a:ext cx="11395074" cy="2065851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F8427037-BC78-80E8-AB53-BB9BA269002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95038" y="345856"/>
            <a:ext cx="1415976" cy="24625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sp>
        <p:nvSpPr>
          <p:cNvPr id="14" name="Textplatzhalter 21">
            <a:extLst>
              <a:ext uri="{FF2B5EF4-FFF2-40B4-BE49-F238E27FC236}">
                <a16:creationId xmlns:a16="http://schemas.microsoft.com/office/drawing/2014/main" id="{0179BC64-4263-D7AC-3F2A-7857656C84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5038" y="5491610"/>
            <a:ext cx="3709890" cy="755106"/>
          </a:xfrm>
          <a:prstGeom prst="roundRect">
            <a:avLst>
              <a:gd name="adj" fmla="val 16686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1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15" name="Textplatzhalter 21">
            <a:extLst>
              <a:ext uri="{FF2B5EF4-FFF2-40B4-BE49-F238E27FC236}">
                <a16:creationId xmlns:a16="http://schemas.microsoft.com/office/drawing/2014/main" id="{0442107D-1C8D-70EB-039B-C7FB887114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5038" y="4582974"/>
            <a:ext cx="3709890" cy="755106"/>
          </a:xfrm>
          <a:prstGeom prst="roundRect">
            <a:avLst>
              <a:gd name="adj" fmla="val 16686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1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099814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5ACBF0"/>
          </p15:clr>
        </p15:guide>
        <p15:guide id="2" orient="horz" pos="3929">
          <p15:clr>
            <a:srgbClr val="5ACBF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vollflächig + 2 kleine Textfel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6" name="Textplatzhalter 21">
            <a:extLst>
              <a:ext uri="{FF2B5EF4-FFF2-40B4-BE49-F238E27FC236}">
                <a16:creationId xmlns:a16="http://schemas.microsoft.com/office/drawing/2014/main" id="{C5E9F97C-17D0-2357-3FA7-D9E9921D33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0237" y="3794945"/>
            <a:ext cx="11395075" cy="3063055"/>
          </a:xfrm>
          <a:prstGeom prst="round2SameRect">
            <a:avLst>
              <a:gd name="adj1" fmla="val 9402"/>
              <a:gd name="adj2" fmla="val 0"/>
            </a:avLst>
          </a:prstGeom>
          <a:solidFill>
            <a:schemeClr val="tx1">
              <a:alpha val="90000"/>
            </a:schemeClr>
          </a:solidFill>
        </p:spPr>
        <p:txBody>
          <a:bodyPr lIns="432000" tIns="216000" rIns="5544000" bIns="288000" anchor="ctr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Clr>
                <a:schemeClr val="bg1"/>
              </a:buClr>
              <a:buNone/>
              <a:defRPr sz="44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17" name="Textplatzhalter 21">
            <a:extLst>
              <a:ext uri="{FF2B5EF4-FFF2-40B4-BE49-F238E27FC236}">
                <a16:creationId xmlns:a16="http://schemas.microsoft.com/office/drawing/2014/main" id="{F6DF1D3F-DDC4-B2D7-F2ED-6DC8A21A24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47300" y="4191802"/>
            <a:ext cx="4610002" cy="873663"/>
          </a:xfrm>
          <a:prstGeom prst="roundRect">
            <a:avLst>
              <a:gd name="adj" fmla="val 14422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1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F8427037-BC78-80E8-AB53-BB9BA269002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95038" y="345856"/>
            <a:ext cx="1415976" cy="24625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sp>
        <p:nvSpPr>
          <p:cNvPr id="18" name="Textplatzhalter 21">
            <a:extLst>
              <a:ext uri="{FF2B5EF4-FFF2-40B4-BE49-F238E27FC236}">
                <a16:creationId xmlns:a16="http://schemas.microsoft.com/office/drawing/2014/main" id="{23442E91-2B83-3B07-E9B4-4B09A67AB3D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47300" y="5377912"/>
            <a:ext cx="4610002" cy="873663"/>
          </a:xfrm>
          <a:prstGeom prst="roundRect">
            <a:avLst>
              <a:gd name="adj" fmla="val 14422"/>
            </a:avLst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1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91308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387">
          <p15:clr>
            <a:srgbClr val="5ACBF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links + Bild rechts 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112348" y="0"/>
            <a:ext cx="6079651" cy="6858000"/>
          </a:xfrm>
          <a:prstGeom prst="rect">
            <a:avLst/>
          </a:prstGeom>
          <a:solidFill>
            <a:srgbClr val="00264C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06207" y="271305"/>
            <a:ext cx="5485744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1" y="6556875"/>
            <a:ext cx="5001942" cy="219454"/>
          </a:xfrm>
        </p:spPr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21" name="Textplatzhalter 13">
            <a:extLst>
              <a:ext uri="{FF2B5EF4-FFF2-40B4-BE49-F238E27FC236}">
                <a16:creationId xmlns:a16="http://schemas.microsoft.com/office/drawing/2014/main" id="{BBCE250A-42D7-D901-3D53-EF1E025A44A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814" y="1016000"/>
            <a:ext cx="5312063" cy="4903997"/>
          </a:xfrm>
        </p:spPr>
        <p:txBody>
          <a:bodyPr anchor="b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4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1B8BC4F8-94E9-E1DB-8010-0206E6E4ACC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79887" y="1015999"/>
            <a:ext cx="5312063" cy="4903997"/>
          </a:xfrm>
        </p:spPr>
        <p:txBody>
          <a:bodyPr anchor="t">
            <a:no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buNone/>
              <a:defRPr sz="4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DB6B9047-342F-6978-B394-95E4C69954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0B96CAB-F1B9-782B-02B9-5309B3D53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4707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40">
          <p15:clr>
            <a:srgbClr val="5ACBF0"/>
          </p15:clr>
        </p15:guide>
        <p15:guide id="2" orient="horz" pos="3725">
          <p15:clr>
            <a:srgbClr val="5ACBF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links + größeres Bild rechts 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208926" y="0"/>
            <a:ext cx="7983073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47822" y="271305"/>
            <a:ext cx="7344129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1" y="6556875"/>
            <a:ext cx="5001942" cy="219454"/>
          </a:xfrm>
        </p:spPr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80B668F0-0E9A-9BC2-B2E5-64DCC33D3D0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814" y="1803183"/>
            <a:ext cx="3616923" cy="1575816"/>
          </a:xfrm>
        </p:spPr>
        <p:txBody>
          <a:bodyPr anchor="t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4400" b="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9339C54E-BA73-A7D4-A8D7-1302B3DD8FA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2814" y="3623733"/>
            <a:ext cx="3616923" cy="2627842"/>
          </a:xfrm>
        </p:spPr>
        <p:txBody>
          <a:bodyPr anchor="t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85832F44-47F9-AD2B-8755-E4E356EEB7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9638BE7-8052-B9DE-3A28-0AEB35C20D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2398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5ACBF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links  + Text rech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9013F5DB-60EA-91C9-E066-77F534F06B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43091" y="1016000"/>
            <a:ext cx="4448860" cy="4903997"/>
          </a:xfrm>
        </p:spPr>
        <p:txBody>
          <a:bodyPr anchor="ctr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4000"/>
              </a:spcAft>
              <a:buNone/>
              <a:defRPr sz="3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6D5A9824-4341-6A3F-0DC0-A1B5C5034B73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0" y="0"/>
            <a:ext cx="6079651" cy="6858000"/>
          </a:xfrm>
          <a:prstGeom prst="rect">
            <a:avLst/>
          </a:prstGeom>
          <a:solidFill>
            <a:srgbClr val="00264C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5333" y="271305"/>
            <a:ext cx="552661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F8427037-BC78-80E8-AB53-BB9BA269002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95038" y="345856"/>
            <a:ext cx="1415976" cy="24625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1" y="6556875"/>
            <a:ext cx="5001942" cy="219454"/>
          </a:xfrm>
        </p:spPr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9487F053-7B65-ACBB-E7FC-283821DDEF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814" y="1016000"/>
            <a:ext cx="5312063" cy="4903997"/>
          </a:xfrm>
        </p:spPr>
        <p:txBody>
          <a:bodyPr anchor="b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4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829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25">
          <p15:clr>
            <a:srgbClr val="5ACBF0"/>
          </p15:clr>
        </p15:guide>
        <p15:guide id="2" orient="horz" pos="640">
          <p15:clr>
            <a:srgbClr val="5ACBF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oben + Bild unt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21">
            <a:extLst>
              <a:ext uri="{FF2B5EF4-FFF2-40B4-BE49-F238E27FC236}">
                <a16:creationId xmlns:a16="http://schemas.microsoft.com/office/drawing/2014/main" id="{134C2819-F58E-778D-4D16-1D02050301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2581" y="986335"/>
            <a:ext cx="1686838" cy="455874"/>
          </a:xfrm>
          <a:prstGeom prst="roundRect">
            <a:avLst>
              <a:gd name="adj" fmla="val 27639"/>
            </a:avLst>
          </a:prstGeom>
          <a:solidFill>
            <a:schemeClr val="tx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800" b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0" y="2641598"/>
            <a:ext cx="12192000" cy="4216401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ADAACFD-360C-5201-4331-9481888EB9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2" name="Titel 14">
            <a:extLst>
              <a:ext uri="{FF2B5EF4-FFF2-40B4-BE49-F238E27FC236}">
                <a16:creationId xmlns:a16="http://schemas.microsoft.com/office/drawing/2014/main" id="{E5247B9E-E1D0-F1B0-34C9-3EF89DD3B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463" y="1472355"/>
            <a:ext cx="11395074" cy="963759"/>
          </a:xfrm>
        </p:spPr>
        <p:txBody>
          <a:bodyPr anchor="ctr">
            <a:noAutofit/>
          </a:bodyPr>
          <a:lstStyle>
            <a:lvl1pPr algn="ctr">
              <a:defRPr sz="5400" b="0">
                <a:solidFill>
                  <a:schemeClr val="tx1"/>
                </a:solidFill>
              </a:defRPr>
            </a:lvl1pPr>
          </a:lstStyle>
          <a:p>
            <a:r>
              <a:rPr lang="de-AT" noProof="0"/>
              <a:t>Headline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3B1D025-34F0-F707-AC6F-F38CC623C3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6651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18">
          <p15:clr>
            <a:srgbClr val="5ACBF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oben + Text unt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5E02234-C335-9955-F394-203398EFF76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5037" y="4118981"/>
            <a:ext cx="5159601" cy="694971"/>
          </a:xfrm>
          <a:prstGeom prst="roundRect">
            <a:avLst>
              <a:gd name="adj" fmla="val 18130"/>
            </a:avLst>
          </a:prstGeom>
          <a:solidFill>
            <a:schemeClr val="tx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91102CC-A5AA-63C9-D02E-13766D7F0F3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0" y="1"/>
            <a:ext cx="12192000" cy="3429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ADAACFD-360C-5201-4331-9481888EB9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2" name="Titel 14">
            <a:extLst>
              <a:ext uri="{FF2B5EF4-FFF2-40B4-BE49-F238E27FC236}">
                <a16:creationId xmlns:a16="http://schemas.microsoft.com/office/drawing/2014/main" id="{E5247B9E-E1D0-F1B0-34C9-3EF89DD3B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463" y="1472355"/>
            <a:ext cx="11395074" cy="963759"/>
          </a:xfrm>
        </p:spPr>
        <p:txBody>
          <a:bodyPr anchor="ctr">
            <a:noAutofit/>
          </a:bodyPr>
          <a:lstStyle>
            <a:lvl1pPr algn="ctr">
              <a:defRPr sz="5400" b="0">
                <a:solidFill>
                  <a:schemeClr val="tx1"/>
                </a:solidFill>
              </a:defRPr>
            </a:lvl1pPr>
          </a:lstStyle>
          <a:p>
            <a:r>
              <a:rPr lang="de-AT" noProof="0"/>
              <a:t>Headline</a:t>
            </a:r>
          </a:p>
        </p:txBody>
      </p:sp>
      <p:sp>
        <p:nvSpPr>
          <p:cNvPr id="23" name="Textplatzhalter 21">
            <a:extLst>
              <a:ext uri="{FF2B5EF4-FFF2-40B4-BE49-F238E27FC236}">
                <a16:creationId xmlns:a16="http://schemas.microsoft.com/office/drawing/2014/main" id="{B9789406-923B-F4B8-BD19-6CE3C162056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5037" y="5251745"/>
            <a:ext cx="5159601" cy="694971"/>
          </a:xfrm>
          <a:prstGeom prst="roundRect">
            <a:avLst>
              <a:gd name="adj" fmla="val 18130"/>
            </a:avLst>
          </a:prstGeom>
          <a:solidFill>
            <a:schemeClr val="tx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4" name="Textplatzhalter 21">
            <a:extLst>
              <a:ext uri="{FF2B5EF4-FFF2-40B4-BE49-F238E27FC236}">
                <a16:creationId xmlns:a16="http://schemas.microsoft.com/office/drawing/2014/main" id="{8B4F6CD0-D36F-6531-9E6F-814372B6CB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32349" y="4118981"/>
            <a:ext cx="5159601" cy="694971"/>
          </a:xfrm>
          <a:prstGeom prst="roundRect">
            <a:avLst>
              <a:gd name="adj" fmla="val 18130"/>
            </a:avLst>
          </a:prstGeom>
          <a:solidFill>
            <a:schemeClr val="tx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5" name="Textplatzhalter 21">
            <a:extLst>
              <a:ext uri="{FF2B5EF4-FFF2-40B4-BE49-F238E27FC236}">
                <a16:creationId xmlns:a16="http://schemas.microsoft.com/office/drawing/2014/main" id="{1D2312D9-1AA6-E7E9-B24B-7763DCA36A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2349" y="5251745"/>
            <a:ext cx="5159601" cy="694971"/>
          </a:xfrm>
          <a:prstGeom prst="roundRect">
            <a:avLst>
              <a:gd name="adj" fmla="val 18130"/>
            </a:avLst>
          </a:prstGeom>
          <a:solidFill>
            <a:schemeClr val="tx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Clr>
                <a:schemeClr val="bg1"/>
              </a:buClr>
              <a:buNone/>
              <a:defRPr sz="1600" b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6" name="Textplatzhalter 2">
            <a:extLst>
              <a:ext uri="{FF2B5EF4-FFF2-40B4-BE49-F238E27FC236}">
                <a16:creationId xmlns:a16="http://schemas.microsoft.com/office/drawing/2014/main" id="{60E337AD-8D95-156E-B242-9D810E6F1E35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95038" y="345856"/>
            <a:ext cx="1415976" cy="24625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889C224-9A37-0807-727F-E71BCBE18B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4216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591">
          <p15:clr>
            <a:srgbClr val="5ACBF0"/>
          </p15:clr>
        </p15:guide>
        <p15:guide id="2" orient="horz" pos="3748">
          <p15:clr>
            <a:srgbClr val="5ACBF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1 + 3 Bil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ACCF73E8-10B0-0B84-1404-85AABDF6467C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  <a:gradFill>
            <a:gsLst>
              <a:gs pos="29000">
                <a:srgbClr val="005CA9"/>
              </a:gs>
              <a:gs pos="100000">
                <a:srgbClr val="A5C8FF"/>
              </a:gs>
              <a:gs pos="72000">
                <a:srgbClr val="5492E3"/>
              </a:gs>
            </a:gsLst>
            <a:lin ang="18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-1" y="-1"/>
            <a:ext cx="12192000" cy="6858000"/>
          </a:xfrm>
          <a:prstGeom prst="rect">
            <a:avLst/>
          </a:prstGeom>
          <a:gradFill>
            <a:gsLst>
              <a:gs pos="29000">
                <a:srgbClr val="005CA9"/>
              </a:gs>
              <a:gs pos="100000">
                <a:srgbClr val="A5C8FF"/>
              </a:gs>
              <a:gs pos="72000">
                <a:srgbClr val="5492E3"/>
              </a:gs>
            </a:gsLst>
            <a:lin ang="18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54B1E-EE8E-9B42-8826-03AB784C90A8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FF5981-2895-C798-0C92-59C1B191DA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" name="Bildplatzhalter 11">
            <a:extLst>
              <a:ext uri="{FF2B5EF4-FFF2-40B4-BE49-F238E27FC236}">
                <a16:creationId xmlns:a16="http://schemas.microsoft.com/office/drawing/2014/main" id="{316C6D6D-16BB-8646-E58E-CAAD2A8A86C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00237" y="1507959"/>
            <a:ext cx="3695790" cy="3842082"/>
          </a:xfrm>
          <a:prstGeom prst="roundRect">
            <a:avLst>
              <a:gd name="adj" fmla="val 3409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8" name="Bildplatzhalter 11">
            <a:extLst>
              <a:ext uri="{FF2B5EF4-FFF2-40B4-BE49-F238E27FC236}">
                <a16:creationId xmlns:a16="http://schemas.microsoft.com/office/drawing/2014/main" id="{076C221C-A1EE-7021-275B-815D27E4B57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48246" y="1507959"/>
            <a:ext cx="3695790" cy="3842082"/>
          </a:xfrm>
          <a:prstGeom prst="roundRect">
            <a:avLst>
              <a:gd name="adj" fmla="val 3409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0" name="Bildplatzhalter 11">
            <a:extLst>
              <a:ext uri="{FF2B5EF4-FFF2-40B4-BE49-F238E27FC236}">
                <a16:creationId xmlns:a16="http://schemas.microsoft.com/office/drawing/2014/main" id="{A2730ED5-2673-B04B-7E4C-FFD96DD2D51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96254" y="1507959"/>
            <a:ext cx="3695790" cy="3842082"/>
          </a:xfrm>
          <a:prstGeom prst="roundRect">
            <a:avLst>
              <a:gd name="adj" fmla="val 3409"/>
            </a:avLst>
          </a:prstGeom>
          <a:pattFill prst="ltDnDiag">
            <a:fgClr>
              <a:schemeClr val="bg1"/>
            </a:fgClr>
            <a:bgClr>
              <a:schemeClr val="tx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D6A7D0DD-BCA8-0AE5-526E-55FE556AC15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00236" y="5544567"/>
            <a:ext cx="3695789" cy="70700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7213C2DD-ED92-586E-9FCB-C0774E184F9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48246" y="5544567"/>
            <a:ext cx="3695789" cy="70700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0A0DE34-7C14-0DCF-3443-30D57AE062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096254" y="5544567"/>
            <a:ext cx="3695789" cy="70700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605AB16-8607-0578-B12F-6658CBD4BB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381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946">
          <p15:clr>
            <a:srgbClr val="5ACBF0"/>
          </p15:clr>
        </p15:guide>
        <p15:guide id="2" orient="horz" pos="3372">
          <p15:clr>
            <a:srgbClr val="5ACBF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iß_Blau + 3 Textfelder + 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CE898E0-4463-731D-C77B-A26E818186C3}"/>
              </a:ext>
            </a:extLst>
          </p:cNvPr>
          <p:cNvSpPr/>
          <p:nvPr userDrawn="1"/>
        </p:nvSpPr>
        <p:spPr>
          <a:xfrm>
            <a:off x="0" y="2641600"/>
            <a:ext cx="12192000" cy="4216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AT" sz="1600" noProof="0">
              <a:solidFill>
                <a:schemeClr val="tx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5FE332B-7ABC-895B-262C-FABC5EE7A1C1}"/>
              </a:ext>
            </a:extLst>
          </p:cNvPr>
          <p:cNvSpPr/>
          <p:nvPr/>
        </p:nvSpPr>
        <p:spPr>
          <a:xfrm>
            <a:off x="0" y="2641600"/>
            <a:ext cx="12192000" cy="4216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AT" sz="1600" noProof="0">
              <a:solidFill>
                <a:schemeClr val="tx1"/>
              </a:solidFill>
            </a:endParaRPr>
          </a:p>
        </p:txBody>
      </p:sp>
      <p:sp>
        <p:nvSpPr>
          <p:cNvPr id="28" name="Textplatzhalter 21">
            <a:extLst>
              <a:ext uri="{FF2B5EF4-FFF2-40B4-BE49-F238E27FC236}">
                <a16:creationId xmlns:a16="http://schemas.microsoft.com/office/drawing/2014/main" id="{31DC8F40-CA89-035D-9FB9-427A98671A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0237" y="3125337"/>
            <a:ext cx="3569640" cy="3126237"/>
          </a:xfrm>
          <a:prstGeom prst="roundRect">
            <a:avLst>
              <a:gd name="adj" fmla="val 4857"/>
            </a:avLst>
          </a:prstGeom>
          <a:solidFill>
            <a:schemeClr val="bg1"/>
          </a:solidFill>
        </p:spPr>
        <p:txBody>
          <a:bodyPr lIns="180000" tIns="1512000" rIns="180000" bIns="0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4pPr marL="1371600" indent="0">
              <a:buNone/>
              <a:defRPr/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9" name="Textplatzhalter 21">
            <a:extLst>
              <a:ext uri="{FF2B5EF4-FFF2-40B4-BE49-F238E27FC236}">
                <a16:creationId xmlns:a16="http://schemas.microsoft.com/office/drawing/2014/main" id="{9E61F644-2FD9-2A07-4886-EEEC2CEF430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11273" y="3125337"/>
            <a:ext cx="3569640" cy="3126237"/>
          </a:xfrm>
          <a:prstGeom prst="roundRect">
            <a:avLst>
              <a:gd name="adj" fmla="val 4857"/>
            </a:avLst>
          </a:prstGeom>
          <a:solidFill>
            <a:schemeClr val="bg1"/>
          </a:solidFill>
        </p:spPr>
        <p:txBody>
          <a:bodyPr lIns="180000" tIns="1512000" rIns="180000" bIns="0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4pPr marL="1371600" indent="0">
              <a:buNone/>
              <a:defRPr/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30" name="Textplatzhalter 21">
            <a:extLst>
              <a:ext uri="{FF2B5EF4-FFF2-40B4-BE49-F238E27FC236}">
                <a16:creationId xmlns:a16="http://schemas.microsoft.com/office/drawing/2014/main" id="{117BE5BF-C985-A083-F058-60446210499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22310" y="3125337"/>
            <a:ext cx="3569640" cy="3126237"/>
          </a:xfrm>
          <a:prstGeom prst="roundRect">
            <a:avLst>
              <a:gd name="adj" fmla="val 4857"/>
            </a:avLst>
          </a:prstGeom>
          <a:solidFill>
            <a:schemeClr val="bg1"/>
          </a:solidFill>
        </p:spPr>
        <p:txBody>
          <a:bodyPr lIns="180000" tIns="1512000" rIns="180000" bIns="0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4pPr marL="1371600" indent="0">
              <a:buNone/>
              <a:defRPr/>
            </a:lvl4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20" name="Bildplatzhalter 37">
            <a:extLst>
              <a:ext uri="{FF2B5EF4-FFF2-40B4-BE49-F238E27FC236}">
                <a16:creationId xmlns:a16="http://schemas.microsoft.com/office/drawing/2014/main" id="{9007CD21-E331-59DD-B6E6-FAB99FA4476D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1667857" y="3397307"/>
            <a:ext cx="1034401" cy="103440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AC1EB0-53BB-3243-9B08-2A1EA0BAFB8B}" type="datetime1">
              <a:rPr lang="de-AT" noProof="0" smtClean="0"/>
              <a:pPr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7EC30D-3A59-BA2D-1AD4-95F7782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EF1FF3B-93E2-2DFC-88A6-C75FE9232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A5A8C102-C7AE-E1B1-4044-521B5D7B79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76" y="917607"/>
            <a:ext cx="11395074" cy="1107996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AT" noProof="0"/>
              <a:t>Headline</a:t>
            </a:r>
            <a:br>
              <a:rPr lang="de-AT" noProof="0"/>
            </a:br>
            <a:r>
              <a:rPr lang="de-AT" b="0" noProof="0"/>
              <a:t>Headline</a:t>
            </a:r>
          </a:p>
        </p:txBody>
      </p:sp>
      <p:sp>
        <p:nvSpPr>
          <p:cNvPr id="24" name="Bildplatzhalter 37">
            <a:extLst>
              <a:ext uri="{FF2B5EF4-FFF2-40B4-BE49-F238E27FC236}">
                <a16:creationId xmlns:a16="http://schemas.microsoft.com/office/drawing/2014/main" id="{D581CC89-6C5D-A65C-46DB-83A88F5A16CB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5578893" y="3397307"/>
            <a:ext cx="1034401" cy="103440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AT" noProof="0"/>
              <a:t>Icon</a:t>
            </a:r>
          </a:p>
        </p:txBody>
      </p:sp>
      <p:sp>
        <p:nvSpPr>
          <p:cNvPr id="27" name="Bildplatzhalter 37">
            <a:extLst>
              <a:ext uri="{FF2B5EF4-FFF2-40B4-BE49-F238E27FC236}">
                <a16:creationId xmlns:a16="http://schemas.microsoft.com/office/drawing/2014/main" id="{7883BF61-1DC2-091D-76A4-AD4CE358326C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489930" y="3397308"/>
            <a:ext cx="1034401" cy="103440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AT" noProof="0"/>
              <a:t>Icon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8D06AB6-D205-4BAD-9A0A-4BDB874A03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4705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5ACBF0"/>
          </p15:clr>
        </p15:guide>
        <p15:guide id="2" orient="horz" pos="3940">
          <p15:clr>
            <a:srgbClr val="5ACBF0"/>
          </p15:clr>
        </p15:guide>
        <p15:guide id="3" orient="horz" pos="1967">
          <p15:clr>
            <a:srgbClr val="5ACBF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IQA Bla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2A66D-DFCE-334C-BD3A-FC71B59CD867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19919588-06BF-CF90-2F5F-13D15DB99A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DE9F97FF-2E68-7F80-F075-0C044016AFF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13">
            <a:extLst>
              <a:ext uri="{FF2B5EF4-FFF2-40B4-BE49-F238E27FC236}">
                <a16:creationId xmlns:a16="http://schemas.microsoft.com/office/drawing/2014/main" id="{DCF544EE-9874-C9B2-0DF6-496BC7890B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876" y="1808163"/>
            <a:ext cx="11395074" cy="4443412"/>
          </a:xfrm>
        </p:spPr>
        <p:txBody>
          <a:bodyPr wrap="square" anchor="t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40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595255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1 +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30B21BD-4326-95E7-615D-BAB10A3DCB93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  <a:gradFill>
            <a:gsLst>
              <a:gs pos="29000">
                <a:srgbClr val="005CA9"/>
              </a:gs>
              <a:gs pos="100000">
                <a:srgbClr val="A5C8FF"/>
              </a:gs>
              <a:gs pos="72000">
                <a:srgbClr val="5492E3"/>
              </a:gs>
            </a:gsLst>
            <a:lin ang="18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54B1E-EE8E-9B42-8826-03AB784C90A8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FF5981-2895-C798-0C92-59C1B191DA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9" name="Textplatzhalter 13">
            <a:extLst>
              <a:ext uri="{FF2B5EF4-FFF2-40B4-BE49-F238E27FC236}">
                <a16:creationId xmlns:a16="http://schemas.microsoft.com/office/drawing/2014/main" id="{DFF7941A-9130-7A7B-108A-18590B26EE4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876" y="1808163"/>
            <a:ext cx="11395074" cy="4443412"/>
          </a:xfrm>
        </p:spPr>
        <p:txBody>
          <a:bodyPr wrap="square" anchor="t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40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21F1563-A380-881F-C66A-E21F84A9F3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602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5ACBF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2 +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43362708-AE5F-2424-E2BB-4AFD53628521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  <a:gradFill flip="none" rotWithShape="1">
            <a:gsLst>
              <a:gs pos="90000">
                <a:srgbClr val="005CA9"/>
              </a:gs>
              <a:gs pos="0">
                <a:srgbClr val="71ADFF"/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FD7440A-ABE8-9EB8-477B-180253DEFEA9}"/>
              </a:ext>
            </a:extLst>
          </p:cNvPr>
          <p:cNvSpPr/>
          <p:nvPr/>
        </p:nvSpPr>
        <p:spPr>
          <a:xfrm>
            <a:off x="-1" y="-1"/>
            <a:ext cx="12192000" cy="6858000"/>
          </a:xfrm>
          <a:prstGeom prst="rect">
            <a:avLst/>
          </a:prstGeom>
          <a:gradFill flip="none" rotWithShape="1">
            <a:gsLst>
              <a:gs pos="90000">
                <a:srgbClr val="005CA9"/>
              </a:gs>
              <a:gs pos="0">
                <a:srgbClr val="71ADFF"/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D20BD-985F-B24C-AB1B-306C4174C38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4AE7F5F-7721-5C1A-4648-78A635DFB0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2" name="Textplatzhalter 13">
            <a:extLst>
              <a:ext uri="{FF2B5EF4-FFF2-40B4-BE49-F238E27FC236}">
                <a16:creationId xmlns:a16="http://schemas.microsoft.com/office/drawing/2014/main" id="{8A2DA6C3-0642-66F4-7872-14CCD111F0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876" y="1808163"/>
            <a:ext cx="11395074" cy="4443412"/>
          </a:xfrm>
        </p:spPr>
        <p:txBody>
          <a:bodyPr wrap="square" anchor="t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40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1B0D30B-9D3D-D6D4-F27A-72FCC6F1FA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5673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5ACBF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4 + Text + Bild 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4AF809C-9E39-1A44-81C9-732CDC5BE660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55000">
                <a:schemeClr val="bg1"/>
              </a:gs>
              <a:gs pos="14000">
                <a:schemeClr val="bg1"/>
              </a:gs>
              <a:gs pos="100000">
                <a:srgbClr val="6393C6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55000">
                <a:schemeClr val="bg1"/>
              </a:gs>
              <a:gs pos="14000">
                <a:schemeClr val="bg1"/>
              </a:gs>
              <a:gs pos="100000">
                <a:srgbClr val="6393C6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platzhalter 13">
            <a:extLst>
              <a:ext uri="{FF2B5EF4-FFF2-40B4-BE49-F238E27FC236}">
                <a16:creationId xmlns:a16="http://schemas.microsoft.com/office/drawing/2014/main" id="{1EA7E588-BB1B-4D8B-714A-331B9CF47D2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876" y="1808163"/>
            <a:ext cx="11395074" cy="4443412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914C8-7C5F-FE49-BF49-2F889180DDF4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8" name="Textplatzhalter 5">
            <a:extLst>
              <a:ext uri="{FF2B5EF4-FFF2-40B4-BE49-F238E27FC236}">
                <a16:creationId xmlns:a16="http://schemas.microsoft.com/office/drawing/2014/main" id="{921AC4C9-F7BA-B282-2451-EE4463ED1C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0D7D275D-13F3-898C-B158-EBE16D12C5A0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417416" y="1135405"/>
            <a:ext cx="5372101" cy="5722595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B36BE31-0770-3387-A09D-0ED48CBD97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3885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5ACBF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5 + blaue Form mit Text + Bild 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366C960-AE82-4DE6-3224-F44988D814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extplatzhalter 21">
            <a:extLst>
              <a:ext uri="{FF2B5EF4-FFF2-40B4-BE49-F238E27FC236}">
                <a16:creationId xmlns:a16="http://schemas.microsoft.com/office/drawing/2014/main" id="{E2B2D849-D938-48CD-3A96-04DB0D14C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05050" y="2203696"/>
            <a:ext cx="9163053" cy="3511304"/>
          </a:xfrm>
          <a:prstGeom prst="roundRect">
            <a:avLst>
              <a:gd name="adj" fmla="val 3588"/>
            </a:avLst>
          </a:prstGeom>
          <a:solidFill>
            <a:schemeClr val="accent6"/>
          </a:solidFill>
        </p:spPr>
        <p:txBody>
          <a:bodyPr lIns="1368000" tIns="0" rIns="0" bIns="0" anchor="ctr">
            <a:noAutofit/>
          </a:bodyPr>
          <a:lstStyle>
            <a:lvl1pPr marL="0" indent="0" algn="l">
              <a:spcBef>
                <a:spcPts val="0"/>
              </a:spcBef>
              <a:buClr>
                <a:schemeClr val="bg1"/>
              </a:buClr>
              <a:buNone/>
              <a:defRPr sz="6000" b="1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3A14E167-39B9-9C54-31FA-0970BD3BF0C6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00050" y="1108406"/>
            <a:ext cx="3733800" cy="5749594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6766B3F-0AA3-3EBB-7246-DA9BF9F5BB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209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89">
          <p15:clr>
            <a:srgbClr val="5ACBF0"/>
          </p15:clr>
        </p15:guide>
        <p15:guide id="2" orient="horz" pos="3603">
          <p15:clr>
            <a:srgbClr val="5ACBF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5 + Bild +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81C47D8-5CC1-AF33-330B-C97D11459D6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9" name="Bildplatzhalter 2">
            <a:extLst>
              <a:ext uri="{FF2B5EF4-FFF2-40B4-BE49-F238E27FC236}">
                <a16:creationId xmlns:a16="http://schemas.microsoft.com/office/drawing/2014/main" id="{CA733F10-6FBB-75DA-1526-E6698C11C23A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00050" y="1108406"/>
            <a:ext cx="7829550" cy="5749594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0" name="Textplatzhalter 13">
            <a:extLst>
              <a:ext uri="{FF2B5EF4-FFF2-40B4-BE49-F238E27FC236}">
                <a16:creationId xmlns:a16="http://schemas.microsoft.com/office/drawing/2014/main" id="{670B457E-F786-333D-4D58-A64A600937F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93867" y="1682295"/>
            <a:ext cx="6598083" cy="4569280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F2FA06E-2342-CE8D-D07F-5CAA757EC8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072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49">
          <p15:clr>
            <a:srgbClr val="5ACBF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ild vollflächi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>
            <a:extLst>
              <a:ext uri="{FF2B5EF4-FFF2-40B4-BE49-F238E27FC236}">
                <a16:creationId xmlns:a16="http://schemas.microsoft.com/office/drawing/2014/main" id="{3FF29A22-035E-20D7-0765-D6C3FB19303B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4E3C9492-034D-5506-222F-6E44C964A86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95038" y="345856"/>
            <a:ext cx="1415976" cy="24625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 noProof="0"/>
              <a:t>.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71FA70C8-18AB-A4A8-5EC2-29ECBC123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875" y="6556875"/>
            <a:ext cx="588192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fld id="{A59CD13C-BBB2-EB46-B570-08D6E3877884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AEDB545B-D710-2DBF-CD8E-E53396AA2B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010" y="6556875"/>
            <a:ext cx="6127477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D00CC7C-2BC5-2455-3756-558A46667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3759" y="6556875"/>
            <a:ext cx="588191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A58712F-B9FD-4486-4173-2E9568410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</p:spTree>
    <p:extLst>
      <p:ext uri="{BB962C8B-B14F-4D97-AF65-F5344CB8AC3E}">
        <p14:creationId xmlns:p14="http://schemas.microsoft.com/office/powerpoint/2010/main" val="39925641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6C83138-BB26-4741-1BDC-F26CE11E24A2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  <a:gradFill>
            <a:gsLst>
              <a:gs pos="29000">
                <a:srgbClr val="005CA9"/>
              </a:gs>
              <a:gs pos="100000">
                <a:srgbClr val="A5C8FF"/>
              </a:gs>
              <a:gs pos="72000">
                <a:srgbClr val="5492E3"/>
              </a:gs>
            </a:gsLst>
            <a:lin ang="18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-1" y="-1"/>
            <a:ext cx="12192000" cy="6858000"/>
          </a:xfrm>
          <a:prstGeom prst="rect">
            <a:avLst/>
          </a:prstGeom>
          <a:gradFill>
            <a:gsLst>
              <a:gs pos="29000">
                <a:srgbClr val="005CA9"/>
              </a:gs>
              <a:gs pos="100000">
                <a:srgbClr val="A5C8FF"/>
              </a:gs>
              <a:gs pos="72000">
                <a:srgbClr val="5492E3"/>
              </a:gs>
            </a:gsLst>
            <a:lin ang="18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54B1E-EE8E-9B42-8826-03AB784C90A8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FF5981-2895-C798-0C92-59C1B191DA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6B3C506-584C-65AE-2F0D-D8C35422BD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046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86260CD-4B4F-353B-1875-78E81571B789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  <a:gradFill flip="none" rotWithShape="1">
            <a:gsLst>
              <a:gs pos="90000">
                <a:srgbClr val="005CA9"/>
              </a:gs>
              <a:gs pos="0">
                <a:srgbClr val="71ADFF"/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FD7440A-ABE8-9EB8-477B-180253DEFEA9}"/>
              </a:ext>
            </a:extLst>
          </p:cNvPr>
          <p:cNvSpPr/>
          <p:nvPr/>
        </p:nvSpPr>
        <p:spPr>
          <a:xfrm>
            <a:off x="-1" y="-1"/>
            <a:ext cx="12192000" cy="6858000"/>
          </a:xfrm>
          <a:prstGeom prst="rect">
            <a:avLst/>
          </a:prstGeom>
          <a:gradFill flip="none" rotWithShape="1">
            <a:gsLst>
              <a:gs pos="90000">
                <a:srgbClr val="005CA9"/>
              </a:gs>
              <a:gs pos="0">
                <a:srgbClr val="71ADFF"/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D20BD-985F-B24C-AB1B-306C4174C38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4AE7F5F-7721-5C1A-4648-78A635DFB0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475795F-DB14-C9DB-2626-C959EC8176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3644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BB23F233-FF94-CDB5-B450-929B3EC79131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55000">
                <a:schemeClr val="bg1"/>
              </a:gs>
              <a:gs pos="14000">
                <a:schemeClr val="bg1"/>
              </a:gs>
              <a:gs pos="100000">
                <a:srgbClr val="6393C6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55000">
                <a:schemeClr val="bg1"/>
              </a:gs>
              <a:gs pos="14000">
                <a:schemeClr val="bg1"/>
              </a:gs>
              <a:gs pos="100000">
                <a:srgbClr val="6393C6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914C8-7C5F-FE49-BF49-2F889180DDF4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8" name="Textplatzhalter 5">
            <a:extLst>
              <a:ext uri="{FF2B5EF4-FFF2-40B4-BE49-F238E27FC236}">
                <a16:creationId xmlns:a16="http://schemas.microsoft.com/office/drawing/2014/main" id="{921AC4C9-F7BA-B282-2451-EE4463ED1C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15C5D54-5C79-3A9E-01A5-55D4BB491F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3261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 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565A09C2-2C97-9731-038A-517C071CB27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61B1AF-0D59-8AE0-D00A-23CE4ACD77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bg1"/>
              </a:gs>
              <a:gs pos="99000">
                <a:schemeClr val="bg1"/>
              </a:gs>
              <a:gs pos="56000">
                <a:srgbClr val="5B92C5"/>
              </a:gs>
              <a:gs pos="67000">
                <a:srgbClr val="6796C7"/>
              </a:gs>
              <a:gs pos="76000">
                <a:srgbClr val="5E92C5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FDE14F-B487-A205-EFEF-496D341D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013E7CE-67F4-C37A-F342-765ECC972B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494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+ Bil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013E7CE-67F4-C37A-F342-765ECC972B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A04B3C58-63F7-6491-8DE4-4C3E66008335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112349" y="0"/>
            <a:ext cx="6079651" cy="68580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51B4BE4C-EF8B-A124-B931-94A022B5EB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876" y="1808163"/>
            <a:ext cx="5211444" cy="2992437"/>
          </a:xfrm>
        </p:spPr>
        <p:txBody>
          <a:bodyPr wrap="square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 err="1"/>
              <a:t>Thank</a:t>
            </a:r>
            <a:r>
              <a:rPr lang="de-AT" noProof="0"/>
              <a:t> </a:t>
            </a:r>
            <a:r>
              <a:rPr lang="de-AT" noProof="0" err="1"/>
              <a:t>you</a:t>
            </a:r>
            <a:r>
              <a:rPr lang="de-AT" noProof="0"/>
              <a:t> </a:t>
            </a:r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B7800E84-48C2-B591-51A4-0105DC84120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96876" y="5013960"/>
            <a:ext cx="5211444" cy="1237616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601485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0">
          <p15:clr>
            <a:srgbClr val="5ACBF0"/>
          </p15:clr>
        </p15:guide>
        <p15:guide id="2" orient="horz" pos="3940">
          <p15:clr>
            <a:srgbClr val="5ACBF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8D7007-EC23-93DF-6BD9-791DED19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7BDC-06F4-7447-B58C-FC8D55745D4D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3EA44D-E1D5-A92B-1600-E160F101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err="1"/>
              <a:t>UNIQA_Folienmaster</a:t>
            </a:r>
            <a:endParaRPr lang="de-AT" noProof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D9FCFE-4800-A646-DF83-47FD25753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013E7CE-67F4-C37A-F342-765ECC972B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3B1472-5873-DB03-38FA-EB09E25889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4313" y="271305"/>
            <a:ext cx="8817638" cy="346931"/>
          </a:xfrm>
        </p:spPr>
        <p:txBody>
          <a:bodyPr anchor="b">
            <a:normAutofit/>
          </a:bodyPr>
          <a:lstStyle>
            <a:lvl1pPr marL="0" indent="0" algn="r">
              <a:spcBef>
                <a:spcPts val="0"/>
              </a:spcBef>
              <a:buNone/>
              <a:defRPr sz="1100"/>
            </a:lvl1pPr>
          </a:lstStyle>
          <a:p>
            <a:pPr lvl="0"/>
            <a:r>
              <a:rPr lang="de-AT" noProof="0"/>
              <a:t>Kapitelname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51B4BE4C-EF8B-A124-B931-94A022B5EB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876" y="1808163"/>
            <a:ext cx="11395074" cy="2992437"/>
          </a:xfrm>
        </p:spPr>
        <p:txBody>
          <a:bodyPr wrap="square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 err="1"/>
              <a:t>Thank</a:t>
            </a:r>
            <a:r>
              <a:rPr lang="de-AT" noProof="0"/>
              <a:t> </a:t>
            </a:r>
            <a:r>
              <a:rPr lang="de-AT" noProof="0" err="1"/>
              <a:t>you</a:t>
            </a:r>
            <a:r>
              <a:rPr lang="de-AT" noProof="0"/>
              <a:t> </a:t>
            </a:r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B7800E84-48C2-B591-51A4-0105DC84120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96876" y="5013960"/>
            <a:ext cx="11395074" cy="1237616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de-AT" noProof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84190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30">
          <p15:clr>
            <a:srgbClr val="5ACBF0"/>
          </p15:clr>
        </p15:guide>
        <p15:guide id="2" orient="horz" pos="3940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tags" Target="../tags/tag3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95.xml"/><Relationship Id="rId21" Type="http://schemas.openxmlformats.org/officeDocument/2006/relationships/slideLayout" Target="../slideLayouts/slideLayout90.xml"/><Relationship Id="rId42" Type="http://schemas.openxmlformats.org/officeDocument/2006/relationships/slideLayout" Target="../slideLayouts/slideLayout111.xml"/><Relationship Id="rId47" Type="http://schemas.openxmlformats.org/officeDocument/2006/relationships/slideLayout" Target="../slideLayouts/slideLayout116.xml"/><Relationship Id="rId63" Type="http://schemas.openxmlformats.org/officeDocument/2006/relationships/slideLayout" Target="../slideLayouts/slideLayout132.xml"/><Relationship Id="rId68" Type="http://schemas.openxmlformats.org/officeDocument/2006/relationships/slideLayout" Target="../slideLayouts/slideLayout137.xml"/><Relationship Id="rId2" Type="http://schemas.openxmlformats.org/officeDocument/2006/relationships/slideLayout" Target="../slideLayouts/slideLayout71.xml"/><Relationship Id="rId16" Type="http://schemas.openxmlformats.org/officeDocument/2006/relationships/slideLayout" Target="../slideLayouts/slideLayout85.xml"/><Relationship Id="rId29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93.xml"/><Relationship Id="rId32" Type="http://schemas.openxmlformats.org/officeDocument/2006/relationships/slideLayout" Target="../slideLayouts/slideLayout101.xml"/><Relationship Id="rId37" Type="http://schemas.openxmlformats.org/officeDocument/2006/relationships/slideLayout" Target="../slideLayouts/slideLayout106.xml"/><Relationship Id="rId40" Type="http://schemas.openxmlformats.org/officeDocument/2006/relationships/slideLayout" Target="../slideLayouts/slideLayout109.xml"/><Relationship Id="rId45" Type="http://schemas.openxmlformats.org/officeDocument/2006/relationships/slideLayout" Target="../slideLayouts/slideLayout114.xml"/><Relationship Id="rId53" Type="http://schemas.openxmlformats.org/officeDocument/2006/relationships/slideLayout" Target="../slideLayouts/slideLayout122.xml"/><Relationship Id="rId58" Type="http://schemas.openxmlformats.org/officeDocument/2006/relationships/slideLayout" Target="../slideLayouts/slideLayout127.xml"/><Relationship Id="rId66" Type="http://schemas.openxmlformats.org/officeDocument/2006/relationships/slideLayout" Target="../slideLayouts/slideLayout135.xml"/><Relationship Id="rId74" Type="http://schemas.openxmlformats.org/officeDocument/2006/relationships/image" Target="../media/image1.emf"/><Relationship Id="rId5" Type="http://schemas.openxmlformats.org/officeDocument/2006/relationships/slideLayout" Target="../slideLayouts/slideLayout74.xml"/><Relationship Id="rId61" Type="http://schemas.openxmlformats.org/officeDocument/2006/relationships/slideLayout" Target="../slideLayouts/slideLayout130.xml"/><Relationship Id="rId19" Type="http://schemas.openxmlformats.org/officeDocument/2006/relationships/slideLayout" Target="../slideLayouts/slideLayout88.xml"/><Relationship Id="rId14" Type="http://schemas.openxmlformats.org/officeDocument/2006/relationships/slideLayout" Target="../slideLayouts/slideLayout83.xml"/><Relationship Id="rId22" Type="http://schemas.openxmlformats.org/officeDocument/2006/relationships/slideLayout" Target="../slideLayouts/slideLayout91.xml"/><Relationship Id="rId27" Type="http://schemas.openxmlformats.org/officeDocument/2006/relationships/slideLayout" Target="../slideLayouts/slideLayout96.xml"/><Relationship Id="rId30" Type="http://schemas.openxmlformats.org/officeDocument/2006/relationships/slideLayout" Target="../slideLayouts/slideLayout99.xml"/><Relationship Id="rId35" Type="http://schemas.openxmlformats.org/officeDocument/2006/relationships/slideLayout" Target="../slideLayouts/slideLayout104.xml"/><Relationship Id="rId43" Type="http://schemas.openxmlformats.org/officeDocument/2006/relationships/slideLayout" Target="../slideLayouts/slideLayout112.xml"/><Relationship Id="rId48" Type="http://schemas.openxmlformats.org/officeDocument/2006/relationships/slideLayout" Target="../slideLayouts/slideLayout117.xml"/><Relationship Id="rId56" Type="http://schemas.openxmlformats.org/officeDocument/2006/relationships/slideLayout" Target="../slideLayouts/slideLayout125.xml"/><Relationship Id="rId64" Type="http://schemas.openxmlformats.org/officeDocument/2006/relationships/slideLayout" Target="../slideLayouts/slideLayout133.xml"/><Relationship Id="rId69" Type="http://schemas.openxmlformats.org/officeDocument/2006/relationships/slideLayout" Target="../slideLayouts/slideLayout138.xml"/><Relationship Id="rId8" Type="http://schemas.openxmlformats.org/officeDocument/2006/relationships/slideLayout" Target="../slideLayouts/slideLayout77.xml"/><Relationship Id="rId51" Type="http://schemas.openxmlformats.org/officeDocument/2006/relationships/slideLayout" Target="../slideLayouts/slideLayout120.xml"/><Relationship Id="rId72" Type="http://schemas.openxmlformats.org/officeDocument/2006/relationships/tags" Target="../tags/tag5.xml"/><Relationship Id="rId3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81.xml"/><Relationship Id="rId17" Type="http://schemas.openxmlformats.org/officeDocument/2006/relationships/slideLayout" Target="../slideLayouts/slideLayout86.xml"/><Relationship Id="rId25" Type="http://schemas.openxmlformats.org/officeDocument/2006/relationships/slideLayout" Target="../slideLayouts/slideLayout94.xml"/><Relationship Id="rId33" Type="http://schemas.openxmlformats.org/officeDocument/2006/relationships/slideLayout" Target="../slideLayouts/slideLayout102.xml"/><Relationship Id="rId38" Type="http://schemas.openxmlformats.org/officeDocument/2006/relationships/slideLayout" Target="../slideLayouts/slideLayout107.xml"/><Relationship Id="rId46" Type="http://schemas.openxmlformats.org/officeDocument/2006/relationships/slideLayout" Target="../slideLayouts/slideLayout115.xml"/><Relationship Id="rId59" Type="http://schemas.openxmlformats.org/officeDocument/2006/relationships/slideLayout" Target="../slideLayouts/slideLayout128.xml"/><Relationship Id="rId67" Type="http://schemas.openxmlformats.org/officeDocument/2006/relationships/slideLayout" Target="../slideLayouts/slideLayout136.xml"/><Relationship Id="rId20" Type="http://schemas.openxmlformats.org/officeDocument/2006/relationships/slideLayout" Target="../slideLayouts/slideLayout89.xml"/><Relationship Id="rId41" Type="http://schemas.openxmlformats.org/officeDocument/2006/relationships/slideLayout" Target="../slideLayouts/slideLayout110.xml"/><Relationship Id="rId54" Type="http://schemas.openxmlformats.org/officeDocument/2006/relationships/slideLayout" Target="../slideLayouts/slideLayout123.xml"/><Relationship Id="rId62" Type="http://schemas.openxmlformats.org/officeDocument/2006/relationships/slideLayout" Target="../slideLayouts/slideLayout131.xml"/><Relationship Id="rId70" Type="http://schemas.openxmlformats.org/officeDocument/2006/relationships/theme" Target="../theme/theme2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84.xml"/><Relationship Id="rId23" Type="http://schemas.openxmlformats.org/officeDocument/2006/relationships/slideLayout" Target="../slideLayouts/slideLayout92.xml"/><Relationship Id="rId28" Type="http://schemas.openxmlformats.org/officeDocument/2006/relationships/slideLayout" Target="../slideLayouts/slideLayout97.xml"/><Relationship Id="rId36" Type="http://schemas.openxmlformats.org/officeDocument/2006/relationships/slideLayout" Target="../slideLayouts/slideLayout105.xml"/><Relationship Id="rId49" Type="http://schemas.openxmlformats.org/officeDocument/2006/relationships/slideLayout" Target="../slideLayouts/slideLayout118.xml"/><Relationship Id="rId57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79.xml"/><Relationship Id="rId31" Type="http://schemas.openxmlformats.org/officeDocument/2006/relationships/slideLayout" Target="../slideLayouts/slideLayout100.xml"/><Relationship Id="rId44" Type="http://schemas.openxmlformats.org/officeDocument/2006/relationships/slideLayout" Target="../slideLayouts/slideLayout113.xml"/><Relationship Id="rId52" Type="http://schemas.openxmlformats.org/officeDocument/2006/relationships/slideLayout" Target="../slideLayouts/slideLayout121.xml"/><Relationship Id="rId60" Type="http://schemas.openxmlformats.org/officeDocument/2006/relationships/slideLayout" Target="../slideLayouts/slideLayout129.xml"/><Relationship Id="rId65" Type="http://schemas.openxmlformats.org/officeDocument/2006/relationships/slideLayout" Target="../slideLayouts/slideLayout134.xml"/><Relationship Id="rId73" Type="http://schemas.openxmlformats.org/officeDocument/2006/relationships/oleObject" Target="../embeddings/oleObject1.bin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82.xml"/><Relationship Id="rId18" Type="http://schemas.openxmlformats.org/officeDocument/2006/relationships/slideLayout" Target="../slideLayouts/slideLayout87.xml"/><Relationship Id="rId39" Type="http://schemas.openxmlformats.org/officeDocument/2006/relationships/slideLayout" Target="../slideLayouts/slideLayout108.xml"/><Relationship Id="rId34" Type="http://schemas.openxmlformats.org/officeDocument/2006/relationships/slideLayout" Target="../slideLayouts/slideLayout103.xml"/><Relationship Id="rId50" Type="http://schemas.openxmlformats.org/officeDocument/2006/relationships/slideLayout" Target="../slideLayouts/slideLayout119.xml"/><Relationship Id="rId55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76.xml"/><Relationship Id="rId71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22A0A803-45ED-4E9E-AC17-D7FBCDBA34EC}"/>
              </a:ext>
            </a:extLst>
          </p:cNvPr>
          <p:cNvGraphicFramePr>
            <a:graphicFrameLocks noChangeAspect="1"/>
          </p:cNvGraphicFramePr>
          <p:nvPr>
            <p:custDataLst>
              <p:tags r:id="rId71"/>
            </p:custDataLst>
            <p:extLst>
              <p:ext uri="{D42A27DB-BD31-4B8C-83A1-F6EECF244321}">
                <p14:modId xmlns:p14="http://schemas.microsoft.com/office/powerpoint/2010/main" val="13352084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3" imgW="411" imgH="412" progId="TCLayout.ActiveDocument.1">
                  <p:embed/>
                </p:oleObj>
              </mc:Choice>
              <mc:Fallback>
                <p:oleObj name="think-cell Slide" r:id="rId73" imgW="411" imgH="412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22A0A803-45ED-4E9E-AC17-D7FBCDBA34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765A233-BE70-43F9-810C-13139BE5D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76" y="365125"/>
            <a:ext cx="11395074" cy="10396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de-AT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0788AF5-789D-4C61-9C18-D1B0DF7DD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876" y="1808163"/>
            <a:ext cx="11395074" cy="4443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712E8A-280C-4CEC-9EA7-933F3251A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875" y="6556875"/>
            <a:ext cx="588192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fld id="{F2339155-F0A4-8949-9A41-8C368C13357E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A2971B-3E47-4B80-9470-25503E740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010" y="6556875"/>
            <a:ext cx="6127477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C6E529-9BC8-44A8-8052-B611D7597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3759" y="6556875"/>
            <a:ext cx="588191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5BDD6B68-FE23-D43A-03BA-F9409FFDE9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2"/>
            </p:custDataLst>
            <p:extLst>
              <p:ext uri="{D42A27DB-BD31-4B8C-83A1-F6EECF244321}">
                <p14:modId xmlns:p14="http://schemas.microsoft.com/office/powerpoint/2010/main" val="13352084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73" imgW="411" imgH="412" progId="TCLayout.ActiveDocument.1">
                  <p:embed/>
                </p:oleObj>
              </mc:Choice>
              <mc:Fallback>
                <p:oleObj name="think-cell Folie" r:id="rId73" imgW="411" imgH="412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5BDD6B68-FE23-D43A-03BA-F9409FFDE9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86272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8" r:id="rId1"/>
    <p:sldLayoutId id="2147483948" r:id="rId2"/>
    <p:sldLayoutId id="2147483887" r:id="rId3"/>
    <p:sldLayoutId id="2147483949" r:id="rId4"/>
    <p:sldLayoutId id="2147483888" r:id="rId5"/>
    <p:sldLayoutId id="2147483950" r:id="rId6"/>
    <p:sldLayoutId id="2147483889" r:id="rId7"/>
    <p:sldLayoutId id="2147483951" r:id="rId8"/>
    <p:sldLayoutId id="2147483944" r:id="rId9"/>
    <p:sldLayoutId id="2147483945" r:id="rId10"/>
    <p:sldLayoutId id="2147483952" r:id="rId11"/>
    <p:sldLayoutId id="2147483953" r:id="rId12"/>
    <p:sldLayoutId id="2147483892" r:id="rId13"/>
    <p:sldLayoutId id="2147483893" r:id="rId14"/>
    <p:sldLayoutId id="2147483915" r:id="rId15"/>
    <p:sldLayoutId id="2147483957" r:id="rId16"/>
    <p:sldLayoutId id="2147483914" r:id="rId17"/>
    <p:sldLayoutId id="2147483894" r:id="rId18"/>
    <p:sldLayoutId id="2147483956" r:id="rId19"/>
    <p:sldLayoutId id="2147483955" r:id="rId20"/>
    <p:sldLayoutId id="2147483895" r:id="rId21"/>
    <p:sldLayoutId id="2147483896" r:id="rId22"/>
    <p:sldLayoutId id="2147483897" r:id="rId23"/>
    <p:sldLayoutId id="2147483898" r:id="rId24"/>
    <p:sldLayoutId id="2147483899" r:id="rId25"/>
    <p:sldLayoutId id="2147483900" r:id="rId26"/>
    <p:sldLayoutId id="2147483901" r:id="rId27"/>
    <p:sldLayoutId id="2147483902" r:id="rId28"/>
    <p:sldLayoutId id="2147483903" r:id="rId29"/>
    <p:sldLayoutId id="2147483916" r:id="rId30"/>
    <p:sldLayoutId id="2147483946" r:id="rId31"/>
    <p:sldLayoutId id="2147483942" r:id="rId32"/>
    <p:sldLayoutId id="2147483947" r:id="rId33"/>
    <p:sldLayoutId id="2147483904" r:id="rId34"/>
    <p:sldLayoutId id="2147483905" r:id="rId35"/>
    <p:sldLayoutId id="2147483906" r:id="rId36"/>
    <p:sldLayoutId id="2147483907" r:id="rId37"/>
    <p:sldLayoutId id="2147483908" r:id="rId38"/>
    <p:sldLayoutId id="2147483909" r:id="rId39"/>
    <p:sldLayoutId id="2147483910" r:id="rId40"/>
    <p:sldLayoutId id="2147483911" r:id="rId41"/>
    <p:sldLayoutId id="2147483912" r:id="rId42"/>
    <p:sldLayoutId id="2147483913" r:id="rId43"/>
    <p:sldLayoutId id="2147483918" r:id="rId44"/>
    <p:sldLayoutId id="2147483919" r:id="rId45"/>
    <p:sldLayoutId id="2147483920" r:id="rId46"/>
    <p:sldLayoutId id="2147483921" r:id="rId47"/>
    <p:sldLayoutId id="2147483922" r:id="rId48"/>
    <p:sldLayoutId id="2147483923" r:id="rId49"/>
    <p:sldLayoutId id="2147483924" r:id="rId50"/>
    <p:sldLayoutId id="2147483925" r:id="rId51"/>
    <p:sldLayoutId id="2147483926" r:id="rId52"/>
    <p:sldLayoutId id="2147483927" r:id="rId53"/>
    <p:sldLayoutId id="2147483928" r:id="rId54"/>
    <p:sldLayoutId id="2147483929" r:id="rId55"/>
    <p:sldLayoutId id="2147483930" r:id="rId56"/>
    <p:sldLayoutId id="2147483937" r:id="rId57"/>
    <p:sldLayoutId id="2147483931" r:id="rId58"/>
    <p:sldLayoutId id="2147483932" r:id="rId59"/>
    <p:sldLayoutId id="2147483933" r:id="rId60"/>
    <p:sldLayoutId id="2147483934" r:id="rId61"/>
    <p:sldLayoutId id="2147483935" r:id="rId62"/>
    <p:sldLayoutId id="2147483936" r:id="rId63"/>
    <p:sldLayoutId id="2147483938" r:id="rId64"/>
    <p:sldLayoutId id="2147483939" r:id="rId65"/>
    <p:sldLayoutId id="2147483940" r:id="rId66"/>
    <p:sldLayoutId id="2147483941" r:id="rId67"/>
    <p:sldLayoutId id="2147483943" r:id="rId68"/>
    <p:sldLayoutId id="2147483954" r:id="rId6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3600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00" indent="-216000" algn="l" defTabSz="3600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6000" indent="-216000" algn="l" defTabSz="3600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96000" indent="-216000" algn="l" defTabSz="3600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656000" indent="-216000" algn="l" defTabSz="3600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pos="250" userDrawn="1">
          <p15:clr>
            <a:srgbClr val="FBAE40"/>
          </p15:clr>
        </p15:guide>
        <p15:guide id="8" pos="7428" userDrawn="1">
          <p15:clr>
            <a:srgbClr val="FBAE40"/>
          </p15:clr>
        </p15:guide>
        <p15:guide id="10" orient="horz" pos="210" userDrawn="1">
          <p15:clr>
            <a:srgbClr val="FBAE40"/>
          </p15:clr>
        </p15:guide>
        <p15:guide id="12" orient="horz" pos="4081" userDrawn="1">
          <p15:clr>
            <a:srgbClr val="FBAE4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22A0A803-45ED-4E9E-AC17-D7FBCDBA34EC}"/>
              </a:ext>
            </a:extLst>
          </p:cNvPr>
          <p:cNvGraphicFramePr>
            <a:graphicFrameLocks/>
          </p:cNvGraphicFramePr>
          <p:nvPr>
            <p:custDataLst>
              <p:tags r:id="rId71"/>
            </p:custDataLst>
            <p:extLst>
              <p:ext uri="{D42A27DB-BD31-4B8C-83A1-F6EECF244321}">
                <p14:modId xmlns:p14="http://schemas.microsoft.com/office/powerpoint/2010/main" val="13352084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3" imgW="411" imgH="412" progId="TCLayout.ActiveDocument.1">
                  <p:embed/>
                </p:oleObj>
              </mc:Choice>
              <mc:Fallback>
                <p:oleObj name="think-cell Slide" r:id="rId73" imgW="411" imgH="412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22A0A803-45ED-4E9E-AC17-D7FBCDBA34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765A233-BE70-43F9-810C-13139BE5D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76" y="365125"/>
            <a:ext cx="11395074" cy="10396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de-AT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0788AF5-789D-4C61-9C18-D1B0DF7DD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876" y="1808163"/>
            <a:ext cx="11395074" cy="4443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712E8A-280C-4CEC-9EA7-933F3251A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875" y="6556875"/>
            <a:ext cx="588192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fld id="{F2339155-F0A4-8949-9A41-8C368C13357E}" type="datetime1">
              <a:rPr lang="de-AT" noProof="0" smtClean="0"/>
              <a:t>28.05.26</a:t>
            </a:fld>
            <a:endParaRPr lang="de-AT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A2971B-3E47-4B80-9470-25503E740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010" y="6556875"/>
            <a:ext cx="6127477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de-AT" noProof="0" err="1"/>
              <a:t>UNIQA_Folienmaster</a:t>
            </a:r>
            <a:endParaRPr lang="de-AT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C6E529-9BC8-44A8-8052-B611D7597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3759" y="6556875"/>
            <a:ext cx="588191" cy="21945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00A52981-3CA4-4342-A3CD-6DEDCD14014C}" type="slidenum">
              <a:rPr lang="de-AT" noProof="0" smtClean="0"/>
              <a:pPr/>
              <a:t>‹#›</a:t>
            </a:fld>
            <a:endParaRPr lang="de-AT" noProof="0"/>
          </a:p>
        </p:txBody>
      </p:sp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5BDD6B68-FE23-D43A-03BA-F9409FFDE9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2"/>
            </p:custDataLst>
            <p:extLst>
              <p:ext uri="{D42A27DB-BD31-4B8C-83A1-F6EECF244321}">
                <p14:modId xmlns:p14="http://schemas.microsoft.com/office/powerpoint/2010/main" val="13352084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73" imgW="411" imgH="412" progId="TCLayout.ActiveDocument.1">
                  <p:embed/>
                </p:oleObj>
              </mc:Choice>
              <mc:Fallback>
                <p:oleObj name="think-cell Folie" r:id="rId73" imgW="411" imgH="412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5BDD6B68-FE23-D43A-03BA-F9409FFDE9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9528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0" r:id="rId1"/>
    <p:sldLayoutId id="2147483961" r:id="rId2"/>
    <p:sldLayoutId id="2147483962" r:id="rId3"/>
    <p:sldLayoutId id="2147483963" r:id="rId4"/>
    <p:sldLayoutId id="2147483964" r:id="rId5"/>
    <p:sldLayoutId id="2147483965" r:id="rId6"/>
    <p:sldLayoutId id="2147483966" r:id="rId7"/>
    <p:sldLayoutId id="2147483967" r:id="rId8"/>
    <p:sldLayoutId id="2147483968" r:id="rId9"/>
    <p:sldLayoutId id="2147483969" r:id="rId10"/>
    <p:sldLayoutId id="2147483970" r:id="rId11"/>
    <p:sldLayoutId id="2147483971" r:id="rId12"/>
    <p:sldLayoutId id="2147483972" r:id="rId13"/>
    <p:sldLayoutId id="2147483973" r:id="rId14"/>
    <p:sldLayoutId id="2147483974" r:id="rId15"/>
    <p:sldLayoutId id="2147483975" r:id="rId16"/>
    <p:sldLayoutId id="2147483976" r:id="rId17"/>
    <p:sldLayoutId id="2147483977" r:id="rId18"/>
    <p:sldLayoutId id="2147483978" r:id="rId19"/>
    <p:sldLayoutId id="2147483979" r:id="rId20"/>
    <p:sldLayoutId id="2147483980" r:id="rId21"/>
    <p:sldLayoutId id="2147483981" r:id="rId22"/>
    <p:sldLayoutId id="2147483982" r:id="rId23"/>
    <p:sldLayoutId id="2147483983" r:id="rId24"/>
    <p:sldLayoutId id="2147483984" r:id="rId25"/>
    <p:sldLayoutId id="2147483985" r:id="rId26"/>
    <p:sldLayoutId id="2147483986" r:id="rId27"/>
    <p:sldLayoutId id="2147483987" r:id="rId28"/>
    <p:sldLayoutId id="2147483988" r:id="rId29"/>
    <p:sldLayoutId id="2147483989" r:id="rId30"/>
    <p:sldLayoutId id="2147483990" r:id="rId31"/>
    <p:sldLayoutId id="2147483991" r:id="rId32"/>
    <p:sldLayoutId id="2147483992" r:id="rId33"/>
    <p:sldLayoutId id="2147483993" r:id="rId34"/>
    <p:sldLayoutId id="2147483994" r:id="rId35"/>
    <p:sldLayoutId id="2147483995" r:id="rId36"/>
    <p:sldLayoutId id="2147483996" r:id="rId37"/>
    <p:sldLayoutId id="2147483997" r:id="rId38"/>
    <p:sldLayoutId id="2147483998" r:id="rId39"/>
    <p:sldLayoutId id="2147483999" r:id="rId40"/>
    <p:sldLayoutId id="2147484000" r:id="rId41"/>
    <p:sldLayoutId id="2147484001" r:id="rId42"/>
    <p:sldLayoutId id="2147484002" r:id="rId43"/>
    <p:sldLayoutId id="2147484003" r:id="rId44"/>
    <p:sldLayoutId id="2147484004" r:id="rId45"/>
    <p:sldLayoutId id="2147484005" r:id="rId46"/>
    <p:sldLayoutId id="2147484006" r:id="rId47"/>
    <p:sldLayoutId id="2147484007" r:id="rId48"/>
    <p:sldLayoutId id="2147484008" r:id="rId49"/>
    <p:sldLayoutId id="2147484009" r:id="rId50"/>
    <p:sldLayoutId id="2147484010" r:id="rId51"/>
    <p:sldLayoutId id="2147484011" r:id="rId52"/>
    <p:sldLayoutId id="2147484012" r:id="rId53"/>
    <p:sldLayoutId id="2147484013" r:id="rId54"/>
    <p:sldLayoutId id="2147484014" r:id="rId55"/>
    <p:sldLayoutId id="2147484015" r:id="rId56"/>
    <p:sldLayoutId id="2147484016" r:id="rId57"/>
    <p:sldLayoutId id="2147484017" r:id="rId58"/>
    <p:sldLayoutId id="2147484018" r:id="rId59"/>
    <p:sldLayoutId id="2147484019" r:id="rId60"/>
    <p:sldLayoutId id="2147484020" r:id="rId61"/>
    <p:sldLayoutId id="2147484021" r:id="rId62"/>
    <p:sldLayoutId id="2147484022" r:id="rId63"/>
    <p:sldLayoutId id="2147484023" r:id="rId64"/>
    <p:sldLayoutId id="2147484024" r:id="rId65"/>
    <p:sldLayoutId id="2147484025" r:id="rId66"/>
    <p:sldLayoutId id="2147484026" r:id="rId67"/>
    <p:sldLayoutId id="2147484027" r:id="rId68"/>
    <p:sldLayoutId id="2147484028" r:id="rId6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3600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00" indent="-216000" algn="l" defTabSz="3600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6000" indent="-216000" algn="l" defTabSz="3600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96000" indent="-216000" algn="l" defTabSz="3600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656000" indent="-216000" algn="l" defTabSz="3600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pos="250">
          <p15:clr>
            <a:srgbClr val="FBAE40"/>
          </p15:clr>
        </p15:guide>
        <p15:guide id="8" pos="7428">
          <p15:clr>
            <a:srgbClr val="FBAE40"/>
          </p15:clr>
        </p15:guide>
        <p15:guide id="10" orient="horz" pos="210">
          <p15:clr>
            <a:srgbClr val="FBAE40"/>
          </p15:clr>
        </p15:guide>
        <p15:guide id="12" orient="horz" pos="4081">
          <p15:clr>
            <a:srgbClr val="FBAE4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40.png"/><Relationship Id="rId5" Type="http://schemas.openxmlformats.org/officeDocument/2006/relationships/image" Target="../media/image39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5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chart" Target="../charts/chart1.xml"/><Relationship Id="rId5" Type="http://schemas.openxmlformats.org/officeDocument/2006/relationships/image" Target="../media/image39.e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13" Type="http://schemas.openxmlformats.org/officeDocument/2006/relationships/image" Target="../media/image48.png"/><Relationship Id="rId18" Type="http://schemas.openxmlformats.org/officeDocument/2006/relationships/image" Target="../media/image51.svg"/><Relationship Id="rId3" Type="http://schemas.openxmlformats.org/officeDocument/2006/relationships/chart" Target="../charts/chart2.xml"/><Relationship Id="rId21" Type="http://schemas.openxmlformats.org/officeDocument/2006/relationships/image" Target="../media/image53.svg"/><Relationship Id="rId7" Type="http://schemas.openxmlformats.org/officeDocument/2006/relationships/chart" Target="../charts/chart4.xml"/><Relationship Id="rId12" Type="http://schemas.openxmlformats.org/officeDocument/2006/relationships/image" Target="../media/image47.png"/><Relationship Id="rId17" Type="http://schemas.openxmlformats.org/officeDocument/2006/relationships/image" Target="../media/image50.svg"/><Relationship Id="rId2" Type="http://schemas.openxmlformats.org/officeDocument/2006/relationships/notesSlide" Target="../notesSlides/notesSlide5.xml"/><Relationship Id="rId16" Type="http://schemas.openxmlformats.org/officeDocument/2006/relationships/chart" Target="../charts/chart8.xml"/><Relationship Id="rId20" Type="http://schemas.openxmlformats.org/officeDocument/2006/relationships/image" Target="../media/image52.svg"/><Relationship Id="rId1" Type="http://schemas.openxmlformats.org/officeDocument/2006/relationships/slideLayout" Target="../slideLayouts/slideLayout16.xml"/><Relationship Id="rId6" Type="http://schemas.openxmlformats.org/officeDocument/2006/relationships/chart" Target="../charts/chart3.xml"/><Relationship Id="rId11" Type="http://schemas.openxmlformats.org/officeDocument/2006/relationships/image" Target="../media/image46.png"/><Relationship Id="rId5" Type="http://schemas.openxmlformats.org/officeDocument/2006/relationships/image" Target="../media/image44.svg"/><Relationship Id="rId15" Type="http://schemas.openxmlformats.org/officeDocument/2006/relationships/chart" Target="../charts/chart7.xml"/><Relationship Id="rId23" Type="http://schemas.openxmlformats.org/officeDocument/2006/relationships/chart" Target="../charts/chart11.xml"/><Relationship Id="rId10" Type="http://schemas.openxmlformats.org/officeDocument/2006/relationships/image" Target="../media/image45.png"/><Relationship Id="rId19" Type="http://schemas.openxmlformats.org/officeDocument/2006/relationships/chart" Target="../charts/chart9.xml"/><Relationship Id="rId4" Type="http://schemas.openxmlformats.org/officeDocument/2006/relationships/image" Target="../media/image43.svg"/><Relationship Id="rId9" Type="http://schemas.openxmlformats.org/officeDocument/2006/relationships/chart" Target="../charts/chart6.xml"/><Relationship Id="rId14" Type="http://schemas.openxmlformats.org/officeDocument/2006/relationships/image" Target="../media/image49.png"/><Relationship Id="rId22" Type="http://schemas.openxmlformats.org/officeDocument/2006/relationships/chart" Target="../charts/chart1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3.xml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26" Type="http://schemas.openxmlformats.org/officeDocument/2006/relationships/image" Target="../media/image73.png"/><Relationship Id="rId3" Type="http://schemas.openxmlformats.org/officeDocument/2006/relationships/chart" Target="../charts/chart12.xml"/><Relationship Id="rId21" Type="http://schemas.openxmlformats.org/officeDocument/2006/relationships/image" Target="../media/image68.png"/><Relationship Id="rId7" Type="http://schemas.openxmlformats.org/officeDocument/2006/relationships/image" Target="../media/image57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5" Type="http://schemas.openxmlformats.org/officeDocument/2006/relationships/image" Target="../media/image7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6.png"/><Relationship Id="rId11" Type="http://schemas.openxmlformats.org/officeDocument/2006/relationships/image" Target="../media/image58.png"/><Relationship Id="rId24" Type="http://schemas.openxmlformats.org/officeDocument/2006/relationships/image" Target="../media/image71.png"/><Relationship Id="rId5" Type="http://schemas.openxmlformats.org/officeDocument/2006/relationships/image" Target="../media/image55.png"/><Relationship Id="rId15" Type="http://schemas.openxmlformats.org/officeDocument/2006/relationships/image" Target="../media/image62.png"/><Relationship Id="rId23" Type="http://schemas.openxmlformats.org/officeDocument/2006/relationships/image" Target="../media/image70.png"/><Relationship Id="rId28" Type="http://schemas.openxmlformats.org/officeDocument/2006/relationships/image" Target="../media/image75.png"/><Relationship Id="rId10" Type="http://schemas.openxmlformats.org/officeDocument/2006/relationships/chart" Target="../charts/chart15.xml"/><Relationship Id="rId19" Type="http://schemas.openxmlformats.org/officeDocument/2006/relationships/image" Target="../media/image66.png"/><Relationship Id="rId4" Type="http://schemas.openxmlformats.org/officeDocument/2006/relationships/image" Target="../media/image54.png"/><Relationship Id="rId9" Type="http://schemas.openxmlformats.org/officeDocument/2006/relationships/chart" Target="../charts/chart14.xml"/><Relationship Id="rId14" Type="http://schemas.openxmlformats.org/officeDocument/2006/relationships/image" Target="../media/image61.png"/><Relationship Id="rId22" Type="http://schemas.openxmlformats.org/officeDocument/2006/relationships/image" Target="../media/image69.png"/><Relationship Id="rId27" Type="http://schemas.openxmlformats.org/officeDocument/2006/relationships/image" Target="../media/image7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6" Type="http://schemas.openxmlformats.org/officeDocument/2006/relationships/chart" Target="../charts/chart19.xml"/><Relationship Id="rId5" Type="http://schemas.openxmlformats.org/officeDocument/2006/relationships/chart" Target="../charts/chart18.xml"/><Relationship Id="rId4" Type="http://schemas.openxmlformats.org/officeDocument/2006/relationships/chart" Target="../charts/char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15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5.xml"/><Relationship Id="rId13" Type="http://schemas.openxmlformats.org/officeDocument/2006/relationships/chart" Target="../charts/chart26.xml"/><Relationship Id="rId18" Type="http://schemas.openxmlformats.org/officeDocument/2006/relationships/image" Target="../media/image83.svg"/><Relationship Id="rId3" Type="http://schemas.openxmlformats.org/officeDocument/2006/relationships/chart" Target="../charts/chart21.xml"/><Relationship Id="rId21" Type="http://schemas.openxmlformats.org/officeDocument/2006/relationships/chart" Target="../charts/chart29.xml"/><Relationship Id="rId7" Type="http://schemas.openxmlformats.org/officeDocument/2006/relationships/chart" Target="../charts/chart24.xml"/><Relationship Id="rId12" Type="http://schemas.openxmlformats.org/officeDocument/2006/relationships/image" Target="../media/image49.png"/><Relationship Id="rId17" Type="http://schemas.openxmlformats.org/officeDocument/2006/relationships/image" Target="../media/image82.svg"/><Relationship Id="rId2" Type="http://schemas.openxmlformats.org/officeDocument/2006/relationships/notesSlide" Target="../notesSlides/notesSlide9.xml"/><Relationship Id="rId16" Type="http://schemas.openxmlformats.org/officeDocument/2006/relationships/chart" Target="../charts/chart27.xml"/><Relationship Id="rId20" Type="http://schemas.openxmlformats.org/officeDocument/2006/relationships/chart" Target="../charts/chart28.xml"/><Relationship Id="rId1" Type="http://schemas.openxmlformats.org/officeDocument/2006/relationships/slideLayout" Target="../slideLayouts/slideLayout16.xml"/><Relationship Id="rId6" Type="http://schemas.openxmlformats.org/officeDocument/2006/relationships/chart" Target="../charts/chart23.xml"/><Relationship Id="rId11" Type="http://schemas.openxmlformats.org/officeDocument/2006/relationships/image" Target="../media/image47.png"/><Relationship Id="rId5" Type="http://schemas.openxmlformats.org/officeDocument/2006/relationships/chart" Target="../charts/chart22.xml"/><Relationship Id="rId15" Type="http://schemas.openxmlformats.org/officeDocument/2006/relationships/image" Target="../media/image81.svg"/><Relationship Id="rId23" Type="http://schemas.openxmlformats.org/officeDocument/2006/relationships/chart" Target="../charts/chart30.xml"/><Relationship Id="rId10" Type="http://schemas.openxmlformats.org/officeDocument/2006/relationships/image" Target="../media/image46.png"/><Relationship Id="rId19" Type="http://schemas.openxmlformats.org/officeDocument/2006/relationships/image" Target="../media/image84.svg"/><Relationship Id="rId4" Type="http://schemas.openxmlformats.org/officeDocument/2006/relationships/image" Target="../media/image79.svg"/><Relationship Id="rId9" Type="http://schemas.openxmlformats.org/officeDocument/2006/relationships/image" Target="../media/image45.png"/><Relationship Id="rId14" Type="http://schemas.openxmlformats.org/officeDocument/2006/relationships/image" Target="../media/image80.svg"/><Relationship Id="rId22" Type="http://schemas.openxmlformats.org/officeDocument/2006/relationships/image" Target="../media/image8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2.xml"/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26" Type="http://schemas.openxmlformats.org/officeDocument/2006/relationships/image" Target="../media/image74.png"/><Relationship Id="rId3" Type="http://schemas.openxmlformats.org/officeDocument/2006/relationships/chart" Target="../charts/chart31.xml"/><Relationship Id="rId21" Type="http://schemas.openxmlformats.org/officeDocument/2006/relationships/image" Target="../media/image69.png"/><Relationship Id="rId7" Type="http://schemas.openxmlformats.org/officeDocument/2006/relationships/image" Target="../media/image57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5" Type="http://schemas.openxmlformats.org/officeDocument/2006/relationships/image" Target="../media/image73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6.png"/><Relationship Id="rId11" Type="http://schemas.openxmlformats.org/officeDocument/2006/relationships/image" Target="../media/image59.png"/><Relationship Id="rId24" Type="http://schemas.openxmlformats.org/officeDocument/2006/relationships/image" Target="../media/image72.png"/><Relationship Id="rId5" Type="http://schemas.openxmlformats.org/officeDocument/2006/relationships/image" Target="../media/image55.png"/><Relationship Id="rId15" Type="http://schemas.openxmlformats.org/officeDocument/2006/relationships/image" Target="../media/image63.png"/><Relationship Id="rId23" Type="http://schemas.openxmlformats.org/officeDocument/2006/relationships/image" Target="../media/image71.png"/><Relationship Id="rId28" Type="http://schemas.openxmlformats.org/officeDocument/2006/relationships/chart" Target="../charts/chart34.xml"/><Relationship Id="rId10" Type="http://schemas.openxmlformats.org/officeDocument/2006/relationships/image" Target="../media/image58.png"/><Relationship Id="rId19" Type="http://schemas.openxmlformats.org/officeDocument/2006/relationships/image" Target="../media/image67.png"/><Relationship Id="rId4" Type="http://schemas.openxmlformats.org/officeDocument/2006/relationships/image" Target="../media/image54.png"/><Relationship Id="rId9" Type="http://schemas.openxmlformats.org/officeDocument/2006/relationships/chart" Target="../charts/chart33.xml"/><Relationship Id="rId14" Type="http://schemas.openxmlformats.org/officeDocument/2006/relationships/image" Target="../media/image62.png"/><Relationship Id="rId22" Type="http://schemas.openxmlformats.org/officeDocument/2006/relationships/image" Target="../media/image70.png"/><Relationship Id="rId27" Type="http://schemas.openxmlformats.org/officeDocument/2006/relationships/image" Target="../media/image7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6" Type="http://schemas.openxmlformats.org/officeDocument/2006/relationships/chart" Target="../charts/chart38.xml"/><Relationship Id="rId5" Type="http://schemas.openxmlformats.org/officeDocument/2006/relationships/chart" Target="../charts/chart37.xml"/><Relationship Id="rId4" Type="http://schemas.openxmlformats.org/officeDocument/2006/relationships/chart" Target="../charts/chart3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4" Type="http://schemas.openxmlformats.org/officeDocument/2006/relationships/chart" Target="../charts/chart3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15.svg"/><Relationship Id="rId4" Type="http://schemas.openxmlformats.org/officeDocument/2006/relationships/image" Target="../media/image87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4.xml"/><Relationship Id="rId13" Type="http://schemas.openxmlformats.org/officeDocument/2006/relationships/chart" Target="../charts/chart45.xml"/><Relationship Id="rId18" Type="http://schemas.openxmlformats.org/officeDocument/2006/relationships/image" Target="../media/image92.svg"/><Relationship Id="rId3" Type="http://schemas.openxmlformats.org/officeDocument/2006/relationships/chart" Target="../charts/chart40.xml"/><Relationship Id="rId21" Type="http://schemas.openxmlformats.org/officeDocument/2006/relationships/chart" Target="../charts/chart48.xml"/><Relationship Id="rId7" Type="http://schemas.openxmlformats.org/officeDocument/2006/relationships/chart" Target="../charts/chart43.xml"/><Relationship Id="rId12" Type="http://schemas.openxmlformats.org/officeDocument/2006/relationships/image" Target="../media/image49.png"/><Relationship Id="rId17" Type="http://schemas.openxmlformats.org/officeDocument/2006/relationships/image" Target="../media/image91.svg"/><Relationship Id="rId2" Type="http://schemas.openxmlformats.org/officeDocument/2006/relationships/notesSlide" Target="../notesSlides/notesSlide14.xml"/><Relationship Id="rId16" Type="http://schemas.openxmlformats.org/officeDocument/2006/relationships/chart" Target="../charts/chart46.xml"/><Relationship Id="rId20" Type="http://schemas.openxmlformats.org/officeDocument/2006/relationships/chart" Target="../charts/chart47.xml"/><Relationship Id="rId1" Type="http://schemas.openxmlformats.org/officeDocument/2006/relationships/slideLayout" Target="../slideLayouts/slideLayout16.xml"/><Relationship Id="rId6" Type="http://schemas.openxmlformats.org/officeDocument/2006/relationships/chart" Target="../charts/chart42.xml"/><Relationship Id="rId11" Type="http://schemas.openxmlformats.org/officeDocument/2006/relationships/image" Target="../media/image47.png"/><Relationship Id="rId5" Type="http://schemas.openxmlformats.org/officeDocument/2006/relationships/chart" Target="../charts/chart41.xml"/><Relationship Id="rId15" Type="http://schemas.openxmlformats.org/officeDocument/2006/relationships/image" Target="../media/image90.svg"/><Relationship Id="rId23" Type="http://schemas.openxmlformats.org/officeDocument/2006/relationships/image" Target="../media/image48.png"/><Relationship Id="rId10" Type="http://schemas.openxmlformats.org/officeDocument/2006/relationships/image" Target="../media/image46.png"/><Relationship Id="rId19" Type="http://schemas.openxmlformats.org/officeDocument/2006/relationships/image" Target="../media/image93.svg"/><Relationship Id="rId4" Type="http://schemas.openxmlformats.org/officeDocument/2006/relationships/image" Target="../media/image88.svg"/><Relationship Id="rId9" Type="http://schemas.openxmlformats.org/officeDocument/2006/relationships/image" Target="../media/image45.png"/><Relationship Id="rId14" Type="http://schemas.openxmlformats.org/officeDocument/2006/relationships/image" Target="../media/image89.svg"/><Relationship Id="rId22" Type="http://schemas.openxmlformats.org/officeDocument/2006/relationships/chart" Target="../charts/chart4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1.xml"/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26" Type="http://schemas.openxmlformats.org/officeDocument/2006/relationships/image" Target="../media/image74.png"/><Relationship Id="rId3" Type="http://schemas.openxmlformats.org/officeDocument/2006/relationships/chart" Target="../charts/chart50.xml"/><Relationship Id="rId21" Type="http://schemas.openxmlformats.org/officeDocument/2006/relationships/image" Target="../media/image69.png"/><Relationship Id="rId7" Type="http://schemas.openxmlformats.org/officeDocument/2006/relationships/image" Target="../media/image57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5" Type="http://schemas.openxmlformats.org/officeDocument/2006/relationships/image" Target="../media/image73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6.png"/><Relationship Id="rId11" Type="http://schemas.openxmlformats.org/officeDocument/2006/relationships/image" Target="../media/image59.png"/><Relationship Id="rId24" Type="http://schemas.openxmlformats.org/officeDocument/2006/relationships/image" Target="../media/image72.png"/><Relationship Id="rId5" Type="http://schemas.openxmlformats.org/officeDocument/2006/relationships/image" Target="../media/image55.png"/><Relationship Id="rId15" Type="http://schemas.openxmlformats.org/officeDocument/2006/relationships/image" Target="../media/image63.png"/><Relationship Id="rId23" Type="http://schemas.openxmlformats.org/officeDocument/2006/relationships/image" Target="../media/image71.png"/><Relationship Id="rId28" Type="http://schemas.openxmlformats.org/officeDocument/2006/relationships/chart" Target="../charts/chart53.xml"/><Relationship Id="rId10" Type="http://schemas.openxmlformats.org/officeDocument/2006/relationships/image" Target="../media/image58.png"/><Relationship Id="rId19" Type="http://schemas.openxmlformats.org/officeDocument/2006/relationships/image" Target="../media/image67.png"/><Relationship Id="rId4" Type="http://schemas.openxmlformats.org/officeDocument/2006/relationships/image" Target="../media/image54.png"/><Relationship Id="rId9" Type="http://schemas.openxmlformats.org/officeDocument/2006/relationships/chart" Target="../charts/chart52.xml"/><Relationship Id="rId14" Type="http://schemas.openxmlformats.org/officeDocument/2006/relationships/image" Target="../media/image62.png"/><Relationship Id="rId22" Type="http://schemas.openxmlformats.org/officeDocument/2006/relationships/image" Target="../media/image70.png"/><Relationship Id="rId27" Type="http://schemas.openxmlformats.org/officeDocument/2006/relationships/image" Target="../media/image7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6" Type="http://schemas.openxmlformats.org/officeDocument/2006/relationships/chart" Target="../charts/chart57.xml"/><Relationship Id="rId5" Type="http://schemas.openxmlformats.org/officeDocument/2006/relationships/chart" Target="../charts/chart56.xml"/><Relationship Id="rId4" Type="http://schemas.openxmlformats.org/officeDocument/2006/relationships/chart" Target="../charts/chart5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Relationship Id="rId4" Type="http://schemas.openxmlformats.org/officeDocument/2006/relationships/chart" Target="../charts/chart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6E52FFD-C9FA-259A-AB5C-1753C823F1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69297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6E52FFD-C9FA-259A-AB5C-1753C823F1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el 7">
            <a:extLst>
              <a:ext uri="{FF2B5EF4-FFF2-40B4-BE49-F238E27FC236}">
                <a16:creationId xmlns:a16="http://schemas.microsoft.com/office/drawing/2014/main" id="{17E0C5FF-F412-B8AD-3DBD-76CC5D2B6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463" y="1803830"/>
            <a:ext cx="11395074" cy="3698643"/>
          </a:xfrm>
        </p:spPr>
        <p:txBody>
          <a:bodyPr vert="horz"/>
          <a:lstStyle/>
          <a:p>
            <a:r>
              <a:rPr lang="de-AT" noProof="0" dirty="0">
                <a:ea typeface="Cambria" panose="02040503050406030204" pitchFamily="18" charset="0"/>
                <a:cs typeface="Times New Roman" panose="02020603050405020304" pitchFamily="18" charset="0"/>
              </a:rPr>
              <a:t>Retail-Segmentierung </a:t>
            </a:r>
            <a:r>
              <a:rPr lang="de-AT" dirty="0">
                <a:ea typeface="Cambria" panose="02040503050406030204" pitchFamily="18" charset="0"/>
                <a:cs typeface="Times New Roman" panose="02020603050405020304" pitchFamily="18" charset="0"/>
              </a:rPr>
              <a:t>Neu</a:t>
            </a:r>
            <a:br>
              <a:rPr lang="de-AT" dirty="0"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de-AT" dirty="0">
                <a:ea typeface="Cambria" panose="02040503050406030204" pitchFamily="18" charset="0"/>
                <a:cs typeface="Times New Roman" panose="02020603050405020304" pitchFamily="18" charset="0"/>
              </a:rPr>
              <a:t>Segment-Booklets</a:t>
            </a:r>
            <a:br>
              <a:rPr lang="de-AT" dirty="0"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de-AT" dirty="0"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de-AT" sz="2000" b="0" dirty="0">
                <a:solidFill>
                  <a:schemeClr val="tx1">
                    <a:lumMod val="85000"/>
                  </a:schemeClr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Customer Retail &amp; Corporate</a:t>
            </a:r>
            <a:br>
              <a:rPr lang="de-AT" b="0" dirty="0">
                <a:solidFill>
                  <a:schemeClr val="tx1">
                    <a:lumMod val="85000"/>
                  </a:schemeClr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de-AT" sz="2000" b="0" dirty="0">
                <a:solidFill>
                  <a:schemeClr val="tx1">
                    <a:lumMod val="85000"/>
                  </a:schemeClr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März 2026</a:t>
            </a:r>
            <a:endParaRPr lang="de-AT" sz="2000" b="0" noProof="0" dirty="0">
              <a:solidFill>
                <a:schemeClr val="tx1">
                  <a:lumMod val="85000"/>
                </a:schemeClr>
              </a:solidFill>
            </a:endParaRPr>
          </a:p>
        </p:txBody>
      </p:sp>
      <p:pic>
        <p:nvPicPr>
          <p:cNvPr id="4" name="Grafik 3" descr="Ein Bild, das Menschliches Gesicht, Kleidung, Lächeln, Person enthält.&#10;&#10;KI-generierte Inhalte können fehlerhaft sein.">
            <a:extLst>
              <a:ext uri="{FF2B5EF4-FFF2-40B4-BE49-F238E27FC236}">
                <a16:creationId xmlns:a16="http://schemas.microsoft.com/office/drawing/2014/main" id="{45F47273-637A-CD26-4416-F00A2FD12A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3104" y="3191082"/>
            <a:ext cx="3358896" cy="366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979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DD87A-81B2-915A-C661-E8CF41AB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7DC2EF7-DAC2-CB42-C67D-3C7E01D43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de-AT" noProof="0" smtClean="0"/>
              <a:t>28.05.26</a:t>
            </a:fld>
            <a:endParaRPr lang="de-AT" noProof="0" dirty="0"/>
          </a:p>
        </p:txBody>
      </p:sp>
      <p:sp>
        <p:nvSpPr>
          <p:cNvPr id="21" name="Fußzeilenplatzhalter 2">
            <a:extLst>
              <a:ext uri="{FF2B5EF4-FFF2-40B4-BE49-F238E27FC236}">
                <a16:creationId xmlns:a16="http://schemas.microsoft.com/office/drawing/2014/main" id="{E74B5E22-FB2F-F802-733A-4C0C496B4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dirty="0"/>
              <a:t>Retail-Segmentierung Neu│ S. Stratula &amp; K. Preibisch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B64D1FF-C9C3-9A80-C7E7-7B2B9DCF5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3759" y="5941058"/>
            <a:ext cx="588191" cy="219454"/>
          </a:xfrm>
        </p:spPr>
        <p:txBody>
          <a:bodyPr/>
          <a:lstStyle/>
          <a:p>
            <a:fld id="{00A52981-3CA4-4342-A3CD-6DEDCD14014C}" type="slidenum">
              <a:rPr lang="de-AT" noProof="0" smtClean="0"/>
              <a:pPr/>
              <a:t>2</a:t>
            </a:fld>
            <a:endParaRPr lang="de-AT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4B6FF9A-05BE-EBF3-3258-8B932353101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AT" noProof="0" dirty="0"/>
              <a:t>Agenda</a:t>
            </a:r>
          </a:p>
        </p:txBody>
      </p:sp>
      <p:cxnSp>
        <p:nvCxnSpPr>
          <p:cNvPr id="44" name="Gerader Verbinder 2">
            <a:extLst>
              <a:ext uri="{FF2B5EF4-FFF2-40B4-BE49-F238E27FC236}">
                <a16:creationId xmlns:a16="http://schemas.microsoft.com/office/drawing/2014/main" id="{2D2BCA4F-A859-164A-3408-40F80FA10002}"/>
              </a:ext>
            </a:extLst>
          </p:cNvPr>
          <p:cNvCxnSpPr>
            <a:cxnSpLocks/>
          </p:cNvCxnSpPr>
          <p:nvPr/>
        </p:nvCxnSpPr>
        <p:spPr>
          <a:xfrm>
            <a:off x="5249087" y="1932413"/>
            <a:ext cx="0" cy="3141360"/>
          </a:xfrm>
          <a:prstGeom prst="line">
            <a:avLst/>
          </a:prstGeom>
          <a:ln w="349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Stern: 5 Zacken 4">
            <a:extLst>
              <a:ext uri="{FF2B5EF4-FFF2-40B4-BE49-F238E27FC236}">
                <a16:creationId xmlns:a16="http://schemas.microsoft.com/office/drawing/2014/main" id="{D6360831-DC39-F1D1-8076-2CA1F738ADAB}"/>
              </a:ext>
            </a:extLst>
          </p:cNvPr>
          <p:cNvSpPr/>
          <p:nvPr/>
        </p:nvSpPr>
        <p:spPr>
          <a:xfrm>
            <a:off x="5108215" y="1922168"/>
            <a:ext cx="281743" cy="165611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47" name="Stern: 5 Zacken 10">
            <a:extLst>
              <a:ext uri="{FF2B5EF4-FFF2-40B4-BE49-F238E27FC236}">
                <a16:creationId xmlns:a16="http://schemas.microsoft.com/office/drawing/2014/main" id="{A0A84524-D40C-5387-A3C1-63021C63CD23}"/>
              </a:ext>
            </a:extLst>
          </p:cNvPr>
          <p:cNvSpPr/>
          <p:nvPr/>
        </p:nvSpPr>
        <p:spPr>
          <a:xfrm>
            <a:off x="5108215" y="4990967"/>
            <a:ext cx="281743" cy="165611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48" name="Textplatzhalter 6">
            <a:extLst>
              <a:ext uri="{FF2B5EF4-FFF2-40B4-BE49-F238E27FC236}">
                <a16:creationId xmlns:a16="http://schemas.microsoft.com/office/drawing/2014/main" id="{5C928DA0-F006-7C61-798B-B1395523E249}"/>
              </a:ext>
            </a:extLst>
          </p:cNvPr>
          <p:cNvSpPr txBox="1">
            <a:spLocks/>
          </p:cNvSpPr>
          <p:nvPr/>
        </p:nvSpPr>
        <p:spPr>
          <a:xfrm>
            <a:off x="5717801" y="2871000"/>
            <a:ext cx="558000" cy="558000"/>
          </a:xfrm>
          <a:prstGeom prst="ellipse">
            <a:avLst/>
          </a:prstGeom>
          <a:noFill/>
          <a:ln w="12700">
            <a:solidFill>
              <a:schemeClr val="tx2"/>
            </a:solidFill>
          </a:ln>
        </p:spPr>
        <p:txBody>
          <a:bodyPr vert="horz" lIns="0" tIns="0" rIns="0" bIns="0" rtlCol="0" anchor="ctr">
            <a:normAutofit/>
          </a:bodyPr>
          <a:lstStyle>
            <a:lvl1pPr marL="0" indent="0" algn="ctr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tabLst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dirty="0"/>
              <a:t>1</a:t>
            </a:r>
          </a:p>
        </p:txBody>
      </p:sp>
      <p:sp>
        <p:nvSpPr>
          <p:cNvPr id="49" name="Textplatzhalter 8">
            <a:extLst>
              <a:ext uri="{FF2B5EF4-FFF2-40B4-BE49-F238E27FC236}">
                <a16:creationId xmlns:a16="http://schemas.microsoft.com/office/drawing/2014/main" id="{A4BD5A71-233B-7C34-D844-6F8644034DDC}"/>
              </a:ext>
            </a:extLst>
          </p:cNvPr>
          <p:cNvSpPr txBox="1">
            <a:spLocks/>
          </p:cNvSpPr>
          <p:nvPr/>
        </p:nvSpPr>
        <p:spPr>
          <a:xfrm>
            <a:off x="5717801" y="3484420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vert="horz" lIns="0" tIns="0" rIns="0" bIns="0" rtlCol="0" anchor="ctr">
            <a:normAutofit/>
          </a:bodyPr>
          <a:lstStyle>
            <a:lvl1pPr marL="0" indent="0" algn="ctr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tabLst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/>
              <a:t>2</a:t>
            </a:r>
            <a:endParaRPr lang="de-AT" dirty="0"/>
          </a:p>
        </p:txBody>
      </p:sp>
      <p:sp>
        <p:nvSpPr>
          <p:cNvPr id="50" name="Textplatzhalter 12">
            <a:extLst>
              <a:ext uri="{FF2B5EF4-FFF2-40B4-BE49-F238E27FC236}">
                <a16:creationId xmlns:a16="http://schemas.microsoft.com/office/drawing/2014/main" id="{6B6C6723-B56D-1C10-E9BB-C72187829AFA}"/>
              </a:ext>
            </a:extLst>
          </p:cNvPr>
          <p:cNvSpPr txBox="1">
            <a:spLocks/>
          </p:cNvSpPr>
          <p:nvPr/>
        </p:nvSpPr>
        <p:spPr>
          <a:xfrm>
            <a:off x="6417476" y="2869510"/>
            <a:ext cx="6193777" cy="558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3600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b="0" dirty="0">
                <a:solidFill>
                  <a:srgbClr val="025CA9"/>
                </a:solidFill>
              </a:rPr>
              <a:t>Segmentgrößen auf dem Markt</a:t>
            </a:r>
            <a:endParaRPr lang="de-AT" b="0" dirty="0"/>
          </a:p>
        </p:txBody>
      </p:sp>
      <p:sp>
        <p:nvSpPr>
          <p:cNvPr id="51" name="Textplatzhalter 12">
            <a:extLst>
              <a:ext uri="{FF2B5EF4-FFF2-40B4-BE49-F238E27FC236}">
                <a16:creationId xmlns:a16="http://schemas.microsoft.com/office/drawing/2014/main" id="{81769B22-EBB7-37CB-71C8-B4CCAD954136}"/>
              </a:ext>
            </a:extLst>
          </p:cNvPr>
          <p:cNvSpPr txBox="1">
            <a:spLocks/>
          </p:cNvSpPr>
          <p:nvPr/>
        </p:nvSpPr>
        <p:spPr>
          <a:xfrm>
            <a:off x="6417477" y="3481547"/>
            <a:ext cx="3055708" cy="558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3600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b="0" dirty="0">
                <a:solidFill>
                  <a:srgbClr val="025CA9"/>
                </a:solidFill>
              </a:rPr>
              <a:t>UNIQA Segmente im Detail</a:t>
            </a:r>
            <a:endParaRPr lang="de-AT" b="0" dirty="0"/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42291B96-06E3-0C56-1C45-88201B6BF8D0}"/>
              </a:ext>
            </a:extLst>
          </p:cNvPr>
          <p:cNvSpPr txBox="1"/>
          <p:nvPr/>
        </p:nvSpPr>
        <p:spPr>
          <a:xfrm>
            <a:off x="3900742" y="6592459"/>
            <a:ext cx="4390516" cy="1751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900" i="1" dirty="0"/>
              <a:t>Alle Bilder (inkl. Fotos, Icons) in diesem Bericht wurden mit Hilfe von KI-Tools erstellt. </a:t>
            </a:r>
          </a:p>
        </p:txBody>
      </p:sp>
    </p:spTree>
    <p:extLst>
      <p:ext uri="{BB962C8B-B14F-4D97-AF65-F5344CB8AC3E}">
        <p14:creationId xmlns:p14="http://schemas.microsoft.com/office/powerpoint/2010/main" val="2910929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CED29-9D28-CB9B-F0D3-757642876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D090A24-8D2A-852B-B404-AB9304211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de-AT" noProof="0" smtClean="0"/>
              <a:t>28.05.26</a:t>
            </a:fld>
            <a:endParaRPr lang="de-AT" noProof="0" dirty="0"/>
          </a:p>
        </p:txBody>
      </p:sp>
      <p:sp>
        <p:nvSpPr>
          <p:cNvPr id="21" name="Fußzeilenplatzhalter 2">
            <a:extLst>
              <a:ext uri="{FF2B5EF4-FFF2-40B4-BE49-F238E27FC236}">
                <a16:creationId xmlns:a16="http://schemas.microsoft.com/office/drawing/2014/main" id="{0444372B-5497-CF3C-F065-9B5FC196A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dirty="0"/>
              <a:t>Retail-Segmentierung Neu│ S. Stratula &amp; K. Preibisch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8C60FDE-0EB2-06E7-C1AE-3DA78CF5A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3759" y="5941058"/>
            <a:ext cx="588191" cy="219454"/>
          </a:xfrm>
        </p:spPr>
        <p:txBody>
          <a:bodyPr/>
          <a:lstStyle/>
          <a:p>
            <a:fld id="{00A52981-3CA4-4342-A3CD-6DEDCD14014C}" type="slidenum">
              <a:rPr lang="de-AT" noProof="0" smtClean="0"/>
              <a:pPr/>
              <a:t>3</a:t>
            </a:fld>
            <a:endParaRPr lang="de-AT" noProof="0" dirty="0"/>
          </a:p>
        </p:txBody>
      </p:sp>
      <p:cxnSp>
        <p:nvCxnSpPr>
          <p:cNvPr id="44" name="Gerader Verbinder 2">
            <a:extLst>
              <a:ext uri="{FF2B5EF4-FFF2-40B4-BE49-F238E27FC236}">
                <a16:creationId xmlns:a16="http://schemas.microsoft.com/office/drawing/2014/main" id="{E0D05C80-57BC-FCF0-F91B-411D7622FE3E}"/>
              </a:ext>
            </a:extLst>
          </p:cNvPr>
          <p:cNvCxnSpPr>
            <a:cxnSpLocks/>
          </p:cNvCxnSpPr>
          <p:nvPr/>
        </p:nvCxnSpPr>
        <p:spPr>
          <a:xfrm>
            <a:off x="5249087" y="1932413"/>
            <a:ext cx="0" cy="3141360"/>
          </a:xfrm>
          <a:prstGeom prst="line">
            <a:avLst/>
          </a:prstGeom>
          <a:ln w="349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Stern: 5 Zacken 4">
            <a:extLst>
              <a:ext uri="{FF2B5EF4-FFF2-40B4-BE49-F238E27FC236}">
                <a16:creationId xmlns:a16="http://schemas.microsoft.com/office/drawing/2014/main" id="{81587823-AF8E-46EA-90BF-23C82B04C272}"/>
              </a:ext>
            </a:extLst>
          </p:cNvPr>
          <p:cNvSpPr/>
          <p:nvPr/>
        </p:nvSpPr>
        <p:spPr>
          <a:xfrm>
            <a:off x="5108215" y="1922168"/>
            <a:ext cx="281743" cy="165611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47" name="Stern: 5 Zacken 10">
            <a:extLst>
              <a:ext uri="{FF2B5EF4-FFF2-40B4-BE49-F238E27FC236}">
                <a16:creationId xmlns:a16="http://schemas.microsoft.com/office/drawing/2014/main" id="{AE57C69D-9847-36A8-C6BD-0A63E1CD6A64}"/>
              </a:ext>
            </a:extLst>
          </p:cNvPr>
          <p:cNvSpPr/>
          <p:nvPr/>
        </p:nvSpPr>
        <p:spPr>
          <a:xfrm>
            <a:off x="5108215" y="4990967"/>
            <a:ext cx="281743" cy="165611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48" name="Textplatzhalter 6">
            <a:extLst>
              <a:ext uri="{FF2B5EF4-FFF2-40B4-BE49-F238E27FC236}">
                <a16:creationId xmlns:a16="http://schemas.microsoft.com/office/drawing/2014/main" id="{3DC96BF2-F47A-0AE0-746C-E6964C756ACC}"/>
              </a:ext>
            </a:extLst>
          </p:cNvPr>
          <p:cNvSpPr txBox="1">
            <a:spLocks/>
          </p:cNvSpPr>
          <p:nvPr/>
        </p:nvSpPr>
        <p:spPr>
          <a:xfrm>
            <a:off x="5717801" y="2871000"/>
            <a:ext cx="558000" cy="5580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2"/>
            </a:solidFill>
          </a:ln>
        </p:spPr>
        <p:txBody>
          <a:bodyPr vert="horz" lIns="0" tIns="0" rIns="0" bIns="0" rtlCol="0" anchor="ctr">
            <a:normAutofit/>
          </a:bodyPr>
          <a:lstStyle>
            <a:lvl1pPr marL="0" indent="0" algn="ctr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tabLst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9" name="Textplatzhalter 8">
            <a:extLst>
              <a:ext uri="{FF2B5EF4-FFF2-40B4-BE49-F238E27FC236}">
                <a16:creationId xmlns:a16="http://schemas.microsoft.com/office/drawing/2014/main" id="{00873067-2F4E-4461-6A4C-8C0D7D9BFA3D}"/>
              </a:ext>
            </a:extLst>
          </p:cNvPr>
          <p:cNvSpPr txBox="1">
            <a:spLocks/>
          </p:cNvSpPr>
          <p:nvPr/>
        </p:nvSpPr>
        <p:spPr>
          <a:xfrm>
            <a:off x="5717801" y="3484420"/>
            <a:ext cx="558000" cy="558000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vert="horz" lIns="0" tIns="0" rIns="0" bIns="0" rtlCol="0" anchor="ctr">
            <a:normAutofit/>
          </a:bodyPr>
          <a:lstStyle>
            <a:lvl1pPr marL="0" indent="0" algn="ctr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tabLst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/>
              <a:t>2</a:t>
            </a:r>
            <a:endParaRPr lang="de-AT" dirty="0"/>
          </a:p>
        </p:txBody>
      </p:sp>
      <p:sp>
        <p:nvSpPr>
          <p:cNvPr id="50" name="Textplatzhalter 12">
            <a:extLst>
              <a:ext uri="{FF2B5EF4-FFF2-40B4-BE49-F238E27FC236}">
                <a16:creationId xmlns:a16="http://schemas.microsoft.com/office/drawing/2014/main" id="{06B4759C-1AEE-A599-C2EF-9706B5304375}"/>
              </a:ext>
            </a:extLst>
          </p:cNvPr>
          <p:cNvSpPr txBox="1">
            <a:spLocks/>
          </p:cNvSpPr>
          <p:nvPr/>
        </p:nvSpPr>
        <p:spPr>
          <a:xfrm>
            <a:off x="6417476" y="2869510"/>
            <a:ext cx="6193777" cy="558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3600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b="0" dirty="0">
                <a:solidFill>
                  <a:srgbClr val="025CA9"/>
                </a:solidFill>
              </a:rPr>
              <a:t>Segmentgrößen auf dem Markt</a:t>
            </a:r>
            <a:endParaRPr lang="de-AT" b="0" dirty="0"/>
          </a:p>
        </p:txBody>
      </p:sp>
      <p:sp>
        <p:nvSpPr>
          <p:cNvPr id="51" name="Textplatzhalter 12">
            <a:extLst>
              <a:ext uri="{FF2B5EF4-FFF2-40B4-BE49-F238E27FC236}">
                <a16:creationId xmlns:a16="http://schemas.microsoft.com/office/drawing/2014/main" id="{5E3B0F4F-8AFC-00F3-B068-54D603DA4E8E}"/>
              </a:ext>
            </a:extLst>
          </p:cNvPr>
          <p:cNvSpPr txBox="1">
            <a:spLocks/>
          </p:cNvSpPr>
          <p:nvPr/>
        </p:nvSpPr>
        <p:spPr>
          <a:xfrm>
            <a:off x="6417477" y="3481547"/>
            <a:ext cx="3055708" cy="558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3600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b="0" dirty="0">
                <a:solidFill>
                  <a:srgbClr val="025CA9"/>
                </a:solidFill>
              </a:rPr>
              <a:t>UNIQA Segmente im Detail</a:t>
            </a:r>
            <a:endParaRPr lang="de-AT" b="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331107F-4B26-5AC7-AB15-72E6D68549A9}"/>
              </a:ext>
            </a:extLst>
          </p:cNvPr>
          <p:cNvSpPr txBox="1"/>
          <p:nvPr/>
        </p:nvSpPr>
        <p:spPr>
          <a:xfrm>
            <a:off x="3900742" y="6592459"/>
            <a:ext cx="4390516" cy="1751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900" i="1" dirty="0"/>
              <a:t>Alle Bilder (inkl. Fotos, Icons) in diesem Bericht wurden mit Hilfe von KI-Tools erstellt. </a:t>
            </a:r>
          </a:p>
        </p:txBody>
      </p:sp>
    </p:spTree>
    <p:extLst>
      <p:ext uri="{BB962C8B-B14F-4D97-AF65-F5344CB8AC3E}">
        <p14:creationId xmlns:p14="http://schemas.microsoft.com/office/powerpoint/2010/main" val="315050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379B4-091F-8674-852E-925E4D07B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4149B85F-0910-FC71-E61E-567BD09E63E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149B85F-0910-FC71-E61E-567BD09E63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39231F1-D3F2-471F-C2EE-F77D4A7E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A52981-3CA4-4342-A3CD-6DEDCD14014C}" type="slidenum">
              <a:rPr kumimoji="0" lang="de-AT" sz="900" b="0" i="0" u="none" strike="noStrike" kern="1200" cap="none" spc="0" normalizeH="0" baseline="0" noProof="0" smtClean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AT" sz="900" b="0" i="0" u="none" strike="noStrike" kern="1200" cap="none" spc="0" normalizeH="0" baseline="0" noProof="0">
              <a:ln>
                <a:noFill/>
              </a:ln>
              <a:solidFill>
                <a:srgbClr val="005CA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13" name="Chart 3">
            <a:extLst>
              <a:ext uri="{FF2B5EF4-FFF2-40B4-BE49-F238E27FC236}">
                <a16:creationId xmlns:a16="http://schemas.microsoft.com/office/drawing/2014/main" id="{6286C43F-96AD-E878-8F08-499BDB7EB916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4641850" y="1631950"/>
          <a:ext cx="3127375" cy="3724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Textfeld 13">
            <a:extLst>
              <a:ext uri="{FF2B5EF4-FFF2-40B4-BE49-F238E27FC236}">
                <a16:creationId xmlns:a16="http://schemas.microsoft.com/office/drawing/2014/main" id="{2B62BB14-27E5-EEDD-58E8-9CEB41CA490B}"/>
              </a:ext>
            </a:extLst>
          </p:cNvPr>
          <p:cNvSpPr txBox="1"/>
          <p:nvPr/>
        </p:nvSpPr>
        <p:spPr>
          <a:xfrm>
            <a:off x="7014504" y="630698"/>
            <a:ext cx="513177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sng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Segment 1: </a:t>
            </a:r>
            <a:r>
              <a:rPr kumimoji="0" lang="de-DE" sz="1400" b="0" i="0" u="sng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Die aufsteigenden Hybriden </a:t>
            </a: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~ 975.000 Personen</a:t>
            </a:r>
            <a:endParaRPr kumimoji="0" lang="de-AT" sz="1400" b="0" i="0" u="sng" strike="noStrike" kern="1200" cap="none" spc="0" normalizeH="0" baseline="0" noProof="0">
              <a:ln>
                <a:noFill/>
              </a:ln>
              <a:solidFill>
                <a:srgbClr val="005CA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Ø 43 Jahre, 26% aus Wien, besser ausgebildet.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Neuabschlusspotenzial ist hoch: 1,5 Produkte.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Besitzen im Schnitt 5,2 Vers., </a:t>
            </a:r>
            <a:r>
              <a:rPr kumimoji="0" lang="de-DE" sz="1100" b="1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wollen viel selber online erledigen außer Angebotseinholung, Beratung, Kauf, und Vertragsänderung persönlich</a:t>
            </a: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, Preis-Leistung für 87% wichtig, überdurchschnittlich Beraterkunden, wünschen sich viele Deckungen, flexible und maßgeschneiderte Produkte, Zusatzleistungen, auch KV-Leistungen, haben eine hybride CJ, 73% schätzen Kundenportale. Einkommen: </a:t>
            </a:r>
            <a:r>
              <a:rPr kumimoji="0" lang="de-DE" sz="1100" b="0" i="0" u="sng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hoch</a:t>
            </a: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7ABFF85-6EA3-13C5-3635-42FD086BAB09}"/>
              </a:ext>
            </a:extLst>
          </p:cNvPr>
          <p:cNvSpPr txBox="1"/>
          <p:nvPr/>
        </p:nvSpPr>
        <p:spPr>
          <a:xfrm>
            <a:off x="7734299" y="2315334"/>
            <a:ext cx="4457701" cy="20005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sng" strike="noStrike" kern="1200" cap="none" spc="0" normalizeH="0" baseline="0" noProof="0" dirty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Segment 2: </a:t>
            </a:r>
            <a:r>
              <a:rPr kumimoji="0" lang="de-DE" sz="1400" b="0" i="0" u="sng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Die Online Affinen 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~ 1.105.000 Personen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Ø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 43 Jahre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</a:rPr>
              <a:t>, 41% aus Wien, stark städtisch, besser ausgebildet.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</a:rPr>
              <a:t>Neuabschlusspotenzial ist hoch: 1,5 Produkte.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</a:rPr>
              <a:t>Besitzen im Schnitt 3,8 Vers., sehr digital,</a:t>
            </a:r>
            <a:r>
              <a:rPr kumimoji="0" lang="de-DE" sz="1100" b="1" i="0" u="none" strike="noStrike" kern="1200" cap="none" spc="0" normalizeH="0" baseline="0" noProof="0" dirty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</a:rPr>
              <a:t> 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</a:rPr>
              <a:t>64% haben bereits online abgeschlossen, </a:t>
            </a:r>
            <a:r>
              <a:rPr kumimoji="0" lang="de-DE" sz="1100" b="1" i="0" u="none" strike="noStrike" kern="1200" cap="none" spc="0" normalizeH="0" baseline="0" noProof="0" dirty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</a:rPr>
              <a:t>online-affinstes Segment, möchten die Schritte der Customer Journey zum Großteil selber machen (</a:t>
            </a:r>
            <a:r>
              <a:rPr kumimoji="0" lang="de-DE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</a:rPr>
              <a:t>KuPo</a:t>
            </a:r>
            <a:r>
              <a:rPr kumimoji="0" lang="de-DE" sz="1100" b="1" i="0" u="none" strike="noStrike" kern="1200" cap="none" spc="0" normalizeH="0" baseline="0" noProof="0" dirty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</a:rPr>
              <a:t>/Website) inklusive Beratung und Abschluss, 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</a:rPr>
              <a:t>vergleichen Angebote, 79% schätzen Kundenportale, preissensibel (42%), Preis-Leistung auch sehr wichtig, klare und transparente Produktinformationen, Selbstbehalte, Nachhaltigkeit (45%). Einkommen: durchschnittlich.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289D51F-94D1-652B-000B-452CAE324509}"/>
              </a:ext>
            </a:extLst>
          </p:cNvPr>
          <p:cNvSpPr txBox="1"/>
          <p:nvPr/>
        </p:nvSpPr>
        <p:spPr>
          <a:xfrm>
            <a:off x="7014504" y="4642178"/>
            <a:ext cx="516852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sng" strike="noStrike" kern="1200" cap="none" spc="0" normalizeH="0" baseline="0" noProof="0" dirty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Segment 3: </a:t>
            </a:r>
            <a:r>
              <a:rPr kumimoji="0" lang="de-DE" sz="1400" b="0" i="0" u="sng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Die Kundenservice Affinen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 ~ </a:t>
            </a:r>
            <a:r>
              <a:rPr kumimoji="0" lang="de-AT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910.000 Personen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Ø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 41 Jahre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28% aus Wien.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Neuabschlusspotenzial ist durchschnittlich: 1,3 Produkte.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Besitzen im Schnitt 3,5 Vers., </a:t>
            </a:r>
            <a:r>
              <a:rPr kumimoji="0" lang="de-DE" sz="1100" b="1" i="0" u="none" strike="noStrike" kern="1200" cap="none" spc="0" normalizeH="0" baseline="0" noProof="0" dirty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ca. 60% wollen alle CJ-Schritte über den Kundenservice erledigen inklusive Beratung und Abschluss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, niedrige Ansprüche an Versicherungen, Betreuerskeptiker, Preis-Leistung und maßgeschneiderte Produkte noch eher wichtig, Nachhaltigkeit für 49% wichtig, preissensibel (36%). 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</a:rPr>
              <a:t>Einkommen: unterdurchschnittlich.</a:t>
            </a:r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srgbClr val="005CA9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5F2D091-AF54-8E84-A938-6D2F9C753815}"/>
              </a:ext>
            </a:extLst>
          </p:cNvPr>
          <p:cNvSpPr txBox="1"/>
          <p:nvPr/>
        </p:nvSpPr>
        <p:spPr>
          <a:xfrm>
            <a:off x="-45720" y="2315334"/>
            <a:ext cx="474573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  910.000 Personen ~ </a:t>
            </a:r>
            <a:r>
              <a:rPr kumimoji="0" lang="de-DE" sz="1400" b="0" i="0" u="sng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Die anspruchsvollen Beraterorientierten</a:t>
            </a:r>
            <a:r>
              <a:rPr kumimoji="0" lang="de-DE" sz="1400" b="0" i="0" u="sng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: Segment 5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Ø 51 Jahre, stark ländlich, 31% in Pension, weniger ausgebildet.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Neuabschlusspotenzial unterdurchschnittlich: 1 Produkt.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Besitzen im Schnitt 5,8 Vers., hauptsächlich Beraterkunden, </a:t>
            </a:r>
            <a:r>
              <a:rPr kumimoji="0" lang="de-DE" sz="1100" b="1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persönliche Erledigung der Customer-Journey-Aktivitäten mit Berater/Makler eindeutig und klar bevorzugt</a:t>
            </a: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, persönliches Vertrauensverhältnis zum Berater sehr wichtig, 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82% wollen alle Lebensbereiche gut absichern, 83% Rundum Beratung, 96% wünschen sich maßgeschneiderte Produkte, wollen sich nicht damit beschäftigen, Nachhaltigkeit für 61% wichtig, eher preissensibel (31%). Einkommen: durchschnittlich.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C86265A-2DC8-1F98-E753-D2077ADE1ABA}"/>
              </a:ext>
            </a:extLst>
          </p:cNvPr>
          <p:cNvSpPr txBox="1"/>
          <p:nvPr/>
        </p:nvSpPr>
        <p:spPr>
          <a:xfrm>
            <a:off x="-96985" y="575128"/>
            <a:ext cx="5638886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1.365.000 Personen  ~ </a:t>
            </a:r>
            <a:r>
              <a:rPr kumimoji="0" lang="de-DE" sz="1400" b="0" i="0" u="sng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Die ausgeschöpften Maklerorientierten </a:t>
            </a:r>
            <a:r>
              <a:rPr kumimoji="0" lang="de-DE" sz="1400" b="0" i="0" u="sng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:Segment 6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Ø 50 Jahre, stark ländlich, 28% in Pension, weniger ausgebildet.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Neuabschlusspotenzial gering: 0,8 Produkte.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Besitzen im Schnitt 5,1 Vers., mehr Maklerkunden</a:t>
            </a:r>
            <a:r>
              <a:rPr kumimoji="0" lang="de-DE" sz="1100" b="1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, persönliche Erledigung der Customer-Journey-Aktivitäten mit Berater/Makler eindeutig und klar bevorzugt</a:t>
            </a: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, für 83% ist das Vertrauensverhältnis zum Makler sehr wichtig, er soll bekannt und in der Nähe sein, 68% wollen Flexibilität, sonst niedrige Ansprüche, nicht preissensibel. Einkommen: unterdurchschnittlich.  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71698B5-F9F4-EBD5-4BA4-8B70A1CD8491}"/>
              </a:ext>
            </a:extLst>
          </p:cNvPr>
          <p:cNvSpPr txBox="1"/>
          <p:nvPr/>
        </p:nvSpPr>
        <p:spPr>
          <a:xfrm>
            <a:off x="3803572" y="6592263"/>
            <a:ext cx="8889808" cy="3681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Quelle: 1) Statistik Austria: Markt = Personen zw. 18 und 75 Jahren in Österreich lebend ~ 6.500.000 Menschen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          2) UNIQA Segmentierungsbefragung: </a:t>
            </a:r>
            <a:r>
              <a:rPr kumimoji="0" lang="de-DE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</a:t>
            </a: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=4.004 Befragte, 18 bis 75 Jahre, marktrepräsentativ nach Geschlecht/Alter/Wohnort/Bildung, Oktober-November 2025, CAWI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7D64EB80-92C1-9FD1-5724-32B3C54CEAE3}"/>
              </a:ext>
            </a:extLst>
          </p:cNvPr>
          <p:cNvSpPr txBox="1"/>
          <p:nvPr/>
        </p:nvSpPr>
        <p:spPr>
          <a:xfrm>
            <a:off x="238105" y="4706186"/>
            <a:ext cx="530379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1.235.000 Personen ~ </a:t>
            </a:r>
            <a:r>
              <a:rPr kumimoji="0" lang="de-DE" sz="1400" b="0" i="0" u="sng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Die etablierten Hybriden </a:t>
            </a:r>
            <a:r>
              <a:rPr kumimoji="0" lang="de-DE" sz="1400" b="0" i="0" u="sng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:Segment 4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 Ø 48 Jahre, ländlich.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Neuabschlusspotenzial durchschnittlich: 1,2 Produkte.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Besitzen im Schnitt 5,6 Vers., </a:t>
            </a:r>
            <a:r>
              <a:rPr kumimoji="0" lang="de-DE" sz="1100" b="1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wollen nur einfache Schritte selber machen und die meisten CJ-Aktivitäten persönlich</a:t>
            </a: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, Berater- und Maklerkunden, persönliches Vertrauen zum Berater/Makler entscheidend für 91%, Kompetenz auch, Preis-Leistung für 82% wichtig, Wunsch nach maßgeschneiderten Produkten, Produktumfang wichtig, am wenigsten preissensibel. Einkommen: </a:t>
            </a:r>
            <a:r>
              <a:rPr kumimoji="0" lang="de-DE" sz="1100" b="0" i="0" u="sng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hoch</a:t>
            </a: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rgbClr val="005CA9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.      </a:t>
            </a:r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D9D3AD97-D58B-3364-6201-8C8F5CEA9B7A}"/>
              </a:ext>
            </a:extLst>
          </p:cNvPr>
          <p:cNvSpPr/>
          <p:nvPr/>
        </p:nvSpPr>
        <p:spPr>
          <a:xfrm>
            <a:off x="3035808" y="0"/>
            <a:ext cx="7534656" cy="4574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Markt Segmentierungsmodell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B949B80-95C2-7D6A-0249-006B9436FA68}"/>
              </a:ext>
            </a:extLst>
          </p:cNvPr>
          <p:cNvSpPr txBox="1"/>
          <p:nvPr/>
        </p:nvSpPr>
        <p:spPr>
          <a:xfrm>
            <a:off x="7123488" y="6151176"/>
            <a:ext cx="4160208" cy="2463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Segmentreihenfolge: im Uhrzeigersinn entsprechend dem Neuabschlusspotenzial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Darstellung: aktive und beschreibende Variablen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F786F4AB-F0CE-66F6-E330-F98E8F743402}"/>
              </a:ext>
            </a:extLst>
          </p:cNvPr>
          <p:cNvCxnSpPr/>
          <p:nvPr/>
        </p:nvCxnSpPr>
        <p:spPr>
          <a:xfrm>
            <a:off x="6184392" y="1467239"/>
            <a:ext cx="0" cy="3294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D54602A0-E6E3-0B49-174B-7C4AAED29207}"/>
              </a:ext>
            </a:extLst>
          </p:cNvPr>
          <p:cNvCxnSpPr/>
          <p:nvPr/>
        </p:nvCxnSpPr>
        <p:spPr>
          <a:xfrm>
            <a:off x="6263640" y="1631950"/>
            <a:ext cx="3108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umsplatzhalter 1">
            <a:extLst>
              <a:ext uri="{FF2B5EF4-FFF2-40B4-BE49-F238E27FC236}">
                <a16:creationId xmlns:a16="http://schemas.microsoft.com/office/drawing/2014/main" id="{261DDDDB-964D-ED7C-BC62-60E1D8386D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875" y="6556875"/>
            <a:ext cx="588192" cy="219454"/>
          </a:xfrm>
        </p:spPr>
        <p:txBody>
          <a:bodyPr/>
          <a:lstStyle/>
          <a:p>
            <a:fld id="{72D77B36-95B7-FF43-8BF5-D80FC3958B26}" type="datetime1">
              <a:rPr lang="de-AT" noProof="0" smtClean="0"/>
              <a:t>28.05.26</a:t>
            </a:fld>
            <a:endParaRPr lang="de-AT" noProof="0" dirty="0"/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B784DF87-4724-5EF2-C8F8-6AD30A0EA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0" y="6556875"/>
            <a:ext cx="6127477" cy="219454"/>
          </a:xfrm>
        </p:spPr>
        <p:txBody>
          <a:bodyPr/>
          <a:lstStyle/>
          <a:p>
            <a:r>
              <a:rPr lang="de-AT" noProof="0" dirty="0"/>
              <a:t>Retail-Segmentierung Neu│ S. Stratula &amp; K. Preibisch</a:t>
            </a:r>
          </a:p>
        </p:txBody>
      </p:sp>
    </p:spTree>
    <p:extLst>
      <p:ext uri="{BB962C8B-B14F-4D97-AF65-F5344CB8AC3E}">
        <p14:creationId xmlns:p14="http://schemas.microsoft.com/office/powerpoint/2010/main" val="331732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7B6A6-9389-5EFF-0EEF-93161CAC5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6DD4D4A-EE2F-A2D8-64AE-BF3A97FAD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7B36-95B7-FF43-8BF5-D80FC3958B26}" type="datetime1">
              <a:rPr lang="de-AT" noProof="0" smtClean="0"/>
              <a:t>28.05.26</a:t>
            </a:fld>
            <a:endParaRPr lang="de-AT" noProof="0" dirty="0"/>
          </a:p>
        </p:txBody>
      </p:sp>
      <p:sp>
        <p:nvSpPr>
          <p:cNvPr id="21" name="Fußzeilenplatzhalter 2">
            <a:extLst>
              <a:ext uri="{FF2B5EF4-FFF2-40B4-BE49-F238E27FC236}">
                <a16:creationId xmlns:a16="http://schemas.microsoft.com/office/drawing/2014/main" id="{0D4A794F-AA81-32BA-DACA-B152F2825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noProof="0" dirty="0"/>
              <a:t>Retail-Segmentierung Neu│ S. Stratula &amp; K. Preibisch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B22CC60-98CD-8F28-B753-1FCD7B5C5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3759" y="5941058"/>
            <a:ext cx="588191" cy="219454"/>
          </a:xfrm>
        </p:spPr>
        <p:txBody>
          <a:bodyPr/>
          <a:lstStyle/>
          <a:p>
            <a:fld id="{00A52981-3CA4-4342-A3CD-6DEDCD14014C}" type="slidenum">
              <a:rPr lang="de-AT" noProof="0" smtClean="0"/>
              <a:pPr/>
              <a:t>5</a:t>
            </a:fld>
            <a:endParaRPr lang="de-AT" noProof="0" dirty="0"/>
          </a:p>
        </p:txBody>
      </p:sp>
      <p:cxnSp>
        <p:nvCxnSpPr>
          <p:cNvPr id="44" name="Gerader Verbinder 2">
            <a:extLst>
              <a:ext uri="{FF2B5EF4-FFF2-40B4-BE49-F238E27FC236}">
                <a16:creationId xmlns:a16="http://schemas.microsoft.com/office/drawing/2014/main" id="{9FA57891-1C8B-2501-364E-7D424A62D5CE}"/>
              </a:ext>
            </a:extLst>
          </p:cNvPr>
          <p:cNvCxnSpPr>
            <a:cxnSpLocks/>
          </p:cNvCxnSpPr>
          <p:nvPr/>
        </p:nvCxnSpPr>
        <p:spPr>
          <a:xfrm>
            <a:off x="5249087" y="1932413"/>
            <a:ext cx="0" cy="3141360"/>
          </a:xfrm>
          <a:prstGeom prst="line">
            <a:avLst/>
          </a:prstGeom>
          <a:ln w="349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Stern: 5 Zacken 4">
            <a:extLst>
              <a:ext uri="{FF2B5EF4-FFF2-40B4-BE49-F238E27FC236}">
                <a16:creationId xmlns:a16="http://schemas.microsoft.com/office/drawing/2014/main" id="{8F8A423E-08D3-5524-ECD8-405D9673E7F0}"/>
              </a:ext>
            </a:extLst>
          </p:cNvPr>
          <p:cNvSpPr/>
          <p:nvPr/>
        </p:nvSpPr>
        <p:spPr>
          <a:xfrm>
            <a:off x="5108215" y="1922168"/>
            <a:ext cx="281743" cy="165611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47" name="Stern: 5 Zacken 10">
            <a:extLst>
              <a:ext uri="{FF2B5EF4-FFF2-40B4-BE49-F238E27FC236}">
                <a16:creationId xmlns:a16="http://schemas.microsoft.com/office/drawing/2014/main" id="{F77ED677-3F5F-B513-22D0-1F52721CE5E1}"/>
              </a:ext>
            </a:extLst>
          </p:cNvPr>
          <p:cNvSpPr/>
          <p:nvPr/>
        </p:nvSpPr>
        <p:spPr>
          <a:xfrm>
            <a:off x="5108215" y="4990967"/>
            <a:ext cx="281743" cy="165611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48" name="Textplatzhalter 6">
            <a:extLst>
              <a:ext uri="{FF2B5EF4-FFF2-40B4-BE49-F238E27FC236}">
                <a16:creationId xmlns:a16="http://schemas.microsoft.com/office/drawing/2014/main" id="{D7B88AD4-6DBC-BCC7-2683-CA01D44612F7}"/>
              </a:ext>
            </a:extLst>
          </p:cNvPr>
          <p:cNvSpPr txBox="1">
            <a:spLocks/>
          </p:cNvSpPr>
          <p:nvPr/>
        </p:nvSpPr>
        <p:spPr>
          <a:xfrm>
            <a:off x="5717801" y="2871000"/>
            <a:ext cx="558000" cy="558000"/>
          </a:xfrm>
          <a:prstGeom prst="ellipse">
            <a:avLst/>
          </a:prstGeom>
          <a:noFill/>
          <a:ln w="12700">
            <a:solidFill>
              <a:schemeClr val="tx2"/>
            </a:solidFill>
          </a:ln>
        </p:spPr>
        <p:txBody>
          <a:bodyPr vert="horz" lIns="0" tIns="0" rIns="0" bIns="0" rtlCol="0" anchor="ctr">
            <a:normAutofit/>
          </a:bodyPr>
          <a:lstStyle>
            <a:lvl1pPr marL="0" indent="0" algn="ctr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tabLst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dirty="0"/>
              <a:t>1</a:t>
            </a:r>
          </a:p>
        </p:txBody>
      </p:sp>
      <p:sp>
        <p:nvSpPr>
          <p:cNvPr id="49" name="Textplatzhalter 8">
            <a:extLst>
              <a:ext uri="{FF2B5EF4-FFF2-40B4-BE49-F238E27FC236}">
                <a16:creationId xmlns:a16="http://schemas.microsoft.com/office/drawing/2014/main" id="{19C914F7-3D01-048A-D9DA-0A0EBB5D2781}"/>
              </a:ext>
            </a:extLst>
          </p:cNvPr>
          <p:cNvSpPr txBox="1">
            <a:spLocks/>
          </p:cNvSpPr>
          <p:nvPr/>
        </p:nvSpPr>
        <p:spPr>
          <a:xfrm>
            <a:off x="5717801" y="3484420"/>
            <a:ext cx="558000" cy="5580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2"/>
            </a:solidFill>
          </a:ln>
        </p:spPr>
        <p:txBody>
          <a:bodyPr vert="horz" lIns="0" tIns="0" rIns="0" bIns="0" rtlCol="0" anchor="ctr">
            <a:normAutofit/>
          </a:bodyPr>
          <a:lstStyle>
            <a:lvl1pPr marL="0" indent="0" algn="ctr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tabLst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0" name="Textplatzhalter 12">
            <a:extLst>
              <a:ext uri="{FF2B5EF4-FFF2-40B4-BE49-F238E27FC236}">
                <a16:creationId xmlns:a16="http://schemas.microsoft.com/office/drawing/2014/main" id="{0438D31E-2BEE-4CB1-7787-FC25749E21A9}"/>
              </a:ext>
            </a:extLst>
          </p:cNvPr>
          <p:cNvSpPr txBox="1">
            <a:spLocks/>
          </p:cNvSpPr>
          <p:nvPr/>
        </p:nvSpPr>
        <p:spPr>
          <a:xfrm>
            <a:off x="6417476" y="2869510"/>
            <a:ext cx="6193777" cy="558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3600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b="0" dirty="0">
                <a:solidFill>
                  <a:srgbClr val="025CA9"/>
                </a:solidFill>
              </a:rPr>
              <a:t>Segmentgrößen auf dem Markt</a:t>
            </a:r>
            <a:endParaRPr lang="de-AT" b="0" dirty="0"/>
          </a:p>
        </p:txBody>
      </p:sp>
      <p:sp>
        <p:nvSpPr>
          <p:cNvPr id="51" name="Textplatzhalter 12">
            <a:extLst>
              <a:ext uri="{FF2B5EF4-FFF2-40B4-BE49-F238E27FC236}">
                <a16:creationId xmlns:a16="http://schemas.microsoft.com/office/drawing/2014/main" id="{5312623E-C110-82E6-BF06-C3636EDD76B5}"/>
              </a:ext>
            </a:extLst>
          </p:cNvPr>
          <p:cNvSpPr txBox="1">
            <a:spLocks/>
          </p:cNvSpPr>
          <p:nvPr/>
        </p:nvSpPr>
        <p:spPr>
          <a:xfrm>
            <a:off x="6417477" y="3481547"/>
            <a:ext cx="3055708" cy="558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3600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6000" indent="-216000" algn="l" defTabSz="36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b="0" dirty="0">
                <a:solidFill>
                  <a:srgbClr val="025CA9"/>
                </a:solidFill>
              </a:rPr>
              <a:t>UNIQA Segmente im Detail</a:t>
            </a:r>
            <a:endParaRPr lang="de-AT" b="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2F51C21-68D1-4669-6D38-1279C7FE95EE}"/>
              </a:ext>
            </a:extLst>
          </p:cNvPr>
          <p:cNvSpPr txBox="1"/>
          <p:nvPr/>
        </p:nvSpPr>
        <p:spPr>
          <a:xfrm>
            <a:off x="3900742" y="6592459"/>
            <a:ext cx="4390516" cy="1751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900" i="1" dirty="0"/>
              <a:t>Alle Bilder (inkl. Fotos, Icons) in diesem Bericht wurden mit Hilfe von KI-Tools erstellt. </a:t>
            </a:r>
          </a:p>
        </p:txBody>
      </p:sp>
    </p:spTree>
    <p:extLst>
      <p:ext uri="{BB962C8B-B14F-4D97-AF65-F5344CB8AC3E}">
        <p14:creationId xmlns:p14="http://schemas.microsoft.com/office/powerpoint/2010/main" val="281077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ollage of two people&#10;&#10;AI-generated content may be incorrect.">
            <a:extLst>
              <a:ext uri="{FF2B5EF4-FFF2-40B4-BE49-F238E27FC236}">
                <a16:creationId xmlns:a16="http://schemas.microsoft.com/office/drawing/2014/main" id="{D6EF342D-8735-B34D-1D2E-0F057C4FEA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51670" y="0"/>
            <a:ext cx="4589063" cy="6212918"/>
          </a:xfrm>
          <a:prstGeom prst="rect">
            <a:avLst/>
          </a:prstGeom>
        </p:spPr>
      </p:pic>
      <p:pic>
        <p:nvPicPr>
          <p:cNvPr id="6" name="Picture 5" descr="A collage of two people&#10;&#10;AI-generated content may be incorrect.">
            <a:extLst>
              <a:ext uri="{FF2B5EF4-FFF2-40B4-BE49-F238E27FC236}">
                <a16:creationId xmlns:a16="http://schemas.microsoft.com/office/drawing/2014/main" id="{24F9440B-33BC-7936-2C3B-42BFD9EEEF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4589064" cy="621292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7476E8D-C3F8-3EFD-636A-A3990F028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6212921"/>
            <a:ext cx="12192001" cy="645079"/>
          </a:xfrm>
          <a:solidFill>
            <a:srgbClr val="71ADFF"/>
          </a:solidFill>
        </p:spPr>
        <p:txBody>
          <a:bodyPr/>
          <a:lstStyle/>
          <a:p>
            <a:pPr algn="ctr"/>
            <a:r>
              <a:rPr lang="de-DE" sz="4000">
                <a:solidFill>
                  <a:schemeClr val="bg1"/>
                </a:solidFill>
                <a:cs typeface="Times New Roman" panose="02020603050405020304" pitchFamily="18" charset="0"/>
              </a:rPr>
              <a:t>Segment 1 </a:t>
            </a:r>
            <a:r>
              <a:rPr lang="de-DE" sz="4800">
                <a:solidFill>
                  <a:schemeClr val="bg1"/>
                </a:solidFill>
                <a:cs typeface="Times New Roman" panose="02020603050405020304" pitchFamily="18" charset="0"/>
              </a:rPr>
              <a:t>- </a:t>
            </a:r>
            <a:r>
              <a:rPr lang="de-DE" sz="4000">
                <a:solidFill>
                  <a:schemeClr val="bg1"/>
                </a:solidFill>
                <a:cs typeface="Times New Roman" panose="02020603050405020304" pitchFamily="18" charset="0"/>
              </a:rPr>
              <a:t>Die aufsteigenden Hybriden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0F4C3FD-5367-BB20-A787-12F4A2764D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417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7BE42-8697-0B92-6E87-D158D2AEB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hteck 35">
            <a:extLst>
              <a:ext uri="{FF2B5EF4-FFF2-40B4-BE49-F238E27FC236}">
                <a16:creationId xmlns:a16="http://schemas.microsoft.com/office/drawing/2014/main" id="{D44A43E1-4115-1064-FCFE-9A2BFAB471EE}"/>
              </a:ext>
            </a:extLst>
          </p:cNvPr>
          <p:cNvSpPr/>
          <p:nvPr/>
        </p:nvSpPr>
        <p:spPr>
          <a:xfrm>
            <a:off x="8401524" y="1842622"/>
            <a:ext cx="3459807" cy="2892763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graphicFrame>
        <p:nvGraphicFramePr>
          <p:cNvPr id="98" name="Diagramm 51">
            <a:extLst>
              <a:ext uri="{FF2B5EF4-FFF2-40B4-BE49-F238E27FC236}">
                <a16:creationId xmlns:a16="http://schemas.microsoft.com/office/drawing/2014/main" id="{34702665-B710-7ED5-A6F6-943EE4F25C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8343775"/>
              </p:ext>
            </p:extLst>
          </p:nvPr>
        </p:nvGraphicFramePr>
        <p:xfrm>
          <a:off x="8831945" y="3098310"/>
          <a:ext cx="3471496" cy="8536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echteck 10">
            <a:extLst>
              <a:ext uri="{FF2B5EF4-FFF2-40B4-BE49-F238E27FC236}">
                <a16:creationId xmlns:a16="http://schemas.microsoft.com/office/drawing/2014/main" id="{6FD0F905-B0DB-53F1-0BEC-405EACD3869B}"/>
              </a:ext>
            </a:extLst>
          </p:cNvPr>
          <p:cNvSpPr/>
          <p:nvPr/>
        </p:nvSpPr>
        <p:spPr>
          <a:xfrm>
            <a:off x="402545" y="1842623"/>
            <a:ext cx="3844199" cy="4457285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9C83EE8-C381-930A-A528-A28E795AB866}"/>
              </a:ext>
            </a:extLst>
          </p:cNvPr>
          <p:cNvSpPr txBox="1"/>
          <p:nvPr/>
        </p:nvSpPr>
        <p:spPr>
          <a:xfrm>
            <a:off x="315266" y="6371801"/>
            <a:ext cx="115460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Basis: </a:t>
            </a:r>
            <a:r>
              <a:rPr lang="de-DE" sz="800" err="1"/>
              <a:t>n</a:t>
            </a:r>
            <a:r>
              <a:rPr lang="de-DE" sz="800"/>
              <a:t>(Segment1)=620 | Grüne/rote Schriftfarbe und fette Markierung von Werten: Signifikante Abweichungen von der Gesamtstichprobe. Grün = signifikant höherer Wert, rot = signifikant niedrigerer Wert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772DE24F-1A12-5A1B-25B7-4A08930A0583}"/>
              </a:ext>
            </a:extLst>
          </p:cNvPr>
          <p:cNvSpPr/>
          <p:nvPr/>
        </p:nvSpPr>
        <p:spPr>
          <a:xfrm>
            <a:off x="4380626" y="1842623"/>
            <a:ext cx="3880357" cy="4450443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97442DEC-8227-61DF-2CA7-F269A40C0905}"/>
              </a:ext>
            </a:extLst>
          </p:cNvPr>
          <p:cNvSpPr txBox="1"/>
          <p:nvPr/>
        </p:nvSpPr>
        <p:spPr>
          <a:xfrm>
            <a:off x="4427956" y="2339581"/>
            <a:ext cx="3753905" cy="25994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800">
                <a:solidFill>
                  <a:schemeClr val="bg1">
                    <a:lumMod val="75000"/>
                  </a:schemeClr>
                </a:solidFill>
              </a:rPr>
              <a:t>*Näherungsweiser Mittelwert auf Basis von Klassenmittelpunkten, da die Abfrage in Kategorien erfolgte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ADBC228-8BE3-2708-63CB-C666F9863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7</a:t>
            </a:fld>
            <a:endParaRPr lang="de-AT" noProof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0FF948AA-C956-85C7-1FB7-4254348BC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76" y="917607"/>
            <a:ext cx="11395074" cy="484473"/>
          </a:xfrm>
        </p:spPr>
        <p:txBody>
          <a:bodyPr/>
          <a:lstStyle/>
          <a:p>
            <a:r>
              <a:rPr lang="de-DE" sz="3400"/>
              <a:t>Struktur und Charakteristika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10CD6E2-2EE7-85D6-9FF7-39C78CB652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Segment 1: Die aufsteigenden Hybriden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816E79E-78EE-B7A0-32A1-44B06A86BDD1}"/>
              </a:ext>
            </a:extLst>
          </p:cNvPr>
          <p:cNvSpPr txBox="1"/>
          <p:nvPr/>
        </p:nvSpPr>
        <p:spPr>
          <a:xfrm>
            <a:off x="406797" y="1540342"/>
            <a:ext cx="3008176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400"/>
              <a:t>SOZIODEMOGRAPHIE</a:t>
            </a:r>
          </a:p>
        </p:txBody>
      </p:sp>
      <p:cxnSp>
        <p:nvCxnSpPr>
          <p:cNvPr id="14" name="Gerade Verbindung 13">
            <a:extLst>
              <a:ext uri="{FF2B5EF4-FFF2-40B4-BE49-F238E27FC236}">
                <a16:creationId xmlns:a16="http://schemas.microsoft.com/office/drawing/2014/main" id="{A3E76AB0-BCE6-9AB9-704B-D0EDA2586B7F}"/>
              </a:ext>
            </a:extLst>
          </p:cNvPr>
          <p:cNvCxnSpPr>
            <a:cxnSpLocks/>
          </p:cNvCxnSpPr>
          <p:nvPr/>
        </p:nvCxnSpPr>
        <p:spPr>
          <a:xfrm>
            <a:off x="2320314" y="1835313"/>
            <a:ext cx="0" cy="441456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fik 24" descr="Männlich mit einfarbiger Füllung">
            <a:extLst>
              <a:ext uri="{FF2B5EF4-FFF2-40B4-BE49-F238E27FC236}">
                <a16:creationId xmlns:a16="http://schemas.microsoft.com/office/drawing/2014/main" id="{39DFBBA0-AD71-EE8A-2ACD-E71AFE6B43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0048" y="2101083"/>
            <a:ext cx="322661" cy="322661"/>
          </a:xfrm>
          <a:prstGeom prst="rect">
            <a:avLst/>
          </a:prstGeom>
        </p:spPr>
      </p:pic>
      <p:sp>
        <p:nvSpPr>
          <p:cNvPr id="26" name="Textfeld 25">
            <a:extLst>
              <a:ext uri="{FF2B5EF4-FFF2-40B4-BE49-F238E27FC236}">
                <a16:creationId xmlns:a16="http://schemas.microsoft.com/office/drawing/2014/main" id="{22AAD885-C882-44B5-6FA4-0278708A8F3C}"/>
              </a:ext>
            </a:extLst>
          </p:cNvPr>
          <p:cNvSpPr txBox="1"/>
          <p:nvPr/>
        </p:nvSpPr>
        <p:spPr>
          <a:xfrm>
            <a:off x="1132452" y="2123076"/>
            <a:ext cx="522514" cy="2786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600" dirty="0">
                <a:solidFill>
                  <a:srgbClr val="000000"/>
                </a:solidFill>
              </a:rPr>
              <a:t>46%</a:t>
            </a:r>
          </a:p>
        </p:txBody>
      </p:sp>
      <p:pic>
        <p:nvPicPr>
          <p:cNvPr id="28" name="Grafik 27" descr="Weiblich mit einfarbiger Füllung">
            <a:extLst>
              <a:ext uri="{FF2B5EF4-FFF2-40B4-BE49-F238E27FC236}">
                <a16:creationId xmlns:a16="http://schemas.microsoft.com/office/drawing/2014/main" id="{957EE7AC-EC4F-D494-B55B-9A3305C6AE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6136" y="2435610"/>
            <a:ext cx="322661" cy="322661"/>
          </a:xfrm>
          <a:prstGeom prst="rect">
            <a:avLst/>
          </a:prstGeom>
        </p:spPr>
      </p:pic>
      <p:sp>
        <p:nvSpPr>
          <p:cNvPr id="29" name="Textfeld 28">
            <a:extLst>
              <a:ext uri="{FF2B5EF4-FFF2-40B4-BE49-F238E27FC236}">
                <a16:creationId xmlns:a16="http://schemas.microsoft.com/office/drawing/2014/main" id="{E90314AF-25ED-5C85-1CBA-02F74B0F3E19}"/>
              </a:ext>
            </a:extLst>
          </p:cNvPr>
          <p:cNvSpPr txBox="1"/>
          <p:nvPr/>
        </p:nvSpPr>
        <p:spPr>
          <a:xfrm>
            <a:off x="1132452" y="2457603"/>
            <a:ext cx="522514" cy="2786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600" dirty="0">
                <a:solidFill>
                  <a:srgbClr val="000000"/>
                </a:solidFill>
              </a:rPr>
              <a:t>54%</a:t>
            </a:r>
          </a:p>
        </p:txBody>
      </p:sp>
      <p:graphicFrame>
        <p:nvGraphicFramePr>
          <p:cNvPr id="30" name="Diagramm 29">
            <a:extLst>
              <a:ext uri="{FF2B5EF4-FFF2-40B4-BE49-F238E27FC236}">
                <a16:creationId xmlns:a16="http://schemas.microsoft.com/office/drawing/2014/main" id="{92857248-8328-207D-FF97-09DB63BD1C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3271847"/>
              </p:ext>
            </p:extLst>
          </p:nvPr>
        </p:nvGraphicFramePr>
        <p:xfrm>
          <a:off x="396875" y="3091692"/>
          <a:ext cx="2491332" cy="2045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1" name="Textfeld 30">
            <a:extLst>
              <a:ext uri="{FF2B5EF4-FFF2-40B4-BE49-F238E27FC236}">
                <a16:creationId xmlns:a16="http://schemas.microsoft.com/office/drawing/2014/main" id="{673313EB-A469-2F0F-69EF-7DC4F39353A6}"/>
              </a:ext>
            </a:extLst>
          </p:cNvPr>
          <p:cNvSpPr txBox="1"/>
          <p:nvPr/>
        </p:nvSpPr>
        <p:spPr>
          <a:xfrm>
            <a:off x="2374614" y="3467281"/>
            <a:ext cx="1861562" cy="251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100">
                <a:solidFill>
                  <a:srgbClr val="71ADFF"/>
                </a:solidFill>
              </a:rPr>
              <a:t>Durchschnittsalter: </a:t>
            </a:r>
            <a:r>
              <a:rPr lang="de-DE" sz="1100" b="1">
                <a:solidFill>
                  <a:srgbClr val="FF0000"/>
                </a:solidFill>
              </a:rPr>
              <a:t>43,2</a:t>
            </a:r>
            <a:r>
              <a:rPr lang="de-DE" sz="1100"/>
              <a:t> </a:t>
            </a:r>
            <a:r>
              <a:rPr lang="de-DE" sz="1100">
                <a:solidFill>
                  <a:srgbClr val="71ADFF"/>
                </a:solidFill>
              </a:rPr>
              <a:t>Jahre</a:t>
            </a:r>
          </a:p>
        </p:txBody>
      </p:sp>
      <p:graphicFrame>
        <p:nvGraphicFramePr>
          <p:cNvPr id="32" name="Diagramm 31">
            <a:extLst>
              <a:ext uri="{FF2B5EF4-FFF2-40B4-BE49-F238E27FC236}">
                <a16:creationId xmlns:a16="http://schemas.microsoft.com/office/drawing/2014/main" id="{4917D0DB-09A0-F9D0-9DC7-1B235E6120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7867067"/>
              </p:ext>
            </p:extLst>
          </p:nvPr>
        </p:nvGraphicFramePr>
        <p:xfrm>
          <a:off x="2405421" y="2074358"/>
          <a:ext cx="2057062" cy="1422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38" name="Diagramm 37">
            <a:extLst>
              <a:ext uri="{FF2B5EF4-FFF2-40B4-BE49-F238E27FC236}">
                <a16:creationId xmlns:a16="http://schemas.microsoft.com/office/drawing/2014/main" id="{19460A69-308D-71C8-1063-D01198F9CD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4717761"/>
              </p:ext>
            </p:extLst>
          </p:nvPr>
        </p:nvGraphicFramePr>
        <p:xfrm>
          <a:off x="2444874" y="5373297"/>
          <a:ext cx="1620400" cy="970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40" name="Textfeld 39">
            <a:extLst>
              <a:ext uri="{FF2B5EF4-FFF2-40B4-BE49-F238E27FC236}">
                <a16:creationId xmlns:a16="http://schemas.microsoft.com/office/drawing/2014/main" id="{6DCBEF86-44FB-1055-58A5-DD04E1AA4D86}"/>
              </a:ext>
            </a:extLst>
          </p:cNvPr>
          <p:cNvSpPr txBox="1"/>
          <p:nvPr/>
        </p:nvSpPr>
        <p:spPr>
          <a:xfrm>
            <a:off x="501863" y="1881128"/>
            <a:ext cx="123661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Geschlecht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797B900D-7581-5AC1-1800-056CF0D61AE6}"/>
              </a:ext>
            </a:extLst>
          </p:cNvPr>
          <p:cNvSpPr txBox="1"/>
          <p:nvPr/>
        </p:nvSpPr>
        <p:spPr>
          <a:xfrm>
            <a:off x="2428695" y="1881128"/>
            <a:ext cx="123661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1200"/>
              <a:t>Alter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585C374A-BE55-06F8-3652-B5779EDC40A6}"/>
              </a:ext>
            </a:extLst>
          </p:cNvPr>
          <p:cNvSpPr txBox="1"/>
          <p:nvPr/>
        </p:nvSpPr>
        <p:spPr>
          <a:xfrm>
            <a:off x="501863" y="2971366"/>
            <a:ext cx="123661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Bundesland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26A1AEBF-D388-DE53-76A0-3D17825662A9}"/>
              </a:ext>
            </a:extLst>
          </p:cNvPr>
          <p:cNvSpPr txBox="1"/>
          <p:nvPr/>
        </p:nvSpPr>
        <p:spPr>
          <a:xfrm>
            <a:off x="2428695" y="3897680"/>
            <a:ext cx="123661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1200"/>
              <a:t>Beruf</a:t>
            </a:r>
          </a:p>
        </p:txBody>
      </p:sp>
      <p:cxnSp>
        <p:nvCxnSpPr>
          <p:cNvPr id="44" name="Gerade Verbindung 43">
            <a:extLst>
              <a:ext uri="{FF2B5EF4-FFF2-40B4-BE49-F238E27FC236}">
                <a16:creationId xmlns:a16="http://schemas.microsoft.com/office/drawing/2014/main" id="{00D2863A-EF5D-5ED4-797E-2EC05E23F256}"/>
              </a:ext>
            </a:extLst>
          </p:cNvPr>
          <p:cNvCxnSpPr>
            <a:cxnSpLocks/>
          </p:cNvCxnSpPr>
          <p:nvPr/>
        </p:nvCxnSpPr>
        <p:spPr>
          <a:xfrm flipH="1">
            <a:off x="396875" y="5141533"/>
            <a:ext cx="3849869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feld 45">
            <a:extLst>
              <a:ext uri="{FF2B5EF4-FFF2-40B4-BE49-F238E27FC236}">
                <a16:creationId xmlns:a16="http://schemas.microsoft.com/office/drawing/2014/main" id="{D8853D51-F0BB-BD63-A809-A60CDBCD547E}"/>
              </a:ext>
            </a:extLst>
          </p:cNvPr>
          <p:cNvSpPr txBox="1"/>
          <p:nvPr/>
        </p:nvSpPr>
        <p:spPr>
          <a:xfrm>
            <a:off x="2428695" y="5219828"/>
            <a:ext cx="123661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1200"/>
              <a:t>Bildung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CAA48184-B0C2-E1DE-8D24-A78073E6AE8C}"/>
              </a:ext>
            </a:extLst>
          </p:cNvPr>
          <p:cNvSpPr txBox="1"/>
          <p:nvPr/>
        </p:nvSpPr>
        <p:spPr>
          <a:xfrm>
            <a:off x="4445182" y="1540342"/>
            <a:ext cx="3008176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400"/>
              <a:t>FINANZEN &amp; BESITZ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C6C251C7-44B4-53EE-0036-E125BB103620}"/>
              </a:ext>
            </a:extLst>
          </p:cNvPr>
          <p:cNvSpPr txBox="1"/>
          <p:nvPr/>
        </p:nvSpPr>
        <p:spPr>
          <a:xfrm>
            <a:off x="4465636" y="1881128"/>
            <a:ext cx="2315302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Haushaltsnettoeinkommen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A84FCEC3-3FDF-19CD-BBED-4827D87EF891}"/>
              </a:ext>
            </a:extLst>
          </p:cNvPr>
          <p:cNvSpPr txBox="1"/>
          <p:nvPr/>
        </p:nvSpPr>
        <p:spPr>
          <a:xfrm>
            <a:off x="4465636" y="2113407"/>
            <a:ext cx="3400995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100">
                <a:solidFill>
                  <a:srgbClr val="71ADFF"/>
                </a:solidFill>
              </a:rPr>
              <a:t>Überdurchschnittlich: </a:t>
            </a:r>
            <a:r>
              <a:rPr lang="de-DE" sz="1100" b="1">
                <a:solidFill>
                  <a:srgbClr val="4DA685"/>
                </a:solidFill>
              </a:rPr>
              <a:t>€ 4.041,80* </a:t>
            </a:r>
            <a:r>
              <a:rPr lang="de-DE" sz="1100">
                <a:solidFill>
                  <a:srgbClr val="71ADFF"/>
                </a:solidFill>
              </a:rPr>
              <a:t>pro Monat </a:t>
            </a:r>
          </a:p>
        </p:txBody>
      </p:sp>
      <p:cxnSp>
        <p:nvCxnSpPr>
          <p:cNvPr id="54" name="Gerade Verbindung 53">
            <a:extLst>
              <a:ext uri="{FF2B5EF4-FFF2-40B4-BE49-F238E27FC236}">
                <a16:creationId xmlns:a16="http://schemas.microsoft.com/office/drawing/2014/main" id="{D7255297-11B8-1925-5D10-4B6126670D0A}"/>
              </a:ext>
            </a:extLst>
          </p:cNvPr>
          <p:cNvCxnSpPr>
            <a:cxnSpLocks/>
          </p:cNvCxnSpPr>
          <p:nvPr/>
        </p:nvCxnSpPr>
        <p:spPr>
          <a:xfrm flipH="1">
            <a:off x="4380626" y="2673371"/>
            <a:ext cx="3833631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feld 54">
            <a:extLst>
              <a:ext uri="{FF2B5EF4-FFF2-40B4-BE49-F238E27FC236}">
                <a16:creationId xmlns:a16="http://schemas.microsoft.com/office/drawing/2014/main" id="{3C5F0227-23FB-8049-29E3-51A7865CCC87}"/>
              </a:ext>
            </a:extLst>
          </p:cNvPr>
          <p:cNvSpPr txBox="1"/>
          <p:nvPr/>
        </p:nvSpPr>
        <p:spPr>
          <a:xfrm>
            <a:off x="4371433" y="2763651"/>
            <a:ext cx="2054763" cy="2608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buClr>
                <a:schemeClr val="tx2"/>
              </a:buClr>
            </a:pPr>
            <a:r>
              <a:rPr lang="de-DE" sz="1200"/>
              <a:t>Finanzielle Vermögenswerte im  Haushalt</a:t>
            </a:r>
          </a:p>
        </p:txBody>
      </p:sp>
      <p:graphicFrame>
        <p:nvGraphicFramePr>
          <p:cNvPr id="60" name="Diagramm 59">
            <a:extLst>
              <a:ext uri="{FF2B5EF4-FFF2-40B4-BE49-F238E27FC236}">
                <a16:creationId xmlns:a16="http://schemas.microsoft.com/office/drawing/2014/main" id="{71EDB8AC-FFCA-265A-1327-658618C261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2051717"/>
              </p:ext>
            </p:extLst>
          </p:nvPr>
        </p:nvGraphicFramePr>
        <p:xfrm>
          <a:off x="4351728" y="3129065"/>
          <a:ext cx="2319923" cy="23928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64" name="Rechteck 63">
            <a:extLst>
              <a:ext uri="{FF2B5EF4-FFF2-40B4-BE49-F238E27FC236}">
                <a16:creationId xmlns:a16="http://schemas.microsoft.com/office/drawing/2014/main" id="{33A4B0AF-46E5-4BEE-C4FC-1A3FDA8FF152}"/>
              </a:ext>
            </a:extLst>
          </p:cNvPr>
          <p:cNvSpPr/>
          <p:nvPr/>
        </p:nvSpPr>
        <p:spPr>
          <a:xfrm>
            <a:off x="8390103" y="5041893"/>
            <a:ext cx="3471495" cy="1258016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526CF40C-8F4F-E3AC-B7C2-C311E6F51350}"/>
              </a:ext>
            </a:extLst>
          </p:cNvPr>
          <p:cNvSpPr txBox="1"/>
          <p:nvPr/>
        </p:nvSpPr>
        <p:spPr>
          <a:xfrm>
            <a:off x="8443124" y="4839699"/>
            <a:ext cx="3008176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400"/>
              <a:t>MEDIENNUTZUNG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CF5AA218-2B5C-498B-35F8-ABCC4E231357}"/>
              </a:ext>
            </a:extLst>
          </p:cNvPr>
          <p:cNvSpPr txBox="1"/>
          <p:nvPr/>
        </p:nvSpPr>
        <p:spPr>
          <a:xfrm>
            <a:off x="8430583" y="5070325"/>
            <a:ext cx="343074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 dirty="0"/>
              <a:t>Tägliche Nutzung von Kanälen - Top 5 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DCCEA65A-9921-D816-A0E5-FB15383F44B1}"/>
              </a:ext>
            </a:extLst>
          </p:cNvPr>
          <p:cNvSpPr txBox="1"/>
          <p:nvPr/>
        </p:nvSpPr>
        <p:spPr>
          <a:xfrm>
            <a:off x="8836941" y="5296922"/>
            <a:ext cx="2834640" cy="1104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300"/>
              </a:spcAft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91%</a:t>
            </a:r>
            <a:r>
              <a:rPr lang="de-DE" sz="1100" b="1">
                <a:solidFill>
                  <a:srgbClr val="000000"/>
                </a:solidFill>
              </a:rPr>
              <a:t>  </a:t>
            </a:r>
            <a:r>
              <a:rPr lang="de-DE" sz="1100">
                <a:solidFill>
                  <a:srgbClr val="000000"/>
                </a:solidFill>
              </a:rPr>
              <a:t>Messenger-Dienste</a:t>
            </a:r>
          </a:p>
          <a:p>
            <a:pPr algn="l">
              <a:spcAft>
                <a:spcPts val="300"/>
              </a:spcAft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89%  </a:t>
            </a:r>
            <a:r>
              <a:rPr lang="de-DE" sz="1100">
                <a:solidFill>
                  <a:srgbClr val="000000"/>
                </a:solidFill>
              </a:rPr>
              <a:t>Suchmaschinen </a:t>
            </a:r>
          </a:p>
          <a:p>
            <a:pPr algn="l">
              <a:spcAft>
                <a:spcPts val="300"/>
              </a:spcAft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76%  </a:t>
            </a:r>
            <a:r>
              <a:rPr lang="de-DE" sz="1100">
                <a:solidFill>
                  <a:srgbClr val="000000"/>
                </a:solidFill>
              </a:rPr>
              <a:t>Soziale Medien</a:t>
            </a:r>
          </a:p>
          <a:p>
            <a:pPr algn="l">
              <a:spcAft>
                <a:spcPts val="300"/>
              </a:spcAft>
              <a:buClr>
                <a:schemeClr val="tx2"/>
              </a:buClr>
            </a:pPr>
            <a:r>
              <a:rPr lang="de-DE" sz="1100">
                <a:solidFill>
                  <a:srgbClr val="000000"/>
                </a:solidFill>
              </a:rPr>
              <a:t>58%  Radio</a:t>
            </a:r>
          </a:p>
          <a:p>
            <a:pPr algn="l">
              <a:spcAft>
                <a:spcPts val="300"/>
              </a:spcAft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52%  </a:t>
            </a:r>
            <a:r>
              <a:rPr lang="de-DE" sz="1100">
                <a:solidFill>
                  <a:srgbClr val="000000"/>
                </a:solidFill>
              </a:rPr>
              <a:t>Streaming-Dienste für Videos &amp; Filme</a:t>
            </a:r>
            <a:endParaRPr lang="de-DE" sz="1000"/>
          </a:p>
          <a:p>
            <a:pPr algn="l">
              <a:spcAft>
                <a:spcPts val="300"/>
              </a:spcAft>
              <a:buClr>
                <a:schemeClr val="tx2"/>
              </a:buClr>
            </a:pPr>
            <a:endParaRPr lang="de-DE" sz="1000"/>
          </a:p>
        </p:txBody>
      </p:sp>
      <p:pic>
        <p:nvPicPr>
          <p:cNvPr id="8" name="Grafik 7" descr="Ein Bild, das Grafiken, Symbol, Clipart, Grafikdesign enthält.&#10;&#10;KI-generierte Inhalte können fehlerhaft sein.">
            <a:extLst>
              <a:ext uri="{FF2B5EF4-FFF2-40B4-BE49-F238E27FC236}">
                <a16:creationId xmlns:a16="http://schemas.microsoft.com/office/drawing/2014/main" id="{BCE46E17-D9FF-B52F-2FB6-FCBBD2B96A5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43124" y="5266229"/>
            <a:ext cx="287133" cy="273067"/>
          </a:xfrm>
          <a:prstGeom prst="rect">
            <a:avLst/>
          </a:prstGeom>
        </p:spPr>
      </p:pic>
      <p:pic>
        <p:nvPicPr>
          <p:cNvPr id="13" name="Grafik 12" descr="Ein Bild, das Kreis, Grafiken,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21AEE08E-097D-D0DC-C6F4-E9EBC207A19D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28473" y="5508245"/>
            <a:ext cx="287133" cy="268990"/>
          </a:xfrm>
          <a:prstGeom prst="rect">
            <a:avLst/>
          </a:prstGeom>
        </p:spPr>
      </p:pic>
      <p:pic>
        <p:nvPicPr>
          <p:cNvPr id="18" name="Grafik 17" descr="Ein Bild, das Grafiken, Logo, Electric Blue (Farbe), Schrift enthält.&#10;&#10;KI-generierte Inhalte können fehlerhaft sein.">
            <a:extLst>
              <a:ext uri="{FF2B5EF4-FFF2-40B4-BE49-F238E27FC236}">
                <a16:creationId xmlns:a16="http://schemas.microsoft.com/office/drawing/2014/main" id="{BC0CD1DF-45EE-AC8A-EC23-AC5B4BAAFCE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26633" y="5734460"/>
            <a:ext cx="350507" cy="197670"/>
          </a:xfrm>
          <a:prstGeom prst="rect">
            <a:avLst/>
          </a:prstGeom>
        </p:spPr>
      </p:pic>
      <p:pic>
        <p:nvPicPr>
          <p:cNvPr id="22" name="Grafik 21" descr="Ein Bild, das Screenshot, Elektronik, stereo, Electric Blue (Farbe) enthält.&#10;&#10;KI-generierte Inhalte können fehlerhaft sein.">
            <a:extLst>
              <a:ext uri="{FF2B5EF4-FFF2-40B4-BE49-F238E27FC236}">
                <a16:creationId xmlns:a16="http://schemas.microsoft.com/office/drawing/2014/main" id="{7ACF55BE-74E9-8592-0C7F-F1C6BA313637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26796" y="5912803"/>
            <a:ext cx="321745" cy="217600"/>
          </a:xfrm>
          <a:prstGeom prst="rect">
            <a:avLst/>
          </a:prstGeom>
        </p:spPr>
      </p:pic>
      <p:pic>
        <p:nvPicPr>
          <p:cNvPr id="24" name="Grafik 23" descr="Ein Bild, das Electric Blue (Farbe), Screenshot, Majorelle Blue, Blau enthält.&#10;&#10;KI-generierte Inhalte können fehlerhaft sein.">
            <a:extLst>
              <a:ext uri="{FF2B5EF4-FFF2-40B4-BE49-F238E27FC236}">
                <a16:creationId xmlns:a16="http://schemas.microsoft.com/office/drawing/2014/main" id="{D497B52B-2859-0C23-ED1B-E2E72760DBF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24157" y="6099352"/>
            <a:ext cx="321745" cy="235201"/>
          </a:xfrm>
          <a:prstGeom prst="rect">
            <a:avLst/>
          </a:prstGeom>
        </p:spPr>
      </p:pic>
      <p:sp>
        <p:nvSpPr>
          <p:cNvPr id="34" name="Textfeld 33">
            <a:extLst>
              <a:ext uri="{FF2B5EF4-FFF2-40B4-BE49-F238E27FC236}">
                <a16:creationId xmlns:a16="http://schemas.microsoft.com/office/drawing/2014/main" id="{121571CB-573B-359C-FB25-26E9464C80D0}"/>
              </a:ext>
            </a:extLst>
          </p:cNvPr>
          <p:cNvSpPr txBox="1"/>
          <p:nvPr/>
        </p:nvSpPr>
        <p:spPr>
          <a:xfrm>
            <a:off x="8360012" y="1540342"/>
            <a:ext cx="3008176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400"/>
              <a:t>WOHNEN &amp; FAMILIE</a:t>
            </a:r>
          </a:p>
        </p:txBody>
      </p:sp>
      <p:graphicFrame>
        <p:nvGraphicFramePr>
          <p:cNvPr id="52" name="Diagramm 51">
            <a:extLst>
              <a:ext uri="{FF2B5EF4-FFF2-40B4-BE49-F238E27FC236}">
                <a16:creationId xmlns:a16="http://schemas.microsoft.com/office/drawing/2014/main" id="{FBA275C6-235C-CDBB-236A-3638ED2524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4271632"/>
              </p:ext>
            </p:extLst>
          </p:nvPr>
        </p:nvGraphicFramePr>
        <p:xfrm>
          <a:off x="7121368" y="2015654"/>
          <a:ext cx="3421154" cy="9053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56" name="Textfeld 55">
            <a:extLst>
              <a:ext uri="{FF2B5EF4-FFF2-40B4-BE49-F238E27FC236}">
                <a16:creationId xmlns:a16="http://schemas.microsoft.com/office/drawing/2014/main" id="{2E389AE3-B59D-5E90-2A1D-D682B33735F0}"/>
              </a:ext>
            </a:extLst>
          </p:cNvPr>
          <p:cNvSpPr txBox="1"/>
          <p:nvPr/>
        </p:nvSpPr>
        <p:spPr>
          <a:xfrm>
            <a:off x="8568974" y="3164949"/>
            <a:ext cx="1403276" cy="7917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ctr">
              <a:buClr>
                <a:schemeClr val="tx2"/>
              </a:buClr>
            </a:pPr>
            <a:r>
              <a:rPr lang="de-DE" sz="1100" dirty="0">
                <a:solidFill>
                  <a:srgbClr val="000000"/>
                </a:solidFill>
              </a:rPr>
              <a:t>31% </a:t>
            </a:r>
          </a:p>
          <a:p>
            <a:pPr algn="ctr">
              <a:buClr>
                <a:schemeClr val="tx2"/>
              </a:buClr>
            </a:pPr>
            <a:r>
              <a:rPr lang="de-DE" sz="1000" dirty="0">
                <a:solidFill>
                  <a:srgbClr val="000000"/>
                </a:solidFill>
              </a:rPr>
              <a:t>leben mit </a:t>
            </a:r>
            <a:r>
              <a:rPr lang="de-DE" sz="1000" dirty="0">
                <a:solidFill>
                  <a:schemeClr val="accent1"/>
                </a:solidFill>
              </a:rPr>
              <a:t>Kindern im Haushalt </a:t>
            </a:r>
            <a:br>
              <a:rPr lang="de-DE" sz="1000" dirty="0">
                <a:solidFill>
                  <a:srgbClr val="000000"/>
                </a:solidFill>
              </a:rPr>
            </a:br>
            <a:r>
              <a:rPr lang="de-DE" sz="800" i="1" dirty="0">
                <a:solidFill>
                  <a:schemeClr val="bg1">
                    <a:lumMod val="75000"/>
                  </a:schemeClr>
                </a:solidFill>
              </a:rPr>
              <a:t>(eigene Kinder oder Stief-/Pflegekinder)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3224EAE5-38E0-A7F7-54E0-3B948746848D}"/>
              </a:ext>
            </a:extLst>
          </p:cNvPr>
          <p:cNvSpPr txBox="1"/>
          <p:nvPr/>
        </p:nvSpPr>
        <p:spPr>
          <a:xfrm>
            <a:off x="8451364" y="1881128"/>
            <a:ext cx="343074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Haushaltsgröße und Beziehungsstatus</a:t>
            </a:r>
          </a:p>
        </p:txBody>
      </p:sp>
      <p:graphicFrame>
        <p:nvGraphicFramePr>
          <p:cNvPr id="10" name="Diagramm 9">
            <a:extLst>
              <a:ext uri="{FF2B5EF4-FFF2-40B4-BE49-F238E27FC236}">
                <a16:creationId xmlns:a16="http://schemas.microsoft.com/office/drawing/2014/main" id="{ECDB29C1-3173-3F79-5637-5E41E1A9B1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7978745"/>
              </p:ext>
            </p:extLst>
          </p:nvPr>
        </p:nvGraphicFramePr>
        <p:xfrm>
          <a:off x="10619996" y="470504"/>
          <a:ext cx="2019762" cy="1378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35" name="Textfeld 38">
            <a:extLst>
              <a:ext uri="{FF2B5EF4-FFF2-40B4-BE49-F238E27FC236}">
                <a16:creationId xmlns:a16="http://schemas.microsoft.com/office/drawing/2014/main" id="{59B75C3D-0F19-521B-86BE-D6F23DA53B83}"/>
              </a:ext>
            </a:extLst>
          </p:cNvPr>
          <p:cNvSpPr txBox="1"/>
          <p:nvPr/>
        </p:nvSpPr>
        <p:spPr>
          <a:xfrm>
            <a:off x="556649" y="5494634"/>
            <a:ext cx="1777770" cy="7190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ts val="1720"/>
              </a:lnSpc>
              <a:buClr>
                <a:schemeClr val="tx2"/>
              </a:buClr>
            </a:pPr>
            <a:r>
              <a:rPr lang="de-DE" sz="1100">
                <a:solidFill>
                  <a:srgbClr val="71ADFF"/>
                </a:solidFill>
              </a:rPr>
              <a:t>Land: </a:t>
            </a:r>
            <a:r>
              <a:rPr lang="de-DE" sz="1100">
                <a:solidFill>
                  <a:srgbClr val="000000"/>
                </a:solidFill>
              </a:rPr>
              <a:t>51%</a:t>
            </a:r>
            <a:br>
              <a:rPr lang="de-DE" sz="1100">
                <a:solidFill>
                  <a:srgbClr val="71ADFF"/>
                </a:solidFill>
              </a:rPr>
            </a:br>
            <a:r>
              <a:rPr lang="de-DE" sz="1100">
                <a:solidFill>
                  <a:srgbClr val="71ADFF"/>
                </a:solidFill>
              </a:rPr>
              <a:t>Zwischenregion: </a:t>
            </a:r>
            <a:r>
              <a:rPr lang="de-DE" sz="1100">
                <a:solidFill>
                  <a:srgbClr val="000000"/>
                </a:solidFill>
              </a:rPr>
              <a:t>11%</a:t>
            </a:r>
            <a:br>
              <a:rPr lang="de-DE" sz="1100">
                <a:solidFill>
                  <a:srgbClr val="71ADFF"/>
                </a:solidFill>
              </a:rPr>
            </a:br>
            <a:r>
              <a:rPr lang="de-DE" sz="1100">
                <a:solidFill>
                  <a:srgbClr val="71ADFF"/>
                </a:solidFill>
              </a:rPr>
              <a:t>Stadt: </a:t>
            </a:r>
            <a:r>
              <a:rPr lang="de-DE" sz="1100" b="1">
                <a:solidFill>
                  <a:srgbClr val="4DA685"/>
                </a:solidFill>
              </a:rPr>
              <a:t>38%</a:t>
            </a:r>
          </a:p>
        </p:txBody>
      </p:sp>
      <p:sp>
        <p:nvSpPr>
          <p:cNvPr id="37" name="Textfeld 42">
            <a:extLst>
              <a:ext uri="{FF2B5EF4-FFF2-40B4-BE49-F238E27FC236}">
                <a16:creationId xmlns:a16="http://schemas.microsoft.com/office/drawing/2014/main" id="{606F8BD0-5427-4997-2B95-EBCB3C4E0951}"/>
              </a:ext>
            </a:extLst>
          </p:cNvPr>
          <p:cNvSpPr txBox="1"/>
          <p:nvPr/>
        </p:nvSpPr>
        <p:spPr>
          <a:xfrm>
            <a:off x="525275" y="5219828"/>
            <a:ext cx="123661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Urbanität</a:t>
            </a:r>
          </a:p>
        </p:txBody>
      </p:sp>
      <p:cxnSp>
        <p:nvCxnSpPr>
          <p:cNvPr id="58" name="Gerade Verbindung 43">
            <a:extLst>
              <a:ext uri="{FF2B5EF4-FFF2-40B4-BE49-F238E27FC236}">
                <a16:creationId xmlns:a16="http://schemas.microsoft.com/office/drawing/2014/main" id="{8B989FE6-93AD-2847-0E9A-AAE89358DE15}"/>
              </a:ext>
            </a:extLst>
          </p:cNvPr>
          <p:cNvCxnSpPr>
            <a:cxnSpLocks/>
          </p:cNvCxnSpPr>
          <p:nvPr/>
        </p:nvCxnSpPr>
        <p:spPr>
          <a:xfrm flipH="1">
            <a:off x="2320314" y="3829072"/>
            <a:ext cx="1926430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43">
            <a:extLst>
              <a:ext uri="{FF2B5EF4-FFF2-40B4-BE49-F238E27FC236}">
                <a16:creationId xmlns:a16="http://schemas.microsoft.com/office/drawing/2014/main" id="{87BADACA-3CC6-E041-50AD-DACD6381B002}"/>
              </a:ext>
            </a:extLst>
          </p:cNvPr>
          <p:cNvCxnSpPr>
            <a:cxnSpLocks/>
          </p:cNvCxnSpPr>
          <p:nvPr/>
        </p:nvCxnSpPr>
        <p:spPr>
          <a:xfrm flipH="1">
            <a:off x="396875" y="2886475"/>
            <a:ext cx="1923439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Graphic 68" descr="Briefcase with solid fill">
            <a:extLst>
              <a:ext uri="{FF2B5EF4-FFF2-40B4-BE49-F238E27FC236}">
                <a16:creationId xmlns:a16="http://schemas.microsoft.com/office/drawing/2014/main" id="{7847E469-89FB-D014-6ED4-E394188097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512805" y="4179281"/>
            <a:ext cx="318757" cy="318757"/>
          </a:xfrm>
          <a:prstGeom prst="rect">
            <a:avLst/>
          </a:prstGeom>
        </p:spPr>
      </p:pic>
      <p:pic>
        <p:nvPicPr>
          <p:cNvPr id="71" name="Graphic 70" descr="House with solid fill">
            <a:extLst>
              <a:ext uri="{FF2B5EF4-FFF2-40B4-BE49-F238E27FC236}">
                <a16:creationId xmlns:a16="http://schemas.microsoft.com/office/drawing/2014/main" id="{43BD6B8C-1319-952A-15DD-98C9C71971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471735" y="4552979"/>
            <a:ext cx="367046" cy="367046"/>
          </a:xfrm>
          <a:prstGeom prst="rect">
            <a:avLst/>
          </a:prstGeom>
        </p:spPr>
      </p:pic>
      <p:sp>
        <p:nvSpPr>
          <p:cNvPr id="72" name="Textfeld 38">
            <a:extLst>
              <a:ext uri="{FF2B5EF4-FFF2-40B4-BE49-F238E27FC236}">
                <a16:creationId xmlns:a16="http://schemas.microsoft.com/office/drawing/2014/main" id="{07BC1006-58B5-50A7-18B5-3670391D422B}"/>
              </a:ext>
            </a:extLst>
          </p:cNvPr>
          <p:cNvSpPr txBox="1"/>
          <p:nvPr/>
        </p:nvSpPr>
        <p:spPr>
          <a:xfrm>
            <a:off x="2915396" y="4175386"/>
            <a:ext cx="1158751" cy="32654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720"/>
              </a:lnSpc>
              <a:buClr>
                <a:schemeClr val="tx2"/>
              </a:buClr>
            </a:pPr>
            <a:r>
              <a:rPr lang="de-DE" sz="1100">
                <a:solidFill>
                  <a:srgbClr val="71ADFF"/>
                </a:solidFill>
              </a:rPr>
              <a:t>Angestellte: </a:t>
            </a:r>
            <a:r>
              <a:rPr lang="de-DE" sz="1100">
                <a:solidFill>
                  <a:srgbClr val="000000"/>
                </a:solidFill>
              </a:rPr>
              <a:t>61%</a:t>
            </a:r>
            <a:endParaRPr lang="de-DE" sz="1100" b="1">
              <a:solidFill>
                <a:srgbClr val="000000"/>
              </a:solidFill>
            </a:endParaRPr>
          </a:p>
        </p:txBody>
      </p:sp>
      <p:sp>
        <p:nvSpPr>
          <p:cNvPr id="73" name="Textfeld 38">
            <a:extLst>
              <a:ext uri="{FF2B5EF4-FFF2-40B4-BE49-F238E27FC236}">
                <a16:creationId xmlns:a16="http://schemas.microsoft.com/office/drawing/2014/main" id="{F5381FDA-3181-CC7B-66ED-BFF2B3131D0E}"/>
              </a:ext>
            </a:extLst>
          </p:cNvPr>
          <p:cNvSpPr txBox="1"/>
          <p:nvPr/>
        </p:nvSpPr>
        <p:spPr>
          <a:xfrm>
            <a:off x="2915396" y="4569183"/>
            <a:ext cx="1059915" cy="32654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720"/>
              </a:lnSpc>
              <a:buClr>
                <a:schemeClr val="tx2"/>
              </a:buClr>
            </a:pPr>
            <a:r>
              <a:rPr lang="de-DE" sz="1100">
                <a:solidFill>
                  <a:srgbClr val="71ADFF"/>
                </a:solidFill>
              </a:rPr>
              <a:t>In Pension: </a:t>
            </a:r>
            <a:r>
              <a:rPr lang="de-DE" sz="1100" b="1">
                <a:solidFill>
                  <a:srgbClr val="FF0000"/>
                </a:solidFill>
              </a:rPr>
              <a:t>17%</a:t>
            </a:r>
          </a:p>
        </p:txBody>
      </p:sp>
      <p:sp>
        <p:nvSpPr>
          <p:cNvPr id="76" name="Textfeld 38">
            <a:extLst>
              <a:ext uri="{FF2B5EF4-FFF2-40B4-BE49-F238E27FC236}">
                <a16:creationId xmlns:a16="http://schemas.microsoft.com/office/drawing/2014/main" id="{677F52F7-7936-15A9-131F-FA7502CFA235}"/>
              </a:ext>
            </a:extLst>
          </p:cNvPr>
          <p:cNvSpPr txBox="1"/>
          <p:nvPr/>
        </p:nvSpPr>
        <p:spPr>
          <a:xfrm>
            <a:off x="3709598" y="5471105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77" name="Textfeld 38">
            <a:extLst>
              <a:ext uri="{FF2B5EF4-FFF2-40B4-BE49-F238E27FC236}">
                <a16:creationId xmlns:a16="http://schemas.microsoft.com/office/drawing/2014/main" id="{770B5025-64AF-92AF-E96A-73379E7EC8E3}"/>
              </a:ext>
            </a:extLst>
          </p:cNvPr>
          <p:cNvSpPr txBox="1"/>
          <p:nvPr/>
        </p:nvSpPr>
        <p:spPr>
          <a:xfrm>
            <a:off x="6223261" y="3482596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cxnSp>
        <p:nvCxnSpPr>
          <p:cNvPr id="78" name="Gerade Verbindung 13">
            <a:extLst>
              <a:ext uri="{FF2B5EF4-FFF2-40B4-BE49-F238E27FC236}">
                <a16:creationId xmlns:a16="http://schemas.microsoft.com/office/drawing/2014/main" id="{E327D334-5188-C635-15BC-FEF5972457B0}"/>
              </a:ext>
            </a:extLst>
          </p:cNvPr>
          <p:cNvCxnSpPr>
            <a:cxnSpLocks/>
          </p:cNvCxnSpPr>
          <p:nvPr/>
        </p:nvCxnSpPr>
        <p:spPr>
          <a:xfrm>
            <a:off x="6442074" y="2660077"/>
            <a:ext cx="0" cy="3639831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feld 54">
            <a:extLst>
              <a:ext uri="{FF2B5EF4-FFF2-40B4-BE49-F238E27FC236}">
                <a16:creationId xmlns:a16="http://schemas.microsoft.com/office/drawing/2014/main" id="{95F920E2-FAB6-068B-DBE3-C72703DE832D}"/>
              </a:ext>
            </a:extLst>
          </p:cNvPr>
          <p:cNvSpPr txBox="1"/>
          <p:nvPr/>
        </p:nvSpPr>
        <p:spPr>
          <a:xfrm>
            <a:off x="6420748" y="2763651"/>
            <a:ext cx="1887860" cy="2608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buClr>
                <a:schemeClr val="tx2"/>
              </a:buClr>
            </a:pPr>
            <a:r>
              <a:rPr lang="de-DE" sz="1200" spc="-20"/>
              <a:t>Fahrzeugbesitz &amp; Mobilität</a:t>
            </a:r>
          </a:p>
        </p:txBody>
      </p:sp>
      <p:graphicFrame>
        <p:nvGraphicFramePr>
          <p:cNvPr id="81" name="Diagramm 59">
            <a:extLst>
              <a:ext uri="{FF2B5EF4-FFF2-40B4-BE49-F238E27FC236}">
                <a16:creationId xmlns:a16="http://schemas.microsoft.com/office/drawing/2014/main" id="{C306608B-504F-FCA3-2D34-3B51C63F40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2381330"/>
              </p:ext>
            </p:extLst>
          </p:nvPr>
        </p:nvGraphicFramePr>
        <p:xfrm>
          <a:off x="6173750" y="2955623"/>
          <a:ext cx="1957716" cy="1216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83" name="Textfeld 38">
            <a:extLst>
              <a:ext uri="{FF2B5EF4-FFF2-40B4-BE49-F238E27FC236}">
                <a16:creationId xmlns:a16="http://schemas.microsoft.com/office/drawing/2014/main" id="{CB83DA2E-56EF-018A-C2BA-48BBB22B844B}"/>
              </a:ext>
            </a:extLst>
          </p:cNvPr>
          <p:cNvSpPr txBox="1"/>
          <p:nvPr/>
        </p:nvSpPr>
        <p:spPr>
          <a:xfrm>
            <a:off x="6644754" y="4190180"/>
            <a:ext cx="1344597" cy="42943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100" dirty="0">
                <a:solidFill>
                  <a:srgbClr val="71ADFF"/>
                </a:solidFill>
              </a:rPr>
              <a:t>Vielfahrer: </a:t>
            </a:r>
            <a:r>
              <a:rPr lang="de-DE" sz="1100" dirty="0">
                <a:solidFill>
                  <a:srgbClr val="000000"/>
                </a:solidFill>
              </a:rPr>
              <a:t>49%</a:t>
            </a:r>
            <a:br>
              <a:rPr lang="de-DE" sz="1100" dirty="0">
                <a:solidFill>
                  <a:srgbClr val="71ADFF"/>
                </a:solidFill>
              </a:rPr>
            </a:br>
            <a:r>
              <a:rPr lang="de-DE" sz="1100" dirty="0" err="1">
                <a:solidFill>
                  <a:srgbClr val="71ADFF"/>
                </a:solidFill>
              </a:rPr>
              <a:t>Wenigfahrer</a:t>
            </a:r>
            <a:r>
              <a:rPr lang="de-DE" sz="1100" dirty="0">
                <a:solidFill>
                  <a:srgbClr val="71ADFF"/>
                </a:solidFill>
              </a:rPr>
              <a:t>: </a:t>
            </a:r>
            <a:r>
              <a:rPr lang="de-DE" sz="1100" dirty="0">
                <a:solidFill>
                  <a:srgbClr val="000000"/>
                </a:solidFill>
              </a:rPr>
              <a:t>32%</a:t>
            </a:r>
            <a:endParaRPr lang="de-DE" sz="1100" b="1" dirty="0">
              <a:solidFill>
                <a:srgbClr val="000000"/>
              </a:solidFill>
            </a:endParaRPr>
          </a:p>
        </p:txBody>
      </p:sp>
      <p:cxnSp>
        <p:nvCxnSpPr>
          <p:cNvPr id="84" name="Gerade Verbindung 43">
            <a:extLst>
              <a:ext uri="{FF2B5EF4-FFF2-40B4-BE49-F238E27FC236}">
                <a16:creationId xmlns:a16="http://schemas.microsoft.com/office/drawing/2014/main" id="{AE7F903E-8361-9AB5-80E1-869290A72616}"/>
              </a:ext>
            </a:extLst>
          </p:cNvPr>
          <p:cNvCxnSpPr>
            <a:cxnSpLocks/>
          </p:cNvCxnSpPr>
          <p:nvPr/>
        </p:nvCxnSpPr>
        <p:spPr>
          <a:xfrm flipH="1">
            <a:off x="4390235" y="5594024"/>
            <a:ext cx="3849869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feld 54">
            <a:extLst>
              <a:ext uri="{FF2B5EF4-FFF2-40B4-BE49-F238E27FC236}">
                <a16:creationId xmlns:a16="http://schemas.microsoft.com/office/drawing/2014/main" id="{CAC74996-C260-2DDF-79E5-2B4BDA3618C6}"/>
              </a:ext>
            </a:extLst>
          </p:cNvPr>
          <p:cNvSpPr txBox="1"/>
          <p:nvPr/>
        </p:nvSpPr>
        <p:spPr>
          <a:xfrm>
            <a:off x="4400848" y="5664686"/>
            <a:ext cx="2058688" cy="2582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buClr>
                <a:schemeClr val="tx2"/>
              </a:buClr>
            </a:pPr>
            <a:r>
              <a:rPr lang="de-DE" sz="1200" dirty="0"/>
              <a:t>Wohnen im Eigentum</a:t>
            </a:r>
          </a:p>
        </p:txBody>
      </p:sp>
      <p:sp>
        <p:nvSpPr>
          <p:cNvPr id="86" name="Textfeld 38">
            <a:extLst>
              <a:ext uri="{FF2B5EF4-FFF2-40B4-BE49-F238E27FC236}">
                <a16:creationId xmlns:a16="http://schemas.microsoft.com/office/drawing/2014/main" id="{0B42482A-A480-10C8-2DD4-8CD15DBBB697}"/>
              </a:ext>
            </a:extLst>
          </p:cNvPr>
          <p:cNvSpPr txBox="1"/>
          <p:nvPr/>
        </p:nvSpPr>
        <p:spPr>
          <a:xfrm>
            <a:off x="4597363" y="5860405"/>
            <a:ext cx="1777770" cy="4292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720"/>
              </a:lnSpc>
              <a:buClr>
                <a:schemeClr val="tx2"/>
              </a:buClr>
            </a:pPr>
            <a:r>
              <a:rPr lang="de-DE" sz="1100" dirty="0">
                <a:solidFill>
                  <a:srgbClr val="71ADFF"/>
                </a:solidFill>
              </a:rPr>
              <a:t>Eigentumswohnung: </a:t>
            </a:r>
            <a:r>
              <a:rPr lang="de-DE" sz="1100" dirty="0">
                <a:solidFill>
                  <a:srgbClr val="000000"/>
                </a:solidFill>
              </a:rPr>
              <a:t>16%</a:t>
            </a:r>
            <a:br>
              <a:rPr lang="de-DE" sz="1100" dirty="0">
                <a:solidFill>
                  <a:srgbClr val="000000"/>
                </a:solidFill>
              </a:rPr>
            </a:br>
            <a:r>
              <a:rPr lang="de-DE" sz="1100" dirty="0">
                <a:solidFill>
                  <a:srgbClr val="71ADFF"/>
                </a:solidFill>
              </a:rPr>
              <a:t>Haus im Eigentum: </a:t>
            </a:r>
            <a:r>
              <a:rPr lang="de-DE" sz="1100" dirty="0">
                <a:solidFill>
                  <a:srgbClr val="000000"/>
                </a:solidFill>
              </a:rPr>
              <a:t>35%</a:t>
            </a:r>
            <a:endParaRPr lang="de-DE" sz="1100" b="1" dirty="0">
              <a:solidFill>
                <a:srgbClr val="000000"/>
              </a:solidFill>
            </a:endParaRPr>
          </a:p>
        </p:txBody>
      </p:sp>
      <p:sp>
        <p:nvSpPr>
          <p:cNvPr id="87" name="Textfeld 54">
            <a:extLst>
              <a:ext uri="{FF2B5EF4-FFF2-40B4-BE49-F238E27FC236}">
                <a16:creationId xmlns:a16="http://schemas.microsoft.com/office/drawing/2014/main" id="{447FA888-B014-8DCD-2B64-1885EEE1C186}"/>
              </a:ext>
            </a:extLst>
          </p:cNvPr>
          <p:cNvSpPr txBox="1"/>
          <p:nvPr/>
        </p:nvSpPr>
        <p:spPr>
          <a:xfrm>
            <a:off x="6358422" y="5664686"/>
            <a:ext cx="1887860" cy="2608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buClr>
                <a:schemeClr val="tx2"/>
              </a:buClr>
            </a:pPr>
            <a:r>
              <a:rPr lang="de-DE" sz="1200" dirty="0"/>
              <a:t>Haustiere</a:t>
            </a:r>
          </a:p>
        </p:txBody>
      </p:sp>
      <p:sp>
        <p:nvSpPr>
          <p:cNvPr id="88" name="Textfeld 38">
            <a:extLst>
              <a:ext uri="{FF2B5EF4-FFF2-40B4-BE49-F238E27FC236}">
                <a16:creationId xmlns:a16="http://schemas.microsoft.com/office/drawing/2014/main" id="{F2CD2542-2C86-FDB1-3396-2F63D04F101F}"/>
              </a:ext>
            </a:extLst>
          </p:cNvPr>
          <p:cNvSpPr txBox="1"/>
          <p:nvPr/>
        </p:nvSpPr>
        <p:spPr>
          <a:xfrm>
            <a:off x="6620470" y="5860405"/>
            <a:ext cx="1513329" cy="4292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720"/>
              </a:lnSpc>
              <a:buClr>
                <a:schemeClr val="tx2"/>
              </a:buClr>
            </a:pPr>
            <a:r>
              <a:rPr lang="de-DE" sz="1100">
                <a:solidFill>
                  <a:srgbClr val="71ADFF"/>
                </a:solidFill>
              </a:rPr>
              <a:t>Katze/</a:t>
            </a:r>
            <a:r>
              <a:rPr lang="de-DE" sz="1100" err="1">
                <a:solidFill>
                  <a:srgbClr val="71ADFF"/>
                </a:solidFill>
              </a:rPr>
              <a:t>n</a:t>
            </a:r>
            <a:r>
              <a:rPr lang="de-DE" sz="1100">
                <a:solidFill>
                  <a:srgbClr val="71ADFF"/>
                </a:solidFill>
              </a:rPr>
              <a:t>: </a:t>
            </a:r>
            <a:r>
              <a:rPr lang="de-DE" sz="1100">
                <a:solidFill>
                  <a:srgbClr val="000000"/>
                </a:solidFill>
              </a:rPr>
              <a:t>35%</a:t>
            </a:r>
            <a:br>
              <a:rPr lang="de-DE" sz="1100">
                <a:solidFill>
                  <a:srgbClr val="71ADFF"/>
                </a:solidFill>
              </a:rPr>
            </a:br>
            <a:r>
              <a:rPr lang="de-DE" sz="1100">
                <a:solidFill>
                  <a:srgbClr val="71ADFF"/>
                </a:solidFill>
              </a:rPr>
              <a:t>Hund/</a:t>
            </a:r>
            <a:r>
              <a:rPr lang="de-DE" sz="1100" err="1">
                <a:solidFill>
                  <a:srgbClr val="71ADFF"/>
                </a:solidFill>
              </a:rPr>
              <a:t>e</a:t>
            </a:r>
            <a:r>
              <a:rPr lang="de-DE" sz="1100">
                <a:solidFill>
                  <a:srgbClr val="71ADFF"/>
                </a:solidFill>
              </a:rPr>
              <a:t>: </a:t>
            </a:r>
            <a:r>
              <a:rPr lang="de-DE" sz="1100">
                <a:solidFill>
                  <a:srgbClr val="000000"/>
                </a:solidFill>
              </a:rPr>
              <a:t>20%</a:t>
            </a:r>
            <a:endParaRPr lang="de-DE" sz="1100" b="1">
              <a:solidFill>
                <a:srgbClr val="000000"/>
              </a:solidFill>
            </a:endParaRPr>
          </a:p>
        </p:txBody>
      </p:sp>
      <p:sp>
        <p:nvSpPr>
          <p:cNvPr id="89" name="Textfeld 54">
            <a:extLst>
              <a:ext uri="{FF2B5EF4-FFF2-40B4-BE49-F238E27FC236}">
                <a16:creationId xmlns:a16="http://schemas.microsoft.com/office/drawing/2014/main" id="{D65935F6-7BCD-C6CC-890E-F1499E129802}"/>
              </a:ext>
            </a:extLst>
          </p:cNvPr>
          <p:cNvSpPr txBox="1"/>
          <p:nvPr/>
        </p:nvSpPr>
        <p:spPr>
          <a:xfrm>
            <a:off x="6373123" y="4672673"/>
            <a:ext cx="1887860" cy="2608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buClr>
                <a:schemeClr val="tx2"/>
              </a:buClr>
            </a:pPr>
            <a:r>
              <a:rPr lang="de-DE" sz="1200" dirty="0"/>
              <a:t>Am häufigsten genutzte Transportmittel</a:t>
            </a:r>
          </a:p>
        </p:txBody>
      </p:sp>
      <p:pic>
        <p:nvPicPr>
          <p:cNvPr id="91" name="Graphic 90" descr="Car with solid fill">
            <a:extLst>
              <a:ext uri="{FF2B5EF4-FFF2-40B4-BE49-F238E27FC236}">
                <a16:creationId xmlns:a16="http://schemas.microsoft.com/office/drawing/2014/main" id="{2C9C6110-8655-3DDA-2FCF-0BE400D1C3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653687" y="5033970"/>
            <a:ext cx="267836" cy="267836"/>
          </a:xfrm>
          <a:prstGeom prst="rect">
            <a:avLst/>
          </a:prstGeom>
        </p:spPr>
      </p:pic>
      <p:pic>
        <p:nvPicPr>
          <p:cNvPr id="93" name="Graphic 92" descr="Train with solid fill">
            <a:extLst>
              <a:ext uri="{FF2B5EF4-FFF2-40B4-BE49-F238E27FC236}">
                <a16:creationId xmlns:a16="http://schemas.microsoft.com/office/drawing/2014/main" id="{89D51D63-1540-99EC-4861-162091FF33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80625" y="5286222"/>
            <a:ext cx="193664" cy="193664"/>
          </a:xfrm>
          <a:prstGeom prst="rect">
            <a:avLst/>
          </a:prstGeom>
        </p:spPr>
      </p:pic>
      <p:sp>
        <p:nvSpPr>
          <p:cNvPr id="94" name="Textfeld 38">
            <a:extLst>
              <a:ext uri="{FF2B5EF4-FFF2-40B4-BE49-F238E27FC236}">
                <a16:creationId xmlns:a16="http://schemas.microsoft.com/office/drawing/2014/main" id="{36A96E1A-75A4-1DE3-5287-67824288823A}"/>
              </a:ext>
            </a:extLst>
          </p:cNvPr>
          <p:cNvSpPr txBox="1"/>
          <p:nvPr/>
        </p:nvSpPr>
        <p:spPr>
          <a:xfrm>
            <a:off x="7004614" y="5041893"/>
            <a:ext cx="1165274" cy="4292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720"/>
              </a:lnSpc>
              <a:buClr>
                <a:schemeClr val="tx2"/>
              </a:buClr>
            </a:pPr>
            <a:r>
              <a:rPr lang="de-DE" sz="1100">
                <a:solidFill>
                  <a:srgbClr val="71ADFF"/>
                </a:solidFill>
              </a:rPr>
              <a:t>Auto: </a:t>
            </a:r>
            <a:r>
              <a:rPr lang="de-DE" sz="1100" b="1">
                <a:solidFill>
                  <a:srgbClr val="FF0000"/>
                </a:solidFill>
              </a:rPr>
              <a:t>52%</a:t>
            </a:r>
            <a:br>
              <a:rPr lang="de-DE" sz="1100">
                <a:solidFill>
                  <a:srgbClr val="71ADFF"/>
                </a:solidFill>
              </a:rPr>
            </a:br>
            <a:r>
              <a:rPr lang="de-DE" sz="1100">
                <a:solidFill>
                  <a:srgbClr val="71ADFF"/>
                </a:solidFill>
              </a:rPr>
              <a:t>Öffentlich: </a:t>
            </a:r>
            <a:r>
              <a:rPr lang="de-DE" sz="1100" b="1">
                <a:solidFill>
                  <a:srgbClr val="4DA685"/>
                </a:solidFill>
              </a:rPr>
              <a:t>25%</a:t>
            </a:r>
          </a:p>
        </p:txBody>
      </p:sp>
      <p:cxnSp>
        <p:nvCxnSpPr>
          <p:cNvPr id="95" name="Gerade Verbindung 53">
            <a:extLst>
              <a:ext uri="{FF2B5EF4-FFF2-40B4-BE49-F238E27FC236}">
                <a16:creationId xmlns:a16="http://schemas.microsoft.com/office/drawing/2014/main" id="{C70C59EC-DA7E-0695-7B32-BEEC19CE3B0C}"/>
              </a:ext>
            </a:extLst>
          </p:cNvPr>
          <p:cNvCxnSpPr>
            <a:cxnSpLocks/>
          </p:cNvCxnSpPr>
          <p:nvPr/>
        </p:nvCxnSpPr>
        <p:spPr>
          <a:xfrm flipH="1">
            <a:off x="8401524" y="2913712"/>
            <a:ext cx="3459807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feld 38">
            <a:extLst>
              <a:ext uri="{FF2B5EF4-FFF2-40B4-BE49-F238E27FC236}">
                <a16:creationId xmlns:a16="http://schemas.microsoft.com/office/drawing/2014/main" id="{8BC3BDD0-FF45-2DF7-1C95-E8814B5BBE27}"/>
              </a:ext>
            </a:extLst>
          </p:cNvPr>
          <p:cNvSpPr txBox="1"/>
          <p:nvPr/>
        </p:nvSpPr>
        <p:spPr>
          <a:xfrm>
            <a:off x="10387478" y="2103635"/>
            <a:ext cx="1363069" cy="7583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buClr>
                <a:schemeClr val="tx2"/>
              </a:buClr>
            </a:pPr>
            <a:r>
              <a:rPr lang="de-DE" sz="1000" dirty="0">
                <a:solidFill>
                  <a:schemeClr val="accent1"/>
                </a:solidFill>
              </a:rPr>
              <a:t>In Partnerschaft: </a:t>
            </a:r>
          </a:p>
          <a:p>
            <a:pPr algn="ctr">
              <a:buClr>
                <a:schemeClr val="tx2"/>
              </a:buClr>
            </a:pPr>
            <a:r>
              <a:rPr lang="de-DE" sz="1100" dirty="0">
                <a:solidFill>
                  <a:srgbClr val="000000"/>
                </a:solidFill>
              </a:rPr>
              <a:t>66%</a:t>
            </a:r>
          </a:p>
          <a:p>
            <a:pPr algn="ctr">
              <a:buClr>
                <a:schemeClr val="tx2"/>
              </a:buClr>
            </a:pPr>
            <a:br>
              <a:rPr lang="de-DE" sz="300" dirty="0">
                <a:solidFill>
                  <a:schemeClr val="accent1"/>
                </a:solidFill>
              </a:rPr>
            </a:br>
            <a:r>
              <a:rPr lang="de-DE" sz="1000" dirty="0">
                <a:solidFill>
                  <a:schemeClr val="accent1"/>
                </a:solidFill>
              </a:rPr>
              <a:t>Single/geschieden/</a:t>
            </a:r>
          </a:p>
          <a:p>
            <a:pPr algn="ctr">
              <a:buClr>
                <a:schemeClr val="tx2"/>
              </a:buClr>
            </a:pPr>
            <a:r>
              <a:rPr lang="de-DE" sz="1000" dirty="0">
                <a:solidFill>
                  <a:schemeClr val="accent1"/>
                </a:solidFill>
              </a:rPr>
              <a:t>verwitwet:</a:t>
            </a:r>
            <a:r>
              <a:rPr lang="de-DE" sz="900" dirty="0">
                <a:solidFill>
                  <a:schemeClr val="accent1"/>
                </a:solidFill>
              </a:rPr>
              <a:t> </a:t>
            </a:r>
          </a:p>
          <a:p>
            <a:pPr algn="ctr">
              <a:buClr>
                <a:schemeClr val="tx2"/>
              </a:buClr>
            </a:pPr>
            <a:r>
              <a:rPr lang="de-DE" sz="1100" dirty="0">
                <a:solidFill>
                  <a:srgbClr val="000000"/>
                </a:solidFill>
              </a:rPr>
              <a:t>34%</a:t>
            </a:r>
            <a:endParaRPr lang="de-DE" sz="1100" b="1" dirty="0">
              <a:solidFill>
                <a:srgbClr val="000000"/>
              </a:solidFill>
            </a:endParaRPr>
          </a:p>
        </p:txBody>
      </p:sp>
      <p:sp>
        <p:nvSpPr>
          <p:cNvPr id="99" name="Textfeld 56">
            <a:extLst>
              <a:ext uri="{FF2B5EF4-FFF2-40B4-BE49-F238E27FC236}">
                <a16:creationId xmlns:a16="http://schemas.microsoft.com/office/drawing/2014/main" id="{D554A3AE-27D3-7A80-F92F-FB3C39CA5755}"/>
              </a:ext>
            </a:extLst>
          </p:cNvPr>
          <p:cNvSpPr txBox="1"/>
          <p:nvPr/>
        </p:nvSpPr>
        <p:spPr>
          <a:xfrm>
            <a:off x="8451364" y="2963088"/>
            <a:ext cx="343074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 dirty="0"/>
              <a:t>Kinder im Haushalt &amp; Alter der Kinder im Haushalt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6F6850B-9DE3-7CB0-1C29-06605A91C503}"/>
              </a:ext>
            </a:extLst>
          </p:cNvPr>
          <p:cNvSpPr txBox="1"/>
          <p:nvPr/>
        </p:nvSpPr>
        <p:spPr>
          <a:xfrm>
            <a:off x="12808178" y="40128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3600" indent="-183600" algn="l"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de-AT" err="1"/>
          </a:p>
        </p:txBody>
      </p:sp>
      <p:cxnSp>
        <p:nvCxnSpPr>
          <p:cNvPr id="101" name="Gerade Verbindung 53">
            <a:extLst>
              <a:ext uri="{FF2B5EF4-FFF2-40B4-BE49-F238E27FC236}">
                <a16:creationId xmlns:a16="http://schemas.microsoft.com/office/drawing/2014/main" id="{690AD2FB-1D3E-DAE0-ECC4-5D6CB7F85840}"/>
              </a:ext>
            </a:extLst>
          </p:cNvPr>
          <p:cNvCxnSpPr>
            <a:cxnSpLocks/>
          </p:cNvCxnSpPr>
          <p:nvPr/>
        </p:nvCxnSpPr>
        <p:spPr>
          <a:xfrm flipH="1">
            <a:off x="8401524" y="3955761"/>
            <a:ext cx="3459807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feld 56">
            <a:extLst>
              <a:ext uri="{FF2B5EF4-FFF2-40B4-BE49-F238E27FC236}">
                <a16:creationId xmlns:a16="http://schemas.microsoft.com/office/drawing/2014/main" id="{8CACBC42-64B4-0BA9-70B5-4D2392D9F0A5}"/>
              </a:ext>
            </a:extLst>
          </p:cNvPr>
          <p:cNvSpPr txBox="1"/>
          <p:nvPr/>
        </p:nvSpPr>
        <p:spPr>
          <a:xfrm>
            <a:off x="8451364" y="4004306"/>
            <a:ext cx="343074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 dirty="0"/>
              <a:t>Wohnsituation</a:t>
            </a:r>
          </a:p>
        </p:txBody>
      </p:sp>
      <p:graphicFrame>
        <p:nvGraphicFramePr>
          <p:cNvPr id="104" name="Diagramm 37">
            <a:extLst>
              <a:ext uri="{FF2B5EF4-FFF2-40B4-BE49-F238E27FC236}">
                <a16:creationId xmlns:a16="http://schemas.microsoft.com/office/drawing/2014/main" id="{42B04F52-0612-63BA-35FE-1B2826ADA0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2748711"/>
              </p:ext>
            </p:extLst>
          </p:nvPr>
        </p:nvGraphicFramePr>
        <p:xfrm>
          <a:off x="8390442" y="4117824"/>
          <a:ext cx="1620400" cy="672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graphicFrame>
        <p:nvGraphicFramePr>
          <p:cNvPr id="105" name="Diagramm 37">
            <a:extLst>
              <a:ext uri="{FF2B5EF4-FFF2-40B4-BE49-F238E27FC236}">
                <a16:creationId xmlns:a16="http://schemas.microsoft.com/office/drawing/2014/main" id="{0A2531A2-92E7-776A-B2F3-77770ADD50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3889543"/>
              </p:ext>
            </p:extLst>
          </p:nvPr>
        </p:nvGraphicFramePr>
        <p:xfrm>
          <a:off x="10111057" y="4117824"/>
          <a:ext cx="1620400" cy="672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3"/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31DCD847-624E-5773-EB4A-FC3D6DDC3159}"/>
              </a:ext>
            </a:extLst>
          </p:cNvPr>
          <p:cNvGrpSpPr/>
          <p:nvPr/>
        </p:nvGrpSpPr>
        <p:grpSpPr>
          <a:xfrm>
            <a:off x="4236176" y="6565779"/>
            <a:ext cx="5577919" cy="260210"/>
            <a:chOff x="2974313" y="6565779"/>
            <a:chExt cx="5577919" cy="260210"/>
          </a:xfrm>
        </p:grpSpPr>
        <p:sp>
          <p:nvSpPr>
            <p:cNvPr id="15" name="Textfeld 6">
              <a:extLst>
                <a:ext uri="{FF2B5EF4-FFF2-40B4-BE49-F238E27FC236}">
                  <a16:creationId xmlns:a16="http://schemas.microsoft.com/office/drawing/2014/main" id="{47652E85-D9BA-DC10-92E1-AD7AE2E57B12}"/>
                </a:ext>
              </a:extLst>
            </p:cNvPr>
            <p:cNvSpPr txBox="1"/>
            <p:nvPr/>
          </p:nvSpPr>
          <p:spPr>
            <a:xfrm>
              <a:off x="3179704" y="6585418"/>
              <a:ext cx="537252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/>
                <a:t>= größere, signifikante Abweichungen von der Gesamtstichprobe (mindestens 7 Prozentpunkte höher/niedriger)</a:t>
              </a:r>
            </a:p>
          </p:txBody>
        </p:sp>
        <p:sp>
          <p:nvSpPr>
            <p:cNvPr id="16" name="Textfeld 38">
              <a:extLst>
                <a:ext uri="{FF2B5EF4-FFF2-40B4-BE49-F238E27FC236}">
                  <a16:creationId xmlns:a16="http://schemas.microsoft.com/office/drawing/2014/main" id="{1C41BE85-F765-7786-2D48-86AA166AA4AB}"/>
                </a:ext>
              </a:extLst>
            </p:cNvPr>
            <p:cNvSpPr txBox="1"/>
            <p:nvPr/>
          </p:nvSpPr>
          <p:spPr>
            <a:xfrm>
              <a:off x="2974313" y="6565779"/>
              <a:ext cx="198562" cy="2150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ts val="1720"/>
                </a:lnSpc>
                <a:buClr>
                  <a:schemeClr val="tx2"/>
                </a:buClr>
              </a:pPr>
              <a:r>
                <a:rPr lang="de-DE" sz="1100" b="1">
                  <a:solidFill>
                    <a:srgbClr val="4DA685"/>
                  </a:solidFill>
                </a:rPr>
                <a:t>↑</a:t>
              </a:r>
            </a:p>
          </p:txBody>
        </p:sp>
        <p:sp>
          <p:nvSpPr>
            <p:cNvPr id="17" name="Textfeld 38">
              <a:extLst>
                <a:ext uri="{FF2B5EF4-FFF2-40B4-BE49-F238E27FC236}">
                  <a16:creationId xmlns:a16="http://schemas.microsoft.com/office/drawing/2014/main" id="{E7DA3EAB-5F41-6380-D6B8-87AE177D5559}"/>
                </a:ext>
              </a:extLst>
            </p:cNvPr>
            <p:cNvSpPr txBox="1"/>
            <p:nvPr/>
          </p:nvSpPr>
          <p:spPr>
            <a:xfrm rot="10800000">
              <a:off x="3066152" y="6610935"/>
              <a:ext cx="198562" cy="2150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ts val="1720"/>
                </a:lnSpc>
                <a:buClr>
                  <a:schemeClr val="tx2"/>
                </a:buClr>
              </a:pPr>
              <a:r>
                <a:rPr lang="de-DE" sz="1100" b="1">
                  <a:solidFill>
                    <a:srgbClr val="FF0000"/>
                  </a:solidFill>
                </a:rPr>
                <a:t>↑</a:t>
              </a:r>
            </a:p>
          </p:txBody>
        </p:sp>
      </p:grpSp>
      <p:sp>
        <p:nvSpPr>
          <p:cNvPr id="21" name="Textfeld 38">
            <a:extLst>
              <a:ext uri="{FF2B5EF4-FFF2-40B4-BE49-F238E27FC236}">
                <a16:creationId xmlns:a16="http://schemas.microsoft.com/office/drawing/2014/main" id="{E37F5E9A-AA08-FFFC-7231-6B6A027C65A7}"/>
              </a:ext>
            </a:extLst>
          </p:cNvPr>
          <p:cNvSpPr txBox="1"/>
          <p:nvPr/>
        </p:nvSpPr>
        <p:spPr>
          <a:xfrm rot="10800000">
            <a:off x="3013466" y="5483604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63" name="Textfeld 38">
            <a:extLst>
              <a:ext uri="{FF2B5EF4-FFF2-40B4-BE49-F238E27FC236}">
                <a16:creationId xmlns:a16="http://schemas.microsoft.com/office/drawing/2014/main" id="{606758EA-4865-58C8-AD33-D6BB88172158}"/>
              </a:ext>
            </a:extLst>
          </p:cNvPr>
          <p:cNvSpPr txBox="1"/>
          <p:nvPr/>
        </p:nvSpPr>
        <p:spPr>
          <a:xfrm>
            <a:off x="3848422" y="2199451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68" name="Textfeld 38">
            <a:extLst>
              <a:ext uri="{FF2B5EF4-FFF2-40B4-BE49-F238E27FC236}">
                <a16:creationId xmlns:a16="http://schemas.microsoft.com/office/drawing/2014/main" id="{69211667-7948-C15D-31FA-5DCEEBF413C3}"/>
              </a:ext>
            </a:extLst>
          </p:cNvPr>
          <p:cNvSpPr txBox="1"/>
          <p:nvPr/>
        </p:nvSpPr>
        <p:spPr>
          <a:xfrm>
            <a:off x="6255607" y="3213845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74" name="Textfeld 38">
            <a:extLst>
              <a:ext uri="{FF2B5EF4-FFF2-40B4-BE49-F238E27FC236}">
                <a16:creationId xmlns:a16="http://schemas.microsoft.com/office/drawing/2014/main" id="{3EE8D973-C813-5432-1122-A0592567214B}"/>
              </a:ext>
            </a:extLst>
          </p:cNvPr>
          <p:cNvSpPr txBox="1"/>
          <p:nvPr/>
        </p:nvSpPr>
        <p:spPr>
          <a:xfrm>
            <a:off x="9056479" y="5463630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75" name="Textfeld 38">
            <a:extLst>
              <a:ext uri="{FF2B5EF4-FFF2-40B4-BE49-F238E27FC236}">
                <a16:creationId xmlns:a16="http://schemas.microsoft.com/office/drawing/2014/main" id="{E553D1DF-5E54-FD62-1122-C38B466C6C15}"/>
              </a:ext>
            </a:extLst>
          </p:cNvPr>
          <p:cNvSpPr txBox="1"/>
          <p:nvPr/>
        </p:nvSpPr>
        <p:spPr>
          <a:xfrm>
            <a:off x="9056479" y="5662641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9" name="Textfeld 38">
            <a:extLst>
              <a:ext uri="{FF2B5EF4-FFF2-40B4-BE49-F238E27FC236}">
                <a16:creationId xmlns:a16="http://schemas.microsoft.com/office/drawing/2014/main" id="{BCEDE1B6-B48F-44FE-7851-EE06E8CC865A}"/>
              </a:ext>
            </a:extLst>
          </p:cNvPr>
          <p:cNvSpPr txBox="1"/>
          <p:nvPr/>
        </p:nvSpPr>
        <p:spPr>
          <a:xfrm>
            <a:off x="6154287" y="3750266"/>
            <a:ext cx="198561" cy="2487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20" name="Textfeld 38">
            <a:extLst>
              <a:ext uri="{FF2B5EF4-FFF2-40B4-BE49-F238E27FC236}">
                <a16:creationId xmlns:a16="http://schemas.microsoft.com/office/drawing/2014/main" id="{4D12724E-4578-A34B-3894-40EFB7ECBD60}"/>
              </a:ext>
            </a:extLst>
          </p:cNvPr>
          <p:cNvSpPr txBox="1"/>
          <p:nvPr/>
        </p:nvSpPr>
        <p:spPr>
          <a:xfrm>
            <a:off x="7866631" y="3226178"/>
            <a:ext cx="198561" cy="2487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23" name="Datumsplatzhalter 1">
            <a:extLst>
              <a:ext uri="{FF2B5EF4-FFF2-40B4-BE49-F238E27FC236}">
                <a16:creationId xmlns:a16="http://schemas.microsoft.com/office/drawing/2014/main" id="{5192DA09-37DC-377D-C7B5-3136784DE6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875" y="6556875"/>
            <a:ext cx="588192" cy="219454"/>
          </a:xfrm>
        </p:spPr>
        <p:txBody>
          <a:bodyPr/>
          <a:lstStyle/>
          <a:p>
            <a:fld id="{72D77B36-95B7-FF43-8BF5-D80FC3958B26}" type="datetime1">
              <a:rPr lang="de-AT" noProof="0" smtClean="0"/>
              <a:t>28.05.26</a:t>
            </a:fld>
            <a:endParaRPr lang="de-AT" noProof="0" dirty="0"/>
          </a:p>
        </p:txBody>
      </p:sp>
      <p:sp>
        <p:nvSpPr>
          <p:cNvPr id="27" name="Fußzeilenplatzhalter 2">
            <a:extLst>
              <a:ext uri="{FF2B5EF4-FFF2-40B4-BE49-F238E27FC236}">
                <a16:creationId xmlns:a16="http://schemas.microsoft.com/office/drawing/2014/main" id="{D7931BE3-C1F0-CDD7-6DFC-460DBC1DA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0" y="6556875"/>
            <a:ext cx="6127477" cy="219454"/>
          </a:xfrm>
        </p:spPr>
        <p:txBody>
          <a:bodyPr/>
          <a:lstStyle/>
          <a:p>
            <a:r>
              <a:rPr lang="de-AT" noProof="0" dirty="0"/>
              <a:t>Retail-Segmentierung Neu│ S. Stratula &amp; K. Preibisch</a:t>
            </a:r>
          </a:p>
        </p:txBody>
      </p:sp>
    </p:spTree>
    <p:extLst>
      <p:ext uri="{BB962C8B-B14F-4D97-AF65-F5344CB8AC3E}">
        <p14:creationId xmlns:p14="http://schemas.microsoft.com/office/powerpoint/2010/main" val="3148138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C6F70-DDF8-1884-7F39-0DA348527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FC38ED09-8CCF-6B2F-B8F8-D993BE254A60}"/>
              </a:ext>
            </a:extLst>
          </p:cNvPr>
          <p:cNvSpPr/>
          <p:nvPr/>
        </p:nvSpPr>
        <p:spPr>
          <a:xfrm>
            <a:off x="337987" y="1854651"/>
            <a:ext cx="5697659" cy="4414566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98C8118-AEE1-239A-BC9C-2BCBBF0B0F4C}"/>
              </a:ext>
            </a:extLst>
          </p:cNvPr>
          <p:cNvSpPr txBox="1"/>
          <p:nvPr/>
        </p:nvSpPr>
        <p:spPr>
          <a:xfrm>
            <a:off x="315266" y="6371801"/>
            <a:ext cx="115460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Basis: </a:t>
            </a:r>
            <a:r>
              <a:rPr lang="de-DE" sz="800" err="1"/>
              <a:t>n</a:t>
            </a:r>
            <a:r>
              <a:rPr lang="de-DE" sz="800"/>
              <a:t>(Segment1)=620 | Grüne/rote Schriftfarbe und fette Markierung von Werten: Signifikante Abweichungen von der Gesamtstichprobe. Grün = signifikant höherer Wert, rot = signifikant niedrigerer Wert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9E4AD18-38CF-C768-AC28-2B9907A1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8</a:t>
            </a:fld>
            <a:endParaRPr lang="de-AT" noProof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4CF04A0E-3F30-62CA-B2C8-D8994C1A7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76" y="917607"/>
            <a:ext cx="11395074" cy="484473"/>
          </a:xfrm>
        </p:spPr>
        <p:txBody>
          <a:bodyPr/>
          <a:lstStyle/>
          <a:p>
            <a:r>
              <a:rPr lang="de-DE" sz="3400"/>
              <a:t>Versicherungseckdaten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34D5156-CC6D-9059-6377-11D05051F4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/>
              <a:t>Segment 1: Die aufsteigenden Hybriden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4FB2C26-9C1F-A847-2463-79F96945DB37}"/>
              </a:ext>
            </a:extLst>
          </p:cNvPr>
          <p:cNvSpPr txBox="1"/>
          <p:nvPr/>
        </p:nvSpPr>
        <p:spPr>
          <a:xfrm>
            <a:off x="406796" y="1540342"/>
            <a:ext cx="3680713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400"/>
              <a:t>AKTUELLER VERSICHERUNGSSTATUS</a:t>
            </a:r>
          </a:p>
        </p:txBody>
      </p:sp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DFB4DE99-C92B-CEA0-7FD3-B0AE49EB39B5}"/>
              </a:ext>
            </a:extLst>
          </p:cNvPr>
          <p:cNvCxnSpPr>
            <a:cxnSpLocks/>
          </p:cNvCxnSpPr>
          <p:nvPr/>
        </p:nvCxnSpPr>
        <p:spPr>
          <a:xfrm flipH="1">
            <a:off x="348557" y="3106183"/>
            <a:ext cx="5687089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43">
            <a:extLst>
              <a:ext uri="{FF2B5EF4-FFF2-40B4-BE49-F238E27FC236}">
                <a16:creationId xmlns:a16="http://schemas.microsoft.com/office/drawing/2014/main" id="{D267337D-5E97-4666-360A-5A9C75A84C48}"/>
              </a:ext>
            </a:extLst>
          </p:cNvPr>
          <p:cNvCxnSpPr>
            <a:cxnSpLocks/>
          </p:cNvCxnSpPr>
          <p:nvPr/>
        </p:nvCxnSpPr>
        <p:spPr>
          <a:xfrm flipV="1">
            <a:off x="2040437" y="3112005"/>
            <a:ext cx="0" cy="1809622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feld 33">
            <a:extLst>
              <a:ext uri="{FF2B5EF4-FFF2-40B4-BE49-F238E27FC236}">
                <a16:creationId xmlns:a16="http://schemas.microsoft.com/office/drawing/2014/main" id="{696AE092-1A23-7DE3-3894-BD43EA6E3C16}"/>
              </a:ext>
            </a:extLst>
          </p:cNvPr>
          <p:cNvSpPr txBox="1"/>
          <p:nvPr/>
        </p:nvSpPr>
        <p:spPr>
          <a:xfrm>
            <a:off x="6174209" y="1566913"/>
            <a:ext cx="4856279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400"/>
              <a:t>VERSICHERUNGSBESITZ &amp; NEUABSCHLUSS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C7BAA17E-8FE1-5046-3B4D-FD29CB769EAF}"/>
              </a:ext>
            </a:extLst>
          </p:cNvPr>
          <p:cNvSpPr/>
          <p:nvPr/>
        </p:nvSpPr>
        <p:spPr>
          <a:xfrm>
            <a:off x="6157976" y="1847901"/>
            <a:ext cx="5695735" cy="4428067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B59D982-BBC7-599C-E137-6E4CC341A7F7}"/>
              </a:ext>
            </a:extLst>
          </p:cNvPr>
          <p:cNvSpPr txBox="1"/>
          <p:nvPr/>
        </p:nvSpPr>
        <p:spPr>
          <a:xfrm>
            <a:off x="396875" y="1875824"/>
            <a:ext cx="123661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Beratertyp</a:t>
            </a:r>
          </a:p>
        </p:txBody>
      </p:sp>
      <p:graphicFrame>
        <p:nvGraphicFramePr>
          <p:cNvPr id="21" name="Diagramm 20">
            <a:extLst>
              <a:ext uri="{FF2B5EF4-FFF2-40B4-BE49-F238E27FC236}">
                <a16:creationId xmlns:a16="http://schemas.microsoft.com/office/drawing/2014/main" id="{B2A92F4D-92EA-A6CD-4097-722E680342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8625433"/>
              </p:ext>
            </p:extLst>
          </p:nvPr>
        </p:nvGraphicFramePr>
        <p:xfrm>
          <a:off x="-1267663" y="2025101"/>
          <a:ext cx="5638517" cy="1083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9" name="Grafik 68" descr="Ein Bild, das Schrift, Grafiken, Grafikdesign, Logo enthält.&#10;&#10;KI-generierte Inhalte können fehlerhaft sein.">
            <a:extLst>
              <a:ext uri="{FF2B5EF4-FFF2-40B4-BE49-F238E27FC236}">
                <a16:creationId xmlns:a16="http://schemas.microsoft.com/office/drawing/2014/main" id="{6A8FF9BA-8EC9-A908-A322-FF1FA3A5D97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148" y="3547223"/>
            <a:ext cx="1061371" cy="190355"/>
          </a:xfrm>
          <a:prstGeom prst="rect">
            <a:avLst/>
          </a:prstGeom>
        </p:spPr>
      </p:pic>
      <p:sp>
        <p:nvSpPr>
          <p:cNvPr id="70" name="Textfeld 69">
            <a:extLst>
              <a:ext uri="{FF2B5EF4-FFF2-40B4-BE49-F238E27FC236}">
                <a16:creationId xmlns:a16="http://schemas.microsoft.com/office/drawing/2014/main" id="{A2034A15-622A-2642-C20F-C75DBFCB5266}"/>
              </a:ext>
            </a:extLst>
          </p:cNvPr>
          <p:cNvSpPr txBox="1"/>
          <p:nvPr/>
        </p:nvSpPr>
        <p:spPr>
          <a:xfrm>
            <a:off x="424094" y="3845347"/>
            <a:ext cx="1515196" cy="3899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600"/>
              </a:spcAft>
              <a:buClr>
                <a:schemeClr val="tx2"/>
              </a:buClr>
            </a:pPr>
            <a:r>
              <a:rPr lang="de-DE" sz="1100" err="1">
                <a:solidFill>
                  <a:srgbClr val="000000"/>
                </a:solidFill>
              </a:rPr>
              <a:t>Kund:innen</a:t>
            </a:r>
            <a:r>
              <a:rPr lang="de-DE" sz="1100">
                <a:solidFill>
                  <a:srgbClr val="000000"/>
                </a:solidFill>
              </a:rPr>
              <a:t>*: </a:t>
            </a:r>
            <a:r>
              <a:rPr lang="de-DE" sz="1100" b="1">
                <a:solidFill>
                  <a:srgbClr val="4DA685"/>
                </a:solidFill>
              </a:rPr>
              <a:t>35%</a:t>
            </a:r>
          </a:p>
          <a:p>
            <a:pPr algn="l">
              <a:spcAft>
                <a:spcPts val="600"/>
              </a:spcAft>
              <a:buClr>
                <a:schemeClr val="tx2"/>
              </a:buClr>
            </a:pPr>
            <a:r>
              <a:rPr lang="de-DE" sz="1100">
                <a:solidFill>
                  <a:srgbClr val="000000"/>
                </a:solidFill>
              </a:rPr>
              <a:t>Hauptversicherte: </a:t>
            </a:r>
            <a:r>
              <a:rPr lang="de-DE" sz="1100" b="1">
                <a:solidFill>
                  <a:srgbClr val="4DA685"/>
                </a:solidFill>
              </a:rPr>
              <a:t>23%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2CBF56B4-92EE-532D-43AD-CA355C4F04F2}"/>
              </a:ext>
            </a:extLst>
          </p:cNvPr>
          <p:cNvSpPr txBox="1"/>
          <p:nvPr/>
        </p:nvSpPr>
        <p:spPr>
          <a:xfrm>
            <a:off x="391464" y="4476410"/>
            <a:ext cx="1628876" cy="37847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800">
                <a:solidFill>
                  <a:schemeClr val="bg1">
                    <a:lumMod val="75000"/>
                  </a:schemeClr>
                </a:solidFill>
              </a:rPr>
              <a:t>*Definition als </a:t>
            </a:r>
            <a:r>
              <a:rPr lang="de-DE" sz="800" err="1">
                <a:solidFill>
                  <a:schemeClr val="bg1">
                    <a:lumMod val="75000"/>
                  </a:schemeClr>
                </a:solidFill>
              </a:rPr>
              <a:t>Kund:in</a:t>
            </a:r>
            <a:r>
              <a:rPr lang="de-DE" sz="800">
                <a:solidFill>
                  <a:schemeClr val="bg1">
                    <a:lumMod val="75000"/>
                  </a:schemeClr>
                </a:solidFill>
              </a:rPr>
              <a:t>: Person selbst oder der Haushalt der Person ist bei UNIQA versichert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966DFA05-D199-88CC-7774-A06D4D2E3031}"/>
              </a:ext>
            </a:extLst>
          </p:cNvPr>
          <p:cNvSpPr txBox="1"/>
          <p:nvPr/>
        </p:nvSpPr>
        <p:spPr>
          <a:xfrm>
            <a:off x="396875" y="3174136"/>
            <a:ext cx="123661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Kundenstatus</a:t>
            </a:r>
          </a:p>
        </p:txBody>
      </p:sp>
      <p:cxnSp>
        <p:nvCxnSpPr>
          <p:cNvPr id="73" name="Gerade Verbindung 72">
            <a:extLst>
              <a:ext uri="{FF2B5EF4-FFF2-40B4-BE49-F238E27FC236}">
                <a16:creationId xmlns:a16="http://schemas.microsoft.com/office/drawing/2014/main" id="{46A292CE-C3D2-E809-036D-F91E885ADB26}"/>
              </a:ext>
            </a:extLst>
          </p:cNvPr>
          <p:cNvCxnSpPr>
            <a:cxnSpLocks/>
          </p:cNvCxnSpPr>
          <p:nvPr/>
        </p:nvCxnSpPr>
        <p:spPr>
          <a:xfrm flipH="1">
            <a:off x="343271" y="4921627"/>
            <a:ext cx="5661288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feld 73">
            <a:extLst>
              <a:ext uri="{FF2B5EF4-FFF2-40B4-BE49-F238E27FC236}">
                <a16:creationId xmlns:a16="http://schemas.microsoft.com/office/drawing/2014/main" id="{6FE6635A-04FC-D29F-AD55-0ED6CCA966AE}"/>
              </a:ext>
            </a:extLst>
          </p:cNvPr>
          <p:cNvSpPr txBox="1"/>
          <p:nvPr/>
        </p:nvSpPr>
        <p:spPr>
          <a:xfrm>
            <a:off x="2132649" y="3174136"/>
            <a:ext cx="1976531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Versicherungsausgaben</a:t>
            </a: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B9D54EDA-805C-1781-23C0-06D85CCADF21}"/>
              </a:ext>
            </a:extLst>
          </p:cNvPr>
          <p:cNvSpPr txBox="1"/>
          <p:nvPr/>
        </p:nvSpPr>
        <p:spPr>
          <a:xfrm>
            <a:off x="2676789" y="3430707"/>
            <a:ext cx="796904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>
                <a:solidFill>
                  <a:srgbClr val="4DA685"/>
                </a:solidFill>
              </a:rPr>
              <a:t>€ 230,6 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6BB7959E-D281-C9B0-F209-7E3442F3F905}"/>
              </a:ext>
            </a:extLst>
          </p:cNvPr>
          <p:cNvSpPr txBox="1"/>
          <p:nvPr/>
        </p:nvSpPr>
        <p:spPr>
          <a:xfrm>
            <a:off x="2079699" y="3766473"/>
            <a:ext cx="1943839" cy="6764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  <a:buClr>
                <a:schemeClr val="tx2"/>
              </a:buClr>
            </a:pPr>
            <a:r>
              <a:rPr lang="de-DE" sz="1100">
                <a:solidFill>
                  <a:srgbClr val="000000"/>
                </a:solidFill>
              </a:rPr>
              <a:t>im Durchschnitt pro Monat als Gesamtausgaben des Haushalts für private Versicherungen</a:t>
            </a:r>
          </a:p>
        </p:txBody>
      </p:sp>
      <p:pic>
        <p:nvPicPr>
          <p:cNvPr id="80" name="Grafik 79" descr="Ein Bild, das Electric Blue (Farbe), Screenshot, Grafiken, Majorelle Blue enthält.&#10;&#10;KI-generierte Inhalte können fehlerhaft sein.">
            <a:extLst>
              <a:ext uri="{FF2B5EF4-FFF2-40B4-BE49-F238E27FC236}">
                <a16:creationId xmlns:a16="http://schemas.microsoft.com/office/drawing/2014/main" id="{DFCC7B6D-E8B3-D561-4C91-D901986C980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8318" y="3193074"/>
            <a:ext cx="528471" cy="792707"/>
          </a:xfrm>
          <a:prstGeom prst="rect">
            <a:avLst/>
          </a:prstGeom>
        </p:spPr>
      </p:pic>
      <p:sp>
        <p:nvSpPr>
          <p:cNvPr id="81" name="Textfeld 80">
            <a:extLst>
              <a:ext uri="{FF2B5EF4-FFF2-40B4-BE49-F238E27FC236}">
                <a16:creationId xmlns:a16="http://schemas.microsoft.com/office/drawing/2014/main" id="{D2EFD851-FF38-015B-4DAC-F8C3742A5913}"/>
              </a:ext>
            </a:extLst>
          </p:cNvPr>
          <p:cNvSpPr txBox="1"/>
          <p:nvPr/>
        </p:nvSpPr>
        <p:spPr>
          <a:xfrm>
            <a:off x="2058124" y="4435241"/>
            <a:ext cx="1994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>
                <a:solidFill>
                  <a:schemeClr val="bg1">
                    <a:lumMod val="75000"/>
                  </a:schemeClr>
                </a:solidFill>
              </a:rPr>
              <a:t>*Näherungsweiser Mittelwert auf Basis von Klassenmittelpunkten, da die Abfrage in Kategorien erfolgte</a:t>
            </a: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8A1042CC-7240-FEBF-76DC-83AE2C4CAC4D}"/>
              </a:ext>
            </a:extLst>
          </p:cNvPr>
          <p:cNvSpPr txBox="1"/>
          <p:nvPr/>
        </p:nvSpPr>
        <p:spPr>
          <a:xfrm>
            <a:off x="4159562" y="3193074"/>
            <a:ext cx="1797227" cy="4351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Weiterempfehlung der Hauptversicherung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A565904C-DDB8-7D35-68E7-AFBCC14B2D86}"/>
              </a:ext>
            </a:extLst>
          </p:cNvPr>
          <p:cNvSpPr txBox="1"/>
          <p:nvPr/>
        </p:nvSpPr>
        <p:spPr>
          <a:xfrm>
            <a:off x="4297620" y="4040433"/>
            <a:ext cx="1488374" cy="70737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  <a:buClr>
                <a:schemeClr val="tx2"/>
              </a:buClr>
            </a:pPr>
            <a:r>
              <a:rPr lang="de-DE" sz="1100" dirty="0">
                <a:solidFill>
                  <a:srgbClr val="000000"/>
                </a:solidFill>
              </a:rPr>
              <a:t>Net Promotor Score (NPS) = Promotoren – </a:t>
            </a:r>
            <a:r>
              <a:rPr lang="de-DE" sz="1100" dirty="0" err="1">
                <a:solidFill>
                  <a:srgbClr val="000000"/>
                </a:solidFill>
              </a:rPr>
              <a:t>Detraktoren</a:t>
            </a:r>
            <a:r>
              <a:rPr lang="de-DE" sz="1100" dirty="0">
                <a:solidFill>
                  <a:srgbClr val="000000"/>
                </a:solidFill>
              </a:rPr>
              <a:t> = 40% - 23% = 17</a:t>
            </a:r>
          </a:p>
        </p:txBody>
      </p:sp>
      <p:cxnSp>
        <p:nvCxnSpPr>
          <p:cNvPr id="100" name="Gerade Verbindung 99">
            <a:extLst>
              <a:ext uri="{FF2B5EF4-FFF2-40B4-BE49-F238E27FC236}">
                <a16:creationId xmlns:a16="http://schemas.microsoft.com/office/drawing/2014/main" id="{3D3E94E5-76F2-09FA-2318-71875EEBD83C}"/>
              </a:ext>
            </a:extLst>
          </p:cNvPr>
          <p:cNvCxnSpPr>
            <a:cxnSpLocks/>
          </p:cNvCxnSpPr>
          <p:nvPr/>
        </p:nvCxnSpPr>
        <p:spPr>
          <a:xfrm>
            <a:off x="4073627" y="1849466"/>
            <a:ext cx="0" cy="441456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feld 100">
            <a:extLst>
              <a:ext uri="{FF2B5EF4-FFF2-40B4-BE49-F238E27FC236}">
                <a16:creationId xmlns:a16="http://schemas.microsoft.com/office/drawing/2014/main" id="{3FC2B439-FFED-A8F1-D1D7-852DBDFE6DF6}"/>
              </a:ext>
            </a:extLst>
          </p:cNvPr>
          <p:cNvSpPr txBox="1"/>
          <p:nvPr/>
        </p:nvSpPr>
        <p:spPr>
          <a:xfrm>
            <a:off x="4159562" y="4999604"/>
            <a:ext cx="1875354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Wechselwahrscheinlichkeit der Hauptversicherung</a:t>
            </a: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F879321E-93DC-A3CA-F599-432E0D5B1DF1}"/>
              </a:ext>
            </a:extLst>
          </p:cNvPr>
          <p:cNvSpPr txBox="1"/>
          <p:nvPr/>
        </p:nvSpPr>
        <p:spPr>
          <a:xfrm>
            <a:off x="4129645" y="6028185"/>
            <a:ext cx="1931230" cy="1992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  <a:buClr>
                <a:schemeClr val="tx2"/>
              </a:buClr>
            </a:pPr>
            <a:r>
              <a:rPr lang="de-DE" sz="800" spc="-30" dirty="0">
                <a:solidFill>
                  <a:schemeClr val="bg1">
                    <a:lumMod val="75000"/>
                  </a:schemeClr>
                </a:solidFill>
              </a:rPr>
              <a:t>6-10 auf einer 11-stufigen Skala von 0=Sehr unwahrscheinlich bis 10=Sehr wahrscheinlich</a:t>
            </a:r>
          </a:p>
        </p:txBody>
      </p:sp>
      <p:pic>
        <p:nvPicPr>
          <p:cNvPr id="105" name="Grafik 104" descr="Ein Bild, das Cartoon, Grafiken, Licht enthält.&#10;&#10;KI-generierte Inhalte können fehlerhaft sein.">
            <a:extLst>
              <a:ext uri="{FF2B5EF4-FFF2-40B4-BE49-F238E27FC236}">
                <a16:creationId xmlns:a16="http://schemas.microsoft.com/office/drawing/2014/main" id="{B1AE856A-4EA6-2EB3-16D5-C1745E2ED58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0275" y="3329797"/>
            <a:ext cx="636890" cy="955333"/>
          </a:xfrm>
          <a:prstGeom prst="rect">
            <a:avLst/>
          </a:prstGeom>
        </p:spPr>
      </p:pic>
      <p:sp>
        <p:nvSpPr>
          <p:cNvPr id="108" name="Textfeld 107">
            <a:extLst>
              <a:ext uri="{FF2B5EF4-FFF2-40B4-BE49-F238E27FC236}">
                <a16:creationId xmlns:a16="http://schemas.microsoft.com/office/drawing/2014/main" id="{8B792F73-D606-3598-7D11-5621F8C1105F}"/>
              </a:ext>
            </a:extLst>
          </p:cNvPr>
          <p:cNvSpPr txBox="1"/>
          <p:nvPr/>
        </p:nvSpPr>
        <p:spPr>
          <a:xfrm>
            <a:off x="9814830" y="1875824"/>
            <a:ext cx="1742004" cy="435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Neuabschluss-wahrscheinlichkeit in den nächsten 3 Jahren</a:t>
            </a:r>
          </a:p>
        </p:txBody>
      </p:sp>
      <p:pic>
        <p:nvPicPr>
          <p:cNvPr id="119" name="Grafik 118" descr="Ein Bild, das Grafiken, Majorelle Blue, Electric Blue (Farbe), Cartoon enthält.&#10;&#10;KI-generierte Inhalte können fehlerhaft sein.">
            <a:extLst>
              <a:ext uri="{FF2B5EF4-FFF2-40B4-BE49-F238E27FC236}">
                <a16:creationId xmlns:a16="http://schemas.microsoft.com/office/drawing/2014/main" id="{A5BCA468-41EE-BF0A-7B7A-7E4F9B7F56F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880" y="5231282"/>
            <a:ext cx="502572" cy="753857"/>
          </a:xfrm>
          <a:prstGeom prst="rect">
            <a:avLst/>
          </a:prstGeom>
        </p:spPr>
      </p:pic>
      <p:sp>
        <p:nvSpPr>
          <p:cNvPr id="130" name="Textfeld 129">
            <a:extLst>
              <a:ext uri="{FF2B5EF4-FFF2-40B4-BE49-F238E27FC236}">
                <a16:creationId xmlns:a16="http://schemas.microsoft.com/office/drawing/2014/main" id="{1F326F29-AAE5-1A03-5A1E-A968F203C9B0}"/>
              </a:ext>
            </a:extLst>
          </p:cNvPr>
          <p:cNvSpPr txBox="1"/>
          <p:nvPr/>
        </p:nvSpPr>
        <p:spPr>
          <a:xfrm>
            <a:off x="6272494" y="1875824"/>
            <a:ext cx="2507280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Aktueller Versicherungsbesitz im Haushalt</a:t>
            </a:r>
          </a:p>
        </p:txBody>
      </p:sp>
      <p:sp>
        <p:nvSpPr>
          <p:cNvPr id="133" name="Textfeld 132">
            <a:extLst>
              <a:ext uri="{FF2B5EF4-FFF2-40B4-BE49-F238E27FC236}">
                <a16:creationId xmlns:a16="http://schemas.microsoft.com/office/drawing/2014/main" id="{8F2EB992-3D5D-69FB-3559-648C48BF0BE4}"/>
              </a:ext>
            </a:extLst>
          </p:cNvPr>
          <p:cNvSpPr txBox="1"/>
          <p:nvPr/>
        </p:nvSpPr>
        <p:spPr>
          <a:xfrm>
            <a:off x="9814830" y="6100862"/>
            <a:ext cx="21096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>
                <a:solidFill>
                  <a:schemeClr val="bg1">
                    <a:lumMod val="75000"/>
                  </a:schemeClr>
                </a:solidFill>
              </a:rPr>
              <a:t>**Von insgesamt 17 vorgelegten Sparten</a:t>
            </a:r>
          </a:p>
        </p:txBody>
      </p:sp>
      <p:graphicFrame>
        <p:nvGraphicFramePr>
          <p:cNvPr id="9" name="Diagramm 9">
            <a:extLst>
              <a:ext uri="{FF2B5EF4-FFF2-40B4-BE49-F238E27FC236}">
                <a16:creationId xmlns:a16="http://schemas.microsoft.com/office/drawing/2014/main" id="{3BAF925F-22E5-961F-D066-B81EBE04E8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7168617"/>
              </p:ext>
            </p:extLst>
          </p:nvPr>
        </p:nvGraphicFramePr>
        <p:xfrm>
          <a:off x="10619996" y="470504"/>
          <a:ext cx="2019762" cy="1378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2" name="Textfeld 87">
            <a:extLst>
              <a:ext uri="{FF2B5EF4-FFF2-40B4-BE49-F238E27FC236}">
                <a16:creationId xmlns:a16="http://schemas.microsoft.com/office/drawing/2014/main" id="{7ACDB4D9-B345-B977-8569-4647EE798683}"/>
              </a:ext>
            </a:extLst>
          </p:cNvPr>
          <p:cNvSpPr txBox="1"/>
          <p:nvPr/>
        </p:nvSpPr>
        <p:spPr>
          <a:xfrm>
            <a:off x="4502283" y="5408218"/>
            <a:ext cx="1396366" cy="3878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buClr>
                <a:schemeClr val="tx2"/>
              </a:buClr>
            </a:pPr>
            <a:r>
              <a:rPr lang="de-DE" sz="1200" b="1" dirty="0">
                <a:solidFill>
                  <a:srgbClr val="FF0000"/>
                </a:solidFill>
              </a:rPr>
              <a:t>7%</a:t>
            </a:r>
            <a:r>
              <a:rPr lang="de-DE" sz="1200" b="1" dirty="0">
                <a:solidFill>
                  <a:srgbClr val="000000"/>
                </a:solidFill>
              </a:rPr>
              <a:t> </a:t>
            </a:r>
            <a:r>
              <a:rPr lang="de-DE" sz="1200" dirty="0">
                <a:solidFill>
                  <a:srgbClr val="000000"/>
                </a:solidFill>
              </a:rPr>
              <a:t>Wechselbereitschaft</a:t>
            </a:r>
          </a:p>
        </p:txBody>
      </p:sp>
      <p:sp>
        <p:nvSpPr>
          <p:cNvPr id="24" name="Textfeld 76">
            <a:extLst>
              <a:ext uri="{FF2B5EF4-FFF2-40B4-BE49-F238E27FC236}">
                <a16:creationId xmlns:a16="http://schemas.microsoft.com/office/drawing/2014/main" id="{C0B91A18-7586-6EAF-12F8-D44515765FDA}"/>
              </a:ext>
            </a:extLst>
          </p:cNvPr>
          <p:cNvSpPr txBox="1"/>
          <p:nvPr/>
        </p:nvSpPr>
        <p:spPr>
          <a:xfrm>
            <a:off x="1225352" y="5475081"/>
            <a:ext cx="796904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buClr>
                <a:schemeClr val="tx2"/>
              </a:buClr>
            </a:pPr>
            <a:r>
              <a:rPr lang="de-DE">
                <a:solidFill>
                  <a:srgbClr val="000000"/>
                </a:solidFill>
              </a:rPr>
              <a:t>59%</a:t>
            </a:r>
          </a:p>
        </p:txBody>
      </p:sp>
      <p:sp>
        <p:nvSpPr>
          <p:cNvPr id="26" name="Textfeld 77">
            <a:extLst>
              <a:ext uri="{FF2B5EF4-FFF2-40B4-BE49-F238E27FC236}">
                <a16:creationId xmlns:a16="http://schemas.microsoft.com/office/drawing/2014/main" id="{103AC118-277A-94D6-D2EE-99EA367C12A3}"/>
              </a:ext>
            </a:extLst>
          </p:cNvPr>
          <p:cNvSpPr txBox="1"/>
          <p:nvPr/>
        </p:nvSpPr>
        <p:spPr>
          <a:xfrm>
            <a:off x="2018374" y="5398084"/>
            <a:ext cx="1505682" cy="6764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  <a:buClr>
                <a:schemeClr val="tx2"/>
              </a:buClr>
            </a:pPr>
            <a:r>
              <a:rPr lang="de-DE" sz="1100" dirty="0">
                <a:solidFill>
                  <a:srgbClr val="000000"/>
                </a:solidFill>
              </a:rPr>
              <a:t>sind sehr / eher positiv eingestellt gegenüber Versicherungen</a:t>
            </a:r>
          </a:p>
        </p:txBody>
      </p:sp>
      <p:sp>
        <p:nvSpPr>
          <p:cNvPr id="33" name="Textfeld 9">
            <a:extLst>
              <a:ext uri="{FF2B5EF4-FFF2-40B4-BE49-F238E27FC236}">
                <a16:creationId xmlns:a16="http://schemas.microsoft.com/office/drawing/2014/main" id="{BE0FBA2C-7C89-F232-72A9-93C7A7B2223E}"/>
              </a:ext>
            </a:extLst>
          </p:cNvPr>
          <p:cNvSpPr txBox="1"/>
          <p:nvPr/>
        </p:nvSpPr>
        <p:spPr>
          <a:xfrm>
            <a:off x="376168" y="4992987"/>
            <a:ext cx="278223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Einstellung gegenüber Versicherungen</a:t>
            </a:r>
          </a:p>
        </p:txBody>
      </p:sp>
      <p:sp>
        <p:nvSpPr>
          <p:cNvPr id="37" name="Textfeld 9">
            <a:extLst>
              <a:ext uri="{FF2B5EF4-FFF2-40B4-BE49-F238E27FC236}">
                <a16:creationId xmlns:a16="http://schemas.microsoft.com/office/drawing/2014/main" id="{4CAC74D2-2A49-47B6-5B29-9CED1111B2AE}"/>
              </a:ext>
            </a:extLst>
          </p:cNvPr>
          <p:cNvSpPr txBox="1"/>
          <p:nvPr/>
        </p:nvSpPr>
        <p:spPr>
          <a:xfrm>
            <a:off x="4159562" y="1903304"/>
            <a:ext cx="1585835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Hauptversicherungen – Top 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2173CC1-72E7-5425-9DD3-7868AA4863B0}"/>
              </a:ext>
            </a:extLst>
          </p:cNvPr>
          <p:cNvSpPr txBox="1"/>
          <p:nvPr/>
        </p:nvSpPr>
        <p:spPr>
          <a:xfrm>
            <a:off x="4348819" y="2335070"/>
            <a:ext cx="143373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u="none">
                <a:solidFill>
                  <a:srgbClr val="000000"/>
                </a:solidFill>
              </a:rPr>
              <a:t>#1: UNIQA – </a:t>
            </a:r>
            <a:r>
              <a:rPr lang="de-DE" sz="1100" b="1" u="none">
                <a:solidFill>
                  <a:srgbClr val="4DA685"/>
                </a:solidFill>
              </a:rPr>
              <a:t>23%</a:t>
            </a:r>
          </a:p>
          <a:p>
            <a:r>
              <a:rPr lang="de-DE" sz="1100">
                <a:solidFill>
                  <a:srgbClr val="000000"/>
                </a:solidFill>
              </a:rPr>
              <a:t>#2: </a:t>
            </a:r>
            <a:r>
              <a:rPr lang="de-DE" sz="1100" err="1">
                <a:solidFill>
                  <a:srgbClr val="000000"/>
                </a:solidFill>
              </a:rPr>
              <a:t>Generali</a:t>
            </a:r>
            <a:r>
              <a:rPr lang="de-DE" sz="1100">
                <a:solidFill>
                  <a:srgbClr val="000000"/>
                </a:solidFill>
              </a:rPr>
              <a:t> – 12%</a:t>
            </a:r>
          </a:p>
          <a:p>
            <a:r>
              <a:rPr lang="de-DE" sz="1100">
                <a:solidFill>
                  <a:srgbClr val="000000"/>
                </a:solidFill>
              </a:rPr>
              <a:t>#3: Allianz – 11%</a:t>
            </a:r>
            <a:endParaRPr lang="de-AT" sz="1100">
              <a:solidFill>
                <a:srgbClr val="000000"/>
              </a:solidFill>
            </a:endParaRPr>
          </a:p>
        </p:txBody>
      </p:sp>
      <p:graphicFrame>
        <p:nvGraphicFramePr>
          <p:cNvPr id="66" name="Diagramm 59">
            <a:extLst>
              <a:ext uri="{FF2B5EF4-FFF2-40B4-BE49-F238E27FC236}">
                <a16:creationId xmlns:a16="http://schemas.microsoft.com/office/drawing/2014/main" id="{56AA8A78-7F04-016A-E458-2DB1A14A8D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9538895"/>
              </p:ext>
            </p:extLst>
          </p:nvPr>
        </p:nvGraphicFramePr>
        <p:xfrm>
          <a:off x="6103619" y="2388757"/>
          <a:ext cx="3382600" cy="38230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117" name="Diagramm 59">
            <a:extLst>
              <a:ext uri="{FF2B5EF4-FFF2-40B4-BE49-F238E27FC236}">
                <a16:creationId xmlns:a16="http://schemas.microsoft.com/office/drawing/2014/main" id="{ECF38FEE-FF5C-D750-0C0C-0F9D095FB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0105221"/>
              </p:ext>
            </p:extLst>
          </p:nvPr>
        </p:nvGraphicFramePr>
        <p:xfrm>
          <a:off x="9758269" y="2415552"/>
          <a:ext cx="1872443" cy="38230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pic>
        <p:nvPicPr>
          <p:cNvPr id="123" name="Grafik 49" descr="Ein Bild, das Fahrzeug, Landfahrzeug, Rad, Auto enthält.&#10;&#10;KI-generierte Inhalte können fehlerhaft sein.">
            <a:extLst>
              <a:ext uri="{FF2B5EF4-FFF2-40B4-BE49-F238E27FC236}">
                <a16:creationId xmlns:a16="http://schemas.microsoft.com/office/drawing/2014/main" id="{736F49A1-97E7-EFCB-090E-8ACC649ACD3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68350" y="2651419"/>
            <a:ext cx="350915" cy="178229"/>
          </a:xfrm>
          <a:prstGeom prst="rect">
            <a:avLst/>
          </a:prstGeom>
        </p:spPr>
      </p:pic>
      <p:pic>
        <p:nvPicPr>
          <p:cNvPr id="124" name="Grafik 44" descr="Ein Bild, das Waage enthält.&#10;&#10;KI-generierte Inhalte können fehlerhaft sein.">
            <a:extLst>
              <a:ext uri="{FF2B5EF4-FFF2-40B4-BE49-F238E27FC236}">
                <a16:creationId xmlns:a16="http://schemas.microsoft.com/office/drawing/2014/main" id="{206DDD99-C405-B6D3-F1ED-C17ECE283E4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74492" y="2872630"/>
            <a:ext cx="338630" cy="218808"/>
          </a:xfrm>
          <a:prstGeom prst="rect">
            <a:avLst/>
          </a:prstGeom>
        </p:spPr>
      </p:pic>
      <p:pic>
        <p:nvPicPr>
          <p:cNvPr id="125" name="Grafik 51" descr="Ein Bild, das Fahrzeug, Landfahrzeug, Rad, Transport enthält.&#10;&#10;KI-generierte Inhalte können fehlerhaft sein.">
            <a:extLst>
              <a:ext uri="{FF2B5EF4-FFF2-40B4-BE49-F238E27FC236}">
                <a16:creationId xmlns:a16="http://schemas.microsoft.com/office/drawing/2014/main" id="{B4489033-8C47-B5B9-770D-87EE3F88870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33976" y="3053349"/>
            <a:ext cx="419662" cy="279450"/>
          </a:xfrm>
          <a:prstGeom prst="rect">
            <a:avLst/>
          </a:prstGeom>
        </p:spPr>
      </p:pic>
      <p:pic>
        <p:nvPicPr>
          <p:cNvPr id="126" name="Grafik 50" descr="Ein Bild, das Screenshot, Lampe, Licht, Nacht enthält.&#10;&#10;KI-generierte Inhalte können fehlerhaft sein.">
            <a:extLst>
              <a:ext uri="{FF2B5EF4-FFF2-40B4-BE49-F238E27FC236}">
                <a16:creationId xmlns:a16="http://schemas.microsoft.com/office/drawing/2014/main" id="{E0878A25-3FA4-F2DB-D5F4-7585C5C1B918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503"/>
          <a:stretch>
            <a:fillRect/>
          </a:stretch>
        </p:blipFill>
        <p:spPr>
          <a:xfrm>
            <a:off x="6175575" y="3295626"/>
            <a:ext cx="336465" cy="271782"/>
          </a:xfrm>
          <a:prstGeom prst="rect">
            <a:avLst/>
          </a:prstGeom>
        </p:spPr>
      </p:pic>
      <p:pic>
        <p:nvPicPr>
          <p:cNvPr id="127" name="Grafik 46" descr="Ein Bild, das Cartoon, Majorelle Blue, Blau, Electric Blue (Farbe) enthält.&#10;&#10;KI-generierte Inhalte können fehlerhaft sein.">
            <a:extLst>
              <a:ext uri="{FF2B5EF4-FFF2-40B4-BE49-F238E27FC236}">
                <a16:creationId xmlns:a16="http://schemas.microsoft.com/office/drawing/2014/main" id="{A67D20A5-5B47-8142-9C51-B3110229638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971"/>
          <a:stretch>
            <a:fillRect/>
          </a:stretch>
        </p:blipFill>
        <p:spPr>
          <a:xfrm>
            <a:off x="6206591" y="3517605"/>
            <a:ext cx="274432" cy="259817"/>
          </a:xfrm>
          <a:prstGeom prst="rect">
            <a:avLst/>
          </a:prstGeom>
        </p:spPr>
      </p:pic>
      <p:pic>
        <p:nvPicPr>
          <p:cNvPr id="132" name="Grafik 56" descr="Ein Bild, das Screenshot, Design, Nacht enthält.&#10;&#10;KI-generierte Inhalte können fehlerhaft sein.">
            <a:extLst>
              <a:ext uri="{FF2B5EF4-FFF2-40B4-BE49-F238E27FC236}">
                <a16:creationId xmlns:a16="http://schemas.microsoft.com/office/drawing/2014/main" id="{89EDF8B7-514B-E8CC-B82C-753D76004D34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33976" y="3781829"/>
            <a:ext cx="419662" cy="196353"/>
          </a:xfrm>
          <a:prstGeom prst="rect">
            <a:avLst/>
          </a:prstGeom>
        </p:spPr>
      </p:pic>
      <p:pic>
        <p:nvPicPr>
          <p:cNvPr id="136" name="Grafik 41" descr="Ein Bild, das Kobaltblau, Flasche, Licht enthält.&#10;&#10;KI-generierte Inhalte können fehlerhaft sein.">
            <a:extLst>
              <a:ext uri="{FF2B5EF4-FFF2-40B4-BE49-F238E27FC236}">
                <a16:creationId xmlns:a16="http://schemas.microsoft.com/office/drawing/2014/main" id="{52C108A6-90D5-A07D-BB13-736BA19426CE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399"/>
          <a:stretch>
            <a:fillRect/>
          </a:stretch>
        </p:blipFill>
        <p:spPr>
          <a:xfrm>
            <a:off x="6239273" y="3991026"/>
            <a:ext cx="209069" cy="192330"/>
          </a:xfrm>
          <a:prstGeom prst="rect">
            <a:avLst/>
          </a:prstGeom>
        </p:spPr>
      </p:pic>
      <p:pic>
        <p:nvPicPr>
          <p:cNvPr id="137" name="Grafik 45" descr="Ein Bild, das Symbol enthält.&#10;&#10;KI-generierte Inhalte können fehlerhaft sein.">
            <a:extLst>
              <a:ext uri="{FF2B5EF4-FFF2-40B4-BE49-F238E27FC236}">
                <a16:creationId xmlns:a16="http://schemas.microsoft.com/office/drawing/2014/main" id="{554137E5-A735-3A2E-1B63-42EEFDEA5E00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1128" y="4108729"/>
            <a:ext cx="245359" cy="368039"/>
          </a:xfrm>
          <a:prstGeom prst="rect">
            <a:avLst/>
          </a:prstGeom>
        </p:spPr>
      </p:pic>
      <p:pic>
        <p:nvPicPr>
          <p:cNvPr id="138" name="Grafik 42" descr="Ein Bild, das Plastik, Blau, Electric Blue (Farbe), Zubehör enthält.&#10;&#10;KI-generierte Inhalte können fehlerhaft sein.">
            <a:extLst>
              <a:ext uri="{FF2B5EF4-FFF2-40B4-BE49-F238E27FC236}">
                <a16:creationId xmlns:a16="http://schemas.microsoft.com/office/drawing/2014/main" id="{658FCBDF-A4A3-E0D5-D71A-9BAB6962FF02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54355" y="4397001"/>
            <a:ext cx="378905" cy="252604"/>
          </a:xfrm>
          <a:prstGeom prst="rect">
            <a:avLst/>
          </a:prstGeom>
        </p:spPr>
      </p:pic>
      <p:pic>
        <p:nvPicPr>
          <p:cNvPr id="140" name="Grafik 58">
            <a:extLst>
              <a:ext uri="{FF2B5EF4-FFF2-40B4-BE49-F238E27FC236}">
                <a16:creationId xmlns:a16="http://schemas.microsoft.com/office/drawing/2014/main" id="{D37A24C1-9B22-987E-0962-5B2746AC3A16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2817" y="4579352"/>
            <a:ext cx="461980" cy="307987"/>
          </a:xfrm>
          <a:prstGeom prst="rect">
            <a:avLst/>
          </a:prstGeom>
        </p:spPr>
      </p:pic>
      <p:pic>
        <p:nvPicPr>
          <p:cNvPr id="142" name="Grafik 47" descr="Ein Bild, das Electric Blue (Farbe), Blau, Majorelle Blue, Licht enthält.&#10;&#10;KI-generierte Inhalte können fehlerhaft sein.">
            <a:extLst>
              <a:ext uri="{FF2B5EF4-FFF2-40B4-BE49-F238E27FC236}">
                <a16:creationId xmlns:a16="http://schemas.microsoft.com/office/drawing/2014/main" id="{E21F09AD-0C6B-DE95-24C8-0B6E58065529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4735" y="4805846"/>
            <a:ext cx="458145" cy="305430"/>
          </a:xfrm>
          <a:prstGeom prst="rect">
            <a:avLst/>
          </a:prstGeom>
        </p:spPr>
      </p:pic>
      <p:pic>
        <p:nvPicPr>
          <p:cNvPr id="143" name="Grafik 55" descr="Ein Bild, das Blau, Electric Blue (Farbe), Nacht, Licht enthält.&#10;&#10;KI-generierte Inhalte können fehlerhaft sein.">
            <a:extLst>
              <a:ext uri="{FF2B5EF4-FFF2-40B4-BE49-F238E27FC236}">
                <a16:creationId xmlns:a16="http://schemas.microsoft.com/office/drawing/2014/main" id="{9CC22E84-FE46-63B8-3F37-1E104998982D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4796" y="5043580"/>
            <a:ext cx="418023" cy="278682"/>
          </a:xfrm>
          <a:prstGeom prst="rect">
            <a:avLst/>
          </a:prstGeom>
        </p:spPr>
      </p:pic>
      <p:pic>
        <p:nvPicPr>
          <p:cNvPr id="144" name="Grafik 53" descr="Ein Bild, das Tierfigur, Hund, Cartoon enthält.&#10;&#10;KI-generierte Inhalte können fehlerhaft sein.">
            <a:extLst>
              <a:ext uri="{FF2B5EF4-FFF2-40B4-BE49-F238E27FC236}">
                <a16:creationId xmlns:a16="http://schemas.microsoft.com/office/drawing/2014/main" id="{75CD7F59-5BA3-76BB-AFD6-DBBA566FAA0E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48003" y="5262234"/>
            <a:ext cx="191609" cy="215890"/>
          </a:xfrm>
          <a:prstGeom prst="rect">
            <a:avLst/>
          </a:prstGeom>
        </p:spPr>
      </p:pic>
      <p:pic>
        <p:nvPicPr>
          <p:cNvPr id="145" name="Grafik 59" descr="Ein Bild, das Transport, Bike, Fahrzeug, Fahrradreifen enthält.&#10;&#10;KI-generierte Inhalte können fehlerhaft sein.">
            <a:extLst>
              <a:ext uri="{FF2B5EF4-FFF2-40B4-BE49-F238E27FC236}">
                <a16:creationId xmlns:a16="http://schemas.microsoft.com/office/drawing/2014/main" id="{C27B68AD-4BDE-1216-9FC1-0531D4304209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08874" y="5464424"/>
            <a:ext cx="269866" cy="207133"/>
          </a:xfrm>
          <a:prstGeom prst="rect">
            <a:avLst/>
          </a:prstGeom>
        </p:spPr>
      </p:pic>
      <p:pic>
        <p:nvPicPr>
          <p:cNvPr id="146" name="Grafik 57" descr="Ein Bild, das Symbol, Grafiken, Logo, Screenshot enthält.&#10;&#10;KI-generierte Inhalte können fehlerhaft sein.">
            <a:extLst>
              <a:ext uri="{FF2B5EF4-FFF2-40B4-BE49-F238E27FC236}">
                <a16:creationId xmlns:a16="http://schemas.microsoft.com/office/drawing/2014/main" id="{91D200FE-9CED-10FA-C815-AA70883956BC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3138" y="5675092"/>
            <a:ext cx="428291" cy="285527"/>
          </a:xfrm>
          <a:prstGeom prst="rect">
            <a:avLst/>
          </a:prstGeom>
        </p:spPr>
      </p:pic>
      <p:pic>
        <p:nvPicPr>
          <p:cNvPr id="148" name="Grafik 52" descr="Ein Bild, das Symbol, Logo, Emblem, Markenzeichen enthält.&#10;&#10;KI-generierte Inhalte können fehlerhaft sein.">
            <a:extLst>
              <a:ext uri="{FF2B5EF4-FFF2-40B4-BE49-F238E27FC236}">
                <a16:creationId xmlns:a16="http://schemas.microsoft.com/office/drawing/2014/main" id="{563A1B88-B2D9-1715-7B12-30404696BBB8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55549" y="5888002"/>
            <a:ext cx="376517" cy="220132"/>
          </a:xfrm>
          <a:prstGeom prst="rect">
            <a:avLst/>
          </a:prstGeom>
        </p:spPr>
      </p:pic>
      <p:pic>
        <p:nvPicPr>
          <p:cNvPr id="156" name="Grafik 54" descr="Ein Bild, das Screenshot enthält.&#10;&#10;KI-generierte Inhalte können fehlerhaft sein.">
            <a:extLst>
              <a:ext uri="{FF2B5EF4-FFF2-40B4-BE49-F238E27FC236}">
                <a16:creationId xmlns:a16="http://schemas.microsoft.com/office/drawing/2014/main" id="{DA81B73F-5717-88BA-7926-1196BFE8C13C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68889" y="2418354"/>
            <a:ext cx="349837" cy="206266"/>
          </a:xfrm>
          <a:prstGeom prst="rect">
            <a:avLst/>
          </a:prstGeom>
        </p:spPr>
      </p:pic>
      <p:sp>
        <p:nvSpPr>
          <p:cNvPr id="158" name="Textfeld 108">
            <a:extLst>
              <a:ext uri="{FF2B5EF4-FFF2-40B4-BE49-F238E27FC236}">
                <a16:creationId xmlns:a16="http://schemas.microsoft.com/office/drawing/2014/main" id="{457EE1D7-7167-6A84-B71C-543FEF97AAD6}"/>
              </a:ext>
            </a:extLst>
          </p:cNvPr>
          <p:cNvSpPr txBox="1"/>
          <p:nvPr/>
        </p:nvSpPr>
        <p:spPr>
          <a:xfrm>
            <a:off x="10576954" y="4460484"/>
            <a:ext cx="1253610" cy="16540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1,5**</a:t>
            </a:r>
          </a:p>
          <a:p>
            <a:pPr algn="ctr">
              <a:spcAft>
                <a:spcPts val="300"/>
              </a:spcAft>
              <a:buClr>
                <a:schemeClr val="tx2"/>
              </a:buClr>
            </a:pPr>
            <a:r>
              <a:rPr lang="de-DE" sz="1100">
                <a:solidFill>
                  <a:srgbClr val="000000"/>
                </a:solidFill>
              </a:rPr>
              <a:t>Neuabschluss-bereitschaft</a:t>
            </a:r>
          </a:p>
          <a:p>
            <a:pPr algn="ctr">
              <a:spcAft>
                <a:spcPts val="300"/>
              </a:spcAft>
              <a:buClr>
                <a:schemeClr val="tx2"/>
              </a:buClr>
            </a:pPr>
            <a:r>
              <a:rPr lang="de-DE" sz="800" i="1">
                <a:solidFill>
                  <a:srgbClr val="000000"/>
                </a:solidFill>
              </a:rPr>
              <a:t>(Durchschnittliche Anzahl an privaten Versicherungssparten, für die ein Neuabschluss/ zusätzlicher Abschluss für den eigenen Haushalt innerhalb der nächsten 3 Jahre vorstellbar ist</a:t>
            </a:r>
            <a:r>
              <a:rPr lang="de-DE" sz="800" b="1" i="1">
                <a:solidFill>
                  <a:srgbClr val="000000"/>
                </a:solidFill>
              </a:rPr>
              <a:t>.</a:t>
            </a:r>
            <a:r>
              <a:rPr lang="de-DE" sz="800" i="1">
                <a:solidFill>
                  <a:srgbClr val="000000"/>
                </a:solidFill>
              </a:rPr>
              <a:t>)</a:t>
            </a:r>
            <a:endParaRPr lang="de-DE" sz="800" b="1" i="1">
              <a:solidFill>
                <a:srgbClr val="000000"/>
              </a:solidFill>
            </a:endParaRPr>
          </a:p>
        </p:txBody>
      </p:sp>
      <p:sp>
        <p:nvSpPr>
          <p:cNvPr id="8" name="Textfeld 108">
            <a:extLst>
              <a:ext uri="{FF2B5EF4-FFF2-40B4-BE49-F238E27FC236}">
                <a16:creationId xmlns:a16="http://schemas.microsoft.com/office/drawing/2014/main" id="{8CB913B6-70F6-6758-67D5-8C8B12765FAB}"/>
              </a:ext>
            </a:extLst>
          </p:cNvPr>
          <p:cNvSpPr txBox="1"/>
          <p:nvPr/>
        </p:nvSpPr>
        <p:spPr>
          <a:xfrm>
            <a:off x="8527263" y="3954246"/>
            <a:ext cx="1180408" cy="11161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  <a:buClr>
                <a:schemeClr val="tx2"/>
              </a:buClr>
            </a:pPr>
            <a:r>
              <a:rPr lang="de-DE" sz="1100" dirty="0">
                <a:solidFill>
                  <a:srgbClr val="000000"/>
                </a:solidFill>
              </a:rPr>
              <a:t>1,8*</a:t>
            </a:r>
          </a:p>
          <a:p>
            <a:pPr algn="ctr">
              <a:spcAft>
                <a:spcPts val="300"/>
              </a:spcAft>
              <a:buClr>
                <a:schemeClr val="tx2"/>
              </a:buClr>
            </a:pPr>
            <a:r>
              <a:rPr lang="de-DE" sz="1100" dirty="0">
                <a:solidFill>
                  <a:srgbClr val="000000"/>
                </a:solidFill>
              </a:rPr>
              <a:t>Anzahl Versicherer</a:t>
            </a:r>
          </a:p>
          <a:p>
            <a:pPr algn="ctr">
              <a:spcAft>
                <a:spcPts val="300"/>
              </a:spcAft>
              <a:buClr>
                <a:schemeClr val="tx2"/>
              </a:buClr>
            </a:pPr>
            <a:r>
              <a:rPr lang="de-DE" sz="800" i="1" dirty="0">
                <a:solidFill>
                  <a:srgbClr val="000000"/>
                </a:solidFill>
              </a:rPr>
              <a:t>(Durchschnittliche Anzahl an Versicherungs-unternehmen, mit denen der Haushalt einen Vertrag hat)</a:t>
            </a:r>
            <a:endParaRPr lang="de-DE" sz="800" b="1" i="1" dirty="0">
              <a:solidFill>
                <a:srgbClr val="000000"/>
              </a:solidFill>
            </a:endParaRPr>
          </a:p>
        </p:txBody>
      </p:sp>
      <p:pic>
        <p:nvPicPr>
          <p:cNvPr id="14" name="Picture 13" descr="A blue cartoon of a clipboard with a checklist and a shield and a pen&#10;&#10;AI-generated content may be incorrect.">
            <a:extLst>
              <a:ext uri="{FF2B5EF4-FFF2-40B4-BE49-F238E27FC236}">
                <a16:creationId xmlns:a16="http://schemas.microsoft.com/office/drawing/2014/main" id="{0E79011F-FECE-930A-F9EF-26325C79BEFC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9192" y="5359598"/>
            <a:ext cx="782370" cy="573866"/>
          </a:xfrm>
          <a:prstGeom prst="rect">
            <a:avLst/>
          </a:prstGeom>
        </p:spPr>
      </p:pic>
      <p:sp>
        <p:nvSpPr>
          <p:cNvPr id="109" name="Textfeld 108">
            <a:extLst>
              <a:ext uri="{FF2B5EF4-FFF2-40B4-BE49-F238E27FC236}">
                <a16:creationId xmlns:a16="http://schemas.microsoft.com/office/drawing/2014/main" id="{08C24BB6-05A7-DCCD-3DE7-6B79910445B3}"/>
              </a:ext>
            </a:extLst>
          </p:cNvPr>
          <p:cNvSpPr txBox="1"/>
          <p:nvPr/>
        </p:nvSpPr>
        <p:spPr>
          <a:xfrm>
            <a:off x="8490662" y="5320163"/>
            <a:ext cx="1253610" cy="88657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5,2</a:t>
            </a:r>
            <a:r>
              <a:rPr lang="de-DE" sz="1100">
                <a:solidFill>
                  <a:srgbClr val="4DA685"/>
                </a:solidFill>
              </a:rPr>
              <a:t>**</a:t>
            </a:r>
          </a:p>
          <a:p>
            <a:pPr algn="ctr">
              <a:spcAft>
                <a:spcPts val="300"/>
              </a:spcAft>
              <a:buClr>
                <a:schemeClr val="tx2"/>
              </a:buClr>
            </a:pPr>
            <a:r>
              <a:rPr lang="de-DE" sz="1100">
                <a:solidFill>
                  <a:srgbClr val="000000"/>
                </a:solidFill>
              </a:rPr>
              <a:t>Produktdichte</a:t>
            </a:r>
          </a:p>
          <a:p>
            <a:pPr algn="ctr">
              <a:spcAft>
                <a:spcPts val="300"/>
              </a:spcAft>
              <a:buClr>
                <a:schemeClr val="tx2"/>
              </a:buClr>
            </a:pPr>
            <a:r>
              <a:rPr lang="de-DE" sz="800" i="1">
                <a:solidFill>
                  <a:srgbClr val="000000"/>
                </a:solidFill>
              </a:rPr>
              <a:t>(Durchschnittliche Anzahl an privaten Versicherungs-sparten im Haushalt)</a:t>
            </a:r>
            <a:endParaRPr lang="de-DE" sz="800" b="1" i="1">
              <a:solidFill>
                <a:srgbClr val="000000"/>
              </a:solidFill>
            </a:endParaRPr>
          </a:p>
        </p:txBody>
      </p:sp>
      <p:sp>
        <p:nvSpPr>
          <p:cNvPr id="15" name="Textfeld 132">
            <a:extLst>
              <a:ext uri="{FF2B5EF4-FFF2-40B4-BE49-F238E27FC236}">
                <a16:creationId xmlns:a16="http://schemas.microsoft.com/office/drawing/2014/main" id="{33220E76-E04D-B329-651D-E8C938EE7D4A}"/>
              </a:ext>
            </a:extLst>
          </p:cNvPr>
          <p:cNvSpPr txBox="1"/>
          <p:nvPr/>
        </p:nvSpPr>
        <p:spPr>
          <a:xfrm>
            <a:off x="6855732" y="6100862"/>
            <a:ext cx="30168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>
                <a:solidFill>
                  <a:schemeClr val="bg1">
                    <a:lumMod val="75000"/>
                  </a:schemeClr>
                </a:solidFill>
              </a:rPr>
              <a:t>*Von insgesamt 16 vorgelegten Versicherungsunternehmen</a:t>
            </a:r>
          </a:p>
        </p:txBody>
      </p:sp>
      <p:sp>
        <p:nvSpPr>
          <p:cNvPr id="46" name="Textfeld 38">
            <a:extLst>
              <a:ext uri="{FF2B5EF4-FFF2-40B4-BE49-F238E27FC236}">
                <a16:creationId xmlns:a16="http://schemas.microsoft.com/office/drawing/2014/main" id="{3225AEB3-0159-5C69-A29B-4D1F312E2855}"/>
              </a:ext>
            </a:extLst>
          </p:cNvPr>
          <p:cNvSpPr txBox="1"/>
          <p:nvPr/>
        </p:nvSpPr>
        <p:spPr>
          <a:xfrm>
            <a:off x="3810870" y="2110329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47" name="Textfeld 38">
            <a:extLst>
              <a:ext uri="{FF2B5EF4-FFF2-40B4-BE49-F238E27FC236}">
                <a16:creationId xmlns:a16="http://schemas.microsoft.com/office/drawing/2014/main" id="{D3342729-0AFE-A447-0666-C2CFC254F179}"/>
              </a:ext>
            </a:extLst>
          </p:cNvPr>
          <p:cNvSpPr txBox="1"/>
          <p:nvPr/>
        </p:nvSpPr>
        <p:spPr>
          <a:xfrm rot="10800000">
            <a:off x="3428164" y="2377033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19" name="Textfeld 6">
            <a:extLst>
              <a:ext uri="{FF2B5EF4-FFF2-40B4-BE49-F238E27FC236}">
                <a16:creationId xmlns:a16="http://schemas.microsoft.com/office/drawing/2014/main" id="{94DB5889-35B2-6309-2B08-697FCAE348DB}"/>
              </a:ext>
            </a:extLst>
          </p:cNvPr>
          <p:cNvSpPr txBox="1"/>
          <p:nvPr/>
        </p:nvSpPr>
        <p:spPr>
          <a:xfrm>
            <a:off x="4441567" y="6585418"/>
            <a:ext cx="53725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= größere, signifikante Abweichungen von der Gesamtstichprobe (mindestens 7 Prozentpunkte höher/niedriger)</a:t>
            </a:r>
          </a:p>
        </p:txBody>
      </p:sp>
      <p:sp>
        <p:nvSpPr>
          <p:cNvPr id="20" name="Textfeld 38">
            <a:extLst>
              <a:ext uri="{FF2B5EF4-FFF2-40B4-BE49-F238E27FC236}">
                <a16:creationId xmlns:a16="http://schemas.microsoft.com/office/drawing/2014/main" id="{CF1F61C1-E8E8-6535-401E-E74B516E9DE5}"/>
              </a:ext>
            </a:extLst>
          </p:cNvPr>
          <p:cNvSpPr txBox="1"/>
          <p:nvPr/>
        </p:nvSpPr>
        <p:spPr>
          <a:xfrm>
            <a:off x="4236176" y="6565779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30" name="Textfeld 38">
            <a:extLst>
              <a:ext uri="{FF2B5EF4-FFF2-40B4-BE49-F238E27FC236}">
                <a16:creationId xmlns:a16="http://schemas.microsoft.com/office/drawing/2014/main" id="{254205CF-5E90-24E2-ACD9-1CEE68DBD1E9}"/>
              </a:ext>
            </a:extLst>
          </p:cNvPr>
          <p:cNvSpPr txBox="1"/>
          <p:nvPr/>
        </p:nvSpPr>
        <p:spPr>
          <a:xfrm rot="10800000">
            <a:off x="4328015" y="6610935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13" name="Datumsplatzhalter 1">
            <a:extLst>
              <a:ext uri="{FF2B5EF4-FFF2-40B4-BE49-F238E27FC236}">
                <a16:creationId xmlns:a16="http://schemas.microsoft.com/office/drawing/2014/main" id="{31561BD7-0E0F-376C-D2DA-E5D638C514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875" y="6556875"/>
            <a:ext cx="588192" cy="219454"/>
          </a:xfrm>
        </p:spPr>
        <p:txBody>
          <a:bodyPr/>
          <a:lstStyle/>
          <a:p>
            <a:fld id="{72D77B36-95B7-FF43-8BF5-D80FC3958B26}" type="datetime1">
              <a:rPr lang="de-AT" noProof="0" smtClean="0"/>
              <a:t>28.05.26</a:t>
            </a:fld>
            <a:endParaRPr lang="de-AT" noProof="0" dirty="0"/>
          </a:p>
        </p:txBody>
      </p:sp>
      <p:sp>
        <p:nvSpPr>
          <p:cNvPr id="17" name="Fußzeilenplatzhalter 2">
            <a:extLst>
              <a:ext uri="{FF2B5EF4-FFF2-40B4-BE49-F238E27FC236}">
                <a16:creationId xmlns:a16="http://schemas.microsoft.com/office/drawing/2014/main" id="{322FF957-63FA-AB74-9956-11E4F6AC7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0" y="6556875"/>
            <a:ext cx="6127477" cy="219454"/>
          </a:xfrm>
        </p:spPr>
        <p:txBody>
          <a:bodyPr/>
          <a:lstStyle/>
          <a:p>
            <a:r>
              <a:rPr lang="de-AT" noProof="0" dirty="0"/>
              <a:t>Retail-Segmentierung Neu│ S. Stratula &amp; K. Preibisch</a:t>
            </a:r>
          </a:p>
        </p:txBody>
      </p:sp>
    </p:spTree>
    <p:extLst>
      <p:ext uri="{BB962C8B-B14F-4D97-AF65-F5344CB8AC3E}">
        <p14:creationId xmlns:p14="http://schemas.microsoft.com/office/powerpoint/2010/main" val="3857649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850C9-13C0-E925-FFA5-385BF3EAC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072AA910-043C-213C-0FE1-BA455D2B1D01}"/>
              </a:ext>
            </a:extLst>
          </p:cNvPr>
          <p:cNvSpPr/>
          <p:nvPr/>
        </p:nvSpPr>
        <p:spPr>
          <a:xfrm>
            <a:off x="402545" y="1842624"/>
            <a:ext cx="7818028" cy="4414566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3C54C6F-5D94-DDC6-E62A-A5F9EA145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9</a:t>
            </a:fld>
            <a:endParaRPr lang="de-AT" noProof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C60F6F4-104B-7FFA-6D85-567F486B0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76" y="917607"/>
            <a:ext cx="11395074" cy="484473"/>
          </a:xfrm>
        </p:spPr>
        <p:txBody>
          <a:bodyPr/>
          <a:lstStyle/>
          <a:p>
            <a:r>
              <a:rPr lang="de-DE" sz="3400"/>
              <a:t>Versicherungspräferenzen und Bedürfnisse (1/2)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932F0B3-CABC-3EEB-1B18-EAA76249A3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74313" y="142287"/>
            <a:ext cx="8817638" cy="475950"/>
          </a:xfrm>
        </p:spPr>
        <p:txBody>
          <a:bodyPr/>
          <a:lstStyle/>
          <a:p>
            <a:r>
              <a:rPr lang="de-DE"/>
              <a:t>Segment 1: Die aufsteigenden Hybriden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9002126-A7D0-58B3-CFC9-5BA2E113E590}"/>
              </a:ext>
            </a:extLst>
          </p:cNvPr>
          <p:cNvSpPr txBox="1"/>
          <p:nvPr/>
        </p:nvSpPr>
        <p:spPr>
          <a:xfrm>
            <a:off x="406797" y="1540342"/>
            <a:ext cx="7818028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400"/>
              <a:t>KAUFENTSCHEIDUNGSKRITERIEN UND PSYCHOGRAPHIE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B124BFE9-1489-0CDD-3B81-60E04D8FC423}"/>
              </a:ext>
            </a:extLst>
          </p:cNvPr>
          <p:cNvSpPr txBox="1"/>
          <p:nvPr/>
        </p:nvSpPr>
        <p:spPr>
          <a:xfrm>
            <a:off x="501862" y="1881128"/>
            <a:ext cx="3744881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Wichtigste/entscheidende Kriterien beim Versicherungskauf</a:t>
            </a:r>
          </a:p>
        </p:txBody>
      </p:sp>
      <p:sp>
        <p:nvSpPr>
          <p:cNvPr id="49" name="AutoShape 2" descr="Generated image">
            <a:extLst>
              <a:ext uri="{FF2B5EF4-FFF2-40B4-BE49-F238E27FC236}">
                <a16:creationId xmlns:a16="http://schemas.microsoft.com/office/drawing/2014/main" id="{C485DADC-3857-4B8F-9F1C-B676BCC615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9270" y="314784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EEE086A2-5E41-5881-DD5E-EDDB37AA111D}"/>
              </a:ext>
            </a:extLst>
          </p:cNvPr>
          <p:cNvSpPr txBox="1"/>
          <p:nvPr/>
        </p:nvSpPr>
        <p:spPr>
          <a:xfrm>
            <a:off x="4417902" y="1881128"/>
            <a:ext cx="2315302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Psychographie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D2B6CD9A-CAFA-63FE-238E-AFAC810BEFD4}"/>
              </a:ext>
            </a:extLst>
          </p:cNvPr>
          <p:cNvSpPr txBox="1"/>
          <p:nvPr/>
        </p:nvSpPr>
        <p:spPr>
          <a:xfrm>
            <a:off x="8423263" y="1566913"/>
            <a:ext cx="3008176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400"/>
              <a:t>INFORMATIONSEINHOLUNG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2E0CAECC-A5AC-76DF-F692-F449561815B4}"/>
              </a:ext>
            </a:extLst>
          </p:cNvPr>
          <p:cNvSpPr/>
          <p:nvPr/>
        </p:nvSpPr>
        <p:spPr>
          <a:xfrm>
            <a:off x="8401524" y="1842624"/>
            <a:ext cx="3459807" cy="4430368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0D88C6F-CBC2-6896-1230-178C303DB12C}"/>
              </a:ext>
            </a:extLst>
          </p:cNvPr>
          <p:cNvSpPr txBox="1"/>
          <p:nvPr/>
        </p:nvSpPr>
        <p:spPr>
          <a:xfrm>
            <a:off x="315266" y="6371801"/>
            <a:ext cx="115460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Basis: </a:t>
            </a:r>
            <a:r>
              <a:rPr lang="de-DE" sz="800" err="1"/>
              <a:t>n</a:t>
            </a:r>
            <a:r>
              <a:rPr lang="de-DE" sz="800"/>
              <a:t>(Segment1)=620 | Grüne/rote Schriftfarbe und fette Markierung von Werten: Signifikante Abweichungen von der Gesamtstichprobe. Grün = signifikant höherer Wert, rot = signifikant niedrigerer Wert</a:t>
            </a:r>
          </a:p>
        </p:txBody>
      </p:sp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5EDAFB33-330F-B5C7-8C2D-B4F5F97FEE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5360206"/>
              </p:ext>
            </p:extLst>
          </p:nvPr>
        </p:nvGraphicFramePr>
        <p:xfrm>
          <a:off x="-696376" y="2242537"/>
          <a:ext cx="4920426" cy="4030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5" name="Inhaltsplatzhalter 7">
            <a:extLst>
              <a:ext uri="{FF2B5EF4-FFF2-40B4-BE49-F238E27FC236}">
                <a16:creationId xmlns:a16="http://schemas.microsoft.com/office/drawing/2014/main" id="{27B4131D-C10F-A251-A860-5924B6F86B43}"/>
              </a:ext>
            </a:extLst>
          </p:cNvPr>
          <p:cNvGraphicFramePr>
            <a:graphicFrameLocks/>
          </p:cNvGraphicFramePr>
          <p:nvPr/>
        </p:nvGraphicFramePr>
        <p:xfrm>
          <a:off x="4652654" y="1540342"/>
          <a:ext cx="3471495" cy="5554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9" name="Textfeld 58">
            <a:extLst>
              <a:ext uri="{FF2B5EF4-FFF2-40B4-BE49-F238E27FC236}">
                <a16:creationId xmlns:a16="http://schemas.microsoft.com/office/drawing/2014/main" id="{2A738D4C-2626-2069-7E81-B42B47E610AA}"/>
              </a:ext>
            </a:extLst>
          </p:cNvPr>
          <p:cNvSpPr txBox="1"/>
          <p:nvPr/>
        </p:nvSpPr>
        <p:spPr>
          <a:xfrm>
            <a:off x="4406746" y="2199150"/>
            <a:ext cx="3415218" cy="232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>
                <a:solidFill>
                  <a:srgbClr val="000000"/>
                </a:solidFill>
              </a:rPr>
              <a:t>Bei der Auswahl einer Versicherung achte ich besonders auf das </a:t>
            </a:r>
            <a:r>
              <a:rPr lang="de-DE" sz="800" b="1">
                <a:solidFill>
                  <a:srgbClr val="000000"/>
                </a:solidFill>
              </a:rPr>
              <a:t>Preis-Leistungsverhältnis</a:t>
            </a:r>
            <a:r>
              <a:rPr lang="de-DE" sz="80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FC92ED52-B652-EEF4-7B06-0BF770EC1CA5}"/>
              </a:ext>
            </a:extLst>
          </p:cNvPr>
          <p:cNvSpPr txBox="1"/>
          <p:nvPr/>
        </p:nvSpPr>
        <p:spPr>
          <a:xfrm>
            <a:off x="4406746" y="2535411"/>
            <a:ext cx="3360619" cy="232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>
                <a:solidFill>
                  <a:srgbClr val="000000"/>
                </a:solidFill>
              </a:rPr>
              <a:t>Ich möchte </a:t>
            </a:r>
            <a:r>
              <a:rPr lang="de-DE" sz="800" b="1">
                <a:solidFill>
                  <a:srgbClr val="000000"/>
                </a:solidFill>
              </a:rPr>
              <a:t>flexible und maßgeschneiderte Versicherungsprodukte</a:t>
            </a:r>
            <a:r>
              <a:rPr lang="de-DE" sz="800">
                <a:solidFill>
                  <a:srgbClr val="000000"/>
                </a:solidFill>
              </a:rPr>
              <a:t>, die auf meine Bedürfnisse abgestimmt sind.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BD623E05-0979-8E94-B316-7951FB0D459B}"/>
              </a:ext>
            </a:extLst>
          </p:cNvPr>
          <p:cNvSpPr txBox="1"/>
          <p:nvPr/>
        </p:nvSpPr>
        <p:spPr>
          <a:xfrm>
            <a:off x="4406746" y="2870895"/>
            <a:ext cx="3032695" cy="232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>
                <a:solidFill>
                  <a:srgbClr val="000000"/>
                </a:solidFill>
              </a:rPr>
              <a:t>Für mich ist das </a:t>
            </a:r>
            <a:r>
              <a:rPr lang="de-DE" sz="800" b="1">
                <a:solidFill>
                  <a:srgbClr val="000000"/>
                </a:solidFill>
              </a:rPr>
              <a:t>persönliche Vertrauensverhältnis </a:t>
            </a:r>
            <a:r>
              <a:rPr lang="de-DE" sz="800">
                <a:solidFill>
                  <a:srgbClr val="000000"/>
                </a:solidFill>
              </a:rPr>
              <a:t>zu einem/</a:t>
            </a:r>
            <a:r>
              <a:rPr lang="de-DE" sz="800" err="1">
                <a:solidFill>
                  <a:srgbClr val="000000"/>
                </a:solidFill>
              </a:rPr>
              <a:t>r</a:t>
            </a:r>
            <a:r>
              <a:rPr lang="de-DE" sz="800">
                <a:solidFill>
                  <a:srgbClr val="000000"/>
                </a:solidFill>
              </a:rPr>
              <a:t> </a:t>
            </a:r>
            <a:r>
              <a:rPr lang="de-DE" sz="800" err="1">
                <a:solidFill>
                  <a:srgbClr val="000000"/>
                </a:solidFill>
              </a:rPr>
              <a:t>Versicherungsberater:in</a:t>
            </a:r>
            <a:r>
              <a:rPr lang="de-DE" sz="800">
                <a:solidFill>
                  <a:srgbClr val="000000"/>
                </a:solidFill>
              </a:rPr>
              <a:t> sehr wichtig.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3B519048-5C91-95B2-4C0C-DDA4889715E2}"/>
              </a:ext>
            </a:extLst>
          </p:cNvPr>
          <p:cNvSpPr txBox="1"/>
          <p:nvPr/>
        </p:nvSpPr>
        <p:spPr>
          <a:xfrm>
            <a:off x="4406746" y="3216821"/>
            <a:ext cx="3032695" cy="232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>
                <a:solidFill>
                  <a:srgbClr val="000000"/>
                </a:solidFill>
              </a:rPr>
              <a:t>Bevor ich eine Versicherung abschließe, schaue ich mir meistens </a:t>
            </a:r>
            <a:r>
              <a:rPr lang="de-DE" sz="800" b="1">
                <a:solidFill>
                  <a:srgbClr val="000000"/>
                </a:solidFill>
              </a:rPr>
              <a:t>mehrere Angebote </a:t>
            </a:r>
            <a:r>
              <a:rPr lang="de-DE" sz="800">
                <a:solidFill>
                  <a:srgbClr val="000000"/>
                </a:solidFill>
              </a:rPr>
              <a:t>an.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616CC0B9-AEA5-164F-6545-8161AFDBF8FE}"/>
              </a:ext>
            </a:extLst>
          </p:cNvPr>
          <p:cNvSpPr txBox="1"/>
          <p:nvPr/>
        </p:nvSpPr>
        <p:spPr>
          <a:xfrm>
            <a:off x="4406746" y="3518554"/>
            <a:ext cx="3264676" cy="232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>
                <a:solidFill>
                  <a:srgbClr val="000000"/>
                </a:solidFill>
              </a:rPr>
              <a:t>Ich schätze bei Versicherungen </a:t>
            </a:r>
            <a:r>
              <a:rPr lang="de-DE" sz="800" b="1">
                <a:solidFill>
                  <a:srgbClr val="000000"/>
                </a:solidFill>
              </a:rPr>
              <a:t>Apps und/ oder online Kundenportale</a:t>
            </a:r>
            <a:r>
              <a:rPr lang="de-DE" sz="800">
                <a:solidFill>
                  <a:srgbClr val="000000"/>
                </a:solidFill>
              </a:rPr>
              <a:t>, mit denen ich meine Angelegenheiten selbständig erledigen kann.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FDC384A6-E98C-446A-D0C3-7A7E0311B7FC}"/>
              </a:ext>
            </a:extLst>
          </p:cNvPr>
          <p:cNvSpPr txBox="1"/>
          <p:nvPr/>
        </p:nvSpPr>
        <p:spPr>
          <a:xfrm>
            <a:off x="4406746" y="3951637"/>
            <a:ext cx="2937550" cy="232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>
                <a:solidFill>
                  <a:srgbClr val="000000"/>
                </a:solidFill>
              </a:rPr>
              <a:t>Um Versicherungsangelegenheiten kümmere ich mich nur </a:t>
            </a:r>
            <a:r>
              <a:rPr lang="de-DE" sz="800" b="1">
                <a:solidFill>
                  <a:srgbClr val="000000"/>
                </a:solidFill>
              </a:rPr>
              <a:t>so viel wie unbedingt nötig</a:t>
            </a:r>
            <a:r>
              <a:rPr lang="de-DE" sz="80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FAE9F5ED-3922-6259-56C4-A9714C36DAB8}"/>
              </a:ext>
            </a:extLst>
          </p:cNvPr>
          <p:cNvSpPr txBox="1"/>
          <p:nvPr/>
        </p:nvSpPr>
        <p:spPr>
          <a:xfrm>
            <a:off x="4406746" y="4254711"/>
            <a:ext cx="2798839" cy="232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>
                <a:solidFill>
                  <a:srgbClr val="000000"/>
                </a:solidFill>
              </a:rPr>
              <a:t>Mir ist es wichtig, </a:t>
            </a:r>
            <a:r>
              <a:rPr lang="de-DE" sz="800" b="1">
                <a:solidFill>
                  <a:srgbClr val="000000"/>
                </a:solidFill>
              </a:rPr>
              <a:t>alle Bereiche meines Lebens gut zu versichern</a:t>
            </a:r>
            <a:r>
              <a:rPr lang="de-DE" sz="80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6824EFE0-2A17-477B-1AF0-61FECC2CF516}"/>
              </a:ext>
            </a:extLst>
          </p:cNvPr>
          <p:cNvSpPr txBox="1"/>
          <p:nvPr/>
        </p:nvSpPr>
        <p:spPr>
          <a:xfrm>
            <a:off x="4406746" y="4630628"/>
            <a:ext cx="2853563" cy="232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>
                <a:solidFill>
                  <a:srgbClr val="000000"/>
                </a:solidFill>
              </a:rPr>
              <a:t>Ich präferiere möglichst </a:t>
            </a:r>
            <a:r>
              <a:rPr lang="de-DE" sz="800" b="1">
                <a:solidFill>
                  <a:srgbClr val="000000"/>
                </a:solidFill>
              </a:rPr>
              <a:t>nur von einem Versicherer alle meine Versicherungsprodukte zu beziehen</a:t>
            </a:r>
            <a:r>
              <a:rPr lang="de-DE" sz="80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67ECA69A-7F84-899A-8B96-346A87AFB992}"/>
              </a:ext>
            </a:extLst>
          </p:cNvPr>
          <p:cNvSpPr txBox="1"/>
          <p:nvPr/>
        </p:nvSpPr>
        <p:spPr>
          <a:xfrm>
            <a:off x="4406746" y="5329466"/>
            <a:ext cx="2504846" cy="3361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>
                <a:solidFill>
                  <a:srgbClr val="000000"/>
                </a:solidFill>
              </a:rPr>
              <a:t>Ich bin bereit </a:t>
            </a:r>
            <a:r>
              <a:rPr lang="de-DE" sz="800" b="1">
                <a:solidFill>
                  <a:srgbClr val="000000"/>
                </a:solidFill>
              </a:rPr>
              <a:t>Selbstbehalte zu akzeptieren</a:t>
            </a:r>
            <a:r>
              <a:rPr lang="de-DE" sz="800">
                <a:solidFill>
                  <a:srgbClr val="000000"/>
                </a:solidFill>
              </a:rPr>
              <a:t>, um </a:t>
            </a:r>
            <a:r>
              <a:rPr lang="de-DE" sz="800" b="1">
                <a:solidFill>
                  <a:srgbClr val="000000"/>
                </a:solidFill>
              </a:rPr>
              <a:t>weniger Prämie </a:t>
            </a:r>
            <a:r>
              <a:rPr lang="de-DE" sz="800">
                <a:solidFill>
                  <a:srgbClr val="000000"/>
                </a:solidFill>
              </a:rPr>
              <a:t>zu zahlen.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88C9016F-A6CB-5015-EC81-D918183115EA}"/>
              </a:ext>
            </a:extLst>
          </p:cNvPr>
          <p:cNvSpPr txBox="1"/>
          <p:nvPr/>
        </p:nvSpPr>
        <p:spPr>
          <a:xfrm>
            <a:off x="4406746" y="5616182"/>
            <a:ext cx="2688517" cy="232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>
                <a:solidFill>
                  <a:srgbClr val="000000"/>
                </a:solidFill>
              </a:rPr>
              <a:t>Ich </a:t>
            </a:r>
            <a:r>
              <a:rPr lang="de-DE" sz="800" b="1">
                <a:solidFill>
                  <a:srgbClr val="000000"/>
                </a:solidFill>
              </a:rPr>
              <a:t>achte bei Versicherungen auf Nachhaltigkeitsaspekte </a:t>
            </a:r>
            <a:r>
              <a:rPr lang="de-DE" sz="800">
                <a:solidFill>
                  <a:srgbClr val="000000"/>
                </a:solidFill>
              </a:rPr>
              <a:t>(z.B. Reparieren statt </a:t>
            </a:r>
            <a:br>
              <a:rPr lang="de-DE" sz="800">
                <a:solidFill>
                  <a:srgbClr val="000000"/>
                </a:solidFill>
              </a:rPr>
            </a:br>
            <a:r>
              <a:rPr lang="de-DE" sz="800">
                <a:solidFill>
                  <a:srgbClr val="000000"/>
                </a:solidFill>
              </a:rPr>
              <a:t>Neukaufen, Belohnung für </a:t>
            </a:r>
            <a:r>
              <a:rPr lang="de-DE" sz="800" err="1">
                <a:solidFill>
                  <a:srgbClr val="000000"/>
                </a:solidFill>
              </a:rPr>
              <a:t>nachh</a:t>
            </a:r>
            <a:r>
              <a:rPr lang="de-DE" sz="800">
                <a:solidFill>
                  <a:srgbClr val="000000"/>
                </a:solidFill>
              </a:rPr>
              <a:t>. Kundenverhalten).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ADD798A8-28D1-787E-6869-CEE434EE3500}"/>
              </a:ext>
            </a:extLst>
          </p:cNvPr>
          <p:cNvSpPr txBox="1"/>
          <p:nvPr/>
        </p:nvSpPr>
        <p:spPr>
          <a:xfrm>
            <a:off x="4406746" y="6004967"/>
            <a:ext cx="1982783" cy="232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>
                <a:solidFill>
                  <a:srgbClr val="000000"/>
                </a:solidFill>
              </a:rPr>
              <a:t>Bei </a:t>
            </a:r>
            <a:r>
              <a:rPr lang="de-DE" sz="800" b="1">
                <a:solidFill>
                  <a:srgbClr val="000000"/>
                </a:solidFill>
              </a:rPr>
              <a:t>Versicherungen suche ich mir stets die billigste aus</a:t>
            </a:r>
            <a:r>
              <a:rPr lang="de-DE" sz="80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11C66E6D-1771-C6C4-0E32-DF14C3427315}"/>
              </a:ext>
            </a:extLst>
          </p:cNvPr>
          <p:cNvSpPr txBox="1"/>
          <p:nvPr/>
        </p:nvSpPr>
        <p:spPr>
          <a:xfrm>
            <a:off x="7876337" y="2228556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b="1">
                <a:solidFill>
                  <a:srgbClr val="4DA685"/>
                </a:solidFill>
              </a:rPr>
              <a:t>87%</a:t>
            </a: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1C105A92-D053-2259-A647-6CE9A60EDD9E}"/>
              </a:ext>
            </a:extLst>
          </p:cNvPr>
          <p:cNvSpPr txBox="1"/>
          <p:nvPr/>
        </p:nvSpPr>
        <p:spPr>
          <a:xfrm>
            <a:off x="7806252" y="2581622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b="1">
                <a:solidFill>
                  <a:srgbClr val="4DA685"/>
                </a:solidFill>
              </a:rPr>
              <a:t>83%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AFE71606-114B-0BD5-F700-420F203DC30E}"/>
              </a:ext>
            </a:extLst>
          </p:cNvPr>
          <p:cNvSpPr txBox="1"/>
          <p:nvPr/>
        </p:nvSpPr>
        <p:spPr>
          <a:xfrm>
            <a:off x="7678334" y="2924112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>
                <a:solidFill>
                  <a:srgbClr val="000000"/>
                </a:solidFill>
              </a:rPr>
              <a:t>76%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40E467C4-EE9F-59CF-F74C-065F255DF4EC}"/>
              </a:ext>
            </a:extLst>
          </p:cNvPr>
          <p:cNvSpPr txBox="1"/>
          <p:nvPr/>
        </p:nvSpPr>
        <p:spPr>
          <a:xfrm>
            <a:off x="7680423" y="3252237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b="1">
                <a:solidFill>
                  <a:srgbClr val="4DA685"/>
                </a:solidFill>
              </a:rPr>
              <a:t>75%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7B6FA916-C856-4950-49B8-4AC0528F8F9E}"/>
              </a:ext>
            </a:extLst>
          </p:cNvPr>
          <p:cNvSpPr txBox="1"/>
          <p:nvPr/>
        </p:nvSpPr>
        <p:spPr>
          <a:xfrm>
            <a:off x="7645423" y="3614787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b="1">
                <a:solidFill>
                  <a:srgbClr val="4DA685"/>
                </a:solidFill>
              </a:rPr>
              <a:t>73%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43BCE280-C212-5C03-2386-26482983282F}"/>
              </a:ext>
            </a:extLst>
          </p:cNvPr>
          <p:cNvSpPr txBox="1"/>
          <p:nvPr/>
        </p:nvSpPr>
        <p:spPr>
          <a:xfrm>
            <a:off x="7476212" y="3971747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>
                <a:solidFill>
                  <a:srgbClr val="000000"/>
                </a:solidFill>
              </a:rPr>
              <a:t>60%</a:t>
            </a: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BB35F692-DD7D-08D6-8463-788D6F142E90}"/>
              </a:ext>
            </a:extLst>
          </p:cNvPr>
          <p:cNvSpPr txBox="1"/>
          <p:nvPr/>
        </p:nvSpPr>
        <p:spPr>
          <a:xfrm>
            <a:off x="7407768" y="4313523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>
                <a:solidFill>
                  <a:srgbClr val="000000"/>
                </a:solidFill>
              </a:rPr>
              <a:t>56%</a:t>
            </a: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0374C482-F6EC-9374-0E39-73BDA9C7A355}"/>
              </a:ext>
            </a:extLst>
          </p:cNvPr>
          <p:cNvSpPr txBox="1"/>
          <p:nvPr/>
        </p:nvSpPr>
        <p:spPr>
          <a:xfrm>
            <a:off x="7420144" y="4685668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>
                <a:solidFill>
                  <a:srgbClr val="000000"/>
                </a:solidFill>
              </a:rPr>
              <a:t>55%</a:t>
            </a: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44BD699E-8A79-63F3-6F12-EDD143D414AB}"/>
              </a:ext>
            </a:extLst>
          </p:cNvPr>
          <p:cNvSpPr txBox="1"/>
          <p:nvPr/>
        </p:nvSpPr>
        <p:spPr>
          <a:xfrm>
            <a:off x="7383166" y="5007676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>
                <a:solidFill>
                  <a:srgbClr val="000000"/>
                </a:solidFill>
              </a:rPr>
              <a:t>55%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303F6FD8-F19F-4ACE-E701-6F7BAD7F5B7D}"/>
              </a:ext>
            </a:extLst>
          </p:cNvPr>
          <p:cNvSpPr txBox="1"/>
          <p:nvPr/>
        </p:nvSpPr>
        <p:spPr>
          <a:xfrm>
            <a:off x="7274356" y="5375060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>
                <a:solidFill>
                  <a:srgbClr val="000000"/>
                </a:solidFill>
              </a:rPr>
              <a:t>47%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7CE46627-6BF6-99E7-5278-1E40BA298599}"/>
              </a:ext>
            </a:extLst>
          </p:cNvPr>
          <p:cNvSpPr txBox="1"/>
          <p:nvPr/>
        </p:nvSpPr>
        <p:spPr>
          <a:xfrm>
            <a:off x="7137853" y="5719325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b="1">
                <a:solidFill>
                  <a:srgbClr val="FF0000"/>
                </a:solidFill>
              </a:rPr>
              <a:t>36%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F0FE1A6D-E3D8-F04F-1437-A1276C677FF9}"/>
              </a:ext>
            </a:extLst>
          </p:cNvPr>
          <p:cNvSpPr txBox="1"/>
          <p:nvPr/>
        </p:nvSpPr>
        <p:spPr>
          <a:xfrm>
            <a:off x="6972803" y="6062198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b="1">
                <a:solidFill>
                  <a:srgbClr val="FF0000"/>
                </a:solidFill>
              </a:rPr>
              <a:t>23%</a:t>
            </a:r>
          </a:p>
        </p:txBody>
      </p:sp>
      <p:sp>
        <p:nvSpPr>
          <p:cNvPr id="89" name="Textfeld 88">
            <a:extLst>
              <a:ext uri="{FF2B5EF4-FFF2-40B4-BE49-F238E27FC236}">
                <a16:creationId xmlns:a16="http://schemas.microsoft.com/office/drawing/2014/main" id="{CB5C207C-F628-0F2A-5FDD-EEF292802AD8}"/>
              </a:ext>
            </a:extLst>
          </p:cNvPr>
          <p:cNvSpPr txBox="1"/>
          <p:nvPr/>
        </p:nvSpPr>
        <p:spPr>
          <a:xfrm>
            <a:off x="8446631" y="1881128"/>
            <a:ext cx="3387753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Genutzte Informationskanäle vor Versicherungsabschluss</a:t>
            </a:r>
          </a:p>
        </p:txBody>
      </p:sp>
      <p:graphicFrame>
        <p:nvGraphicFramePr>
          <p:cNvPr id="90" name="Diagramm 89">
            <a:extLst>
              <a:ext uri="{FF2B5EF4-FFF2-40B4-BE49-F238E27FC236}">
                <a16:creationId xmlns:a16="http://schemas.microsoft.com/office/drawing/2014/main" id="{98248A2C-F8C8-B3D0-DE9A-A983C596C3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1416159"/>
              </p:ext>
            </p:extLst>
          </p:nvPr>
        </p:nvGraphicFramePr>
        <p:xfrm>
          <a:off x="7997111" y="2352697"/>
          <a:ext cx="3957036" cy="38625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FA19644B-A839-B45B-B6DB-2A7656EFC339}"/>
              </a:ext>
            </a:extLst>
          </p:cNvPr>
          <p:cNvSpPr txBox="1"/>
          <p:nvPr/>
        </p:nvSpPr>
        <p:spPr>
          <a:xfrm>
            <a:off x="4406746" y="4926312"/>
            <a:ext cx="2860839" cy="4427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>
                <a:solidFill>
                  <a:srgbClr val="000000"/>
                </a:solidFill>
              </a:rPr>
              <a:t>Ich wünsche mir von meiner Versicherung, dass sie nicht nur einzelne Schäden abdeckt, sondern mich auch </a:t>
            </a:r>
            <a:r>
              <a:rPr lang="de-DE" sz="800" b="1">
                <a:solidFill>
                  <a:srgbClr val="000000"/>
                </a:solidFill>
              </a:rPr>
              <a:t>rundum bei wichtigen Lebensereignissen berät</a:t>
            </a:r>
            <a:r>
              <a:rPr lang="de-DE" sz="800">
                <a:solidFill>
                  <a:srgbClr val="000000"/>
                </a:solidFill>
              </a:rPr>
              <a:t>.</a:t>
            </a:r>
          </a:p>
        </p:txBody>
      </p: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9B7765C7-E4BA-B213-9195-A724D0027877}"/>
              </a:ext>
            </a:extLst>
          </p:cNvPr>
          <p:cNvCxnSpPr>
            <a:cxnSpLocks/>
          </p:cNvCxnSpPr>
          <p:nvPr/>
        </p:nvCxnSpPr>
        <p:spPr>
          <a:xfrm>
            <a:off x="4273299" y="1849466"/>
            <a:ext cx="0" cy="441456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Diagramm 9">
            <a:extLst>
              <a:ext uri="{FF2B5EF4-FFF2-40B4-BE49-F238E27FC236}">
                <a16:creationId xmlns:a16="http://schemas.microsoft.com/office/drawing/2014/main" id="{F975CBD3-0C3D-3961-5E39-D28D883A25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7168617"/>
              </p:ext>
            </p:extLst>
          </p:nvPr>
        </p:nvGraphicFramePr>
        <p:xfrm>
          <a:off x="10619996" y="470504"/>
          <a:ext cx="2019762" cy="1378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93869FE-E232-B896-F597-45C6664306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454339"/>
              </p:ext>
            </p:extLst>
          </p:nvPr>
        </p:nvGraphicFramePr>
        <p:xfrm>
          <a:off x="398502" y="2409755"/>
          <a:ext cx="2440330" cy="3755912"/>
        </p:xfrm>
        <a:graphic>
          <a:graphicData uri="http://schemas.openxmlformats.org/drawingml/2006/table">
            <a:tbl>
              <a:tblPr/>
              <a:tblGrid>
                <a:gridCol w="2440330">
                  <a:extLst>
                    <a:ext uri="{9D8B030D-6E8A-4147-A177-3AD203B41FA5}">
                      <a16:colId xmlns:a16="http://schemas.microsoft.com/office/drawing/2014/main" val="477942972"/>
                    </a:ext>
                  </a:extLst>
                </a:gridCol>
              </a:tblGrid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de-AT" sz="800" b="0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Das </a:t>
                      </a:r>
                      <a:r>
                        <a:rPr lang="de-AT" sz="800" b="1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Preis-Leistungsverhältnis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051307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de-AT" sz="800" b="0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Die </a:t>
                      </a:r>
                      <a:r>
                        <a:rPr lang="de-AT" sz="800" b="1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Versicherungsprämie</a:t>
                      </a:r>
                      <a:r>
                        <a:rPr lang="de-AT" sz="800" b="0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(möglichst geringer Preis für die Versicherung)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100797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de-AT" sz="800" b="0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Das </a:t>
                      </a:r>
                      <a:r>
                        <a:rPr lang="de-AT" sz="800" b="1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Produkt</a:t>
                      </a:r>
                      <a:r>
                        <a:rPr lang="de-AT" sz="800" b="0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ist </a:t>
                      </a:r>
                      <a:r>
                        <a:rPr lang="de-AT" sz="800" b="1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umfangreich</a:t>
                      </a:r>
                      <a:r>
                        <a:rPr lang="de-AT" sz="800" b="0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(hat viele Deckungen)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58625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de-AT" sz="800" b="0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Das </a:t>
                      </a:r>
                      <a:r>
                        <a:rPr lang="de-AT" sz="800" b="1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Produkt</a:t>
                      </a:r>
                      <a:r>
                        <a:rPr lang="de-AT" sz="800" b="0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ist </a:t>
                      </a:r>
                      <a:r>
                        <a:rPr lang="de-AT" sz="800" b="1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flexibel</a:t>
                      </a:r>
                      <a:r>
                        <a:rPr lang="de-AT" sz="800" b="0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und kann auf mich zugeschnitten werden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15767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de-AT" sz="800" b="0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Bereits </a:t>
                      </a:r>
                      <a:r>
                        <a:rPr lang="de-AT" sz="800" b="1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positive Erfahrungen </a:t>
                      </a:r>
                      <a:r>
                        <a:rPr lang="de-AT" sz="800" b="0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mit dem Versicherungsunternehmen gemacht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7485256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de-AT" sz="800" b="0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Der/ die </a:t>
                      </a:r>
                      <a:r>
                        <a:rPr lang="de-AT" sz="800" b="1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Berater:in/ Makler:in ist kompetent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239811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de-AT" sz="800" b="0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Die </a:t>
                      </a:r>
                      <a:r>
                        <a:rPr lang="de-AT" sz="800" b="1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Produktinformationen</a:t>
                      </a:r>
                      <a:r>
                        <a:rPr lang="de-AT" sz="800" b="0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(möglichst klar und transparent: Angebot, Folder, online)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804547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de-AT" sz="800" b="0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Der/ die </a:t>
                      </a:r>
                      <a:r>
                        <a:rPr lang="de-AT" sz="800" b="1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Berater:in/ Makler:in </a:t>
                      </a:r>
                      <a:r>
                        <a:rPr lang="de-AT" sz="800" b="0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ist bereits </a:t>
                      </a:r>
                      <a:r>
                        <a:rPr lang="de-AT" sz="800" b="1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bekannt</a:t>
                      </a:r>
                      <a:r>
                        <a:rPr lang="de-AT" sz="800" b="0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und </a:t>
                      </a:r>
                      <a:r>
                        <a:rPr lang="de-AT" sz="800" b="1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verlässlich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755430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de-AT" sz="800" b="0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Das Produkt beinhaltet </a:t>
                      </a:r>
                      <a:r>
                        <a:rPr lang="de-AT" sz="800" b="1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relevante Zusatzleistungen </a:t>
                      </a:r>
                      <a:r>
                        <a:rPr lang="de-AT" sz="800" b="0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(z.B. Assistance-Services)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885480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de-AT" sz="800" b="1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Digitale Services </a:t>
                      </a:r>
                      <a:r>
                        <a:rPr lang="de-AT" sz="800" b="0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sind vorhanden (Kund:innenportal, Versicherungs-App)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899555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de-AT" sz="800" b="0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Das </a:t>
                      </a:r>
                      <a:r>
                        <a:rPr lang="de-AT" sz="800" b="1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Image des Versicherungsunternehmens </a:t>
                      </a:r>
                      <a:r>
                        <a:rPr lang="de-AT" sz="800" b="0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(Bekanntheit, guter Ruf)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0200942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de-AT" sz="800" b="1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Weiterempfehlung</a:t>
                      </a:r>
                      <a:r>
                        <a:rPr lang="de-AT" sz="800" b="0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(durch Familie/ Freund:innen/ Bekannte)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893059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de-AT" sz="800" b="0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Der/ die </a:t>
                      </a:r>
                      <a:r>
                        <a:rPr lang="de-AT" sz="800" b="1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Berater:in/ Makler:in</a:t>
                      </a:r>
                      <a:r>
                        <a:rPr lang="de-AT" sz="800" b="0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befindet </a:t>
                      </a:r>
                      <a:r>
                        <a:rPr lang="de-AT" sz="800" b="1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sich in meiner Nähe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354514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de-AT" sz="800" b="0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Die Möglichkeit, </a:t>
                      </a:r>
                      <a:r>
                        <a:rPr lang="de-AT" sz="800" b="1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online abzuschließen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522281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de-AT" sz="800" b="0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Die Berücksichtigung von </a:t>
                      </a:r>
                      <a:r>
                        <a:rPr lang="de-AT" sz="800" b="1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Nachhaltigkeitsaspekten</a:t>
                      </a:r>
                      <a:r>
                        <a:rPr lang="de-AT" sz="800" b="0" noProof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durch das Versicherungsunternehmen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2882206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DB788A0-5F24-BE70-EB39-7E489A0DD5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521286"/>
              </p:ext>
            </p:extLst>
          </p:nvPr>
        </p:nvGraphicFramePr>
        <p:xfrm>
          <a:off x="8469907" y="2425574"/>
          <a:ext cx="1962303" cy="3636626"/>
        </p:xfrm>
        <a:graphic>
          <a:graphicData uri="http://schemas.openxmlformats.org/drawingml/2006/table">
            <a:tbl>
              <a:tblPr/>
              <a:tblGrid>
                <a:gridCol w="1962303">
                  <a:extLst>
                    <a:ext uri="{9D8B030D-6E8A-4147-A177-3AD203B41FA5}">
                      <a16:colId xmlns:a16="http://schemas.microsoft.com/office/drawing/2014/main" val="3309409780"/>
                    </a:ext>
                  </a:extLst>
                </a:gridCol>
              </a:tblGrid>
              <a:tr h="610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Bei </a:t>
                      </a:r>
                      <a:r>
                        <a:rPr lang="en-US" sz="80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einem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 </a:t>
                      </a:r>
                      <a:r>
                        <a:rPr lang="en-US" sz="80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einer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Versicherungsberater:in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Versicherungsmakler:in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 General </a:t>
                      </a:r>
                      <a:r>
                        <a:rPr lang="en-US" sz="80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Agent:in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9307659"/>
                  </a:ext>
                </a:extLst>
              </a:tr>
              <a:tr h="432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Online auf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Vergleichsplattformen</a:t>
                      </a:r>
                      <a:endParaRPr lang="en-US" sz="800" b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921235"/>
                  </a:ext>
                </a:extLst>
              </a:tr>
              <a:tr h="432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Auf den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Webseiten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von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Versicherungsanbietern</a:t>
                      </a:r>
                      <a:endParaRPr lang="en-US" sz="800" b="1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3671539"/>
                  </a:ext>
                </a:extLst>
              </a:tr>
              <a:tr h="432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Bei </a:t>
                      </a:r>
                      <a:r>
                        <a:rPr lang="en-US" sz="80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meiner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Familie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unter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Verwandten</a:t>
                      </a:r>
                      <a:endParaRPr lang="en-US" sz="800" b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816057"/>
                  </a:ext>
                </a:extLst>
              </a:tr>
              <a:tr h="432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Mittels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Online-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Suche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 Google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070986"/>
                  </a:ext>
                </a:extLst>
              </a:tr>
              <a:tr h="432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Bei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Freund:innen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Bekannten</a:t>
                      </a:r>
                      <a:endParaRPr lang="en-US" sz="800" b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121752"/>
                  </a:ext>
                </a:extLst>
              </a:tr>
              <a:tr h="432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Direkt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beim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Standort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der Versicherung 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80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z.B.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Filiale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6184908"/>
                  </a:ext>
                </a:extLst>
              </a:tr>
              <a:tr h="432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Mit Hilfe des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Kundenservices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der Versicherung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255650"/>
                  </a:ext>
                </a:extLst>
              </a:tr>
            </a:tbl>
          </a:graphicData>
        </a:graphic>
      </p:graphicFrame>
      <p:sp>
        <p:nvSpPr>
          <p:cNvPr id="16" name="Textfeld 38">
            <a:extLst>
              <a:ext uri="{FF2B5EF4-FFF2-40B4-BE49-F238E27FC236}">
                <a16:creationId xmlns:a16="http://schemas.microsoft.com/office/drawing/2014/main" id="{67CDA0C0-6EC0-E32A-578B-E83CAC0D3FDA}"/>
              </a:ext>
            </a:extLst>
          </p:cNvPr>
          <p:cNvSpPr txBox="1"/>
          <p:nvPr/>
        </p:nvSpPr>
        <p:spPr>
          <a:xfrm>
            <a:off x="11177479" y="4809556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25" name="Textfeld 38">
            <a:extLst>
              <a:ext uri="{FF2B5EF4-FFF2-40B4-BE49-F238E27FC236}">
                <a16:creationId xmlns:a16="http://schemas.microsoft.com/office/drawing/2014/main" id="{68F3B3E0-0161-BEBE-1104-AFBF81C58E41}"/>
              </a:ext>
            </a:extLst>
          </p:cNvPr>
          <p:cNvSpPr txBox="1"/>
          <p:nvPr/>
        </p:nvSpPr>
        <p:spPr>
          <a:xfrm>
            <a:off x="4102449" y="2409755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26" name="Textfeld 38">
            <a:extLst>
              <a:ext uri="{FF2B5EF4-FFF2-40B4-BE49-F238E27FC236}">
                <a16:creationId xmlns:a16="http://schemas.microsoft.com/office/drawing/2014/main" id="{161E9095-72A6-AA3C-B658-C0CE4DA64B2D}"/>
              </a:ext>
            </a:extLst>
          </p:cNvPr>
          <p:cNvSpPr txBox="1"/>
          <p:nvPr/>
        </p:nvSpPr>
        <p:spPr>
          <a:xfrm>
            <a:off x="3778255" y="2668355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27" name="Textfeld 38">
            <a:extLst>
              <a:ext uri="{FF2B5EF4-FFF2-40B4-BE49-F238E27FC236}">
                <a16:creationId xmlns:a16="http://schemas.microsoft.com/office/drawing/2014/main" id="{750DCB03-8A5B-1480-62A7-388659240348}"/>
              </a:ext>
            </a:extLst>
          </p:cNvPr>
          <p:cNvSpPr txBox="1"/>
          <p:nvPr/>
        </p:nvSpPr>
        <p:spPr>
          <a:xfrm>
            <a:off x="3794664" y="2903318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28" name="Textfeld 38">
            <a:extLst>
              <a:ext uri="{FF2B5EF4-FFF2-40B4-BE49-F238E27FC236}">
                <a16:creationId xmlns:a16="http://schemas.microsoft.com/office/drawing/2014/main" id="{8016469F-4DF3-D1FC-80B0-C9ECB6C5CFEC}"/>
              </a:ext>
            </a:extLst>
          </p:cNvPr>
          <p:cNvSpPr txBox="1"/>
          <p:nvPr/>
        </p:nvSpPr>
        <p:spPr>
          <a:xfrm>
            <a:off x="3748221" y="3164115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29" name="Textfeld 38">
            <a:extLst>
              <a:ext uri="{FF2B5EF4-FFF2-40B4-BE49-F238E27FC236}">
                <a16:creationId xmlns:a16="http://schemas.microsoft.com/office/drawing/2014/main" id="{148E1939-A987-2443-D79F-EB6881AFA4EC}"/>
              </a:ext>
            </a:extLst>
          </p:cNvPr>
          <p:cNvSpPr txBox="1"/>
          <p:nvPr/>
        </p:nvSpPr>
        <p:spPr>
          <a:xfrm>
            <a:off x="3723094" y="3390823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30" name="Textfeld 38">
            <a:extLst>
              <a:ext uri="{FF2B5EF4-FFF2-40B4-BE49-F238E27FC236}">
                <a16:creationId xmlns:a16="http://schemas.microsoft.com/office/drawing/2014/main" id="{1DD2342E-9838-9B42-7FC2-8B818F71DD5F}"/>
              </a:ext>
            </a:extLst>
          </p:cNvPr>
          <p:cNvSpPr txBox="1"/>
          <p:nvPr/>
        </p:nvSpPr>
        <p:spPr>
          <a:xfrm>
            <a:off x="3633485" y="3874552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31" name="Textfeld 38">
            <a:extLst>
              <a:ext uri="{FF2B5EF4-FFF2-40B4-BE49-F238E27FC236}">
                <a16:creationId xmlns:a16="http://schemas.microsoft.com/office/drawing/2014/main" id="{8698C35A-CF73-9CC7-0D1A-38AC126A9B2B}"/>
              </a:ext>
            </a:extLst>
          </p:cNvPr>
          <p:cNvSpPr txBox="1"/>
          <p:nvPr/>
        </p:nvSpPr>
        <p:spPr>
          <a:xfrm>
            <a:off x="3476353" y="4370850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32" name="Textfeld 38">
            <a:extLst>
              <a:ext uri="{FF2B5EF4-FFF2-40B4-BE49-F238E27FC236}">
                <a16:creationId xmlns:a16="http://schemas.microsoft.com/office/drawing/2014/main" id="{A6D6EC9F-5789-FC9E-E87E-A9FDACCCD136}"/>
              </a:ext>
            </a:extLst>
          </p:cNvPr>
          <p:cNvSpPr txBox="1"/>
          <p:nvPr/>
        </p:nvSpPr>
        <p:spPr>
          <a:xfrm>
            <a:off x="3471382" y="4610100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37" name="Textfeld 38">
            <a:extLst>
              <a:ext uri="{FF2B5EF4-FFF2-40B4-BE49-F238E27FC236}">
                <a16:creationId xmlns:a16="http://schemas.microsoft.com/office/drawing/2014/main" id="{F5D9F309-50E3-B61A-0029-766DC3897983}"/>
              </a:ext>
            </a:extLst>
          </p:cNvPr>
          <p:cNvSpPr txBox="1"/>
          <p:nvPr/>
        </p:nvSpPr>
        <p:spPr>
          <a:xfrm>
            <a:off x="8076384" y="217246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02FE1441-0473-2FA6-DFB3-D6E3E74C812E}"/>
              </a:ext>
            </a:extLst>
          </p:cNvPr>
          <p:cNvSpPr txBox="1"/>
          <p:nvPr/>
        </p:nvSpPr>
        <p:spPr>
          <a:xfrm>
            <a:off x="7888068" y="3184806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41" name="Textfeld 38">
            <a:extLst>
              <a:ext uri="{FF2B5EF4-FFF2-40B4-BE49-F238E27FC236}">
                <a16:creationId xmlns:a16="http://schemas.microsoft.com/office/drawing/2014/main" id="{FFE94D65-4DF2-E293-9317-0508AB472865}"/>
              </a:ext>
            </a:extLst>
          </p:cNvPr>
          <p:cNvSpPr txBox="1"/>
          <p:nvPr/>
        </p:nvSpPr>
        <p:spPr>
          <a:xfrm>
            <a:off x="7852214" y="3557089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43" name="Textfeld 38">
            <a:extLst>
              <a:ext uri="{FF2B5EF4-FFF2-40B4-BE49-F238E27FC236}">
                <a16:creationId xmlns:a16="http://schemas.microsoft.com/office/drawing/2014/main" id="{B72227FC-1926-5AD2-80D4-63C7EBBAE5C4}"/>
              </a:ext>
            </a:extLst>
          </p:cNvPr>
          <p:cNvSpPr txBox="1"/>
          <p:nvPr/>
        </p:nvSpPr>
        <p:spPr>
          <a:xfrm>
            <a:off x="11431315" y="3054956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44" name="Textfeld 38">
            <a:extLst>
              <a:ext uri="{FF2B5EF4-FFF2-40B4-BE49-F238E27FC236}">
                <a16:creationId xmlns:a16="http://schemas.microsoft.com/office/drawing/2014/main" id="{F0F52EF5-DCAF-A2C9-4FD2-CEFA086473B4}"/>
              </a:ext>
            </a:extLst>
          </p:cNvPr>
          <p:cNvSpPr txBox="1"/>
          <p:nvPr/>
        </p:nvSpPr>
        <p:spPr>
          <a:xfrm>
            <a:off x="11328066" y="3486466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46" name="Textfeld 38">
            <a:extLst>
              <a:ext uri="{FF2B5EF4-FFF2-40B4-BE49-F238E27FC236}">
                <a16:creationId xmlns:a16="http://schemas.microsoft.com/office/drawing/2014/main" id="{193DCE29-F3B9-5606-6D12-5A7348666552}"/>
              </a:ext>
            </a:extLst>
          </p:cNvPr>
          <p:cNvSpPr txBox="1"/>
          <p:nvPr/>
        </p:nvSpPr>
        <p:spPr>
          <a:xfrm>
            <a:off x="11228941" y="3930159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47" name="Textfeld 38">
            <a:extLst>
              <a:ext uri="{FF2B5EF4-FFF2-40B4-BE49-F238E27FC236}">
                <a16:creationId xmlns:a16="http://schemas.microsoft.com/office/drawing/2014/main" id="{96F3287F-4F58-7BDE-0C21-2B3EA7615C90}"/>
              </a:ext>
            </a:extLst>
          </p:cNvPr>
          <p:cNvSpPr txBox="1"/>
          <p:nvPr/>
        </p:nvSpPr>
        <p:spPr>
          <a:xfrm>
            <a:off x="11229690" y="4380885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54" name="Textfeld 6">
            <a:extLst>
              <a:ext uri="{FF2B5EF4-FFF2-40B4-BE49-F238E27FC236}">
                <a16:creationId xmlns:a16="http://schemas.microsoft.com/office/drawing/2014/main" id="{2707546A-FC44-F36E-06CD-3BCAB2B53E7A}"/>
              </a:ext>
            </a:extLst>
          </p:cNvPr>
          <p:cNvSpPr txBox="1"/>
          <p:nvPr/>
        </p:nvSpPr>
        <p:spPr>
          <a:xfrm>
            <a:off x="4441567" y="6585418"/>
            <a:ext cx="53725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= größere, signifikante Abweichungen von der Gesamtstichprobe (mindestens 7 Prozentpunkte höher/niedriger)</a:t>
            </a:r>
          </a:p>
        </p:txBody>
      </p:sp>
      <p:sp>
        <p:nvSpPr>
          <p:cNvPr id="55" name="Textfeld 38">
            <a:extLst>
              <a:ext uri="{FF2B5EF4-FFF2-40B4-BE49-F238E27FC236}">
                <a16:creationId xmlns:a16="http://schemas.microsoft.com/office/drawing/2014/main" id="{DAFB05F2-8DBD-4341-AFDF-F42514E1E2C6}"/>
              </a:ext>
            </a:extLst>
          </p:cNvPr>
          <p:cNvSpPr txBox="1"/>
          <p:nvPr/>
        </p:nvSpPr>
        <p:spPr>
          <a:xfrm>
            <a:off x="4236176" y="6565779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56" name="Textfeld 38">
            <a:extLst>
              <a:ext uri="{FF2B5EF4-FFF2-40B4-BE49-F238E27FC236}">
                <a16:creationId xmlns:a16="http://schemas.microsoft.com/office/drawing/2014/main" id="{E765F93E-72A6-45E2-73FA-E6314AA0D9EA}"/>
              </a:ext>
            </a:extLst>
          </p:cNvPr>
          <p:cNvSpPr txBox="1"/>
          <p:nvPr/>
        </p:nvSpPr>
        <p:spPr>
          <a:xfrm rot="10800000">
            <a:off x="4328015" y="6610935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9" name="Datumsplatzhalter 1">
            <a:extLst>
              <a:ext uri="{FF2B5EF4-FFF2-40B4-BE49-F238E27FC236}">
                <a16:creationId xmlns:a16="http://schemas.microsoft.com/office/drawing/2014/main" id="{755994CC-E7E5-741A-BDC7-3243308C55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875" y="6556875"/>
            <a:ext cx="588192" cy="219454"/>
          </a:xfrm>
        </p:spPr>
        <p:txBody>
          <a:bodyPr/>
          <a:lstStyle/>
          <a:p>
            <a:fld id="{72D77B36-95B7-FF43-8BF5-D80FC3958B26}" type="datetime1">
              <a:rPr lang="de-AT" noProof="0" smtClean="0"/>
              <a:t>28.05.26</a:t>
            </a:fld>
            <a:endParaRPr lang="de-AT" noProof="0" dirty="0"/>
          </a:p>
        </p:txBody>
      </p:sp>
      <p:sp>
        <p:nvSpPr>
          <p:cNvPr id="14" name="Fußzeilenplatzhalter 2">
            <a:extLst>
              <a:ext uri="{FF2B5EF4-FFF2-40B4-BE49-F238E27FC236}">
                <a16:creationId xmlns:a16="http://schemas.microsoft.com/office/drawing/2014/main" id="{5B1A776D-26C7-93D2-F13A-B2F629C09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0" y="6556875"/>
            <a:ext cx="6127477" cy="219454"/>
          </a:xfrm>
        </p:spPr>
        <p:txBody>
          <a:bodyPr/>
          <a:lstStyle/>
          <a:p>
            <a:r>
              <a:rPr lang="de-AT" noProof="0" dirty="0"/>
              <a:t>Retail-Segmentierung Neu│ S. Stratula &amp; K. Preibisch</a:t>
            </a:r>
          </a:p>
        </p:txBody>
      </p:sp>
    </p:spTree>
    <p:extLst>
      <p:ext uri="{BB962C8B-B14F-4D97-AF65-F5344CB8AC3E}">
        <p14:creationId xmlns:p14="http://schemas.microsoft.com/office/powerpoint/2010/main" val="486639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77901-8467-5FE9-5204-48D87AD1C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hteck 10">
            <a:extLst>
              <a:ext uri="{FF2B5EF4-FFF2-40B4-BE49-F238E27FC236}">
                <a16:creationId xmlns:a16="http://schemas.microsoft.com/office/drawing/2014/main" id="{DC136280-FA25-9D3F-C09E-117704004789}"/>
              </a:ext>
            </a:extLst>
          </p:cNvPr>
          <p:cNvSpPr/>
          <p:nvPr/>
        </p:nvSpPr>
        <p:spPr>
          <a:xfrm>
            <a:off x="402544" y="1788492"/>
            <a:ext cx="11546001" cy="1365274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A1BFCCA-6FE1-52EE-1CBF-37722975B98D}"/>
              </a:ext>
            </a:extLst>
          </p:cNvPr>
          <p:cNvSpPr/>
          <p:nvPr/>
        </p:nvSpPr>
        <p:spPr>
          <a:xfrm>
            <a:off x="402545" y="3460034"/>
            <a:ext cx="5618112" cy="2819792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>
              <a:spcAft>
                <a:spcPts val="1000"/>
              </a:spcAft>
            </a:pPr>
            <a:endParaRPr lang="de-DE" sz="800">
              <a:solidFill>
                <a:srgbClr val="000000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05C7860-819F-0BC2-5B69-812599574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10</a:t>
            </a:fld>
            <a:endParaRPr lang="de-AT" noProof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2881632-E692-A4CB-B6EE-ABF145225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76" y="917607"/>
            <a:ext cx="11395074" cy="484473"/>
          </a:xfrm>
        </p:spPr>
        <p:txBody>
          <a:bodyPr/>
          <a:lstStyle/>
          <a:p>
            <a:r>
              <a:rPr lang="de-DE" sz="3400"/>
              <a:t>Versicherungspräferenzen und Bedürfnisse (2/2)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3831252-45BA-726E-A18F-6D03E826A8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Segment 1: Die aufsteigenden Hybriden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4AD009D-BFCB-53DB-D5E7-CA2EC6525CD8}"/>
              </a:ext>
            </a:extLst>
          </p:cNvPr>
          <p:cNvSpPr txBox="1"/>
          <p:nvPr/>
        </p:nvSpPr>
        <p:spPr>
          <a:xfrm>
            <a:off x="406797" y="1540342"/>
            <a:ext cx="7818028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algn="l" defTabSz="914400" rtl="0" eaLnBrk="1" latinLnBrk="0" hangingPunct="1">
              <a:buClr>
                <a:schemeClr val="tx2"/>
              </a:buClr>
            </a:pPr>
            <a:r>
              <a:rPr lang="de-AT" sz="1400"/>
              <a:t>GEWÜNSCHTE CUSTOMER JOURNEY</a:t>
            </a:r>
            <a:endParaRPr lang="de-DE" sz="140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AD872BF-6FD3-96B1-F737-57E3FD5F7F98}"/>
              </a:ext>
            </a:extLst>
          </p:cNvPr>
          <p:cNvSpPr txBox="1"/>
          <p:nvPr/>
        </p:nvSpPr>
        <p:spPr>
          <a:xfrm>
            <a:off x="315266" y="6371801"/>
            <a:ext cx="115460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Basis: </a:t>
            </a:r>
            <a:r>
              <a:rPr lang="de-DE" sz="800" err="1"/>
              <a:t>n</a:t>
            </a:r>
            <a:r>
              <a:rPr lang="de-DE" sz="800"/>
              <a:t>(Segment1)=620 | Grüne/rote Schriftfarbe und fette Markierung von Werten: Signifikante Abweichungen von der Gesamtstichprobe. Grün = signifikant höherer Wert, rot = signifikant niedrigerer Wert</a:t>
            </a:r>
          </a:p>
        </p:txBody>
      </p:sp>
      <p:graphicFrame>
        <p:nvGraphicFramePr>
          <p:cNvPr id="24" name="Diagramm 9">
            <a:extLst>
              <a:ext uri="{FF2B5EF4-FFF2-40B4-BE49-F238E27FC236}">
                <a16:creationId xmlns:a16="http://schemas.microsoft.com/office/drawing/2014/main" id="{F94831AB-1873-6AB0-7EE6-D46526BF95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19996" y="470504"/>
          <a:ext cx="2019762" cy="1378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1DE95965-48B0-4EE6-FA90-0D92FE4459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290724"/>
              </p:ext>
            </p:extLst>
          </p:nvPr>
        </p:nvGraphicFramePr>
        <p:xfrm>
          <a:off x="475802" y="1828307"/>
          <a:ext cx="11201089" cy="13537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6209">
                  <a:extLst>
                    <a:ext uri="{9D8B030D-6E8A-4147-A177-3AD203B41FA5}">
                      <a16:colId xmlns:a16="http://schemas.microsoft.com/office/drawing/2014/main" val="1578067308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3148616686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601574479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2382619099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3144059005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725252944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1727548551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151905168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669813839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2529105639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4060331723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2660782090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3995529280"/>
                    </a:ext>
                  </a:extLst>
                </a:gridCol>
              </a:tblGrid>
              <a:tr h="4082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Einholen von </a:t>
                      </a:r>
                      <a:b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Informationen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Einholung eines Angebots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Vergleichen von Angeboten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Beratung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Kauf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Fragen zu einem Vertrag stellen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Persönliche Informationen aktualisieren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Vertrag ändern oder verlängern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Vertrag kündigen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Ein-/ Auszahlungen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Schaden melden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Schadenstatus ansehen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047583"/>
                  </a:ext>
                </a:extLst>
              </a:tr>
              <a:tr h="26540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Möchte selbst machen</a:t>
                      </a:r>
                      <a:b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(Kundenportal/ Homepage)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AD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AD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AD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AD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AD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AD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AD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A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290549"/>
                  </a:ext>
                </a:extLst>
              </a:tr>
              <a:tr h="26540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Möchte mich dafür an den Kundenservice wenden</a:t>
                      </a:r>
                      <a:b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(Anruf, Email, Messanger)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062264"/>
                  </a:ext>
                </a:extLst>
              </a:tr>
              <a:tr h="26540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Möchte das über meine/n </a:t>
                      </a:r>
                      <a:b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Berater:in/Makler:in machen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AD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AD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AD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AD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453935"/>
                  </a:ext>
                </a:extLst>
              </a:tr>
            </a:tbl>
          </a:graphicData>
        </a:graphic>
      </p:graphicFrame>
      <p:grpSp>
        <p:nvGrpSpPr>
          <p:cNvPr id="75" name="Group 74">
            <a:extLst>
              <a:ext uri="{FF2B5EF4-FFF2-40B4-BE49-F238E27FC236}">
                <a16:creationId xmlns:a16="http://schemas.microsoft.com/office/drawing/2014/main" id="{6988DDC7-95DD-F5AC-FF1D-F8D8498707A5}"/>
              </a:ext>
            </a:extLst>
          </p:cNvPr>
          <p:cNvGrpSpPr/>
          <p:nvPr/>
        </p:nvGrpSpPr>
        <p:grpSpPr>
          <a:xfrm>
            <a:off x="2572316" y="2411063"/>
            <a:ext cx="8797299" cy="693718"/>
            <a:chOff x="2572316" y="2555694"/>
            <a:chExt cx="8797299" cy="768157"/>
          </a:xfrm>
        </p:grpSpPr>
        <p:cxnSp>
          <p:nvCxnSpPr>
            <p:cNvPr id="27" name="Gerader Verbinder 2">
              <a:extLst>
                <a:ext uri="{FF2B5EF4-FFF2-40B4-BE49-F238E27FC236}">
                  <a16:creationId xmlns:a16="http://schemas.microsoft.com/office/drawing/2014/main" id="{A8F327EB-80C9-4FEC-9F58-F0359AE67253}"/>
                </a:ext>
              </a:extLst>
            </p:cNvPr>
            <p:cNvCxnSpPr>
              <a:cxnSpLocks/>
            </p:cNvCxnSpPr>
            <p:nvPr/>
          </p:nvCxnSpPr>
          <p:spPr>
            <a:xfrm>
              <a:off x="2572316" y="2555694"/>
              <a:ext cx="850900" cy="76027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r Verbinder 2">
              <a:extLst>
                <a:ext uri="{FF2B5EF4-FFF2-40B4-BE49-F238E27FC236}">
                  <a16:creationId xmlns:a16="http://schemas.microsoft.com/office/drawing/2014/main" id="{A9F9F5DD-533B-7A81-7829-4E8FF173D2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23216" y="2563465"/>
              <a:ext cx="819774" cy="76038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r Verbinder 2">
              <a:extLst>
                <a:ext uri="{FF2B5EF4-FFF2-40B4-BE49-F238E27FC236}">
                  <a16:creationId xmlns:a16="http://schemas.microsoft.com/office/drawing/2014/main" id="{B218EB63-ED8F-6CA9-E5DD-A7881E3BF5C8}"/>
                </a:ext>
              </a:extLst>
            </p:cNvPr>
            <p:cNvCxnSpPr>
              <a:cxnSpLocks/>
            </p:cNvCxnSpPr>
            <p:nvPr/>
          </p:nvCxnSpPr>
          <p:spPr>
            <a:xfrm>
              <a:off x="4222863" y="2555694"/>
              <a:ext cx="850900" cy="76027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r Verbinder 2">
              <a:extLst>
                <a:ext uri="{FF2B5EF4-FFF2-40B4-BE49-F238E27FC236}">
                  <a16:creationId xmlns:a16="http://schemas.microsoft.com/office/drawing/2014/main" id="{360D22A7-1BC1-F238-ACB4-7480F5CC9FF0}"/>
                </a:ext>
              </a:extLst>
            </p:cNvPr>
            <p:cNvCxnSpPr>
              <a:cxnSpLocks/>
            </p:cNvCxnSpPr>
            <p:nvPr/>
          </p:nvCxnSpPr>
          <p:spPr>
            <a:xfrm>
              <a:off x="5062616" y="3315965"/>
              <a:ext cx="73288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2">
              <a:extLst>
                <a:ext uri="{FF2B5EF4-FFF2-40B4-BE49-F238E27FC236}">
                  <a16:creationId xmlns:a16="http://schemas.microsoft.com/office/drawing/2014/main" id="{16EB639A-FEE2-BB47-E9E1-5B35AC0C94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90932" y="2563465"/>
              <a:ext cx="819774" cy="76038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r Verbinder 2">
              <a:extLst>
                <a:ext uri="{FF2B5EF4-FFF2-40B4-BE49-F238E27FC236}">
                  <a16:creationId xmlns:a16="http://schemas.microsoft.com/office/drawing/2014/main" id="{25BD1332-06EC-6D4F-3563-7F797A3771C1}"/>
                </a:ext>
              </a:extLst>
            </p:cNvPr>
            <p:cNvCxnSpPr>
              <a:cxnSpLocks/>
            </p:cNvCxnSpPr>
            <p:nvPr/>
          </p:nvCxnSpPr>
          <p:spPr>
            <a:xfrm>
              <a:off x="7383132" y="2555694"/>
              <a:ext cx="771706" cy="76027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2">
              <a:extLst>
                <a:ext uri="{FF2B5EF4-FFF2-40B4-BE49-F238E27FC236}">
                  <a16:creationId xmlns:a16="http://schemas.microsoft.com/office/drawing/2014/main" id="{471CAFC4-32EB-E2B8-B958-19310CA534EA}"/>
                </a:ext>
              </a:extLst>
            </p:cNvPr>
            <p:cNvCxnSpPr>
              <a:cxnSpLocks/>
            </p:cNvCxnSpPr>
            <p:nvPr/>
          </p:nvCxnSpPr>
          <p:spPr>
            <a:xfrm>
              <a:off x="6596852" y="2563465"/>
              <a:ext cx="81533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r Verbinder 2">
              <a:extLst>
                <a:ext uri="{FF2B5EF4-FFF2-40B4-BE49-F238E27FC236}">
                  <a16:creationId xmlns:a16="http://schemas.microsoft.com/office/drawing/2014/main" id="{807D81F1-6DE5-92CB-7426-7FF88D1A58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50063" y="2563465"/>
              <a:ext cx="819774" cy="76038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Gerader Verbinder 2">
              <a:extLst>
                <a:ext uri="{FF2B5EF4-FFF2-40B4-BE49-F238E27FC236}">
                  <a16:creationId xmlns:a16="http://schemas.microsoft.com/office/drawing/2014/main" id="{2B897540-FC40-8EEC-A462-4CAE82C121A5}"/>
                </a:ext>
              </a:extLst>
            </p:cNvPr>
            <p:cNvCxnSpPr>
              <a:cxnSpLocks/>
            </p:cNvCxnSpPr>
            <p:nvPr/>
          </p:nvCxnSpPr>
          <p:spPr>
            <a:xfrm>
              <a:off x="8960489" y="2563465"/>
              <a:ext cx="2409126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Textfeld 11">
            <a:extLst>
              <a:ext uri="{FF2B5EF4-FFF2-40B4-BE49-F238E27FC236}">
                <a16:creationId xmlns:a16="http://schemas.microsoft.com/office/drawing/2014/main" id="{AAF9B167-4B05-B212-EDF7-9D5B874FD2CB}"/>
              </a:ext>
            </a:extLst>
          </p:cNvPr>
          <p:cNvSpPr txBox="1"/>
          <p:nvPr/>
        </p:nvSpPr>
        <p:spPr>
          <a:xfrm>
            <a:off x="406797" y="3227274"/>
            <a:ext cx="5613854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1400"/>
              <a:t>VERTRIEBSWEGE</a:t>
            </a:r>
          </a:p>
        </p:txBody>
      </p:sp>
      <p:sp>
        <p:nvSpPr>
          <p:cNvPr id="84" name="Pfeil: nach unten 31">
            <a:extLst>
              <a:ext uri="{FF2B5EF4-FFF2-40B4-BE49-F238E27FC236}">
                <a16:creationId xmlns:a16="http://schemas.microsoft.com/office/drawing/2014/main" id="{EC4F11DF-EB81-B80A-5F80-980D731CF2CA}"/>
              </a:ext>
            </a:extLst>
          </p:cNvPr>
          <p:cNvSpPr/>
          <p:nvPr/>
        </p:nvSpPr>
        <p:spPr>
          <a:xfrm>
            <a:off x="1068824" y="5497920"/>
            <a:ext cx="374904" cy="20468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85" name="Textfeld 32">
            <a:extLst>
              <a:ext uri="{FF2B5EF4-FFF2-40B4-BE49-F238E27FC236}">
                <a16:creationId xmlns:a16="http://schemas.microsoft.com/office/drawing/2014/main" id="{3C9386F1-C39F-99DB-AD53-8D2386F028C4}"/>
              </a:ext>
            </a:extLst>
          </p:cNvPr>
          <p:cNvSpPr txBox="1"/>
          <p:nvPr/>
        </p:nvSpPr>
        <p:spPr>
          <a:xfrm>
            <a:off x="439050" y="5743288"/>
            <a:ext cx="1634452" cy="49643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buClr>
                <a:schemeClr val="tx2"/>
              </a:buClr>
            </a:pPr>
            <a:r>
              <a:rPr lang="de-DE" sz="1200" dirty="0"/>
              <a:t>Kauf persönlich: </a:t>
            </a:r>
            <a:r>
              <a:rPr lang="de-DE" sz="1200" b="1" dirty="0">
                <a:solidFill>
                  <a:srgbClr val="4DA685"/>
                </a:solidFill>
              </a:rPr>
              <a:t>81%</a:t>
            </a:r>
          </a:p>
          <a:p>
            <a:pPr algn="ctr">
              <a:buClr>
                <a:schemeClr val="tx2"/>
              </a:buClr>
            </a:pPr>
            <a:r>
              <a:rPr lang="de-DE" sz="1200" dirty="0"/>
              <a:t>Kauf Online: </a:t>
            </a:r>
            <a:r>
              <a:rPr lang="de-DE" sz="1200" b="1" dirty="0">
                <a:solidFill>
                  <a:srgbClr val="FF0000"/>
                </a:solidFill>
              </a:rPr>
              <a:t>19%</a:t>
            </a:r>
          </a:p>
        </p:txBody>
      </p:sp>
      <p:sp>
        <p:nvSpPr>
          <p:cNvPr id="86" name="Rechteck 10">
            <a:extLst>
              <a:ext uri="{FF2B5EF4-FFF2-40B4-BE49-F238E27FC236}">
                <a16:creationId xmlns:a16="http://schemas.microsoft.com/office/drawing/2014/main" id="{E14CB6DF-5E87-E289-3BE3-2160F4FA6C50}"/>
              </a:ext>
            </a:extLst>
          </p:cNvPr>
          <p:cNvSpPr/>
          <p:nvPr/>
        </p:nvSpPr>
        <p:spPr>
          <a:xfrm>
            <a:off x="6174057" y="3460034"/>
            <a:ext cx="5774477" cy="2819792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>
              <a:spcAft>
                <a:spcPts val="1000"/>
              </a:spcAft>
            </a:pPr>
            <a:endParaRPr lang="de-DE" sz="800">
              <a:solidFill>
                <a:srgbClr val="000000"/>
              </a:solidFill>
            </a:endParaRPr>
          </a:p>
        </p:txBody>
      </p:sp>
      <p:sp>
        <p:nvSpPr>
          <p:cNvPr id="88" name="Textfeld 11">
            <a:extLst>
              <a:ext uri="{FF2B5EF4-FFF2-40B4-BE49-F238E27FC236}">
                <a16:creationId xmlns:a16="http://schemas.microsoft.com/office/drawing/2014/main" id="{3C164F32-6404-8B10-4AEA-A5BB62B047FA}"/>
              </a:ext>
            </a:extLst>
          </p:cNvPr>
          <p:cNvSpPr txBox="1"/>
          <p:nvPr/>
        </p:nvSpPr>
        <p:spPr>
          <a:xfrm>
            <a:off x="6178310" y="3227274"/>
            <a:ext cx="5613854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1400"/>
              <a:t>LEBENSMOMENTE</a:t>
            </a:r>
          </a:p>
        </p:txBody>
      </p:sp>
      <p:graphicFrame>
        <p:nvGraphicFramePr>
          <p:cNvPr id="119" name="Table 118">
            <a:extLst>
              <a:ext uri="{FF2B5EF4-FFF2-40B4-BE49-F238E27FC236}">
                <a16:creationId xmlns:a16="http://schemas.microsoft.com/office/drawing/2014/main" id="{8CD9B471-AEA8-EA8E-6CDC-49D68EF262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94725"/>
              </p:ext>
            </p:extLst>
          </p:nvPr>
        </p:nvGraphicFramePr>
        <p:xfrm>
          <a:off x="474753" y="3839663"/>
          <a:ext cx="1572708" cy="1490446"/>
        </p:xfrm>
        <a:graphic>
          <a:graphicData uri="http://schemas.openxmlformats.org/drawingml/2006/table">
            <a:tbl>
              <a:tblPr/>
              <a:tblGrid>
                <a:gridCol w="545123">
                  <a:extLst>
                    <a:ext uri="{9D8B030D-6E8A-4147-A177-3AD203B41FA5}">
                      <a16:colId xmlns:a16="http://schemas.microsoft.com/office/drawing/2014/main" val="477942972"/>
                    </a:ext>
                  </a:extLst>
                </a:gridCol>
                <a:gridCol w="1027585">
                  <a:extLst>
                    <a:ext uri="{9D8B030D-6E8A-4147-A177-3AD203B41FA5}">
                      <a16:colId xmlns:a16="http://schemas.microsoft.com/office/drawing/2014/main" val="2395302743"/>
                    </a:ext>
                  </a:extLst>
                </a:gridCol>
              </a:tblGrid>
              <a:tr h="3849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b="1">
                          <a:solidFill>
                            <a:srgbClr val="FF0000"/>
                          </a:solidFill>
                        </a:rPr>
                        <a:t>43%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>
                          <a:solidFill>
                            <a:srgbClr val="000000"/>
                          </a:solidFill>
                        </a:rPr>
                        <a:t>Info und Kauf persönlich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051307"/>
                  </a:ext>
                </a:extLst>
              </a:tr>
              <a:tr h="3849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b="1">
                          <a:solidFill>
                            <a:srgbClr val="4DA685"/>
                          </a:solidFill>
                        </a:rPr>
                        <a:t>38%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>
                          <a:solidFill>
                            <a:srgbClr val="000000"/>
                          </a:solidFill>
                        </a:rPr>
                        <a:t>Info Online und Kauf persönlich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100797"/>
                  </a:ext>
                </a:extLst>
              </a:tr>
              <a:tr h="3849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b="1">
                          <a:solidFill>
                            <a:srgbClr val="FF0000"/>
                          </a:solidFill>
                        </a:rPr>
                        <a:t>11%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>
                          <a:solidFill>
                            <a:srgbClr val="000000"/>
                          </a:solidFill>
                        </a:rPr>
                        <a:t>Info und Kauf Online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58625"/>
                  </a:ext>
                </a:extLst>
              </a:tr>
              <a:tr h="3356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b="0">
                          <a:solidFill>
                            <a:srgbClr val="000000"/>
                          </a:solidFill>
                        </a:rPr>
                        <a:t>8%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>
                          <a:solidFill>
                            <a:srgbClr val="000000"/>
                          </a:solidFill>
                        </a:rPr>
                        <a:t>Info persönlich und Kauf Online 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15767"/>
                  </a:ext>
                </a:extLst>
              </a:tr>
            </a:tbl>
          </a:graphicData>
        </a:graphic>
      </p:graphicFrame>
      <p:cxnSp>
        <p:nvCxnSpPr>
          <p:cNvPr id="120" name="Gerade Verbindung 21">
            <a:extLst>
              <a:ext uri="{FF2B5EF4-FFF2-40B4-BE49-F238E27FC236}">
                <a16:creationId xmlns:a16="http://schemas.microsoft.com/office/drawing/2014/main" id="{A1D2876C-7CCC-290B-2350-CCB619B7BC88}"/>
              </a:ext>
            </a:extLst>
          </p:cNvPr>
          <p:cNvCxnSpPr>
            <a:cxnSpLocks/>
          </p:cNvCxnSpPr>
          <p:nvPr/>
        </p:nvCxnSpPr>
        <p:spPr>
          <a:xfrm>
            <a:off x="2156193" y="3437792"/>
            <a:ext cx="0" cy="2825293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feld 39">
            <a:extLst>
              <a:ext uri="{FF2B5EF4-FFF2-40B4-BE49-F238E27FC236}">
                <a16:creationId xmlns:a16="http://schemas.microsoft.com/office/drawing/2014/main" id="{4F94D444-5FB8-4E08-CEF7-A53B0713AF13}"/>
              </a:ext>
            </a:extLst>
          </p:cNvPr>
          <p:cNvSpPr txBox="1"/>
          <p:nvPr/>
        </p:nvSpPr>
        <p:spPr>
          <a:xfrm>
            <a:off x="2241411" y="3515466"/>
            <a:ext cx="3367819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1200"/>
              <a:t>Bisherige und zukünftige Online-Abschlüsse</a:t>
            </a: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E95B6E57-9494-5896-17A8-34C6534A5CE5}"/>
              </a:ext>
            </a:extLst>
          </p:cNvPr>
          <p:cNvGrpSpPr/>
          <p:nvPr/>
        </p:nvGrpSpPr>
        <p:grpSpPr>
          <a:xfrm>
            <a:off x="2254485" y="3816396"/>
            <a:ext cx="550765" cy="440528"/>
            <a:chOff x="2254485" y="3929114"/>
            <a:chExt cx="550765" cy="440528"/>
          </a:xfrm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35E65C22-91CB-C055-C984-6EF6A92659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72768" y="3929114"/>
              <a:ext cx="461843" cy="4405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spcAft>
                  <a:spcPts val="1000"/>
                </a:spcAft>
              </a:pPr>
              <a:endParaRPr lang="de-DE" sz="1600" err="1">
                <a:solidFill>
                  <a:schemeClr val="bg1"/>
                </a:solidFill>
              </a:endParaRPr>
            </a:p>
          </p:txBody>
        </p:sp>
        <p:sp>
          <p:nvSpPr>
            <p:cNvPr id="125" name="Textfeld 45">
              <a:extLst>
                <a:ext uri="{FF2B5EF4-FFF2-40B4-BE49-F238E27FC236}">
                  <a16:creationId xmlns:a16="http://schemas.microsoft.com/office/drawing/2014/main" id="{1B4E4F11-0F9E-F70A-1B40-770F0A088DC6}"/>
                </a:ext>
              </a:extLst>
            </p:cNvPr>
            <p:cNvSpPr txBox="1"/>
            <p:nvPr/>
          </p:nvSpPr>
          <p:spPr>
            <a:xfrm>
              <a:off x="2254485" y="4006538"/>
              <a:ext cx="550765" cy="28653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buClr>
                  <a:schemeClr val="tx2"/>
                </a:buClr>
              </a:pPr>
              <a:r>
                <a:rPr lang="de-DE" sz="1400">
                  <a:solidFill>
                    <a:srgbClr val="4DA685"/>
                  </a:solidFill>
                </a:rPr>
                <a:t>34%</a:t>
              </a:r>
            </a:p>
          </p:txBody>
        </p:sp>
      </p:grpSp>
      <p:sp>
        <p:nvSpPr>
          <p:cNvPr id="126" name="Textfeld 46">
            <a:extLst>
              <a:ext uri="{FF2B5EF4-FFF2-40B4-BE49-F238E27FC236}">
                <a16:creationId xmlns:a16="http://schemas.microsoft.com/office/drawing/2014/main" id="{9F05F15C-00B5-BB95-D669-3D6914F4D8E0}"/>
              </a:ext>
            </a:extLst>
          </p:cNvPr>
          <p:cNvSpPr txBox="1"/>
          <p:nvPr/>
        </p:nvSpPr>
        <p:spPr>
          <a:xfrm>
            <a:off x="2842084" y="3821115"/>
            <a:ext cx="1311627" cy="3728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900">
                <a:solidFill>
                  <a:srgbClr val="000000"/>
                </a:solidFill>
              </a:rPr>
              <a:t>haben </a:t>
            </a:r>
            <a:r>
              <a:rPr lang="de-DE" sz="900" b="1">
                <a:solidFill>
                  <a:srgbClr val="000000"/>
                </a:solidFill>
              </a:rPr>
              <a:t>schon einmal </a:t>
            </a:r>
            <a:r>
              <a:rPr lang="de-DE" sz="900">
                <a:solidFill>
                  <a:srgbClr val="000000"/>
                </a:solidFill>
              </a:rPr>
              <a:t>online eine Versicherung abgeschlossen. </a:t>
            </a:r>
          </a:p>
        </p:txBody>
      </p:sp>
      <p:sp>
        <p:nvSpPr>
          <p:cNvPr id="129" name="Textfeld 52">
            <a:extLst>
              <a:ext uri="{FF2B5EF4-FFF2-40B4-BE49-F238E27FC236}">
                <a16:creationId xmlns:a16="http://schemas.microsoft.com/office/drawing/2014/main" id="{D9FEA644-F97D-906C-71E6-3AF1052571AA}"/>
              </a:ext>
            </a:extLst>
          </p:cNvPr>
          <p:cNvSpPr txBox="1"/>
          <p:nvPr/>
        </p:nvSpPr>
        <p:spPr>
          <a:xfrm>
            <a:off x="2854889" y="4426472"/>
            <a:ext cx="1323269" cy="6482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900">
                <a:solidFill>
                  <a:srgbClr val="000000"/>
                </a:solidFill>
              </a:rPr>
              <a:t>geben an, dass </a:t>
            </a:r>
            <a:r>
              <a:rPr lang="de-DE" sz="900" b="1">
                <a:solidFill>
                  <a:srgbClr val="000000"/>
                </a:solidFill>
              </a:rPr>
              <a:t>sie in den nächsten 3 Jahren </a:t>
            </a:r>
            <a:r>
              <a:rPr lang="de-DE" sz="900">
                <a:solidFill>
                  <a:srgbClr val="000000"/>
                </a:solidFill>
              </a:rPr>
              <a:t>bestimmt oder wahrscheinlich eine Versicherung online abschließen werden. </a:t>
            </a: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B35B2F2E-B913-14F8-7361-B6AC4BD114EE}"/>
              </a:ext>
            </a:extLst>
          </p:cNvPr>
          <p:cNvGrpSpPr/>
          <p:nvPr/>
        </p:nvGrpSpPr>
        <p:grpSpPr>
          <a:xfrm>
            <a:off x="2254485" y="4616714"/>
            <a:ext cx="550765" cy="440528"/>
            <a:chOff x="2254485" y="3929114"/>
            <a:chExt cx="550765" cy="440528"/>
          </a:xfrm>
        </p:grpSpPr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35EADA7D-6A5D-AB9D-137F-B3B10E6E26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72768" y="3929114"/>
              <a:ext cx="461843" cy="4405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spcAft>
                  <a:spcPts val="1000"/>
                </a:spcAft>
              </a:pPr>
              <a:endParaRPr lang="de-DE" sz="1600" err="1">
                <a:solidFill>
                  <a:schemeClr val="bg1"/>
                </a:solidFill>
              </a:endParaRPr>
            </a:p>
          </p:txBody>
        </p:sp>
        <p:sp>
          <p:nvSpPr>
            <p:cNvPr id="135" name="Textfeld 45">
              <a:extLst>
                <a:ext uri="{FF2B5EF4-FFF2-40B4-BE49-F238E27FC236}">
                  <a16:creationId xmlns:a16="http://schemas.microsoft.com/office/drawing/2014/main" id="{8AC6E61A-87C8-8B00-5E67-18643EDAE26B}"/>
                </a:ext>
              </a:extLst>
            </p:cNvPr>
            <p:cNvSpPr txBox="1"/>
            <p:nvPr/>
          </p:nvSpPr>
          <p:spPr>
            <a:xfrm>
              <a:off x="2254485" y="4006538"/>
              <a:ext cx="550765" cy="28653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buClr>
                  <a:schemeClr val="tx2"/>
                </a:buClr>
              </a:pPr>
              <a:r>
                <a:rPr lang="de-DE" sz="1400">
                  <a:solidFill>
                    <a:srgbClr val="4DA685"/>
                  </a:solidFill>
                </a:rPr>
                <a:t>22%</a:t>
              </a:r>
            </a:p>
          </p:txBody>
        </p:sp>
      </p:grpSp>
      <p:sp>
        <p:nvSpPr>
          <p:cNvPr id="136" name="Textfeld 39">
            <a:extLst>
              <a:ext uri="{FF2B5EF4-FFF2-40B4-BE49-F238E27FC236}">
                <a16:creationId xmlns:a16="http://schemas.microsoft.com/office/drawing/2014/main" id="{E9A31060-3A30-EAB0-ED12-42C3A9BDF460}"/>
              </a:ext>
            </a:extLst>
          </p:cNvPr>
          <p:cNvSpPr txBox="1"/>
          <p:nvPr/>
        </p:nvSpPr>
        <p:spPr>
          <a:xfrm>
            <a:off x="2241411" y="5455496"/>
            <a:ext cx="3692747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1200"/>
              <a:t>Kundenportalnutzung (unabhängig vom Versicherer)</a:t>
            </a:r>
          </a:p>
        </p:txBody>
      </p:sp>
      <p:cxnSp>
        <p:nvCxnSpPr>
          <p:cNvPr id="137" name="Gerade Verbindung 53">
            <a:extLst>
              <a:ext uri="{FF2B5EF4-FFF2-40B4-BE49-F238E27FC236}">
                <a16:creationId xmlns:a16="http://schemas.microsoft.com/office/drawing/2014/main" id="{6D804856-A7BB-788B-1143-D60D38BCD410}"/>
              </a:ext>
            </a:extLst>
          </p:cNvPr>
          <p:cNvCxnSpPr>
            <a:cxnSpLocks/>
          </p:cNvCxnSpPr>
          <p:nvPr/>
        </p:nvCxnSpPr>
        <p:spPr>
          <a:xfrm flipH="1">
            <a:off x="2177729" y="5407730"/>
            <a:ext cx="3635116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8" name="Grafik 49" descr="Ein Bild, das Electric Blue (Farbe), Screenshot, Kobaltblau, Majorelle Blue enthält.&#10;&#10;KI-generierte Inhalte können fehlerhaft sein.">
            <a:extLst>
              <a:ext uri="{FF2B5EF4-FFF2-40B4-BE49-F238E27FC236}">
                <a16:creationId xmlns:a16="http://schemas.microsoft.com/office/drawing/2014/main" id="{A8A542C9-A736-75CC-9961-5E1F249DE8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405" y="5657866"/>
            <a:ext cx="1000921" cy="667280"/>
          </a:xfrm>
          <a:prstGeom prst="rect">
            <a:avLst/>
          </a:prstGeom>
        </p:spPr>
      </p:pic>
      <p:sp>
        <p:nvSpPr>
          <p:cNvPr id="139" name="Textfeld 50">
            <a:extLst>
              <a:ext uri="{FF2B5EF4-FFF2-40B4-BE49-F238E27FC236}">
                <a16:creationId xmlns:a16="http://schemas.microsoft.com/office/drawing/2014/main" id="{A5B13B8E-FADC-C000-CE76-B99B9BDD8CF8}"/>
              </a:ext>
            </a:extLst>
          </p:cNvPr>
          <p:cNvSpPr txBox="1"/>
          <p:nvPr/>
        </p:nvSpPr>
        <p:spPr>
          <a:xfrm>
            <a:off x="3003896" y="5963678"/>
            <a:ext cx="2724837" cy="3222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1400" b="1" dirty="0">
                <a:solidFill>
                  <a:srgbClr val="4DA685"/>
                </a:solidFill>
              </a:rPr>
              <a:t>40%  </a:t>
            </a:r>
            <a:r>
              <a:rPr lang="de-DE" sz="1000" dirty="0">
                <a:solidFill>
                  <a:srgbClr val="000000"/>
                </a:solidFill>
              </a:rPr>
              <a:t>Aktiv innerhalb der letzten 12 Monate</a:t>
            </a:r>
          </a:p>
        </p:txBody>
      </p:sp>
      <p:sp>
        <p:nvSpPr>
          <p:cNvPr id="140" name="Textfeld 52">
            <a:extLst>
              <a:ext uri="{FF2B5EF4-FFF2-40B4-BE49-F238E27FC236}">
                <a16:creationId xmlns:a16="http://schemas.microsoft.com/office/drawing/2014/main" id="{79FC141B-71C2-7CB3-BA37-D7D5749C25D8}"/>
              </a:ext>
            </a:extLst>
          </p:cNvPr>
          <p:cNvSpPr txBox="1"/>
          <p:nvPr/>
        </p:nvSpPr>
        <p:spPr>
          <a:xfrm>
            <a:off x="3003898" y="5725989"/>
            <a:ext cx="2275460" cy="30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1400" b="1" dirty="0">
                <a:solidFill>
                  <a:srgbClr val="4DA685"/>
                </a:solidFill>
              </a:rPr>
              <a:t>54%  </a:t>
            </a:r>
            <a:r>
              <a:rPr lang="de-DE" sz="1000" dirty="0">
                <a:solidFill>
                  <a:srgbClr val="000000"/>
                </a:solidFill>
              </a:rPr>
              <a:t>Registrierte </a:t>
            </a:r>
            <a:r>
              <a:rPr lang="de-DE" sz="1000" dirty="0" err="1">
                <a:solidFill>
                  <a:srgbClr val="000000"/>
                </a:solidFill>
              </a:rPr>
              <a:t>Nutzer:innen</a:t>
            </a:r>
            <a:endParaRPr lang="de-DE" sz="800" dirty="0">
              <a:solidFill>
                <a:srgbClr val="000000"/>
              </a:solidFill>
            </a:endParaRPr>
          </a:p>
        </p:txBody>
      </p:sp>
      <p:sp>
        <p:nvSpPr>
          <p:cNvPr id="141" name="Textfeld 9">
            <a:extLst>
              <a:ext uri="{FF2B5EF4-FFF2-40B4-BE49-F238E27FC236}">
                <a16:creationId xmlns:a16="http://schemas.microsoft.com/office/drawing/2014/main" id="{2C2CBDE8-62E0-1420-5441-BDAAF681F3C0}"/>
              </a:ext>
            </a:extLst>
          </p:cNvPr>
          <p:cNvSpPr txBox="1"/>
          <p:nvPr/>
        </p:nvSpPr>
        <p:spPr>
          <a:xfrm>
            <a:off x="4572677" y="3821732"/>
            <a:ext cx="1384175" cy="4958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>
                <a:solidFill>
                  <a:schemeClr val="accent1"/>
                </a:solidFill>
              </a:rPr>
              <a:t>Versicherungen, die dafür am ehesten in Frage kommen (Top 5):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6B9AAC5A-823B-D5DB-8CB9-67A843ACE183}"/>
              </a:ext>
            </a:extLst>
          </p:cNvPr>
          <p:cNvSpPr txBox="1"/>
          <p:nvPr/>
        </p:nvSpPr>
        <p:spPr>
          <a:xfrm>
            <a:off x="4472526" y="4420691"/>
            <a:ext cx="174480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u="none">
                <a:solidFill>
                  <a:srgbClr val="000000"/>
                </a:solidFill>
              </a:rPr>
              <a:t>#1: Reise </a:t>
            </a:r>
            <a:r>
              <a:rPr lang="de-DE" sz="1000" b="1" u="none">
                <a:solidFill>
                  <a:srgbClr val="4DA685"/>
                </a:solidFill>
              </a:rPr>
              <a:t>(30%)</a:t>
            </a:r>
          </a:p>
          <a:p>
            <a:r>
              <a:rPr lang="de-DE" sz="1000">
                <a:solidFill>
                  <a:srgbClr val="000000"/>
                </a:solidFill>
              </a:rPr>
              <a:t>#2: </a:t>
            </a:r>
            <a:r>
              <a:rPr lang="de-DE" sz="1000" err="1">
                <a:solidFill>
                  <a:srgbClr val="000000"/>
                </a:solidFill>
              </a:rPr>
              <a:t>Elekto</a:t>
            </a:r>
            <a:r>
              <a:rPr lang="de-DE" sz="1000">
                <a:solidFill>
                  <a:srgbClr val="000000"/>
                </a:solidFill>
              </a:rPr>
              <a:t>-Geräte </a:t>
            </a:r>
            <a:r>
              <a:rPr lang="de-DE" sz="1000" b="1">
                <a:solidFill>
                  <a:srgbClr val="4DA685"/>
                </a:solidFill>
              </a:rPr>
              <a:t>(19%)</a:t>
            </a:r>
          </a:p>
          <a:p>
            <a:r>
              <a:rPr lang="de-DE" sz="1000">
                <a:solidFill>
                  <a:srgbClr val="000000"/>
                </a:solidFill>
              </a:rPr>
              <a:t>#3: Kfz-Haftpflicht </a:t>
            </a:r>
            <a:r>
              <a:rPr lang="de-DE" sz="1000" b="1">
                <a:solidFill>
                  <a:srgbClr val="4DA685"/>
                </a:solidFill>
              </a:rPr>
              <a:t>(18%)</a:t>
            </a:r>
          </a:p>
          <a:p>
            <a:r>
              <a:rPr lang="de-DE" sz="1000">
                <a:solidFill>
                  <a:srgbClr val="000000"/>
                </a:solidFill>
              </a:rPr>
              <a:t>#4: Tier </a:t>
            </a:r>
            <a:r>
              <a:rPr lang="de-DE" sz="1000" b="1">
                <a:solidFill>
                  <a:srgbClr val="4DA685"/>
                </a:solidFill>
              </a:rPr>
              <a:t>(17%)</a:t>
            </a:r>
          </a:p>
          <a:p>
            <a:r>
              <a:rPr lang="de-DE" sz="1000">
                <a:solidFill>
                  <a:srgbClr val="000000"/>
                </a:solidFill>
              </a:rPr>
              <a:t>#5: Rechtsschutz </a:t>
            </a:r>
            <a:r>
              <a:rPr lang="de-DE" sz="1000" b="1">
                <a:solidFill>
                  <a:srgbClr val="4DA685"/>
                </a:solidFill>
              </a:rPr>
              <a:t>(16%)</a:t>
            </a:r>
            <a:endParaRPr lang="de-AT" sz="1000" b="1">
              <a:solidFill>
                <a:srgbClr val="4DA685"/>
              </a:solidFill>
            </a:endParaRPr>
          </a:p>
        </p:txBody>
      </p:sp>
      <p:sp>
        <p:nvSpPr>
          <p:cNvPr id="89" name="Textfeld 88">
            <a:extLst>
              <a:ext uri="{FF2B5EF4-FFF2-40B4-BE49-F238E27FC236}">
                <a16:creationId xmlns:a16="http://schemas.microsoft.com/office/drawing/2014/main" id="{0BF6C668-E82A-FE9F-95F9-2FA94625B84B}"/>
              </a:ext>
            </a:extLst>
          </p:cNvPr>
          <p:cNvSpPr txBox="1"/>
          <p:nvPr/>
        </p:nvSpPr>
        <p:spPr>
          <a:xfrm>
            <a:off x="6227486" y="3549491"/>
            <a:ext cx="2811700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Wichtige Lebensereignisse innerhalb der </a:t>
            </a:r>
            <a:r>
              <a:rPr lang="de-DE" sz="1200" b="1"/>
              <a:t>letzten 5 Jahre</a:t>
            </a:r>
            <a:r>
              <a:rPr lang="de-DE" sz="1200"/>
              <a:t> vor der Befragung</a:t>
            </a:r>
          </a:p>
        </p:txBody>
      </p:sp>
      <p:graphicFrame>
        <p:nvGraphicFramePr>
          <p:cNvPr id="143" name="Table 142">
            <a:extLst>
              <a:ext uri="{FF2B5EF4-FFF2-40B4-BE49-F238E27FC236}">
                <a16:creationId xmlns:a16="http://schemas.microsoft.com/office/drawing/2014/main" id="{5B1DEC91-A5D3-938F-23DA-37D7848E9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820866"/>
              </p:ext>
            </p:extLst>
          </p:nvPr>
        </p:nvGraphicFramePr>
        <p:xfrm>
          <a:off x="6227486" y="3991643"/>
          <a:ext cx="2684785" cy="2298328"/>
        </p:xfrm>
        <a:graphic>
          <a:graphicData uri="http://schemas.openxmlformats.org/drawingml/2006/table">
            <a:tbl>
              <a:tblPr/>
              <a:tblGrid>
                <a:gridCol w="325714">
                  <a:extLst>
                    <a:ext uri="{9D8B030D-6E8A-4147-A177-3AD203B41FA5}">
                      <a16:colId xmlns:a16="http://schemas.microsoft.com/office/drawing/2014/main" val="477942972"/>
                    </a:ext>
                  </a:extLst>
                </a:gridCol>
                <a:gridCol w="2359071">
                  <a:extLst>
                    <a:ext uri="{9D8B030D-6E8A-4147-A177-3AD203B41FA5}">
                      <a16:colId xmlns:a16="http://schemas.microsoft.com/office/drawing/2014/main" val="2395302743"/>
                    </a:ext>
                  </a:extLst>
                </a:gridCol>
              </a:tblGrid>
              <a:tr h="18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>
                          <a:solidFill>
                            <a:srgbClr val="4DA685"/>
                          </a:solidFill>
                        </a:rPr>
                        <a:t>71%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>
                          <a:schemeClr val="tx2"/>
                        </a:buClr>
                      </a:pPr>
                      <a:r>
                        <a:rPr lang="de-DE" sz="900">
                          <a:solidFill>
                            <a:srgbClr val="000000"/>
                          </a:solidFill>
                        </a:rPr>
                        <a:t>Leichtere körperliche Beschwerden</a:t>
                      </a:r>
                    </a:p>
                  </a:txBody>
                  <a:tcPr marL="45720" marR="4572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020555"/>
                  </a:ext>
                </a:extLst>
              </a:tr>
              <a:tr h="3680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>
                          <a:solidFill>
                            <a:srgbClr val="4DA685"/>
                          </a:solidFill>
                        </a:rPr>
                        <a:t>45%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>
                          <a:schemeClr val="tx2"/>
                        </a:buClr>
                      </a:pPr>
                      <a:r>
                        <a:rPr lang="de-DE" sz="900">
                          <a:solidFill>
                            <a:srgbClr val="000000"/>
                          </a:solidFill>
                        </a:rPr>
                        <a:t>Leichtere psychische Belastung (z.B. Stress, Erschöpfung)</a:t>
                      </a:r>
                    </a:p>
                  </a:txBody>
                  <a:tcPr marL="45720" marR="4572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051307"/>
                  </a:ext>
                </a:extLst>
              </a:tr>
              <a:tr h="3680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>
                          <a:solidFill>
                            <a:srgbClr val="4DA685"/>
                          </a:solidFill>
                        </a:rPr>
                        <a:t>38%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>
                          <a:solidFill>
                            <a:srgbClr val="000000"/>
                          </a:solidFill>
                        </a:rPr>
                        <a:t>Begonnen, regelmäßig Geld zu sparen oder das Sparen von Geld verstärkt</a:t>
                      </a:r>
                    </a:p>
                  </a:txBody>
                  <a:tcPr marL="45720" marR="4572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29333"/>
                  </a:ext>
                </a:extLst>
              </a:tr>
              <a:tr h="18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>
                          <a:solidFill>
                            <a:srgbClr val="000000"/>
                          </a:solidFill>
                        </a:rPr>
                        <a:t>33%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>
                          <a:schemeClr val="tx2"/>
                        </a:buClr>
                      </a:pPr>
                      <a:r>
                        <a:rPr lang="de-DE" sz="900">
                          <a:solidFill>
                            <a:srgbClr val="000000"/>
                          </a:solidFill>
                        </a:rPr>
                        <a:t>Umzug</a:t>
                      </a:r>
                    </a:p>
                  </a:txBody>
                  <a:tcPr marL="45720" marR="4572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100797"/>
                  </a:ext>
                </a:extLst>
              </a:tr>
              <a:tr h="18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>
                          <a:solidFill>
                            <a:srgbClr val="000000"/>
                          </a:solidFill>
                        </a:rPr>
                        <a:t>32%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>
                          <a:schemeClr val="tx2"/>
                        </a:buClr>
                      </a:pPr>
                      <a:r>
                        <a:rPr lang="de-DE" sz="900">
                          <a:solidFill>
                            <a:srgbClr val="000000"/>
                          </a:solidFill>
                        </a:rPr>
                        <a:t>Stationärer Krankenhausaufenthalt (in den letzten 3 Jahren)</a:t>
                      </a:r>
                    </a:p>
                  </a:txBody>
                  <a:tcPr marL="45720" marR="4572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667112"/>
                  </a:ext>
                </a:extLst>
              </a:tr>
              <a:tr h="18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>
                          <a:solidFill>
                            <a:srgbClr val="000000"/>
                          </a:solidFill>
                        </a:rPr>
                        <a:t>30%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>
                          <a:solidFill>
                            <a:srgbClr val="000000"/>
                          </a:solidFill>
                        </a:rPr>
                        <a:t>Gehaltssprung im Angestelltenverhältnis</a:t>
                      </a:r>
                    </a:p>
                  </a:txBody>
                  <a:tcPr marL="45720" marR="4572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565884"/>
                  </a:ext>
                </a:extLst>
              </a:tr>
              <a:tr h="3680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>
                          <a:solidFill>
                            <a:srgbClr val="4DA685"/>
                          </a:solidFill>
                        </a:rPr>
                        <a:t>25%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>
                          <a:schemeClr val="tx2"/>
                        </a:buClr>
                      </a:pPr>
                      <a:r>
                        <a:rPr lang="de-DE" sz="900">
                          <a:solidFill>
                            <a:srgbClr val="000000"/>
                          </a:solidFill>
                        </a:rPr>
                        <a:t>Begonnen zu investieren/Investieren verstärkt (z.B. Fonds, Aktien, Immobilien)</a:t>
                      </a:r>
                    </a:p>
                  </a:txBody>
                  <a:tcPr marL="45720" marR="4572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58625"/>
                  </a:ext>
                </a:extLst>
              </a:tr>
              <a:tr h="3680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>
                          <a:solidFill>
                            <a:srgbClr val="4DA685"/>
                          </a:solidFill>
                        </a:rPr>
                        <a:t>20%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>
                          <a:solidFill>
                            <a:srgbClr val="000000"/>
                          </a:solidFill>
                        </a:rPr>
                        <a:t>Begonnen für die eigene Zukunft finanziell vorzusorgen/ finanzielle Vorsorge verstärkt</a:t>
                      </a:r>
                    </a:p>
                  </a:txBody>
                  <a:tcPr marL="45720" marR="4572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15767"/>
                  </a:ext>
                </a:extLst>
              </a:tr>
            </a:tbl>
          </a:graphicData>
        </a:graphic>
      </p:graphicFrame>
      <p:cxnSp>
        <p:nvCxnSpPr>
          <p:cNvPr id="147" name="Gerade Verbindung 21">
            <a:extLst>
              <a:ext uri="{FF2B5EF4-FFF2-40B4-BE49-F238E27FC236}">
                <a16:creationId xmlns:a16="http://schemas.microsoft.com/office/drawing/2014/main" id="{806963C2-9E75-3292-6B79-66D4D920A30B}"/>
              </a:ext>
            </a:extLst>
          </p:cNvPr>
          <p:cNvCxnSpPr>
            <a:cxnSpLocks/>
          </p:cNvCxnSpPr>
          <p:nvPr/>
        </p:nvCxnSpPr>
        <p:spPr>
          <a:xfrm>
            <a:off x="9023144" y="3437792"/>
            <a:ext cx="0" cy="2825293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feld 88">
            <a:extLst>
              <a:ext uri="{FF2B5EF4-FFF2-40B4-BE49-F238E27FC236}">
                <a16:creationId xmlns:a16="http://schemas.microsoft.com/office/drawing/2014/main" id="{1A98C394-AB09-A3DE-01B5-B3EE41E61A27}"/>
              </a:ext>
            </a:extLst>
          </p:cNvPr>
          <p:cNvSpPr txBox="1"/>
          <p:nvPr/>
        </p:nvSpPr>
        <p:spPr>
          <a:xfrm>
            <a:off x="9091336" y="3549491"/>
            <a:ext cx="2890325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1200"/>
              <a:t>Wichtige Zukunftspläne innerhalb </a:t>
            </a:r>
            <a:r>
              <a:rPr lang="de-DE" sz="1200" b="1"/>
              <a:t>der kommenden 3 Jahre </a:t>
            </a:r>
            <a:r>
              <a:rPr lang="de-DE" sz="1200"/>
              <a:t>nach der Befragung</a:t>
            </a:r>
          </a:p>
        </p:txBody>
      </p:sp>
      <p:graphicFrame>
        <p:nvGraphicFramePr>
          <p:cNvPr id="149" name="Table 148">
            <a:extLst>
              <a:ext uri="{FF2B5EF4-FFF2-40B4-BE49-F238E27FC236}">
                <a16:creationId xmlns:a16="http://schemas.microsoft.com/office/drawing/2014/main" id="{1C29F1EB-6208-31CC-093E-8A29820C4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302796"/>
              </p:ext>
            </p:extLst>
          </p:nvPr>
        </p:nvGraphicFramePr>
        <p:xfrm>
          <a:off x="9141413" y="3957777"/>
          <a:ext cx="2684785" cy="2242708"/>
        </p:xfrm>
        <a:graphic>
          <a:graphicData uri="http://schemas.openxmlformats.org/drawingml/2006/table">
            <a:tbl>
              <a:tblPr/>
              <a:tblGrid>
                <a:gridCol w="341254">
                  <a:extLst>
                    <a:ext uri="{9D8B030D-6E8A-4147-A177-3AD203B41FA5}">
                      <a16:colId xmlns:a16="http://schemas.microsoft.com/office/drawing/2014/main" val="477942972"/>
                    </a:ext>
                  </a:extLst>
                </a:gridCol>
                <a:gridCol w="2343531">
                  <a:extLst>
                    <a:ext uri="{9D8B030D-6E8A-4147-A177-3AD203B41FA5}">
                      <a16:colId xmlns:a16="http://schemas.microsoft.com/office/drawing/2014/main" val="2395302743"/>
                    </a:ext>
                  </a:extLst>
                </a:gridCol>
              </a:tblGrid>
              <a:tr h="1401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dirty="0">
                          <a:solidFill>
                            <a:srgbClr val="4DA685"/>
                          </a:solidFill>
                        </a:rPr>
                        <a:t>43%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>
                          <a:schemeClr val="tx2"/>
                        </a:buClr>
                      </a:pPr>
                      <a:r>
                        <a:rPr lang="de-DE" sz="900" dirty="0">
                          <a:solidFill>
                            <a:srgbClr val="000000"/>
                          </a:solidFill>
                        </a:rPr>
                        <a:t>(Öfter) Sport treiben</a:t>
                      </a:r>
                    </a:p>
                  </a:txBody>
                  <a:tcPr marL="47625" marR="47625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051307"/>
                  </a:ext>
                </a:extLst>
              </a:tr>
              <a:tr h="1401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dirty="0">
                          <a:solidFill>
                            <a:srgbClr val="000000"/>
                          </a:solidFill>
                        </a:rPr>
                        <a:t>40%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solidFill>
                            <a:srgbClr val="000000"/>
                          </a:solidFill>
                        </a:rPr>
                        <a:t>Anschaffung Auto</a:t>
                      </a:r>
                    </a:p>
                  </a:txBody>
                  <a:tcPr marL="47625" marR="47625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855284"/>
                  </a:ext>
                </a:extLst>
              </a:tr>
              <a:tr h="1401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dirty="0">
                          <a:solidFill>
                            <a:srgbClr val="4DA685"/>
                          </a:solidFill>
                        </a:rPr>
                        <a:t>39%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>
                          <a:schemeClr val="tx2"/>
                        </a:buClr>
                      </a:pPr>
                      <a:r>
                        <a:rPr lang="de-DE" sz="900">
                          <a:solidFill>
                            <a:srgbClr val="000000"/>
                          </a:solidFill>
                        </a:rPr>
                        <a:t>Abnehmen</a:t>
                      </a:r>
                    </a:p>
                  </a:txBody>
                  <a:tcPr marL="47625" marR="47625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100797"/>
                  </a:ext>
                </a:extLst>
              </a:tr>
              <a:tr h="2803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>
                          <a:solidFill>
                            <a:srgbClr val="4DA685"/>
                          </a:solidFill>
                        </a:rPr>
                        <a:t>32%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solidFill>
                            <a:srgbClr val="000000"/>
                          </a:solidFill>
                        </a:rPr>
                        <a:t>Beginnen regelmäßig zu sparen/Sparen verstärken</a:t>
                      </a:r>
                    </a:p>
                  </a:txBody>
                  <a:tcPr marL="47625" marR="47625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58625"/>
                  </a:ext>
                </a:extLst>
              </a:tr>
              <a:tr h="1401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>
                          <a:solidFill>
                            <a:srgbClr val="4DA685"/>
                          </a:solidFill>
                        </a:rPr>
                        <a:t>29%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>
                          <a:solidFill>
                            <a:srgbClr val="000000"/>
                          </a:solidFill>
                        </a:rPr>
                        <a:t>Stressreduktion</a:t>
                      </a:r>
                    </a:p>
                  </a:txBody>
                  <a:tcPr marL="47625" marR="47625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540892"/>
                  </a:ext>
                </a:extLst>
              </a:tr>
              <a:tr h="1401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>
                          <a:solidFill>
                            <a:srgbClr val="4DA685"/>
                          </a:solidFill>
                        </a:rPr>
                        <a:t>22%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>
                          <a:solidFill>
                            <a:srgbClr val="000000"/>
                          </a:solidFill>
                        </a:rPr>
                        <a:t>Umstellung der Ernährung</a:t>
                      </a:r>
                    </a:p>
                  </a:txBody>
                  <a:tcPr marL="47625" marR="47625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754466"/>
                  </a:ext>
                </a:extLst>
              </a:tr>
              <a:tr h="2803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dirty="0">
                          <a:solidFill>
                            <a:srgbClr val="4DA685"/>
                          </a:solidFill>
                        </a:rPr>
                        <a:t>22%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solidFill>
                            <a:srgbClr val="000000"/>
                          </a:solidFill>
                        </a:rPr>
                        <a:t>Vorsorgeuntersuchungen erstmals / verstärkt wahrnehmen</a:t>
                      </a:r>
                    </a:p>
                  </a:txBody>
                  <a:tcPr marL="47625" marR="47625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15767"/>
                  </a:ext>
                </a:extLst>
              </a:tr>
              <a:tr h="4205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>
                          <a:solidFill>
                            <a:srgbClr val="4DA685"/>
                          </a:solidFill>
                        </a:rPr>
                        <a:t>20%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solidFill>
                            <a:srgbClr val="000000"/>
                          </a:solidFill>
                        </a:rPr>
                        <a:t>Beginnen für die eigene Zukunft finanziell vorzusorgen/ finanzielle Vorsorge verstärken</a:t>
                      </a:r>
                    </a:p>
                  </a:txBody>
                  <a:tcPr marL="47625" marR="47625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680973"/>
                  </a:ext>
                </a:extLst>
              </a:tr>
              <a:tr h="2803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>
                          <a:solidFill>
                            <a:srgbClr val="4DA685"/>
                          </a:solidFill>
                        </a:rPr>
                        <a:t>20%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>
                          <a:solidFill>
                            <a:srgbClr val="000000"/>
                          </a:solidFill>
                        </a:rPr>
                        <a:t>Beginnen zu investieren/Investieren verstärken (z.B. Fonds, Aktien, Immobilien)</a:t>
                      </a:r>
                    </a:p>
                  </a:txBody>
                  <a:tcPr marL="47625" marR="47625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908117"/>
                  </a:ext>
                </a:extLst>
              </a:tr>
              <a:tr h="1401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>
                          <a:solidFill>
                            <a:srgbClr val="4DA685"/>
                          </a:solidFill>
                        </a:rPr>
                        <a:t>17%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>
                          <a:solidFill>
                            <a:srgbClr val="000000"/>
                          </a:solidFill>
                        </a:rPr>
                        <a:t>Arbeitsplatzwechsel</a:t>
                      </a:r>
                    </a:p>
                  </a:txBody>
                  <a:tcPr marL="47625" marR="47625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886079"/>
                  </a:ext>
                </a:extLst>
              </a:tr>
              <a:tr h="1401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>
                          <a:solidFill>
                            <a:srgbClr val="4DA685"/>
                          </a:solidFill>
                        </a:rPr>
                        <a:t>16%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solidFill>
                            <a:srgbClr val="000000"/>
                          </a:solidFill>
                        </a:rPr>
                        <a:t>Aufstieg in eine höhere berufliche Position</a:t>
                      </a:r>
                    </a:p>
                  </a:txBody>
                  <a:tcPr marL="47625" marR="47625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5978768"/>
                  </a:ext>
                </a:extLst>
              </a:tr>
            </a:tbl>
          </a:graphicData>
        </a:graphic>
      </p:graphicFrame>
      <p:sp>
        <p:nvSpPr>
          <p:cNvPr id="8" name="Textfeld 38">
            <a:extLst>
              <a:ext uri="{FF2B5EF4-FFF2-40B4-BE49-F238E27FC236}">
                <a16:creationId xmlns:a16="http://schemas.microsoft.com/office/drawing/2014/main" id="{FAC6DD4D-6541-58C2-A1DD-FB3BE081D288}"/>
              </a:ext>
            </a:extLst>
          </p:cNvPr>
          <p:cNvSpPr txBox="1"/>
          <p:nvPr/>
        </p:nvSpPr>
        <p:spPr>
          <a:xfrm>
            <a:off x="883710" y="428370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D4CBCD-5FA2-E98F-4EA8-85557EDA13BF}"/>
              </a:ext>
            </a:extLst>
          </p:cNvPr>
          <p:cNvSpPr txBox="1"/>
          <p:nvPr/>
        </p:nvSpPr>
        <p:spPr>
          <a:xfrm>
            <a:off x="2453852" y="2338839"/>
            <a:ext cx="388231" cy="1525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58%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4B712F-5076-3BA8-75E7-C7F67DF9EA3A}"/>
              </a:ext>
            </a:extLst>
          </p:cNvPr>
          <p:cNvSpPr txBox="1"/>
          <p:nvPr/>
        </p:nvSpPr>
        <p:spPr>
          <a:xfrm>
            <a:off x="4061972" y="2338839"/>
            <a:ext cx="372765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</a:t>
            </a:r>
            <a:r>
              <a:rPr lang="de-AT" sz="1000" b="1" noProof="1">
                <a:solidFill>
                  <a:srgbClr val="4DA685"/>
                </a:solidFill>
              </a:rPr>
              <a:t>74</a:t>
            </a: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46138C-FAD0-C42F-FCFD-51B786437BB8}"/>
              </a:ext>
            </a:extLst>
          </p:cNvPr>
          <p:cNvSpPr txBox="1"/>
          <p:nvPr/>
        </p:nvSpPr>
        <p:spPr>
          <a:xfrm>
            <a:off x="6444560" y="2338839"/>
            <a:ext cx="387990" cy="1525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</a:t>
            </a:r>
            <a:r>
              <a:rPr lang="de-AT" sz="1000" b="1" noProof="1">
                <a:solidFill>
                  <a:srgbClr val="4DA685"/>
                </a:solidFill>
              </a:rPr>
              <a:t>40</a:t>
            </a: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6DF090-7730-0B50-4A9C-DF94EE10A183}"/>
              </a:ext>
            </a:extLst>
          </p:cNvPr>
          <p:cNvSpPr txBox="1"/>
          <p:nvPr/>
        </p:nvSpPr>
        <p:spPr>
          <a:xfrm>
            <a:off x="7225254" y="2338839"/>
            <a:ext cx="391619" cy="1525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</a:t>
            </a:r>
            <a:r>
              <a:rPr lang="de-AT" sz="1000" b="1" noProof="1">
                <a:solidFill>
                  <a:srgbClr val="4DA685"/>
                </a:solidFill>
              </a:rPr>
              <a:t>88</a:t>
            </a: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9AB035-B924-7ADA-FFC0-005693532D75}"/>
              </a:ext>
            </a:extLst>
          </p:cNvPr>
          <p:cNvSpPr txBox="1"/>
          <p:nvPr/>
        </p:nvSpPr>
        <p:spPr>
          <a:xfrm>
            <a:off x="8797089" y="2338839"/>
            <a:ext cx="363530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73%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902027-47C7-8FE5-C6D2-DB7848CB0319}"/>
              </a:ext>
            </a:extLst>
          </p:cNvPr>
          <p:cNvSpPr txBox="1"/>
          <p:nvPr/>
        </p:nvSpPr>
        <p:spPr>
          <a:xfrm>
            <a:off x="9577783" y="2338839"/>
            <a:ext cx="391257" cy="1525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82%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28B0E2-53DB-A765-091F-A74DEA447EA0}"/>
              </a:ext>
            </a:extLst>
          </p:cNvPr>
          <p:cNvSpPr txBox="1"/>
          <p:nvPr/>
        </p:nvSpPr>
        <p:spPr>
          <a:xfrm>
            <a:off x="10386111" y="2338839"/>
            <a:ext cx="391351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57%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C53AD6-F801-F12C-A737-2480E16206F8}"/>
              </a:ext>
            </a:extLst>
          </p:cNvPr>
          <p:cNvSpPr txBox="1"/>
          <p:nvPr/>
        </p:nvSpPr>
        <p:spPr>
          <a:xfrm>
            <a:off x="11166806" y="2338839"/>
            <a:ext cx="394317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</a:t>
            </a:r>
            <a:r>
              <a:rPr lang="de-AT" sz="1000" b="1" noProof="1">
                <a:solidFill>
                  <a:srgbClr val="4DA685"/>
                </a:solidFill>
              </a:rPr>
              <a:t>85</a:t>
            </a: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EAC207-A22C-B44B-1077-784D5BD4D0B7}"/>
              </a:ext>
            </a:extLst>
          </p:cNvPr>
          <p:cNvSpPr txBox="1"/>
          <p:nvPr/>
        </p:nvSpPr>
        <p:spPr>
          <a:xfrm>
            <a:off x="3258462" y="2973826"/>
            <a:ext cx="308901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u="none" strike="noStrike" noProof="1">
                <a:solidFill>
                  <a:srgbClr val="000000"/>
                </a:solidFill>
                <a:effectLst/>
              </a:rPr>
              <a:t> 59%</a:t>
            </a:r>
            <a:endParaRPr lang="de-AT" sz="1000" i="0" u="none" strike="noStrike" noProof="1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8B3531-14F9-2132-293E-776AAA6979A8}"/>
              </a:ext>
            </a:extLst>
          </p:cNvPr>
          <p:cNvSpPr txBox="1"/>
          <p:nvPr/>
        </p:nvSpPr>
        <p:spPr>
          <a:xfrm>
            <a:off x="4888186" y="2972600"/>
            <a:ext cx="390819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</a:t>
            </a:r>
            <a:r>
              <a:rPr lang="de-AT" sz="1000" b="1" noProof="1">
                <a:solidFill>
                  <a:srgbClr val="4DA685"/>
                </a:solidFill>
              </a:rPr>
              <a:t>90</a:t>
            </a: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333451-604C-4B8B-F5F5-5B54C682B575}"/>
              </a:ext>
            </a:extLst>
          </p:cNvPr>
          <p:cNvSpPr txBox="1"/>
          <p:nvPr/>
        </p:nvSpPr>
        <p:spPr>
          <a:xfrm>
            <a:off x="5613706" y="2972602"/>
            <a:ext cx="393219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</a:t>
            </a:r>
            <a:r>
              <a:rPr lang="de-AT" sz="1000" b="1" noProof="1">
                <a:solidFill>
                  <a:srgbClr val="4DA685"/>
                </a:solidFill>
              </a:rPr>
              <a:t>78</a:t>
            </a: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0E67B7-3422-0323-76B7-ABB29D7F9F0F}"/>
              </a:ext>
            </a:extLst>
          </p:cNvPr>
          <p:cNvSpPr txBox="1"/>
          <p:nvPr/>
        </p:nvSpPr>
        <p:spPr>
          <a:xfrm>
            <a:off x="7977223" y="2972600"/>
            <a:ext cx="419169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FF0000"/>
                </a:solidFill>
                <a:effectLst/>
              </a:rPr>
              <a:t> 48%</a:t>
            </a:r>
            <a:endParaRPr lang="de-AT" sz="1000" b="1" i="0" u="none" strike="noStrike" noProof="1">
              <a:solidFill>
                <a:srgbClr val="FF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32" name="Textfeld 38">
            <a:extLst>
              <a:ext uri="{FF2B5EF4-FFF2-40B4-BE49-F238E27FC236}">
                <a16:creationId xmlns:a16="http://schemas.microsoft.com/office/drawing/2014/main" id="{3FADB08A-0338-302E-7E18-BAB19D8B9070}"/>
              </a:ext>
            </a:extLst>
          </p:cNvPr>
          <p:cNvSpPr txBox="1"/>
          <p:nvPr/>
        </p:nvSpPr>
        <p:spPr>
          <a:xfrm>
            <a:off x="6439026" y="4103389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33" name="Textfeld 38">
            <a:extLst>
              <a:ext uri="{FF2B5EF4-FFF2-40B4-BE49-F238E27FC236}">
                <a16:creationId xmlns:a16="http://schemas.microsoft.com/office/drawing/2014/main" id="{A7B9A0FF-ACDA-A657-EE34-C64318D5DBF4}"/>
              </a:ext>
            </a:extLst>
          </p:cNvPr>
          <p:cNvSpPr txBox="1"/>
          <p:nvPr/>
        </p:nvSpPr>
        <p:spPr>
          <a:xfrm>
            <a:off x="9362287" y="3903780"/>
            <a:ext cx="198563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36" name="Textfeld 38">
            <a:extLst>
              <a:ext uri="{FF2B5EF4-FFF2-40B4-BE49-F238E27FC236}">
                <a16:creationId xmlns:a16="http://schemas.microsoft.com/office/drawing/2014/main" id="{08D95D15-7098-EDA0-4A86-7ECFC5C8BD48}"/>
              </a:ext>
            </a:extLst>
          </p:cNvPr>
          <p:cNvSpPr txBox="1"/>
          <p:nvPr/>
        </p:nvSpPr>
        <p:spPr>
          <a:xfrm>
            <a:off x="6439026" y="4488688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1AF1D89E-4070-9FDF-F410-9B915EA7EB58}"/>
              </a:ext>
            </a:extLst>
          </p:cNvPr>
          <p:cNvSpPr txBox="1"/>
          <p:nvPr/>
        </p:nvSpPr>
        <p:spPr>
          <a:xfrm>
            <a:off x="9362288" y="558796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40" name="Textfeld 38">
            <a:extLst>
              <a:ext uri="{FF2B5EF4-FFF2-40B4-BE49-F238E27FC236}">
                <a16:creationId xmlns:a16="http://schemas.microsoft.com/office/drawing/2014/main" id="{58E295D1-A735-7047-3E73-0217FA93B666}"/>
              </a:ext>
            </a:extLst>
          </p:cNvPr>
          <p:cNvSpPr txBox="1"/>
          <p:nvPr/>
        </p:nvSpPr>
        <p:spPr>
          <a:xfrm>
            <a:off x="2690249" y="228437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42" name="Textfeld 38">
            <a:extLst>
              <a:ext uri="{FF2B5EF4-FFF2-40B4-BE49-F238E27FC236}">
                <a16:creationId xmlns:a16="http://schemas.microsoft.com/office/drawing/2014/main" id="{1087D5E9-FF31-F825-716A-1FE62736DCB7}"/>
              </a:ext>
            </a:extLst>
          </p:cNvPr>
          <p:cNvSpPr txBox="1"/>
          <p:nvPr/>
        </p:nvSpPr>
        <p:spPr>
          <a:xfrm>
            <a:off x="4274100" y="228437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54" name="Textfeld 38">
            <a:extLst>
              <a:ext uri="{FF2B5EF4-FFF2-40B4-BE49-F238E27FC236}">
                <a16:creationId xmlns:a16="http://schemas.microsoft.com/office/drawing/2014/main" id="{11629943-A540-8C25-E2C3-D3408F6F9E22}"/>
              </a:ext>
            </a:extLst>
          </p:cNvPr>
          <p:cNvSpPr txBox="1"/>
          <p:nvPr/>
        </p:nvSpPr>
        <p:spPr>
          <a:xfrm>
            <a:off x="6674033" y="228437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55" name="Textfeld 38">
            <a:extLst>
              <a:ext uri="{FF2B5EF4-FFF2-40B4-BE49-F238E27FC236}">
                <a16:creationId xmlns:a16="http://schemas.microsoft.com/office/drawing/2014/main" id="{BDFDAAA8-AA97-96C5-7A70-43D5FBED37AE}"/>
              </a:ext>
            </a:extLst>
          </p:cNvPr>
          <p:cNvSpPr txBox="1"/>
          <p:nvPr/>
        </p:nvSpPr>
        <p:spPr>
          <a:xfrm>
            <a:off x="7458357" y="228437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57" name="Textfeld 38">
            <a:extLst>
              <a:ext uri="{FF2B5EF4-FFF2-40B4-BE49-F238E27FC236}">
                <a16:creationId xmlns:a16="http://schemas.microsoft.com/office/drawing/2014/main" id="{43E731CC-0962-415E-0C8D-C851EE60362F}"/>
              </a:ext>
            </a:extLst>
          </p:cNvPr>
          <p:cNvSpPr txBox="1"/>
          <p:nvPr/>
        </p:nvSpPr>
        <p:spPr>
          <a:xfrm>
            <a:off x="9028643" y="228437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58" name="Textfeld 38">
            <a:extLst>
              <a:ext uri="{FF2B5EF4-FFF2-40B4-BE49-F238E27FC236}">
                <a16:creationId xmlns:a16="http://schemas.microsoft.com/office/drawing/2014/main" id="{3AE1E6C4-D521-2799-BD04-CF9E48027F0B}"/>
              </a:ext>
            </a:extLst>
          </p:cNvPr>
          <p:cNvSpPr txBox="1"/>
          <p:nvPr/>
        </p:nvSpPr>
        <p:spPr>
          <a:xfrm>
            <a:off x="9810524" y="228437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60" name="Textfeld 38">
            <a:extLst>
              <a:ext uri="{FF2B5EF4-FFF2-40B4-BE49-F238E27FC236}">
                <a16:creationId xmlns:a16="http://schemas.microsoft.com/office/drawing/2014/main" id="{C6F48237-AB82-7A95-32CB-58347C208EE3}"/>
              </a:ext>
            </a:extLst>
          </p:cNvPr>
          <p:cNvSpPr txBox="1"/>
          <p:nvPr/>
        </p:nvSpPr>
        <p:spPr>
          <a:xfrm>
            <a:off x="10618946" y="228437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61" name="Textfeld 38">
            <a:extLst>
              <a:ext uri="{FF2B5EF4-FFF2-40B4-BE49-F238E27FC236}">
                <a16:creationId xmlns:a16="http://schemas.microsoft.com/office/drawing/2014/main" id="{9C71ECF8-4D4B-333B-E693-BC40E0063C5A}"/>
              </a:ext>
            </a:extLst>
          </p:cNvPr>
          <p:cNvSpPr txBox="1"/>
          <p:nvPr/>
        </p:nvSpPr>
        <p:spPr>
          <a:xfrm>
            <a:off x="11395933" y="228437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64" name="Textfeld 38">
            <a:extLst>
              <a:ext uri="{FF2B5EF4-FFF2-40B4-BE49-F238E27FC236}">
                <a16:creationId xmlns:a16="http://schemas.microsoft.com/office/drawing/2014/main" id="{62239213-E7BC-1D00-0175-BFB0C4EBBCE9}"/>
              </a:ext>
            </a:extLst>
          </p:cNvPr>
          <p:cNvSpPr txBox="1"/>
          <p:nvPr/>
        </p:nvSpPr>
        <p:spPr>
          <a:xfrm>
            <a:off x="5835059" y="2917130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65" name="Textfeld 38">
            <a:extLst>
              <a:ext uri="{FF2B5EF4-FFF2-40B4-BE49-F238E27FC236}">
                <a16:creationId xmlns:a16="http://schemas.microsoft.com/office/drawing/2014/main" id="{FC74AAFA-7DD2-65BA-4F37-E186E315D07A}"/>
              </a:ext>
            </a:extLst>
          </p:cNvPr>
          <p:cNvSpPr txBox="1"/>
          <p:nvPr/>
        </p:nvSpPr>
        <p:spPr>
          <a:xfrm>
            <a:off x="5120489" y="2917130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67" name="Textfeld 38">
            <a:extLst>
              <a:ext uri="{FF2B5EF4-FFF2-40B4-BE49-F238E27FC236}">
                <a16:creationId xmlns:a16="http://schemas.microsoft.com/office/drawing/2014/main" id="{3BFCEE30-2BFF-CBBE-187D-DE2BCAFD63E4}"/>
              </a:ext>
            </a:extLst>
          </p:cNvPr>
          <p:cNvSpPr txBox="1"/>
          <p:nvPr/>
        </p:nvSpPr>
        <p:spPr>
          <a:xfrm rot="10800000">
            <a:off x="883710" y="3954691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70" name="Textfeld 38">
            <a:extLst>
              <a:ext uri="{FF2B5EF4-FFF2-40B4-BE49-F238E27FC236}">
                <a16:creationId xmlns:a16="http://schemas.microsoft.com/office/drawing/2014/main" id="{DCF735D3-D1A6-E8BE-CFFE-9FF009EB20F0}"/>
              </a:ext>
            </a:extLst>
          </p:cNvPr>
          <p:cNvSpPr txBox="1"/>
          <p:nvPr/>
        </p:nvSpPr>
        <p:spPr>
          <a:xfrm>
            <a:off x="5416492" y="4416851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72" name="Textfeld 38">
            <a:extLst>
              <a:ext uri="{FF2B5EF4-FFF2-40B4-BE49-F238E27FC236}">
                <a16:creationId xmlns:a16="http://schemas.microsoft.com/office/drawing/2014/main" id="{9655F746-93BA-4A7A-79EB-ED016930BE79}"/>
              </a:ext>
            </a:extLst>
          </p:cNvPr>
          <p:cNvSpPr txBox="1"/>
          <p:nvPr/>
        </p:nvSpPr>
        <p:spPr>
          <a:xfrm>
            <a:off x="5864704" y="4567765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74" name="Textfeld 38">
            <a:extLst>
              <a:ext uri="{FF2B5EF4-FFF2-40B4-BE49-F238E27FC236}">
                <a16:creationId xmlns:a16="http://schemas.microsoft.com/office/drawing/2014/main" id="{2E8167AA-14E0-BB1C-9EBE-54D840C4ECF4}"/>
              </a:ext>
            </a:extLst>
          </p:cNvPr>
          <p:cNvSpPr txBox="1"/>
          <p:nvPr/>
        </p:nvSpPr>
        <p:spPr>
          <a:xfrm>
            <a:off x="5305563" y="4874418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78" name="Textfeld 38">
            <a:extLst>
              <a:ext uri="{FF2B5EF4-FFF2-40B4-BE49-F238E27FC236}">
                <a16:creationId xmlns:a16="http://schemas.microsoft.com/office/drawing/2014/main" id="{97CC380D-3CD5-B928-6F52-62099803C76A}"/>
              </a:ext>
            </a:extLst>
          </p:cNvPr>
          <p:cNvSpPr txBox="1"/>
          <p:nvPr/>
        </p:nvSpPr>
        <p:spPr>
          <a:xfrm>
            <a:off x="6439026" y="3917292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79" name="Textfeld 38">
            <a:extLst>
              <a:ext uri="{FF2B5EF4-FFF2-40B4-BE49-F238E27FC236}">
                <a16:creationId xmlns:a16="http://schemas.microsoft.com/office/drawing/2014/main" id="{E74F3DD4-E675-2094-C0DC-FF35D97330B1}"/>
              </a:ext>
            </a:extLst>
          </p:cNvPr>
          <p:cNvSpPr txBox="1"/>
          <p:nvPr/>
        </p:nvSpPr>
        <p:spPr>
          <a:xfrm>
            <a:off x="6444560" y="5487554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28" name="Textfeld 6">
            <a:extLst>
              <a:ext uri="{FF2B5EF4-FFF2-40B4-BE49-F238E27FC236}">
                <a16:creationId xmlns:a16="http://schemas.microsoft.com/office/drawing/2014/main" id="{9BA50496-2C75-E999-BB23-889CB2FF5D48}"/>
              </a:ext>
            </a:extLst>
          </p:cNvPr>
          <p:cNvSpPr txBox="1"/>
          <p:nvPr/>
        </p:nvSpPr>
        <p:spPr>
          <a:xfrm>
            <a:off x="4441567" y="6585418"/>
            <a:ext cx="53725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= größere, signifikante Abweichungen von der Gesamtstichprobe (mindestens 7 Prozentpunkte höher/niedriger)</a:t>
            </a:r>
          </a:p>
        </p:txBody>
      </p:sp>
      <p:sp>
        <p:nvSpPr>
          <p:cNvPr id="29" name="Textfeld 38">
            <a:extLst>
              <a:ext uri="{FF2B5EF4-FFF2-40B4-BE49-F238E27FC236}">
                <a16:creationId xmlns:a16="http://schemas.microsoft.com/office/drawing/2014/main" id="{28E6DCC5-7A99-30DC-C49A-633A2410E1F7}"/>
              </a:ext>
            </a:extLst>
          </p:cNvPr>
          <p:cNvSpPr txBox="1"/>
          <p:nvPr/>
        </p:nvSpPr>
        <p:spPr>
          <a:xfrm>
            <a:off x="4236176" y="6565779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30" name="Textfeld 38">
            <a:extLst>
              <a:ext uri="{FF2B5EF4-FFF2-40B4-BE49-F238E27FC236}">
                <a16:creationId xmlns:a16="http://schemas.microsoft.com/office/drawing/2014/main" id="{5EF24875-63AB-60F7-A22B-651CFFD68FEC}"/>
              </a:ext>
            </a:extLst>
          </p:cNvPr>
          <p:cNvSpPr txBox="1"/>
          <p:nvPr/>
        </p:nvSpPr>
        <p:spPr>
          <a:xfrm rot="10800000">
            <a:off x="4328015" y="6610935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21" name="Textfeld 38">
            <a:extLst>
              <a:ext uri="{FF2B5EF4-FFF2-40B4-BE49-F238E27FC236}">
                <a16:creationId xmlns:a16="http://schemas.microsoft.com/office/drawing/2014/main" id="{0CAA5BB1-EA04-6CC5-894D-7BE85CE8C079}"/>
              </a:ext>
            </a:extLst>
          </p:cNvPr>
          <p:cNvSpPr txBox="1"/>
          <p:nvPr/>
        </p:nvSpPr>
        <p:spPr>
          <a:xfrm rot="10800000">
            <a:off x="8113245" y="2968962"/>
            <a:ext cx="419169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34" name="Textfeld 38">
            <a:extLst>
              <a:ext uri="{FF2B5EF4-FFF2-40B4-BE49-F238E27FC236}">
                <a16:creationId xmlns:a16="http://schemas.microsoft.com/office/drawing/2014/main" id="{19560A20-3A35-CD51-006A-09CC93DCDAF4}"/>
              </a:ext>
            </a:extLst>
          </p:cNvPr>
          <p:cNvSpPr txBox="1"/>
          <p:nvPr/>
        </p:nvSpPr>
        <p:spPr>
          <a:xfrm>
            <a:off x="3191223" y="5713530"/>
            <a:ext cx="381751" cy="3208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4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35" name="Textfeld 38">
            <a:extLst>
              <a:ext uri="{FF2B5EF4-FFF2-40B4-BE49-F238E27FC236}">
                <a16:creationId xmlns:a16="http://schemas.microsoft.com/office/drawing/2014/main" id="{957A339E-4240-D5D3-CDC7-067255519EFF}"/>
              </a:ext>
            </a:extLst>
          </p:cNvPr>
          <p:cNvSpPr txBox="1"/>
          <p:nvPr/>
        </p:nvSpPr>
        <p:spPr>
          <a:xfrm>
            <a:off x="3198058" y="5950820"/>
            <a:ext cx="381751" cy="3208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400" b="1" dirty="0">
                <a:solidFill>
                  <a:srgbClr val="4DA685"/>
                </a:solidFill>
              </a:rPr>
              <a:t>↑ </a:t>
            </a:r>
          </a:p>
        </p:txBody>
      </p:sp>
      <p:sp>
        <p:nvSpPr>
          <p:cNvPr id="38" name="Textfeld 38">
            <a:extLst>
              <a:ext uri="{FF2B5EF4-FFF2-40B4-BE49-F238E27FC236}">
                <a16:creationId xmlns:a16="http://schemas.microsoft.com/office/drawing/2014/main" id="{714B5618-D8C3-AF72-E3BE-054BA2BEA77D}"/>
              </a:ext>
            </a:extLst>
          </p:cNvPr>
          <p:cNvSpPr txBox="1"/>
          <p:nvPr/>
        </p:nvSpPr>
        <p:spPr>
          <a:xfrm>
            <a:off x="9278720" y="4592077"/>
            <a:ext cx="365697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43" name="Textfeld 38">
            <a:extLst>
              <a:ext uri="{FF2B5EF4-FFF2-40B4-BE49-F238E27FC236}">
                <a16:creationId xmlns:a16="http://schemas.microsoft.com/office/drawing/2014/main" id="{1C8468A3-488C-2EDB-EEF3-6061990DC873}"/>
              </a:ext>
            </a:extLst>
          </p:cNvPr>
          <p:cNvSpPr txBox="1"/>
          <p:nvPr/>
        </p:nvSpPr>
        <p:spPr>
          <a:xfrm>
            <a:off x="9278720" y="5164665"/>
            <a:ext cx="365697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9DAB764-40F4-9D27-0035-DB8671DFC9D2}"/>
              </a:ext>
            </a:extLst>
          </p:cNvPr>
          <p:cNvSpPr txBox="1"/>
          <p:nvPr/>
        </p:nvSpPr>
        <p:spPr>
          <a:xfrm>
            <a:off x="7837457" y="3205872"/>
            <a:ext cx="4354544" cy="1992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  <a:buClr>
                <a:schemeClr val="tx2"/>
              </a:buClr>
            </a:pPr>
            <a:r>
              <a:rPr lang="de-DE" sz="800" spc="-30" dirty="0">
                <a:solidFill>
                  <a:schemeClr val="bg1">
                    <a:lumMod val="75000"/>
                  </a:schemeClr>
                </a:solidFill>
              </a:rPr>
              <a:t>Lebensmomente/Zukunftspläne mit Anteilen von mind. 30% angeführt. Zusätzlich signifikant häufigere Lebensmomente/Zukunftspläne (vgl. zur Gesamtstichprobe) mit Anteilen von mind. 15% angeführt. </a:t>
            </a:r>
          </a:p>
        </p:txBody>
      </p:sp>
      <p:sp>
        <p:nvSpPr>
          <p:cNvPr id="31" name="Datumsplatzhalter 1">
            <a:extLst>
              <a:ext uri="{FF2B5EF4-FFF2-40B4-BE49-F238E27FC236}">
                <a16:creationId xmlns:a16="http://schemas.microsoft.com/office/drawing/2014/main" id="{4464E2B3-0132-58D0-3FED-77CC9B21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875" y="6556875"/>
            <a:ext cx="588192" cy="219454"/>
          </a:xfrm>
        </p:spPr>
        <p:txBody>
          <a:bodyPr/>
          <a:lstStyle/>
          <a:p>
            <a:fld id="{72D77B36-95B7-FF43-8BF5-D80FC3958B26}" type="datetime1">
              <a:rPr lang="de-AT" noProof="0" smtClean="0"/>
              <a:t>28.05.26</a:t>
            </a:fld>
            <a:endParaRPr lang="de-AT" noProof="0" dirty="0"/>
          </a:p>
        </p:txBody>
      </p:sp>
      <p:sp>
        <p:nvSpPr>
          <p:cNvPr id="44" name="Fußzeilenplatzhalter 2">
            <a:extLst>
              <a:ext uri="{FF2B5EF4-FFF2-40B4-BE49-F238E27FC236}">
                <a16:creationId xmlns:a16="http://schemas.microsoft.com/office/drawing/2014/main" id="{6AEC4D06-18FD-6089-7008-91A62C6AA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0" y="6556875"/>
            <a:ext cx="6127477" cy="219454"/>
          </a:xfrm>
        </p:spPr>
        <p:txBody>
          <a:bodyPr/>
          <a:lstStyle/>
          <a:p>
            <a:r>
              <a:rPr lang="de-AT" noProof="0" dirty="0"/>
              <a:t>Retail-Segmentierung Neu│ S. Stratula &amp; K. Preibisch</a:t>
            </a:r>
          </a:p>
        </p:txBody>
      </p:sp>
    </p:spTree>
    <p:extLst>
      <p:ext uri="{BB962C8B-B14F-4D97-AF65-F5344CB8AC3E}">
        <p14:creationId xmlns:p14="http://schemas.microsoft.com/office/powerpoint/2010/main" val="3244040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AC3AB-ABA0-A0D1-5D8B-8314FE6D9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ollage of two people using a computer&#10;&#10;AI-generated content may be incorrect.">
            <a:extLst>
              <a:ext uri="{FF2B5EF4-FFF2-40B4-BE49-F238E27FC236}">
                <a16:creationId xmlns:a16="http://schemas.microsoft.com/office/drawing/2014/main" id="{442E4F86-F635-B9BA-1A0C-617F3BA661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07817" y="0"/>
            <a:ext cx="4570397" cy="621292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F0C5F49-D9AF-7DC3-164F-460CFA589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6212921"/>
            <a:ext cx="12192001" cy="645079"/>
          </a:xfrm>
          <a:solidFill>
            <a:srgbClr val="F2610D"/>
          </a:solidFill>
        </p:spPr>
        <p:txBody>
          <a:bodyPr/>
          <a:lstStyle/>
          <a:p>
            <a:pPr algn="ctr"/>
            <a:r>
              <a:rPr lang="de-DE" sz="4000" dirty="0">
                <a:cs typeface="Times New Roman" panose="02020603050405020304" pitchFamily="18" charset="0"/>
              </a:rPr>
              <a:t>Segment 2 </a:t>
            </a:r>
            <a:r>
              <a:rPr lang="de-DE" sz="4800" dirty="0">
                <a:cs typeface="Times New Roman" panose="02020603050405020304" pitchFamily="18" charset="0"/>
              </a:rPr>
              <a:t>- </a:t>
            </a:r>
            <a:r>
              <a:rPr lang="de-DE" sz="4000" dirty="0">
                <a:cs typeface="Times New Roman" panose="02020603050405020304" pitchFamily="18" charset="0"/>
              </a:rPr>
              <a:t>Die Online Affinen</a:t>
            </a:r>
            <a:endParaRPr lang="de-DE" sz="4000" dirty="0">
              <a:highlight>
                <a:srgbClr val="FF00FF"/>
              </a:highlight>
              <a:cs typeface="Times New Roman" panose="02020603050405020304" pitchFamily="18" charset="0"/>
            </a:endParaRPr>
          </a:p>
        </p:txBody>
      </p:sp>
      <p:pic>
        <p:nvPicPr>
          <p:cNvPr id="7" name="Picture 6" descr="A collage of a person holding a phone and a computer&#10;&#10;AI-generated content may be incorrect.">
            <a:extLst>
              <a:ext uri="{FF2B5EF4-FFF2-40B4-BE49-F238E27FC236}">
                <a16:creationId xmlns:a16="http://schemas.microsoft.com/office/drawing/2014/main" id="{2195D09C-B43C-4358-4076-BF98F9F7B8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59" y="-1"/>
            <a:ext cx="4570397" cy="621292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869093B-A37C-8D15-ACD6-990974D52C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517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1851F-C3F6-3560-E4A2-CDBAEB932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feld 11">
            <a:extLst>
              <a:ext uri="{FF2B5EF4-FFF2-40B4-BE49-F238E27FC236}">
                <a16:creationId xmlns:a16="http://schemas.microsoft.com/office/drawing/2014/main" id="{0BDE8DAA-F1E5-0424-0D13-A467B876813F}"/>
              </a:ext>
            </a:extLst>
          </p:cNvPr>
          <p:cNvSpPr txBox="1"/>
          <p:nvPr/>
        </p:nvSpPr>
        <p:spPr>
          <a:xfrm>
            <a:off x="406797" y="1540342"/>
            <a:ext cx="3008176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400"/>
              <a:t>SOZIODEMOGRAPHIE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AD1BCD20-ECD3-AECF-F210-2DE45D712718}"/>
              </a:ext>
            </a:extLst>
          </p:cNvPr>
          <p:cNvSpPr/>
          <p:nvPr/>
        </p:nvSpPr>
        <p:spPr>
          <a:xfrm>
            <a:off x="8401524" y="1842622"/>
            <a:ext cx="3459807" cy="2892763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graphicFrame>
        <p:nvGraphicFramePr>
          <p:cNvPr id="98" name="Diagramm 51">
            <a:extLst>
              <a:ext uri="{FF2B5EF4-FFF2-40B4-BE49-F238E27FC236}">
                <a16:creationId xmlns:a16="http://schemas.microsoft.com/office/drawing/2014/main" id="{0FE1C8D8-1A20-0E04-0525-029970F44C40}"/>
              </a:ext>
            </a:extLst>
          </p:cNvPr>
          <p:cNvGraphicFramePr/>
          <p:nvPr/>
        </p:nvGraphicFramePr>
        <p:xfrm>
          <a:off x="8831945" y="3098310"/>
          <a:ext cx="3471496" cy="8536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echteck 10">
            <a:extLst>
              <a:ext uri="{FF2B5EF4-FFF2-40B4-BE49-F238E27FC236}">
                <a16:creationId xmlns:a16="http://schemas.microsoft.com/office/drawing/2014/main" id="{D9E5B6B0-7706-361A-DB40-0FEEC315D8AD}"/>
              </a:ext>
            </a:extLst>
          </p:cNvPr>
          <p:cNvSpPr/>
          <p:nvPr/>
        </p:nvSpPr>
        <p:spPr>
          <a:xfrm>
            <a:off x="402545" y="1842623"/>
            <a:ext cx="3844199" cy="4457285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>
              <a:solidFill>
                <a:schemeClr val="bg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3565787-3EF0-B791-EE35-DCFA0D6335FC}"/>
              </a:ext>
            </a:extLst>
          </p:cNvPr>
          <p:cNvSpPr txBox="1"/>
          <p:nvPr/>
        </p:nvSpPr>
        <p:spPr>
          <a:xfrm>
            <a:off x="315266" y="6371801"/>
            <a:ext cx="115460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Basis: </a:t>
            </a:r>
            <a:r>
              <a:rPr lang="de-DE" sz="800" err="1"/>
              <a:t>n</a:t>
            </a:r>
            <a:r>
              <a:rPr lang="de-DE" sz="800"/>
              <a:t>(Segment2)=688 | Grüne/rote Schriftfarbe und fette Markierung von Werten: Signifikante Abweichungen von der Gesamtstichprobe. Grün = signifikant höherer Wert, rot = signifikant niedrigerer Wert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2B3DACDF-F4D7-5ED7-4130-8A4EA1B1C416}"/>
              </a:ext>
            </a:extLst>
          </p:cNvPr>
          <p:cNvSpPr/>
          <p:nvPr/>
        </p:nvSpPr>
        <p:spPr>
          <a:xfrm>
            <a:off x="4380626" y="1842623"/>
            <a:ext cx="3880357" cy="4450443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08DFC715-1957-BF1E-8AE6-1901DC90B8B5}"/>
              </a:ext>
            </a:extLst>
          </p:cNvPr>
          <p:cNvSpPr txBox="1"/>
          <p:nvPr/>
        </p:nvSpPr>
        <p:spPr>
          <a:xfrm>
            <a:off x="4427956" y="2339581"/>
            <a:ext cx="3753905" cy="25994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800">
                <a:solidFill>
                  <a:schemeClr val="bg1">
                    <a:lumMod val="75000"/>
                  </a:schemeClr>
                </a:solidFill>
              </a:rPr>
              <a:t>*Näherungsweiser Mittelwert auf Basis von Klassenmittelpunkten, da die Abfrage in Kategorien erfolgte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03E0A7-AEA7-BEAC-4423-86B70E7DC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12</a:t>
            </a:fld>
            <a:endParaRPr lang="de-AT" noProof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42612F0-984E-42F3-8821-40F2933C4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76" y="917607"/>
            <a:ext cx="11395074" cy="484473"/>
          </a:xfrm>
        </p:spPr>
        <p:txBody>
          <a:bodyPr/>
          <a:lstStyle/>
          <a:p>
            <a:r>
              <a:rPr lang="de-DE" sz="3400"/>
              <a:t>Struktur und Charakteristika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286578D-FA49-C378-E771-0CF4281873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/>
              <a:t>Segment 2: Die Online Affinen</a:t>
            </a:r>
          </a:p>
        </p:txBody>
      </p:sp>
      <p:cxnSp>
        <p:nvCxnSpPr>
          <p:cNvPr id="14" name="Gerade Verbindung 13">
            <a:extLst>
              <a:ext uri="{FF2B5EF4-FFF2-40B4-BE49-F238E27FC236}">
                <a16:creationId xmlns:a16="http://schemas.microsoft.com/office/drawing/2014/main" id="{002D9500-2D32-F281-B1FD-C443E9CABF84}"/>
              </a:ext>
            </a:extLst>
          </p:cNvPr>
          <p:cNvCxnSpPr>
            <a:cxnSpLocks/>
          </p:cNvCxnSpPr>
          <p:nvPr/>
        </p:nvCxnSpPr>
        <p:spPr>
          <a:xfrm>
            <a:off x="2320314" y="1835313"/>
            <a:ext cx="0" cy="4414566"/>
          </a:xfrm>
          <a:prstGeom prst="line">
            <a:avLst/>
          </a:prstGeom>
          <a:ln w="28575">
            <a:solidFill>
              <a:srgbClr val="F2610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0D3BF240-2DF3-7B94-665B-EA5C746A84BD}"/>
              </a:ext>
            </a:extLst>
          </p:cNvPr>
          <p:cNvSpPr txBox="1"/>
          <p:nvPr/>
        </p:nvSpPr>
        <p:spPr>
          <a:xfrm>
            <a:off x="1132452" y="2123076"/>
            <a:ext cx="522514" cy="2786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600" b="1">
                <a:solidFill>
                  <a:srgbClr val="4DA685"/>
                </a:solidFill>
              </a:rPr>
              <a:t>55%</a:t>
            </a:r>
          </a:p>
        </p:txBody>
      </p:sp>
      <p:pic>
        <p:nvPicPr>
          <p:cNvPr id="28" name="Grafik 27" descr="Weiblich mit einfarbiger Füllung">
            <a:extLst>
              <a:ext uri="{FF2B5EF4-FFF2-40B4-BE49-F238E27FC236}">
                <a16:creationId xmlns:a16="http://schemas.microsoft.com/office/drawing/2014/main" id="{B4EEDF0A-C97B-EDF3-8144-F2928F7D20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136" y="2399985"/>
            <a:ext cx="322661" cy="322661"/>
          </a:xfrm>
          <a:prstGeom prst="rect">
            <a:avLst/>
          </a:prstGeom>
        </p:spPr>
      </p:pic>
      <p:sp>
        <p:nvSpPr>
          <p:cNvPr id="29" name="Textfeld 28">
            <a:extLst>
              <a:ext uri="{FF2B5EF4-FFF2-40B4-BE49-F238E27FC236}">
                <a16:creationId xmlns:a16="http://schemas.microsoft.com/office/drawing/2014/main" id="{566BA681-11E2-EE4D-D240-344089000F9C}"/>
              </a:ext>
            </a:extLst>
          </p:cNvPr>
          <p:cNvSpPr txBox="1"/>
          <p:nvPr/>
        </p:nvSpPr>
        <p:spPr>
          <a:xfrm>
            <a:off x="1132452" y="2398228"/>
            <a:ext cx="522514" cy="2786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600" b="1">
                <a:solidFill>
                  <a:srgbClr val="FF0000"/>
                </a:solidFill>
              </a:rPr>
              <a:t>44%</a:t>
            </a:r>
          </a:p>
        </p:txBody>
      </p:sp>
      <p:graphicFrame>
        <p:nvGraphicFramePr>
          <p:cNvPr id="30" name="Diagramm 29">
            <a:extLst>
              <a:ext uri="{FF2B5EF4-FFF2-40B4-BE49-F238E27FC236}">
                <a16:creationId xmlns:a16="http://schemas.microsoft.com/office/drawing/2014/main" id="{D9A5B790-1E49-312C-34E9-B2485D9F6F80}"/>
              </a:ext>
            </a:extLst>
          </p:cNvPr>
          <p:cNvGraphicFramePr/>
          <p:nvPr/>
        </p:nvGraphicFramePr>
        <p:xfrm>
          <a:off x="353330" y="3091692"/>
          <a:ext cx="2223089" cy="2045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1" name="Textfeld 30">
            <a:extLst>
              <a:ext uri="{FF2B5EF4-FFF2-40B4-BE49-F238E27FC236}">
                <a16:creationId xmlns:a16="http://schemas.microsoft.com/office/drawing/2014/main" id="{414D6544-B85B-55FE-E28E-D494A77E4D03}"/>
              </a:ext>
            </a:extLst>
          </p:cNvPr>
          <p:cNvSpPr txBox="1"/>
          <p:nvPr/>
        </p:nvSpPr>
        <p:spPr>
          <a:xfrm>
            <a:off x="2374614" y="3467281"/>
            <a:ext cx="1861562" cy="251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100">
                <a:solidFill>
                  <a:srgbClr val="F2610D"/>
                </a:solidFill>
              </a:rPr>
              <a:t>Durchschnittsalter: </a:t>
            </a:r>
            <a:r>
              <a:rPr lang="de-DE" sz="1100" b="1">
                <a:solidFill>
                  <a:srgbClr val="FF0000"/>
                </a:solidFill>
              </a:rPr>
              <a:t>43,1</a:t>
            </a:r>
            <a:r>
              <a:rPr lang="de-DE" sz="1100"/>
              <a:t> </a:t>
            </a:r>
            <a:r>
              <a:rPr lang="de-DE" sz="1100">
                <a:solidFill>
                  <a:srgbClr val="F2610D"/>
                </a:solidFill>
              </a:rPr>
              <a:t>Jahre</a:t>
            </a:r>
          </a:p>
        </p:txBody>
      </p:sp>
      <p:graphicFrame>
        <p:nvGraphicFramePr>
          <p:cNvPr id="32" name="Diagramm 31">
            <a:extLst>
              <a:ext uri="{FF2B5EF4-FFF2-40B4-BE49-F238E27FC236}">
                <a16:creationId xmlns:a16="http://schemas.microsoft.com/office/drawing/2014/main" id="{729703DE-83C8-6697-B4EC-CAB1B4D4AD49}"/>
              </a:ext>
            </a:extLst>
          </p:cNvPr>
          <p:cNvGraphicFramePr/>
          <p:nvPr/>
        </p:nvGraphicFramePr>
        <p:xfrm>
          <a:off x="2405421" y="2074358"/>
          <a:ext cx="2057062" cy="1422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8" name="Diagramm 37">
            <a:extLst>
              <a:ext uri="{FF2B5EF4-FFF2-40B4-BE49-F238E27FC236}">
                <a16:creationId xmlns:a16="http://schemas.microsoft.com/office/drawing/2014/main" id="{001A671E-3A26-B74D-AC24-E92C18126356}"/>
              </a:ext>
            </a:extLst>
          </p:cNvPr>
          <p:cNvGraphicFramePr/>
          <p:nvPr/>
        </p:nvGraphicFramePr>
        <p:xfrm>
          <a:off x="2444874" y="5373297"/>
          <a:ext cx="1620400" cy="970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0" name="Textfeld 39">
            <a:extLst>
              <a:ext uri="{FF2B5EF4-FFF2-40B4-BE49-F238E27FC236}">
                <a16:creationId xmlns:a16="http://schemas.microsoft.com/office/drawing/2014/main" id="{9F3850C3-8D2C-1959-2D8E-DC8705514864}"/>
              </a:ext>
            </a:extLst>
          </p:cNvPr>
          <p:cNvSpPr txBox="1"/>
          <p:nvPr/>
        </p:nvSpPr>
        <p:spPr>
          <a:xfrm>
            <a:off x="501863" y="1881128"/>
            <a:ext cx="123661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Geschlecht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BA6C0143-6D74-9411-1FAA-A5DDC159720B}"/>
              </a:ext>
            </a:extLst>
          </p:cNvPr>
          <p:cNvSpPr txBox="1"/>
          <p:nvPr/>
        </p:nvSpPr>
        <p:spPr>
          <a:xfrm>
            <a:off x="2428695" y="1881128"/>
            <a:ext cx="123661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1200"/>
              <a:t>Alter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1F265F85-52FD-C177-ADC1-0534DD6F4789}"/>
              </a:ext>
            </a:extLst>
          </p:cNvPr>
          <p:cNvSpPr txBox="1"/>
          <p:nvPr/>
        </p:nvSpPr>
        <p:spPr>
          <a:xfrm>
            <a:off x="501863" y="3029092"/>
            <a:ext cx="123661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 dirty="0"/>
              <a:t>Bundesland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D07C1512-B607-924E-3AF3-99548D8CEA25}"/>
              </a:ext>
            </a:extLst>
          </p:cNvPr>
          <p:cNvSpPr txBox="1"/>
          <p:nvPr/>
        </p:nvSpPr>
        <p:spPr>
          <a:xfrm>
            <a:off x="2428695" y="3897680"/>
            <a:ext cx="123661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1200"/>
              <a:t>Beruf</a:t>
            </a:r>
          </a:p>
        </p:txBody>
      </p:sp>
      <p:cxnSp>
        <p:nvCxnSpPr>
          <p:cNvPr id="44" name="Gerade Verbindung 43">
            <a:extLst>
              <a:ext uri="{FF2B5EF4-FFF2-40B4-BE49-F238E27FC236}">
                <a16:creationId xmlns:a16="http://schemas.microsoft.com/office/drawing/2014/main" id="{14BC4F92-9F9D-FFFE-38B4-CA9FAC233FB3}"/>
              </a:ext>
            </a:extLst>
          </p:cNvPr>
          <p:cNvCxnSpPr>
            <a:cxnSpLocks/>
          </p:cNvCxnSpPr>
          <p:nvPr/>
        </p:nvCxnSpPr>
        <p:spPr>
          <a:xfrm flipH="1">
            <a:off x="396875" y="5141533"/>
            <a:ext cx="3849869" cy="0"/>
          </a:xfrm>
          <a:prstGeom prst="line">
            <a:avLst/>
          </a:prstGeom>
          <a:ln w="28575">
            <a:solidFill>
              <a:srgbClr val="F2610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feld 45">
            <a:extLst>
              <a:ext uri="{FF2B5EF4-FFF2-40B4-BE49-F238E27FC236}">
                <a16:creationId xmlns:a16="http://schemas.microsoft.com/office/drawing/2014/main" id="{E65D1B07-8989-1B30-5097-027BAC102244}"/>
              </a:ext>
            </a:extLst>
          </p:cNvPr>
          <p:cNvSpPr txBox="1"/>
          <p:nvPr/>
        </p:nvSpPr>
        <p:spPr>
          <a:xfrm>
            <a:off x="2428695" y="5219828"/>
            <a:ext cx="123661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1200"/>
              <a:t>Bildung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7F4A2BAD-EBDF-1DF9-B438-B742271C816A}"/>
              </a:ext>
            </a:extLst>
          </p:cNvPr>
          <p:cNvSpPr txBox="1"/>
          <p:nvPr/>
        </p:nvSpPr>
        <p:spPr>
          <a:xfrm>
            <a:off x="4445182" y="1540342"/>
            <a:ext cx="3008176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400"/>
              <a:t>FINANZEN &amp; BESITZ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88DACBA6-EF8E-91D2-F8C8-CD698D2088B8}"/>
              </a:ext>
            </a:extLst>
          </p:cNvPr>
          <p:cNvSpPr txBox="1"/>
          <p:nvPr/>
        </p:nvSpPr>
        <p:spPr>
          <a:xfrm>
            <a:off x="4465636" y="1881128"/>
            <a:ext cx="2315302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Haushaltsnettoeinkommen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AB663371-FBDA-3F86-A23C-2245FECA7042}"/>
              </a:ext>
            </a:extLst>
          </p:cNvPr>
          <p:cNvSpPr txBox="1"/>
          <p:nvPr/>
        </p:nvSpPr>
        <p:spPr>
          <a:xfrm>
            <a:off x="4465636" y="2113407"/>
            <a:ext cx="3400995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100" dirty="0">
                <a:solidFill>
                  <a:srgbClr val="F2610D"/>
                </a:solidFill>
              </a:rPr>
              <a:t>Durchschnittlich:</a:t>
            </a:r>
            <a:r>
              <a:rPr lang="de-DE" sz="1100" dirty="0">
                <a:solidFill>
                  <a:srgbClr val="71ADFF"/>
                </a:solidFill>
              </a:rPr>
              <a:t> </a:t>
            </a:r>
            <a:r>
              <a:rPr lang="de-DE" sz="1100" dirty="0">
                <a:solidFill>
                  <a:srgbClr val="000000"/>
                </a:solidFill>
              </a:rPr>
              <a:t>€ 3.692*</a:t>
            </a:r>
            <a:r>
              <a:rPr lang="de-DE" sz="1100" b="1" dirty="0">
                <a:solidFill>
                  <a:srgbClr val="4DA685"/>
                </a:solidFill>
              </a:rPr>
              <a:t> </a:t>
            </a:r>
            <a:r>
              <a:rPr lang="de-DE" sz="1100" dirty="0">
                <a:solidFill>
                  <a:srgbClr val="F2610D"/>
                </a:solidFill>
              </a:rPr>
              <a:t>pro Monat </a:t>
            </a:r>
          </a:p>
        </p:txBody>
      </p:sp>
      <p:cxnSp>
        <p:nvCxnSpPr>
          <p:cNvPr id="54" name="Gerade Verbindung 53">
            <a:extLst>
              <a:ext uri="{FF2B5EF4-FFF2-40B4-BE49-F238E27FC236}">
                <a16:creationId xmlns:a16="http://schemas.microsoft.com/office/drawing/2014/main" id="{C64B2114-A2AE-0C99-9A23-08E59ECF15F5}"/>
              </a:ext>
            </a:extLst>
          </p:cNvPr>
          <p:cNvCxnSpPr>
            <a:cxnSpLocks/>
          </p:cNvCxnSpPr>
          <p:nvPr/>
        </p:nvCxnSpPr>
        <p:spPr>
          <a:xfrm flipH="1">
            <a:off x="4380626" y="2673371"/>
            <a:ext cx="3833631" cy="0"/>
          </a:xfrm>
          <a:prstGeom prst="line">
            <a:avLst/>
          </a:prstGeom>
          <a:ln w="28575">
            <a:solidFill>
              <a:srgbClr val="F2610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feld 54">
            <a:extLst>
              <a:ext uri="{FF2B5EF4-FFF2-40B4-BE49-F238E27FC236}">
                <a16:creationId xmlns:a16="http://schemas.microsoft.com/office/drawing/2014/main" id="{5AF2482F-F7BC-F5F9-A224-21A9B529DF96}"/>
              </a:ext>
            </a:extLst>
          </p:cNvPr>
          <p:cNvSpPr txBox="1"/>
          <p:nvPr/>
        </p:nvSpPr>
        <p:spPr>
          <a:xfrm>
            <a:off x="4371433" y="2763651"/>
            <a:ext cx="2054763" cy="2608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buClr>
                <a:schemeClr val="tx2"/>
              </a:buClr>
            </a:pPr>
            <a:r>
              <a:rPr lang="de-DE" sz="1200"/>
              <a:t>Finanzielle Vermögenswerte im  Haushalt</a:t>
            </a:r>
          </a:p>
        </p:txBody>
      </p:sp>
      <p:graphicFrame>
        <p:nvGraphicFramePr>
          <p:cNvPr id="60" name="Diagramm 59">
            <a:extLst>
              <a:ext uri="{FF2B5EF4-FFF2-40B4-BE49-F238E27FC236}">
                <a16:creationId xmlns:a16="http://schemas.microsoft.com/office/drawing/2014/main" id="{0587E7E0-49D4-A9E3-2096-B4ED5302AD5C}"/>
              </a:ext>
            </a:extLst>
          </p:cNvPr>
          <p:cNvGraphicFramePr/>
          <p:nvPr/>
        </p:nvGraphicFramePr>
        <p:xfrm>
          <a:off x="4351728" y="3129065"/>
          <a:ext cx="2319923" cy="23928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64" name="Rechteck 63">
            <a:extLst>
              <a:ext uri="{FF2B5EF4-FFF2-40B4-BE49-F238E27FC236}">
                <a16:creationId xmlns:a16="http://schemas.microsoft.com/office/drawing/2014/main" id="{BA9A4A0A-3F6C-11B9-F169-DE3E9F2F90B0}"/>
              </a:ext>
            </a:extLst>
          </p:cNvPr>
          <p:cNvSpPr/>
          <p:nvPr/>
        </p:nvSpPr>
        <p:spPr>
          <a:xfrm>
            <a:off x="8390103" y="5041893"/>
            <a:ext cx="3471495" cy="1258016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ABD9B996-DC9D-2BE7-5828-0D4FEF9DC721}"/>
              </a:ext>
            </a:extLst>
          </p:cNvPr>
          <p:cNvSpPr txBox="1"/>
          <p:nvPr/>
        </p:nvSpPr>
        <p:spPr>
          <a:xfrm>
            <a:off x="8443124" y="4839699"/>
            <a:ext cx="3008176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400"/>
              <a:t>MEDIENNUTZUNG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109D020E-1EDE-9DF5-0E9E-AE575E76EC9F}"/>
              </a:ext>
            </a:extLst>
          </p:cNvPr>
          <p:cNvSpPr txBox="1"/>
          <p:nvPr/>
        </p:nvSpPr>
        <p:spPr>
          <a:xfrm>
            <a:off x="8430583" y="5070325"/>
            <a:ext cx="343074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 dirty="0"/>
              <a:t>Tägliche Nutzung von Kanälen - Top 5 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2CB7CCC6-44AE-1A2E-47B2-5B7D7A43E91E}"/>
              </a:ext>
            </a:extLst>
          </p:cNvPr>
          <p:cNvSpPr txBox="1"/>
          <p:nvPr/>
        </p:nvSpPr>
        <p:spPr>
          <a:xfrm>
            <a:off x="8836941" y="5296922"/>
            <a:ext cx="2834640" cy="1104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86%  </a:t>
            </a:r>
            <a:r>
              <a:rPr lang="de-DE" sz="1100" dirty="0">
                <a:solidFill>
                  <a:srgbClr val="000000"/>
                </a:solidFill>
              </a:rPr>
              <a:t>Suchmaschinen </a:t>
            </a:r>
          </a:p>
          <a:p>
            <a:pPr algn="l">
              <a:spcAft>
                <a:spcPts val="300"/>
              </a:spcAft>
              <a:buClr>
                <a:schemeClr val="tx2"/>
              </a:buClr>
            </a:pPr>
            <a:r>
              <a:rPr lang="de-DE" sz="1100" dirty="0">
                <a:solidFill>
                  <a:srgbClr val="000000"/>
                </a:solidFill>
              </a:rPr>
              <a:t>85% Messenger-Dienste</a:t>
            </a:r>
          </a:p>
          <a:p>
            <a:pPr algn="l">
              <a:spcAft>
                <a:spcPts val="300"/>
              </a:spcAft>
              <a:buClr>
                <a:schemeClr val="tx2"/>
              </a:buClr>
            </a:pPr>
            <a:r>
              <a:rPr lang="de-DE" sz="1100" dirty="0">
                <a:solidFill>
                  <a:srgbClr val="000000"/>
                </a:solidFill>
              </a:rPr>
              <a:t>72%  Soziale Medien</a:t>
            </a:r>
          </a:p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55%  </a:t>
            </a:r>
            <a:r>
              <a:rPr lang="de-DE" sz="1100" dirty="0">
                <a:solidFill>
                  <a:srgbClr val="000000"/>
                </a:solidFill>
              </a:rPr>
              <a:t>Streaming-Dienste für Videos &amp; Filme</a:t>
            </a:r>
            <a:endParaRPr lang="de-DE" sz="1000" dirty="0"/>
          </a:p>
          <a:p>
            <a:pPr algn="l">
              <a:spcAft>
                <a:spcPts val="300"/>
              </a:spcAft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52%  </a:t>
            </a:r>
            <a:r>
              <a:rPr lang="de-DE" sz="1100" dirty="0">
                <a:solidFill>
                  <a:srgbClr val="000000"/>
                </a:solidFill>
              </a:rPr>
              <a:t>Online-Nachrichtenportale</a:t>
            </a:r>
            <a:endParaRPr lang="de-DE" sz="1000" dirty="0"/>
          </a:p>
        </p:txBody>
      </p:sp>
      <p:pic>
        <p:nvPicPr>
          <p:cNvPr id="8" name="Grafik 7" descr="Ein Bild, das Grafiken, Symbol, Clipart, Grafikdesign enthält.&#10;&#10;KI-generierte Inhalte können fehlerhaft sein.">
            <a:extLst>
              <a:ext uri="{FF2B5EF4-FFF2-40B4-BE49-F238E27FC236}">
                <a16:creationId xmlns:a16="http://schemas.microsoft.com/office/drawing/2014/main" id="{85E373FA-2377-7129-8FF5-C84EA490484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prstClr val="black"/>
              <a:srgbClr val="F2610D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30938" y="5457490"/>
            <a:ext cx="287133" cy="273067"/>
          </a:xfrm>
          <a:prstGeom prst="rect">
            <a:avLst/>
          </a:prstGeom>
        </p:spPr>
      </p:pic>
      <p:pic>
        <p:nvPicPr>
          <p:cNvPr id="13" name="Grafik 12" descr="Ein Bild, das Kreis, Grafiken,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B04653B0-3A2B-14E1-BE51-7FED1DA8088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duotone>
              <a:prstClr val="black"/>
              <a:srgbClr val="F2610D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36980" y="5274481"/>
            <a:ext cx="287133" cy="268990"/>
          </a:xfrm>
          <a:prstGeom prst="rect">
            <a:avLst/>
          </a:prstGeom>
        </p:spPr>
      </p:pic>
      <p:pic>
        <p:nvPicPr>
          <p:cNvPr id="18" name="Grafik 17" descr="Ein Bild, das Grafiken, Logo, Electric Blue (Farbe), Schrift enthält.&#10;&#10;KI-generierte Inhalte können fehlerhaft sein.">
            <a:extLst>
              <a:ext uri="{FF2B5EF4-FFF2-40B4-BE49-F238E27FC236}">
                <a16:creationId xmlns:a16="http://schemas.microsoft.com/office/drawing/2014/main" id="{A68AE230-2D05-0B51-F958-B67BC2509BC7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duotone>
              <a:prstClr val="black"/>
              <a:srgbClr val="F2610D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26633" y="5718512"/>
            <a:ext cx="350507" cy="197670"/>
          </a:xfrm>
          <a:prstGeom prst="rect">
            <a:avLst/>
          </a:prstGeom>
        </p:spPr>
      </p:pic>
      <p:pic>
        <p:nvPicPr>
          <p:cNvPr id="24" name="Grafik 23" descr="Ein Bild, das Electric Blue (Farbe), Screenshot, Majorelle Blue, Blau enthält.&#10;&#10;KI-generierte Inhalte können fehlerhaft sein.">
            <a:extLst>
              <a:ext uri="{FF2B5EF4-FFF2-40B4-BE49-F238E27FC236}">
                <a16:creationId xmlns:a16="http://schemas.microsoft.com/office/drawing/2014/main" id="{B55614C2-9BF0-997E-8010-FE588D7FDED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duotone>
              <a:prstClr val="black"/>
              <a:srgbClr val="F2610D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36980" y="5913804"/>
            <a:ext cx="321745" cy="235201"/>
          </a:xfrm>
          <a:prstGeom prst="rect">
            <a:avLst/>
          </a:prstGeom>
        </p:spPr>
      </p:pic>
      <p:sp>
        <p:nvSpPr>
          <p:cNvPr id="34" name="Textfeld 33">
            <a:extLst>
              <a:ext uri="{FF2B5EF4-FFF2-40B4-BE49-F238E27FC236}">
                <a16:creationId xmlns:a16="http://schemas.microsoft.com/office/drawing/2014/main" id="{F7C19DB5-2CC0-4875-ED4F-44B158C0F3FD}"/>
              </a:ext>
            </a:extLst>
          </p:cNvPr>
          <p:cNvSpPr txBox="1"/>
          <p:nvPr/>
        </p:nvSpPr>
        <p:spPr>
          <a:xfrm>
            <a:off x="8360012" y="1540342"/>
            <a:ext cx="3008176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400"/>
              <a:t>WOHNEN &amp; FAMILIE</a:t>
            </a:r>
          </a:p>
        </p:txBody>
      </p:sp>
      <p:graphicFrame>
        <p:nvGraphicFramePr>
          <p:cNvPr id="52" name="Diagramm 51">
            <a:extLst>
              <a:ext uri="{FF2B5EF4-FFF2-40B4-BE49-F238E27FC236}">
                <a16:creationId xmlns:a16="http://schemas.microsoft.com/office/drawing/2014/main" id="{94B70C94-8CE2-C68E-C0AB-CA02F9D5565B}"/>
              </a:ext>
            </a:extLst>
          </p:cNvPr>
          <p:cNvGraphicFramePr/>
          <p:nvPr/>
        </p:nvGraphicFramePr>
        <p:xfrm>
          <a:off x="7121368" y="2015654"/>
          <a:ext cx="3421154" cy="9053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56" name="Textfeld 55">
            <a:extLst>
              <a:ext uri="{FF2B5EF4-FFF2-40B4-BE49-F238E27FC236}">
                <a16:creationId xmlns:a16="http://schemas.microsoft.com/office/drawing/2014/main" id="{9B90A9BC-33E2-1EA0-BC63-FCC62683A740}"/>
              </a:ext>
            </a:extLst>
          </p:cNvPr>
          <p:cNvSpPr txBox="1"/>
          <p:nvPr/>
        </p:nvSpPr>
        <p:spPr>
          <a:xfrm>
            <a:off x="8568974" y="3164949"/>
            <a:ext cx="1403276" cy="7917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ctr">
              <a:buClr>
                <a:schemeClr val="tx2"/>
              </a:buClr>
            </a:pPr>
            <a:r>
              <a:rPr lang="de-DE" sz="1100" dirty="0">
                <a:solidFill>
                  <a:srgbClr val="000000"/>
                </a:solidFill>
              </a:rPr>
              <a:t>27%</a:t>
            </a:r>
          </a:p>
          <a:p>
            <a:pPr algn="ctr">
              <a:buClr>
                <a:schemeClr val="tx2"/>
              </a:buClr>
            </a:pPr>
            <a:r>
              <a:rPr lang="de-DE" sz="1000" dirty="0">
                <a:solidFill>
                  <a:srgbClr val="000000"/>
                </a:solidFill>
              </a:rPr>
              <a:t>leben mit </a:t>
            </a:r>
            <a:r>
              <a:rPr lang="de-DE" sz="1000" dirty="0">
                <a:solidFill>
                  <a:srgbClr val="F2610D"/>
                </a:solidFill>
              </a:rPr>
              <a:t>Kindern</a:t>
            </a:r>
            <a:r>
              <a:rPr lang="de-DE" sz="1000" dirty="0">
                <a:solidFill>
                  <a:srgbClr val="000000"/>
                </a:solidFill>
              </a:rPr>
              <a:t> </a:t>
            </a:r>
            <a:r>
              <a:rPr lang="de-DE" sz="1000" dirty="0">
                <a:solidFill>
                  <a:srgbClr val="F2610D"/>
                </a:solidFill>
              </a:rPr>
              <a:t>im Haushalt </a:t>
            </a:r>
            <a:br>
              <a:rPr lang="de-DE" sz="1000" dirty="0">
                <a:solidFill>
                  <a:srgbClr val="000000"/>
                </a:solidFill>
              </a:rPr>
            </a:br>
            <a:r>
              <a:rPr lang="de-DE" sz="800" i="1" dirty="0">
                <a:solidFill>
                  <a:schemeClr val="bg1">
                    <a:lumMod val="75000"/>
                  </a:schemeClr>
                </a:solidFill>
              </a:rPr>
              <a:t>(eigene Kinder oder Stief-/Pflegekinder)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A08813A6-E8D7-D672-05A8-CC60AB4BEF3C}"/>
              </a:ext>
            </a:extLst>
          </p:cNvPr>
          <p:cNvSpPr txBox="1"/>
          <p:nvPr/>
        </p:nvSpPr>
        <p:spPr>
          <a:xfrm>
            <a:off x="8451364" y="1881128"/>
            <a:ext cx="343074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Haushaltsgröße und Beziehungsstatus</a:t>
            </a:r>
          </a:p>
        </p:txBody>
      </p:sp>
      <p:sp>
        <p:nvSpPr>
          <p:cNvPr id="35" name="Textfeld 38">
            <a:extLst>
              <a:ext uri="{FF2B5EF4-FFF2-40B4-BE49-F238E27FC236}">
                <a16:creationId xmlns:a16="http://schemas.microsoft.com/office/drawing/2014/main" id="{C56C2DB0-8B53-8211-6A05-B01069D2AE99}"/>
              </a:ext>
            </a:extLst>
          </p:cNvPr>
          <p:cNvSpPr txBox="1"/>
          <p:nvPr/>
        </p:nvSpPr>
        <p:spPr>
          <a:xfrm>
            <a:off x="556649" y="5494634"/>
            <a:ext cx="1777770" cy="7190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ts val="1720"/>
              </a:lnSpc>
              <a:buClr>
                <a:schemeClr val="tx2"/>
              </a:buClr>
            </a:pPr>
            <a:r>
              <a:rPr lang="de-DE" sz="1100">
                <a:solidFill>
                  <a:srgbClr val="F2610D"/>
                </a:solidFill>
              </a:rPr>
              <a:t>Land: </a:t>
            </a:r>
            <a:r>
              <a:rPr lang="de-DE" sz="1100" b="1">
                <a:solidFill>
                  <a:srgbClr val="FF0000"/>
                </a:solidFill>
              </a:rPr>
              <a:t>31%</a:t>
            </a:r>
            <a:br>
              <a:rPr lang="de-DE" sz="1100">
                <a:solidFill>
                  <a:srgbClr val="71ADFF"/>
                </a:solidFill>
              </a:rPr>
            </a:br>
            <a:r>
              <a:rPr lang="de-DE" sz="1100">
                <a:solidFill>
                  <a:srgbClr val="F2610D"/>
                </a:solidFill>
              </a:rPr>
              <a:t>Zwischenregion: </a:t>
            </a:r>
            <a:r>
              <a:rPr lang="de-DE" sz="1100">
                <a:solidFill>
                  <a:srgbClr val="000000"/>
                </a:solidFill>
              </a:rPr>
              <a:t>13%</a:t>
            </a:r>
            <a:br>
              <a:rPr lang="de-DE" sz="1100">
                <a:solidFill>
                  <a:srgbClr val="71ADFF"/>
                </a:solidFill>
              </a:rPr>
            </a:br>
            <a:r>
              <a:rPr lang="de-DE" sz="1100">
                <a:solidFill>
                  <a:srgbClr val="F2610D"/>
                </a:solidFill>
              </a:rPr>
              <a:t>Stadt: </a:t>
            </a:r>
            <a:r>
              <a:rPr lang="de-DE" sz="1100" b="1">
                <a:solidFill>
                  <a:srgbClr val="4DA685"/>
                </a:solidFill>
              </a:rPr>
              <a:t>57%</a:t>
            </a:r>
          </a:p>
        </p:txBody>
      </p:sp>
      <p:sp>
        <p:nvSpPr>
          <p:cNvPr id="37" name="Textfeld 42">
            <a:extLst>
              <a:ext uri="{FF2B5EF4-FFF2-40B4-BE49-F238E27FC236}">
                <a16:creationId xmlns:a16="http://schemas.microsoft.com/office/drawing/2014/main" id="{43CC5581-2718-E839-AF71-CE055BACB34E}"/>
              </a:ext>
            </a:extLst>
          </p:cNvPr>
          <p:cNvSpPr txBox="1"/>
          <p:nvPr/>
        </p:nvSpPr>
        <p:spPr>
          <a:xfrm>
            <a:off x="525275" y="5219828"/>
            <a:ext cx="123661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Urbanität</a:t>
            </a:r>
          </a:p>
        </p:txBody>
      </p:sp>
      <p:cxnSp>
        <p:nvCxnSpPr>
          <p:cNvPr id="58" name="Gerade Verbindung 43">
            <a:extLst>
              <a:ext uri="{FF2B5EF4-FFF2-40B4-BE49-F238E27FC236}">
                <a16:creationId xmlns:a16="http://schemas.microsoft.com/office/drawing/2014/main" id="{98C3AE68-C090-2182-1695-51F919CE0E0E}"/>
              </a:ext>
            </a:extLst>
          </p:cNvPr>
          <p:cNvCxnSpPr>
            <a:cxnSpLocks/>
          </p:cNvCxnSpPr>
          <p:nvPr/>
        </p:nvCxnSpPr>
        <p:spPr>
          <a:xfrm flipH="1">
            <a:off x="2320314" y="3829072"/>
            <a:ext cx="1926430" cy="0"/>
          </a:xfrm>
          <a:prstGeom prst="line">
            <a:avLst/>
          </a:prstGeom>
          <a:ln w="28575">
            <a:solidFill>
              <a:srgbClr val="F2610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43">
            <a:extLst>
              <a:ext uri="{FF2B5EF4-FFF2-40B4-BE49-F238E27FC236}">
                <a16:creationId xmlns:a16="http://schemas.microsoft.com/office/drawing/2014/main" id="{A009A017-7AA8-06D4-0768-2664CAFDB39C}"/>
              </a:ext>
            </a:extLst>
          </p:cNvPr>
          <p:cNvCxnSpPr>
            <a:cxnSpLocks/>
          </p:cNvCxnSpPr>
          <p:nvPr/>
        </p:nvCxnSpPr>
        <p:spPr>
          <a:xfrm flipH="1">
            <a:off x="396875" y="2955623"/>
            <a:ext cx="1923439" cy="0"/>
          </a:xfrm>
          <a:prstGeom prst="line">
            <a:avLst/>
          </a:prstGeom>
          <a:ln w="28575">
            <a:solidFill>
              <a:srgbClr val="F2610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Graphic 68" descr="Briefcase with solid fill">
            <a:extLst>
              <a:ext uri="{FF2B5EF4-FFF2-40B4-BE49-F238E27FC236}">
                <a16:creationId xmlns:a16="http://schemas.microsoft.com/office/drawing/2014/main" id="{5FD2E1B2-9842-ED02-DDF6-C217B3F3D9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12805" y="4179281"/>
            <a:ext cx="318757" cy="318757"/>
          </a:xfrm>
          <a:prstGeom prst="rect">
            <a:avLst/>
          </a:prstGeom>
        </p:spPr>
      </p:pic>
      <p:pic>
        <p:nvPicPr>
          <p:cNvPr id="71" name="Graphic 70" descr="House with solid fill">
            <a:extLst>
              <a:ext uri="{FF2B5EF4-FFF2-40B4-BE49-F238E27FC236}">
                <a16:creationId xmlns:a16="http://schemas.microsoft.com/office/drawing/2014/main" id="{8170B21D-AECF-D980-5DA7-E85AB108A4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471735" y="4552979"/>
            <a:ext cx="367046" cy="367046"/>
          </a:xfrm>
          <a:prstGeom prst="rect">
            <a:avLst/>
          </a:prstGeom>
        </p:spPr>
      </p:pic>
      <p:sp>
        <p:nvSpPr>
          <p:cNvPr id="72" name="Textfeld 38">
            <a:extLst>
              <a:ext uri="{FF2B5EF4-FFF2-40B4-BE49-F238E27FC236}">
                <a16:creationId xmlns:a16="http://schemas.microsoft.com/office/drawing/2014/main" id="{C3C5D22E-94DE-E123-717A-D657B30CAB3C}"/>
              </a:ext>
            </a:extLst>
          </p:cNvPr>
          <p:cNvSpPr txBox="1"/>
          <p:nvPr/>
        </p:nvSpPr>
        <p:spPr>
          <a:xfrm>
            <a:off x="2915396" y="4175386"/>
            <a:ext cx="1158751" cy="32654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720"/>
              </a:lnSpc>
              <a:buClr>
                <a:schemeClr val="tx2"/>
              </a:buClr>
            </a:pPr>
            <a:r>
              <a:rPr lang="de-DE" sz="1100" dirty="0">
                <a:solidFill>
                  <a:srgbClr val="F2610D"/>
                </a:solidFill>
              </a:rPr>
              <a:t>Angestellte: </a:t>
            </a:r>
            <a:r>
              <a:rPr lang="de-DE" sz="1100" dirty="0">
                <a:solidFill>
                  <a:srgbClr val="000000"/>
                </a:solidFill>
              </a:rPr>
              <a:t>60%</a:t>
            </a:r>
            <a:endParaRPr lang="de-DE" sz="1100" b="1" dirty="0">
              <a:solidFill>
                <a:srgbClr val="000000"/>
              </a:solidFill>
            </a:endParaRPr>
          </a:p>
        </p:txBody>
      </p:sp>
      <p:sp>
        <p:nvSpPr>
          <p:cNvPr id="73" name="Textfeld 38">
            <a:extLst>
              <a:ext uri="{FF2B5EF4-FFF2-40B4-BE49-F238E27FC236}">
                <a16:creationId xmlns:a16="http://schemas.microsoft.com/office/drawing/2014/main" id="{7ECFE8C1-2060-1814-56BB-058499A1F286}"/>
              </a:ext>
            </a:extLst>
          </p:cNvPr>
          <p:cNvSpPr txBox="1"/>
          <p:nvPr/>
        </p:nvSpPr>
        <p:spPr>
          <a:xfrm>
            <a:off x="2915396" y="4569183"/>
            <a:ext cx="1059915" cy="32654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720"/>
              </a:lnSpc>
              <a:buClr>
                <a:schemeClr val="tx2"/>
              </a:buClr>
            </a:pPr>
            <a:r>
              <a:rPr lang="de-DE" sz="1100" dirty="0">
                <a:solidFill>
                  <a:srgbClr val="F2610D"/>
                </a:solidFill>
              </a:rPr>
              <a:t>In Pension: </a:t>
            </a:r>
            <a:r>
              <a:rPr lang="de-DE" sz="1100" b="1" dirty="0">
                <a:solidFill>
                  <a:srgbClr val="FF0000"/>
                </a:solidFill>
              </a:rPr>
              <a:t>15%</a:t>
            </a:r>
          </a:p>
        </p:txBody>
      </p:sp>
      <p:cxnSp>
        <p:nvCxnSpPr>
          <p:cNvPr id="78" name="Gerade Verbindung 13">
            <a:extLst>
              <a:ext uri="{FF2B5EF4-FFF2-40B4-BE49-F238E27FC236}">
                <a16:creationId xmlns:a16="http://schemas.microsoft.com/office/drawing/2014/main" id="{4AD7A569-AEB1-1306-10D5-2FECA98E9BDC}"/>
              </a:ext>
            </a:extLst>
          </p:cNvPr>
          <p:cNvCxnSpPr>
            <a:cxnSpLocks/>
          </p:cNvCxnSpPr>
          <p:nvPr/>
        </p:nvCxnSpPr>
        <p:spPr>
          <a:xfrm>
            <a:off x="6442074" y="2660077"/>
            <a:ext cx="0" cy="3639831"/>
          </a:xfrm>
          <a:prstGeom prst="line">
            <a:avLst/>
          </a:prstGeom>
          <a:ln w="28575">
            <a:solidFill>
              <a:srgbClr val="F2610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feld 54">
            <a:extLst>
              <a:ext uri="{FF2B5EF4-FFF2-40B4-BE49-F238E27FC236}">
                <a16:creationId xmlns:a16="http://schemas.microsoft.com/office/drawing/2014/main" id="{1E3EB279-4733-D47B-3A4A-4D5883A95878}"/>
              </a:ext>
            </a:extLst>
          </p:cNvPr>
          <p:cNvSpPr txBox="1"/>
          <p:nvPr/>
        </p:nvSpPr>
        <p:spPr>
          <a:xfrm>
            <a:off x="6420748" y="2763651"/>
            <a:ext cx="1887860" cy="2608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buClr>
                <a:schemeClr val="tx2"/>
              </a:buClr>
            </a:pPr>
            <a:r>
              <a:rPr lang="de-DE" sz="1200" spc="-20"/>
              <a:t>Fahrzeugbesitz &amp; Mobilität</a:t>
            </a:r>
          </a:p>
        </p:txBody>
      </p:sp>
      <p:graphicFrame>
        <p:nvGraphicFramePr>
          <p:cNvPr id="81" name="Diagramm 59">
            <a:extLst>
              <a:ext uri="{FF2B5EF4-FFF2-40B4-BE49-F238E27FC236}">
                <a16:creationId xmlns:a16="http://schemas.microsoft.com/office/drawing/2014/main" id="{F245FAC8-2862-460B-1CC5-9909CAD54C76}"/>
              </a:ext>
            </a:extLst>
          </p:cNvPr>
          <p:cNvGraphicFramePr/>
          <p:nvPr/>
        </p:nvGraphicFramePr>
        <p:xfrm>
          <a:off x="6205344" y="2969716"/>
          <a:ext cx="1957716" cy="1216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83" name="Textfeld 38">
            <a:extLst>
              <a:ext uri="{FF2B5EF4-FFF2-40B4-BE49-F238E27FC236}">
                <a16:creationId xmlns:a16="http://schemas.microsoft.com/office/drawing/2014/main" id="{03AC1BFF-4F87-1FD2-C6DE-26B78F5AD782}"/>
              </a:ext>
            </a:extLst>
          </p:cNvPr>
          <p:cNvSpPr txBox="1"/>
          <p:nvPr/>
        </p:nvSpPr>
        <p:spPr>
          <a:xfrm>
            <a:off x="6644754" y="4190180"/>
            <a:ext cx="1344597" cy="42943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100">
                <a:solidFill>
                  <a:srgbClr val="F2610D"/>
                </a:solidFill>
              </a:rPr>
              <a:t>Vielfahrer: </a:t>
            </a:r>
            <a:r>
              <a:rPr lang="de-DE" sz="1100" b="1">
                <a:solidFill>
                  <a:srgbClr val="FF0000"/>
                </a:solidFill>
              </a:rPr>
              <a:t>40%</a:t>
            </a:r>
            <a:br>
              <a:rPr lang="de-DE" sz="1100">
                <a:solidFill>
                  <a:srgbClr val="71ADFF"/>
                </a:solidFill>
              </a:rPr>
            </a:br>
            <a:r>
              <a:rPr lang="de-DE" sz="1100" err="1">
                <a:solidFill>
                  <a:srgbClr val="F2610D"/>
                </a:solidFill>
              </a:rPr>
              <a:t>Wenigfahrer</a:t>
            </a:r>
            <a:r>
              <a:rPr lang="de-DE" sz="1100">
                <a:solidFill>
                  <a:srgbClr val="F2610D"/>
                </a:solidFill>
              </a:rPr>
              <a:t>: </a:t>
            </a:r>
            <a:r>
              <a:rPr lang="de-DE" sz="1100" b="1">
                <a:solidFill>
                  <a:srgbClr val="FF0000"/>
                </a:solidFill>
              </a:rPr>
              <a:t>28%</a:t>
            </a:r>
          </a:p>
        </p:txBody>
      </p:sp>
      <p:cxnSp>
        <p:nvCxnSpPr>
          <p:cNvPr id="84" name="Gerade Verbindung 43">
            <a:extLst>
              <a:ext uri="{FF2B5EF4-FFF2-40B4-BE49-F238E27FC236}">
                <a16:creationId xmlns:a16="http://schemas.microsoft.com/office/drawing/2014/main" id="{D604AE45-70CA-4EFC-2AEB-C52AA4FAB5B0}"/>
              </a:ext>
            </a:extLst>
          </p:cNvPr>
          <p:cNvCxnSpPr>
            <a:cxnSpLocks/>
          </p:cNvCxnSpPr>
          <p:nvPr/>
        </p:nvCxnSpPr>
        <p:spPr>
          <a:xfrm flipH="1">
            <a:off x="4281597" y="5594024"/>
            <a:ext cx="3849869" cy="0"/>
          </a:xfrm>
          <a:prstGeom prst="line">
            <a:avLst/>
          </a:prstGeom>
          <a:ln w="28575">
            <a:solidFill>
              <a:srgbClr val="F2610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feld 54">
            <a:extLst>
              <a:ext uri="{FF2B5EF4-FFF2-40B4-BE49-F238E27FC236}">
                <a16:creationId xmlns:a16="http://schemas.microsoft.com/office/drawing/2014/main" id="{27122AB5-4CC1-BFC5-CBB9-EDFD2EBF8264}"/>
              </a:ext>
            </a:extLst>
          </p:cNvPr>
          <p:cNvSpPr txBox="1"/>
          <p:nvPr/>
        </p:nvSpPr>
        <p:spPr>
          <a:xfrm>
            <a:off x="4404986" y="5668527"/>
            <a:ext cx="1887860" cy="2608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buClr>
                <a:schemeClr val="tx2"/>
              </a:buClr>
            </a:pPr>
            <a:r>
              <a:rPr lang="de-DE" sz="1200" dirty="0"/>
              <a:t>Wohnen im Eigentum</a:t>
            </a:r>
          </a:p>
        </p:txBody>
      </p:sp>
      <p:sp>
        <p:nvSpPr>
          <p:cNvPr id="86" name="Textfeld 38">
            <a:extLst>
              <a:ext uri="{FF2B5EF4-FFF2-40B4-BE49-F238E27FC236}">
                <a16:creationId xmlns:a16="http://schemas.microsoft.com/office/drawing/2014/main" id="{30B79D14-ED78-3E94-8D98-AA19742FA0D0}"/>
              </a:ext>
            </a:extLst>
          </p:cNvPr>
          <p:cNvSpPr txBox="1"/>
          <p:nvPr/>
        </p:nvSpPr>
        <p:spPr>
          <a:xfrm>
            <a:off x="4597363" y="5860405"/>
            <a:ext cx="1777770" cy="4292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720"/>
              </a:lnSpc>
              <a:buClr>
                <a:schemeClr val="tx2"/>
              </a:buClr>
            </a:pPr>
            <a:r>
              <a:rPr lang="de-DE" sz="1100">
                <a:solidFill>
                  <a:srgbClr val="F2610D"/>
                </a:solidFill>
              </a:rPr>
              <a:t>Eigentumswohnung: </a:t>
            </a:r>
            <a:r>
              <a:rPr lang="de-DE" sz="1100">
                <a:solidFill>
                  <a:srgbClr val="000000"/>
                </a:solidFill>
              </a:rPr>
              <a:t>15%</a:t>
            </a:r>
            <a:br>
              <a:rPr lang="de-DE" sz="1100">
                <a:solidFill>
                  <a:srgbClr val="000000"/>
                </a:solidFill>
              </a:rPr>
            </a:br>
            <a:r>
              <a:rPr lang="de-DE" sz="1100">
                <a:solidFill>
                  <a:srgbClr val="F2610D"/>
                </a:solidFill>
              </a:rPr>
              <a:t>Haus im Eigentum: </a:t>
            </a:r>
            <a:r>
              <a:rPr lang="de-DE" sz="1100" b="1">
                <a:solidFill>
                  <a:srgbClr val="FF0000"/>
                </a:solidFill>
              </a:rPr>
              <a:t>24%</a:t>
            </a:r>
          </a:p>
        </p:txBody>
      </p:sp>
      <p:sp>
        <p:nvSpPr>
          <p:cNvPr id="87" name="Textfeld 54">
            <a:extLst>
              <a:ext uri="{FF2B5EF4-FFF2-40B4-BE49-F238E27FC236}">
                <a16:creationId xmlns:a16="http://schemas.microsoft.com/office/drawing/2014/main" id="{CB7252BB-0BFE-9D9F-D240-EDE5FDA092B1}"/>
              </a:ext>
            </a:extLst>
          </p:cNvPr>
          <p:cNvSpPr txBox="1"/>
          <p:nvPr/>
        </p:nvSpPr>
        <p:spPr>
          <a:xfrm>
            <a:off x="6358422" y="5668527"/>
            <a:ext cx="1887860" cy="2608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buClr>
                <a:schemeClr val="tx2"/>
              </a:buClr>
            </a:pPr>
            <a:r>
              <a:rPr lang="de-DE" sz="1200"/>
              <a:t>Haustiere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BA5E7BC-1776-46A2-C260-72B87A258FF4}"/>
              </a:ext>
            </a:extLst>
          </p:cNvPr>
          <p:cNvSpPr txBox="1"/>
          <p:nvPr/>
        </p:nvSpPr>
        <p:spPr>
          <a:xfrm>
            <a:off x="12808178" y="40128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3600" indent="-183600" algn="l"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de-AT" err="1"/>
          </a:p>
        </p:txBody>
      </p:sp>
      <p:pic>
        <p:nvPicPr>
          <p:cNvPr id="25" name="Grafik 24" descr="Männlich mit einfarbiger Füllung">
            <a:extLst>
              <a:ext uri="{FF2B5EF4-FFF2-40B4-BE49-F238E27FC236}">
                <a16:creationId xmlns:a16="http://schemas.microsoft.com/office/drawing/2014/main" id="{411D7BF3-4280-8776-5E70-914A67FDD9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50048" y="2101083"/>
            <a:ext cx="322661" cy="322661"/>
          </a:xfrm>
          <a:prstGeom prst="rect">
            <a:avLst/>
          </a:prstGeom>
        </p:spPr>
      </p:pic>
      <p:sp>
        <p:nvSpPr>
          <p:cNvPr id="88" name="Textfeld 38">
            <a:extLst>
              <a:ext uri="{FF2B5EF4-FFF2-40B4-BE49-F238E27FC236}">
                <a16:creationId xmlns:a16="http://schemas.microsoft.com/office/drawing/2014/main" id="{39ABCFA1-1136-F43C-E202-67404EC58165}"/>
              </a:ext>
            </a:extLst>
          </p:cNvPr>
          <p:cNvSpPr txBox="1"/>
          <p:nvPr/>
        </p:nvSpPr>
        <p:spPr>
          <a:xfrm>
            <a:off x="6620470" y="5860405"/>
            <a:ext cx="1513329" cy="4292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720"/>
              </a:lnSpc>
              <a:buClr>
                <a:schemeClr val="tx2"/>
              </a:buClr>
            </a:pPr>
            <a:r>
              <a:rPr lang="de-DE" sz="1100">
                <a:solidFill>
                  <a:srgbClr val="F2610D"/>
                </a:solidFill>
              </a:rPr>
              <a:t>Katze/</a:t>
            </a:r>
            <a:r>
              <a:rPr lang="de-DE" sz="1100" err="1">
                <a:solidFill>
                  <a:srgbClr val="F2610D"/>
                </a:solidFill>
              </a:rPr>
              <a:t>n</a:t>
            </a:r>
            <a:r>
              <a:rPr lang="de-DE" sz="1100">
                <a:solidFill>
                  <a:srgbClr val="F2610D"/>
                </a:solidFill>
              </a:rPr>
              <a:t>: </a:t>
            </a:r>
            <a:r>
              <a:rPr lang="de-DE" sz="1100">
                <a:solidFill>
                  <a:srgbClr val="000000"/>
                </a:solidFill>
              </a:rPr>
              <a:t>27%</a:t>
            </a:r>
            <a:br>
              <a:rPr lang="de-DE" sz="1100">
                <a:solidFill>
                  <a:srgbClr val="71ADFF"/>
                </a:solidFill>
              </a:rPr>
            </a:br>
            <a:r>
              <a:rPr lang="de-DE" sz="1100">
                <a:solidFill>
                  <a:srgbClr val="F2610D"/>
                </a:solidFill>
              </a:rPr>
              <a:t>Hund/</a:t>
            </a:r>
            <a:r>
              <a:rPr lang="de-DE" sz="1100" err="1">
                <a:solidFill>
                  <a:srgbClr val="F2610D"/>
                </a:solidFill>
              </a:rPr>
              <a:t>e</a:t>
            </a:r>
            <a:r>
              <a:rPr lang="de-DE" sz="1100">
                <a:solidFill>
                  <a:srgbClr val="F2610D"/>
                </a:solidFill>
              </a:rPr>
              <a:t>: </a:t>
            </a:r>
            <a:r>
              <a:rPr lang="de-DE" sz="1100">
                <a:solidFill>
                  <a:srgbClr val="000000"/>
                </a:solidFill>
              </a:rPr>
              <a:t>23%</a:t>
            </a:r>
            <a:endParaRPr lang="de-DE" sz="1100" b="1">
              <a:solidFill>
                <a:srgbClr val="000000"/>
              </a:solidFill>
            </a:endParaRPr>
          </a:p>
        </p:txBody>
      </p:sp>
      <p:sp>
        <p:nvSpPr>
          <p:cNvPr id="89" name="Textfeld 54">
            <a:extLst>
              <a:ext uri="{FF2B5EF4-FFF2-40B4-BE49-F238E27FC236}">
                <a16:creationId xmlns:a16="http://schemas.microsoft.com/office/drawing/2014/main" id="{9058A184-763B-65E9-DE62-D47E8BCB467A}"/>
              </a:ext>
            </a:extLst>
          </p:cNvPr>
          <p:cNvSpPr txBox="1"/>
          <p:nvPr/>
        </p:nvSpPr>
        <p:spPr>
          <a:xfrm>
            <a:off x="6373123" y="4672673"/>
            <a:ext cx="1887860" cy="2608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buClr>
                <a:schemeClr val="tx2"/>
              </a:buClr>
            </a:pPr>
            <a:r>
              <a:rPr lang="de-DE" sz="1200"/>
              <a:t>Am häufigsten genutzte Transportmittel</a:t>
            </a:r>
          </a:p>
        </p:txBody>
      </p:sp>
      <p:pic>
        <p:nvPicPr>
          <p:cNvPr id="91" name="Graphic 90" descr="Car with solid fill">
            <a:extLst>
              <a:ext uri="{FF2B5EF4-FFF2-40B4-BE49-F238E27FC236}">
                <a16:creationId xmlns:a16="http://schemas.microsoft.com/office/drawing/2014/main" id="{D96F19BD-B805-9BC4-A961-5302CEF15E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53687" y="5033970"/>
            <a:ext cx="267836" cy="267836"/>
          </a:xfrm>
          <a:prstGeom prst="rect">
            <a:avLst/>
          </a:prstGeom>
        </p:spPr>
      </p:pic>
      <p:pic>
        <p:nvPicPr>
          <p:cNvPr id="93" name="Graphic 92" descr="Train with solid fill">
            <a:extLst>
              <a:ext uri="{FF2B5EF4-FFF2-40B4-BE49-F238E27FC236}">
                <a16:creationId xmlns:a16="http://schemas.microsoft.com/office/drawing/2014/main" id="{76696CF9-6749-1251-A11E-C2B903BF36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80625" y="5286222"/>
            <a:ext cx="193664" cy="193664"/>
          </a:xfrm>
          <a:prstGeom prst="rect">
            <a:avLst/>
          </a:prstGeom>
        </p:spPr>
      </p:pic>
      <p:sp>
        <p:nvSpPr>
          <p:cNvPr id="94" name="Textfeld 38">
            <a:extLst>
              <a:ext uri="{FF2B5EF4-FFF2-40B4-BE49-F238E27FC236}">
                <a16:creationId xmlns:a16="http://schemas.microsoft.com/office/drawing/2014/main" id="{65C75DB8-C34C-47D0-6999-B7585D9D1204}"/>
              </a:ext>
            </a:extLst>
          </p:cNvPr>
          <p:cNvSpPr txBox="1"/>
          <p:nvPr/>
        </p:nvSpPr>
        <p:spPr>
          <a:xfrm>
            <a:off x="7004614" y="5041893"/>
            <a:ext cx="1165274" cy="4292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720"/>
              </a:lnSpc>
              <a:buClr>
                <a:schemeClr val="tx2"/>
              </a:buClr>
            </a:pPr>
            <a:r>
              <a:rPr lang="de-DE" sz="1100">
                <a:solidFill>
                  <a:srgbClr val="F2610D"/>
                </a:solidFill>
              </a:rPr>
              <a:t>Auto: </a:t>
            </a:r>
            <a:r>
              <a:rPr lang="de-DE" sz="1100" b="1">
                <a:solidFill>
                  <a:srgbClr val="FF0000"/>
                </a:solidFill>
              </a:rPr>
              <a:t>40%</a:t>
            </a:r>
            <a:br>
              <a:rPr lang="de-DE" sz="1100">
                <a:solidFill>
                  <a:srgbClr val="71ADFF"/>
                </a:solidFill>
              </a:rPr>
            </a:br>
            <a:r>
              <a:rPr lang="de-DE" sz="1100">
                <a:solidFill>
                  <a:srgbClr val="F2610D"/>
                </a:solidFill>
              </a:rPr>
              <a:t>Öffentlich</a:t>
            </a:r>
            <a:r>
              <a:rPr lang="de-DE" sz="1100">
                <a:solidFill>
                  <a:srgbClr val="71ADFF"/>
                </a:solidFill>
              </a:rPr>
              <a:t>: </a:t>
            </a:r>
            <a:r>
              <a:rPr lang="de-DE" sz="1100" b="1">
                <a:solidFill>
                  <a:srgbClr val="4DA685"/>
                </a:solidFill>
              </a:rPr>
              <a:t>32%</a:t>
            </a:r>
          </a:p>
        </p:txBody>
      </p:sp>
      <p:cxnSp>
        <p:nvCxnSpPr>
          <p:cNvPr id="95" name="Gerade Verbindung 53">
            <a:extLst>
              <a:ext uri="{FF2B5EF4-FFF2-40B4-BE49-F238E27FC236}">
                <a16:creationId xmlns:a16="http://schemas.microsoft.com/office/drawing/2014/main" id="{A3A288D0-01AE-9989-3DB9-A81099F412F4}"/>
              </a:ext>
            </a:extLst>
          </p:cNvPr>
          <p:cNvCxnSpPr>
            <a:cxnSpLocks/>
          </p:cNvCxnSpPr>
          <p:nvPr/>
        </p:nvCxnSpPr>
        <p:spPr>
          <a:xfrm flipH="1">
            <a:off x="8401524" y="2913712"/>
            <a:ext cx="3459807" cy="0"/>
          </a:xfrm>
          <a:prstGeom prst="line">
            <a:avLst/>
          </a:prstGeom>
          <a:ln w="28575">
            <a:solidFill>
              <a:srgbClr val="F2610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feld 38">
            <a:extLst>
              <a:ext uri="{FF2B5EF4-FFF2-40B4-BE49-F238E27FC236}">
                <a16:creationId xmlns:a16="http://schemas.microsoft.com/office/drawing/2014/main" id="{4D38C0EC-D826-D35B-F2B7-A74BE2C32C1D}"/>
              </a:ext>
            </a:extLst>
          </p:cNvPr>
          <p:cNvSpPr txBox="1"/>
          <p:nvPr/>
        </p:nvSpPr>
        <p:spPr>
          <a:xfrm>
            <a:off x="10617684" y="2068888"/>
            <a:ext cx="1067816" cy="7583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buClr>
                <a:schemeClr val="tx2"/>
              </a:buClr>
            </a:pPr>
            <a:r>
              <a:rPr lang="de-DE" sz="1000" dirty="0">
                <a:solidFill>
                  <a:srgbClr val="F2610D"/>
                </a:solidFill>
              </a:rPr>
              <a:t>In Partnerschaft: </a:t>
            </a:r>
          </a:p>
          <a:p>
            <a:pPr algn="ctr"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57%</a:t>
            </a:r>
          </a:p>
          <a:p>
            <a:pPr algn="ctr">
              <a:buClr>
                <a:schemeClr val="tx2"/>
              </a:buClr>
            </a:pPr>
            <a:br>
              <a:rPr lang="de-DE" sz="300" dirty="0">
                <a:solidFill>
                  <a:schemeClr val="accent1"/>
                </a:solidFill>
              </a:rPr>
            </a:br>
            <a:r>
              <a:rPr lang="de-DE" sz="1000" dirty="0">
                <a:solidFill>
                  <a:srgbClr val="F2610D"/>
                </a:solidFill>
              </a:rPr>
              <a:t>Single/geschieden/verwitwet:</a:t>
            </a:r>
            <a:r>
              <a:rPr lang="de-DE" sz="900" dirty="0">
                <a:solidFill>
                  <a:srgbClr val="F2610D"/>
                </a:solidFill>
              </a:rPr>
              <a:t> </a:t>
            </a:r>
          </a:p>
          <a:p>
            <a:pPr algn="ctr"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43%</a:t>
            </a:r>
          </a:p>
        </p:txBody>
      </p:sp>
      <p:sp>
        <p:nvSpPr>
          <p:cNvPr id="99" name="Textfeld 56">
            <a:extLst>
              <a:ext uri="{FF2B5EF4-FFF2-40B4-BE49-F238E27FC236}">
                <a16:creationId xmlns:a16="http://schemas.microsoft.com/office/drawing/2014/main" id="{FE7D3A96-8373-F9FF-1B6C-391A5FDC8F51}"/>
              </a:ext>
            </a:extLst>
          </p:cNvPr>
          <p:cNvSpPr txBox="1"/>
          <p:nvPr/>
        </p:nvSpPr>
        <p:spPr>
          <a:xfrm>
            <a:off x="8451364" y="2963088"/>
            <a:ext cx="343074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Kinder im Haushalt &amp; Alter der Kinder</a:t>
            </a:r>
          </a:p>
        </p:txBody>
      </p:sp>
      <p:cxnSp>
        <p:nvCxnSpPr>
          <p:cNvPr id="101" name="Gerade Verbindung 53">
            <a:extLst>
              <a:ext uri="{FF2B5EF4-FFF2-40B4-BE49-F238E27FC236}">
                <a16:creationId xmlns:a16="http://schemas.microsoft.com/office/drawing/2014/main" id="{DD551399-4240-2E82-902F-3153ADC06E48}"/>
              </a:ext>
            </a:extLst>
          </p:cNvPr>
          <p:cNvCxnSpPr>
            <a:cxnSpLocks/>
          </p:cNvCxnSpPr>
          <p:nvPr/>
        </p:nvCxnSpPr>
        <p:spPr>
          <a:xfrm flipH="1">
            <a:off x="8401524" y="3955761"/>
            <a:ext cx="3459807" cy="0"/>
          </a:xfrm>
          <a:prstGeom prst="line">
            <a:avLst/>
          </a:prstGeom>
          <a:ln w="28575">
            <a:solidFill>
              <a:srgbClr val="F2610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feld 56">
            <a:extLst>
              <a:ext uri="{FF2B5EF4-FFF2-40B4-BE49-F238E27FC236}">
                <a16:creationId xmlns:a16="http://schemas.microsoft.com/office/drawing/2014/main" id="{BEB90D17-70F3-EA1D-88D3-4700B556AC71}"/>
              </a:ext>
            </a:extLst>
          </p:cNvPr>
          <p:cNvSpPr txBox="1"/>
          <p:nvPr/>
        </p:nvSpPr>
        <p:spPr>
          <a:xfrm>
            <a:off x="8451364" y="4004306"/>
            <a:ext cx="343074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Wohnsituation</a:t>
            </a:r>
          </a:p>
        </p:txBody>
      </p:sp>
      <p:graphicFrame>
        <p:nvGraphicFramePr>
          <p:cNvPr id="104" name="Diagramm 37">
            <a:extLst>
              <a:ext uri="{FF2B5EF4-FFF2-40B4-BE49-F238E27FC236}">
                <a16:creationId xmlns:a16="http://schemas.microsoft.com/office/drawing/2014/main" id="{70DC9B2F-8A1C-9005-4563-3E6E91913F3C}"/>
              </a:ext>
            </a:extLst>
          </p:cNvPr>
          <p:cNvGraphicFramePr/>
          <p:nvPr/>
        </p:nvGraphicFramePr>
        <p:xfrm>
          <a:off x="8390442" y="4117824"/>
          <a:ext cx="1620400" cy="672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graphicFrame>
        <p:nvGraphicFramePr>
          <p:cNvPr id="105" name="Diagramm 37">
            <a:extLst>
              <a:ext uri="{FF2B5EF4-FFF2-40B4-BE49-F238E27FC236}">
                <a16:creationId xmlns:a16="http://schemas.microsoft.com/office/drawing/2014/main" id="{D7CCB003-424F-C3D5-1F94-FD9DEF07AF8A}"/>
              </a:ext>
            </a:extLst>
          </p:cNvPr>
          <p:cNvGraphicFramePr/>
          <p:nvPr/>
        </p:nvGraphicFramePr>
        <p:xfrm>
          <a:off x="10111057" y="4117824"/>
          <a:ext cx="1620400" cy="672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9726503C-DF5A-C8C6-31F3-69ACB21B9C7D}"/>
              </a:ext>
            </a:extLst>
          </p:cNvPr>
          <p:cNvGrpSpPr/>
          <p:nvPr/>
        </p:nvGrpSpPr>
        <p:grpSpPr>
          <a:xfrm>
            <a:off x="4236176" y="6565779"/>
            <a:ext cx="5577919" cy="260210"/>
            <a:chOff x="2974313" y="6565779"/>
            <a:chExt cx="5577919" cy="260210"/>
          </a:xfrm>
        </p:grpSpPr>
        <p:sp>
          <p:nvSpPr>
            <p:cNvPr id="15" name="Textfeld 6">
              <a:extLst>
                <a:ext uri="{FF2B5EF4-FFF2-40B4-BE49-F238E27FC236}">
                  <a16:creationId xmlns:a16="http://schemas.microsoft.com/office/drawing/2014/main" id="{779EA76A-4BCE-5A80-FBBA-79C0879C66A6}"/>
                </a:ext>
              </a:extLst>
            </p:cNvPr>
            <p:cNvSpPr txBox="1"/>
            <p:nvPr/>
          </p:nvSpPr>
          <p:spPr>
            <a:xfrm>
              <a:off x="3179704" y="6585418"/>
              <a:ext cx="537252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/>
                <a:t>= größere, signifikante Abweichungen von der Gesamtstichprobe (mindestens 7 Prozentpunkte höher/niedriger)</a:t>
              </a:r>
            </a:p>
          </p:txBody>
        </p:sp>
        <p:sp>
          <p:nvSpPr>
            <p:cNvPr id="16" name="Textfeld 38">
              <a:extLst>
                <a:ext uri="{FF2B5EF4-FFF2-40B4-BE49-F238E27FC236}">
                  <a16:creationId xmlns:a16="http://schemas.microsoft.com/office/drawing/2014/main" id="{45B9A2A9-3FFA-6AD6-B48E-48110996AAB6}"/>
                </a:ext>
              </a:extLst>
            </p:cNvPr>
            <p:cNvSpPr txBox="1"/>
            <p:nvPr/>
          </p:nvSpPr>
          <p:spPr>
            <a:xfrm>
              <a:off x="2974313" y="6565779"/>
              <a:ext cx="198562" cy="2150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ts val="1720"/>
                </a:lnSpc>
                <a:buClr>
                  <a:schemeClr val="tx2"/>
                </a:buClr>
              </a:pPr>
              <a:r>
                <a:rPr lang="de-DE" sz="1100" b="1">
                  <a:solidFill>
                    <a:srgbClr val="4DA685"/>
                  </a:solidFill>
                </a:rPr>
                <a:t>↑</a:t>
              </a:r>
            </a:p>
          </p:txBody>
        </p:sp>
        <p:sp>
          <p:nvSpPr>
            <p:cNvPr id="17" name="Textfeld 38">
              <a:extLst>
                <a:ext uri="{FF2B5EF4-FFF2-40B4-BE49-F238E27FC236}">
                  <a16:creationId xmlns:a16="http://schemas.microsoft.com/office/drawing/2014/main" id="{EEC2B419-83FD-80A7-8155-8571E9E21559}"/>
                </a:ext>
              </a:extLst>
            </p:cNvPr>
            <p:cNvSpPr txBox="1"/>
            <p:nvPr/>
          </p:nvSpPr>
          <p:spPr>
            <a:xfrm rot="10800000">
              <a:off x="3066152" y="6610935"/>
              <a:ext cx="198562" cy="2150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ts val="1720"/>
                </a:lnSpc>
                <a:buClr>
                  <a:schemeClr val="tx2"/>
                </a:buClr>
              </a:pPr>
              <a:r>
                <a:rPr lang="de-DE" sz="1100" b="1">
                  <a:solidFill>
                    <a:srgbClr val="FF0000"/>
                  </a:solidFill>
                </a:rPr>
                <a:t>↑</a:t>
              </a:r>
            </a:p>
          </p:txBody>
        </p:sp>
      </p:grpSp>
      <p:sp>
        <p:nvSpPr>
          <p:cNvPr id="33" name="Textfeld 38">
            <a:extLst>
              <a:ext uri="{FF2B5EF4-FFF2-40B4-BE49-F238E27FC236}">
                <a16:creationId xmlns:a16="http://schemas.microsoft.com/office/drawing/2014/main" id="{BA0EE2E2-0A35-6558-C1D4-C69EED0D4FA6}"/>
              </a:ext>
            </a:extLst>
          </p:cNvPr>
          <p:cNvSpPr txBox="1"/>
          <p:nvPr/>
        </p:nvSpPr>
        <p:spPr>
          <a:xfrm rot="10800000">
            <a:off x="6103422" y="3476820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A20CA223-2D65-E418-A8E8-24679E4E33BC}"/>
              </a:ext>
            </a:extLst>
          </p:cNvPr>
          <p:cNvSpPr txBox="1"/>
          <p:nvPr/>
        </p:nvSpPr>
        <p:spPr>
          <a:xfrm rot="10800000">
            <a:off x="6036764" y="4058966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20" name="Textfeld 38">
            <a:extLst>
              <a:ext uri="{FF2B5EF4-FFF2-40B4-BE49-F238E27FC236}">
                <a16:creationId xmlns:a16="http://schemas.microsoft.com/office/drawing/2014/main" id="{9FC6AE83-535D-558D-E439-12756EB17FE2}"/>
              </a:ext>
            </a:extLst>
          </p:cNvPr>
          <p:cNvSpPr txBox="1"/>
          <p:nvPr/>
        </p:nvSpPr>
        <p:spPr>
          <a:xfrm>
            <a:off x="1503978" y="2637283"/>
            <a:ext cx="820666" cy="32265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720"/>
              </a:lnSpc>
              <a:buClr>
                <a:schemeClr val="tx2"/>
              </a:buClr>
            </a:pPr>
            <a:r>
              <a:rPr lang="de-DE" sz="1200" dirty="0">
                <a:solidFill>
                  <a:srgbClr val="F2610D"/>
                </a:solidFill>
              </a:rPr>
              <a:t>divers: </a:t>
            </a:r>
            <a:r>
              <a:rPr lang="de-DE" sz="1200" b="1" dirty="0">
                <a:solidFill>
                  <a:srgbClr val="4DA685"/>
                </a:solidFill>
              </a:rPr>
              <a:t>1%</a:t>
            </a:r>
          </a:p>
        </p:txBody>
      </p:sp>
      <p:sp>
        <p:nvSpPr>
          <p:cNvPr id="49" name="Textfeld 38">
            <a:extLst>
              <a:ext uri="{FF2B5EF4-FFF2-40B4-BE49-F238E27FC236}">
                <a16:creationId xmlns:a16="http://schemas.microsoft.com/office/drawing/2014/main" id="{3613DE9A-B3C7-334E-3043-8AA6BD4ED35D}"/>
              </a:ext>
            </a:extLst>
          </p:cNvPr>
          <p:cNvSpPr txBox="1"/>
          <p:nvPr/>
        </p:nvSpPr>
        <p:spPr>
          <a:xfrm rot="10800000">
            <a:off x="8024556" y="3039108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51" name="Textfeld 38">
            <a:extLst>
              <a:ext uri="{FF2B5EF4-FFF2-40B4-BE49-F238E27FC236}">
                <a16:creationId xmlns:a16="http://schemas.microsoft.com/office/drawing/2014/main" id="{F3FAE568-E7E9-E8C3-2B48-F4997189EF69}"/>
              </a:ext>
            </a:extLst>
          </p:cNvPr>
          <p:cNvSpPr txBox="1"/>
          <p:nvPr/>
        </p:nvSpPr>
        <p:spPr>
          <a:xfrm rot="10800000">
            <a:off x="7569713" y="4222016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59" name="Textfeld 38">
            <a:extLst>
              <a:ext uri="{FF2B5EF4-FFF2-40B4-BE49-F238E27FC236}">
                <a16:creationId xmlns:a16="http://schemas.microsoft.com/office/drawing/2014/main" id="{676428E8-E3AE-0EA6-F2F0-3B2EC73EF7A8}"/>
              </a:ext>
            </a:extLst>
          </p:cNvPr>
          <p:cNvSpPr txBox="1"/>
          <p:nvPr/>
        </p:nvSpPr>
        <p:spPr>
          <a:xfrm rot="10800000">
            <a:off x="7604484" y="5066332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82" name="Textfeld 38">
            <a:extLst>
              <a:ext uri="{FF2B5EF4-FFF2-40B4-BE49-F238E27FC236}">
                <a16:creationId xmlns:a16="http://schemas.microsoft.com/office/drawing/2014/main" id="{5FAB83E0-137C-7A74-C63D-74919BD26C85}"/>
              </a:ext>
            </a:extLst>
          </p:cNvPr>
          <p:cNvSpPr txBox="1"/>
          <p:nvPr/>
        </p:nvSpPr>
        <p:spPr>
          <a:xfrm>
            <a:off x="9058708" y="586016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90" name="Textfeld 38">
            <a:extLst>
              <a:ext uri="{FF2B5EF4-FFF2-40B4-BE49-F238E27FC236}">
                <a16:creationId xmlns:a16="http://schemas.microsoft.com/office/drawing/2014/main" id="{01F29531-5F9C-5956-23BF-114FCEED34E5}"/>
              </a:ext>
            </a:extLst>
          </p:cNvPr>
          <p:cNvSpPr txBox="1"/>
          <p:nvPr/>
        </p:nvSpPr>
        <p:spPr>
          <a:xfrm>
            <a:off x="9061108" y="6074235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pic>
        <p:nvPicPr>
          <p:cNvPr id="22" name="Grafik 32" descr="Ein Bild, das Screenshot, Electric Blue (Farbe), Text, Logo enthält.&#10;&#10;KI-generierte Inhalte können fehlerhaft sein.">
            <a:extLst>
              <a:ext uri="{FF2B5EF4-FFF2-40B4-BE49-F238E27FC236}">
                <a16:creationId xmlns:a16="http://schemas.microsoft.com/office/drawing/2014/main" id="{000E380C-0462-027C-50B8-B505903B706F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duotone>
              <a:prstClr val="black"/>
              <a:srgbClr val="F2610D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21839" y="6130308"/>
            <a:ext cx="300391" cy="203262"/>
          </a:xfrm>
          <a:prstGeom prst="rect">
            <a:avLst/>
          </a:prstGeom>
        </p:spPr>
      </p:pic>
      <p:sp>
        <p:nvSpPr>
          <p:cNvPr id="27" name="Textfeld 38">
            <a:extLst>
              <a:ext uri="{FF2B5EF4-FFF2-40B4-BE49-F238E27FC236}">
                <a16:creationId xmlns:a16="http://schemas.microsoft.com/office/drawing/2014/main" id="{BB1DD023-105A-2BBB-108A-169A76D87BD1}"/>
              </a:ext>
            </a:extLst>
          </p:cNvPr>
          <p:cNvSpPr txBox="1"/>
          <p:nvPr/>
        </p:nvSpPr>
        <p:spPr>
          <a:xfrm rot="10800000">
            <a:off x="3754424" y="3147708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45" name="Textfeld 38">
            <a:extLst>
              <a:ext uri="{FF2B5EF4-FFF2-40B4-BE49-F238E27FC236}">
                <a16:creationId xmlns:a16="http://schemas.microsoft.com/office/drawing/2014/main" id="{65B88620-E03F-F8C1-3203-0639D0FCA244}"/>
              </a:ext>
            </a:extLst>
          </p:cNvPr>
          <p:cNvSpPr txBox="1"/>
          <p:nvPr/>
        </p:nvSpPr>
        <p:spPr>
          <a:xfrm>
            <a:off x="2145249" y="319457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63" name="Textfeld 38">
            <a:extLst>
              <a:ext uri="{FF2B5EF4-FFF2-40B4-BE49-F238E27FC236}">
                <a16:creationId xmlns:a16="http://schemas.microsoft.com/office/drawing/2014/main" id="{F010FBC7-0CE4-6B6A-09AF-49E5F2867478}"/>
              </a:ext>
            </a:extLst>
          </p:cNvPr>
          <p:cNvSpPr txBox="1"/>
          <p:nvPr/>
        </p:nvSpPr>
        <p:spPr>
          <a:xfrm rot="10800000">
            <a:off x="1186410" y="5512336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68" name="Textfeld 38">
            <a:extLst>
              <a:ext uri="{FF2B5EF4-FFF2-40B4-BE49-F238E27FC236}">
                <a16:creationId xmlns:a16="http://schemas.microsoft.com/office/drawing/2014/main" id="{CDABD93C-3F85-ECFD-3171-98CDF6CBA3C1}"/>
              </a:ext>
            </a:extLst>
          </p:cNvPr>
          <p:cNvSpPr txBox="1"/>
          <p:nvPr/>
        </p:nvSpPr>
        <p:spPr>
          <a:xfrm>
            <a:off x="1194436" y="5912435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70" name="Textfeld 38">
            <a:extLst>
              <a:ext uri="{FF2B5EF4-FFF2-40B4-BE49-F238E27FC236}">
                <a16:creationId xmlns:a16="http://schemas.microsoft.com/office/drawing/2014/main" id="{9F1DEDBB-7FA2-39E9-09B7-AEDEFE2CDC95}"/>
              </a:ext>
            </a:extLst>
          </p:cNvPr>
          <p:cNvSpPr txBox="1"/>
          <p:nvPr/>
        </p:nvSpPr>
        <p:spPr>
          <a:xfrm>
            <a:off x="3681313" y="5466368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74" name="Textfeld 38">
            <a:extLst>
              <a:ext uri="{FF2B5EF4-FFF2-40B4-BE49-F238E27FC236}">
                <a16:creationId xmlns:a16="http://schemas.microsoft.com/office/drawing/2014/main" id="{FF1BB31F-133A-7CB6-CC81-2796BF76D8E8}"/>
              </a:ext>
            </a:extLst>
          </p:cNvPr>
          <p:cNvSpPr txBox="1"/>
          <p:nvPr/>
        </p:nvSpPr>
        <p:spPr>
          <a:xfrm rot="10800000">
            <a:off x="3006822" y="5479983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75" name="Textfeld 38">
            <a:extLst>
              <a:ext uri="{FF2B5EF4-FFF2-40B4-BE49-F238E27FC236}">
                <a16:creationId xmlns:a16="http://schemas.microsoft.com/office/drawing/2014/main" id="{3E3F94A0-68BE-BD31-6E9C-A2BD6010C4FC}"/>
              </a:ext>
            </a:extLst>
          </p:cNvPr>
          <p:cNvSpPr txBox="1"/>
          <p:nvPr/>
        </p:nvSpPr>
        <p:spPr>
          <a:xfrm>
            <a:off x="7924596" y="5254250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77" name="Textfeld 38">
            <a:extLst>
              <a:ext uri="{FF2B5EF4-FFF2-40B4-BE49-F238E27FC236}">
                <a16:creationId xmlns:a16="http://schemas.microsoft.com/office/drawing/2014/main" id="{6F68BD28-DF91-F237-EFD3-C53FD4C5390F}"/>
              </a:ext>
            </a:extLst>
          </p:cNvPr>
          <p:cNvSpPr txBox="1"/>
          <p:nvPr/>
        </p:nvSpPr>
        <p:spPr>
          <a:xfrm>
            <a:off x="8940897" y="4127486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79" name="Textfeld 38">
            <a:extLst>
              <a:ext uri="{FF2B5EF4-FFF2-40B4-BE49-F238E27FC236}">
                <a16:creationId xmlns:a16="http://schemas.microsoft.com/office/drawing/2014/main" id="{5ECBC2F6-61DE-B1E5-852E-A3D3D1B674AC}"/>
              </a:ext>
            </a:extLst>
          </p:cNvPr>
          <p:cNvSpPr txBox="1"/>
          <p:nvPr/>
        </p:nvSpPr>
        <p:spPr>
          <a:xfrm>
            <a:off x="11327080" y="4144449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96" name="Textfeld 38">
            <a:extLst>
              <a:ext uri="{FF2B5EF4-FFF2-40B4-BE49-F238E27FC236}">
                <a16:creationId xmlns:a16="http://schemas.microsoft.com/office/drawing/2014/main" id="{1ADA9B50-6264-6D43-EB6D-6287AFC04BA6}"/>
              </a:ext>
            </a:extLst>
          </p:cNvPr>
          <p:cNvSpPr txBox="1"/>
          <p:nvPr/>
        </p:nvSpPr>
        <p:spPr>
          <a:xfrm rot="10800000">
            <a:off x="9621479" y="4238910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103" name="Textfeld 38">
            <a:extLst>
              <a:ext uri="{FF2B5EF4-FFF2-40B4-BE49-F238E27FC236}">
                <a16:creationId xmlns:a16="http://schemas.microsoft.com/office/drawing/2014/main" id="{7718EDF7-86B8-5C4C-D831-1082C521C61A}"/>
              </a:ext>
            </a:extLst>
          </p:cNvPr>
          <p:cNvSpPr txBox="1"/>
          <p:nvPr/>
        </p:nvSpPr>
        <p:spPr>
          <a:xfrm rot="10800000">
            <a:off x="10672817" y="423059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106" name="Textfeld 38">
            <a:extLst>
              <a:ext uri="{FF2B5EF4-FFF2-40B4-BE49-F238E27FC236}">
                <a16:creationId xmlns:a16="http://schemas.microsoft.com/office/drawing/2014/main" id="{49FFBAC8-F228-D2B4-F2E0-24A525B4A970}"/>
              </a:ext>
            </a:extLst>
          </p:cNvPr>
          <p:cNvSpPr txBox="1"/>
          <p:nvPr/>
        </p:nvSpPr>
        <p:spPr>
          <a:xfrm>
            <a:off x="11243115" y="2662712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107" name="Textfeld 38">
            <a:extLst>
              <a:ext uri="{FF2B5EF4-FFF2-40B4-BE49-F238E27FC236}">
                <a16:creationId xmlns:a16="http://schemas.microsoft.com/office/drawing/2014/main" id="{3F9FA44F-1D9B-8F41-90D0-00B79103F6B8}"/>
              </a:ext>
            </a:extLst>
          </p:cNvPr>
          <p:cNvSpPr txBox="1"/>
          <p:nvPr/>
        </p:nvSpPr>
        <p:spPr>
          <a:xfrm rot="10800000">
            <a:off x="11255683" y="2172530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9" name="Textfeld 38">
            <a:extLst>
              <a:ext uri="{FF2B5EF4-FFF2-40B4-BE49-F238E27FC236}">
                <a16:creationId xmlns:a16="http://schemas.microsoft.com/office/drawing/2014/main" id="{2EFB3DC1-9BC4-0953-D475-476B12A738B2}"/>
              </a:ext>
            </a:extLst>
          </p:cNvPr>
          <p:cNvSpPr txBox="1"/>
          <p:nvPr/>
        </p:nvSpPr>
        <p:spPr>
          <a:xfrm>
            <a:off x="1514738" y="2128934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4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21" name="Textfeld 38">
            <a:extLst>
              <a:ext uri="{FF2B5EF4-FFF2-40B4-BE49-F238E27FC236}">
                <a16:creationId xmlns:a16="http://schemas.microsoft.com/office/drawing/2014/main" id="{DB6504CA-2BE2-BFE5-72F6-634A3ACF0F39}"/>
              </a:ext>
            </a:extLst>
          </p:cNvPr>
          <p:cNvSpPr txBox="1"/>
          <p:nvPr/>
        </p:nvSpPr>
        <p:spPr>
          <a:xfrm rot="10800000">
            <a:off x="1505619" y="2436512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4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23" name="Textfeld 38">
            <a:extLst>
              <a:ext uri="{FF2B5EF4-FFF2-40B4-BE49-F238E27FC236}">
                <a16:creationId xmlns:a16="http://schemas.microsoft.com/office/drawing/2014/main" id="{A0F11B13-1DC1-F5AA-D4F7-137B911AA273}"/>
              </a:ext>
            </a:extLst>
          </p:cNvPr>
          <p:cNvSpPr txBox="1"/>
          <p:nvPr/>
        </p:nvSpPr>
        <p:spPr>
          <a:xfrm rot="10800000">
            <a:off x="3902426" y="4674979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4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76" name="Textfeld 38">
            <a:extLst>
              <a:ext uri="{FF2B5EF4-FFF2-40B4-BE49-F238E27FC236}">
                <a16:creationId xmlns:a16="http://schemas.microsoft.com/office/drawing/2014/main" id="{4089243A-A445-CBAB-74B5-2C0C7DBAE4B3}"/>
              </a:ext>
            </a:extLst>
          </p:cNvPr>
          <p:cNvSpPr txBox="1"/>
          <p:nvPr/>
        </p:nvSpPr>
        <p:spPr>
          <a:xfrm rot="10800000">
            <a:off x="6051103" y="6102908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400" b="1" dirty="0">
                <a:solidFill>
                  <a:srgbClr val="FF0000"/>
                </a:solidFill>
              </a:rPr>
              <a:t>↑</a:t>
            </a:r>
          </a:p>
        </p:txBody>
      </p:sp>
      <p:graphicFrame>
        <p:nvGraphicFramePr>
          <p:cNvPr id="92" name="Diagramm 9">
            <a:extLst>
              <a:ext uri="{FF2B5EF4-FFF2-40B4-BE49-F238E27FC236}">
                <a16:creationId xmlns:a16="http://schemas.microsoft.com/office/drawing/2014/main" id="{5D66D7BF-594C-FD54-B715-74709CBDB7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19996" y="470504"/>
          <a:ext cx="2019762" cy="1378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3"/>
          </a:graphicData>
        </a:graphic>
      </p:graphicFrame>
      <p:sp>
        <p:nvSpPr>
          <p:cNvPr id="10" name="Datumsplatzhalter 1">
            <a:extLst>
              <a:ext uri="{FF2B5EF4-FFF2-40B4-BE49-F238E27FC236}">
                <a16:creationId xmlns:a16="http://schemas.microsoft.com/office/drawing/2014/main" id="{2BD3898F-5E36-22C7-E619-8876F38190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875" y="6556875"/>
            <a:ext cx="588192" cy="219454"/>
          </a:xfrm>
        </p:spPr>
        <p:txBody>
          <a:bodyPr/>
          <a:lstStyle/>
          <a:p>
            <a:fld id="{72D77B36-95B7-FF43-8BF5-D80FC3958B26}" type="datetime1">
              <a:rPr lang="de-AT" noProof="0" smtClean="0"/>
              <a:t>28.05.26</a:t>
            </a:fld>
            <a:endParaRPr lang="de-AT" noProof="0" dirty="0"/>
          </a:p>
        </p:txBody>
      </p:sp>
      <p:sp>
        <p:nvSpPr>
          <p:cNvPr id="108" name="Fußzeilenplatzhalter 2">
            <a:extLst>
              <a:ext uri="{FF2B5EF4-FFF2-40B4-BE49-F238E27FC236}">
                <a16:creationId xmlns:a16="http://schemas.microsoft.com/office/drawing/2014/main" id="{051B6F0B-DB6C-4E0C-3F7B-6036C950B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0" y="6556875"/>
            <a:ext cx="6127477" cy="219454"/>
          </a:xfrm>
        </p:spPr>
        <p:txBody>
          <a:bodyPr/>
          <a:lstStyle/>
          <a:p>
            <a:r>
              <a:rPr lang="de-AT" noProof="0" dirty="0"/>
              <a:t>Retail-Segmentierung Neu│ S. Stratula &amp; K. Preibisch</a:t>
            </a:r>
          </a:p>
        </p:txBody>
      </p:sp>
    </p:spTree>
    <p:extLst>
      <p:ext uri="{BB962C8B-B14F-4D97-AF65-F5344CB8AC3E}">
        <p14:creationId xmlns:p14="http://schemas.microsoft.com/office/powerpoint/2010/main" val="2235613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AE946-E0F4-AE19-7F64-64D2BC5B1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97613621-6971-6F67-4A1A-FEE8952116B2}"/>
              </a:ext>
            </a:extLst>
          </p:cNvPr>
          <p:cNvSpPr/>
          <p:nvPr/>
        </p:nvSpPr>
        <p:spPr>
          <a:xfrm>
            <a:off x="337987" y="1854651"/>
            <a:ext cx="5697659" cy="4414566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4E8C6BD-60D2-F55D-56F6-3BEAB06268A9}"/>
              </a:ext>
            </a:extLst>
          </p:cNvPr>
          <p:cNvSpPr txBox="1"/>
          <p:nvPr/>
        </p:nvSpPr>
        <p:spPr>
          <a:xfrm>
            <a:off x="315266" y="6371801"/>
            <a:ext cx="115460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Basis: </a:t>
            </a:r>
            <a:r>
              <a:rPr lang="de-DE" sz="800" err="1"/>
              <a:t>n</a:t>
            </a:r>
            <a:r>
              <a:rPr lang="de-DE" sz="800"/>
              <a:t>(Segment2)=688 | Grüne/rote Schriftfarbe und fette Markierung von Werten: Signifikante Abweichungen von der Gesamtstichprobe. Grün = signifikant höherer Wert, rot = signifikant niedrigerer Wert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2CBF513-56A2-2D9C-11B6-67C950A31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13</a:t>
            </a:fld>
            <a:endParaRPr lang="de-AT" noProof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76D0CE1-29A6-8AAF-91E0-11BD51E42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76" y="917607"/>
            <a:ext cx="11395074" cy="484473"/>
          </a:xfrm>
        </p:spPr>
        <p:txBody>
          <a:bodyPr/>
          <a:lstStyle/>
          <a:p>
            <a:r>
              <a:rPr lang="de-DE" sz="3400"/>
              <a:t>Versicherungseckdaten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B83E478-3756-9950-5CED-0D0DA2C4C0C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/>
              <a:t>Segment 2: Die Online Affinen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CA44357-87E5-CCE2-5F98-51AA7F87E80E}"/>
              </a:ext>
            </a:extLst>
          </p:cNvPr>
          <p:cNvSpPr txBox="1"/>
          <p:nvPr/>
        </p:nvSpPr>
        <p:spPr>
          <a:xfrm>
            <a:off x="406796" y="1540342"/>
            <a:ext cx="3680713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400"/>
              <a:t>AKTUELLER VERSICHERUNGSSTATUS</a:t>
            </a:r>
          </a:p>
        </p:txBody>
      </p:sp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4AD70EA8-3618-AE3D-60F0-1B914C22B0D0}"/>
              </a:ext>
            </a:extLst>
          </p:cNvPr>
          <p:cNvCxnSpPr>
            <a:cxnSpLocks/>
          </p:cNvCxnSpPr>
          <p:nvPr/>
        </p:nvCxnSpPr>
        <p:spPr>
          <a:xfrm flipH="1">
            <a:off x="348557" y="3106183"/>
            <a:ext cx="5687089" cy="0"/>
          </a:xfrm>
          <a:prstGeom prst="line">
            <a:avLst/>
          </a:prstGeom>
          <a:ln w="28575">
            <a:solidFill>
              <a:srgbClr val="F2610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43">
            <a:extLst>
              <a:ext uri="{FF2B5EF4-FFF2-40B4-BE49-F238E27FC236}">
                <a16:creationId xmlns:a16="http://schemas.microsoft.com/office/drawing/2014/main" id="{33B0C071-530D-2CC3-4D59-E99CFE81FB06}"/>
              </a:ext>
            </a:extLst>
          </p:cNvPr>
          <p:cNvCxnSpPr>
            <a:cxnSpLocks/>
          </p:cNvCxnSpPr>
          <p:nvPr/>
        </p:nvCxnSpPr>
        <p:spPr>
          <a:xfrm flipV="1">
            <a:off x="2040437" y="3112005"/>
            <a:ext cx="0" cy="1809622"/>
          </a:xfrm>
          <a:prstGeom prst="line">
            <a:avLst/>
          </a:prstGeom>
          <a:ln w="28575">
            <a:solidFill>
              <a:srgbClr val="F2610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feld 33">
            <a:extLst>
              <a:ext uri="{FF2B5EF4-FFF2-40B4-BE49-F238E27FC236}">
                <a16:creationId xmlns:a16="http://schemas.microsoft.com/office/drawing/2014/main" id="{6A64A899-FED1-0230-D4B9-6DB385B791DA}"/>
              </a:ext>
            </a:extLst>
          </p:cNvPr>
          <p:cNvSpPr txBox="1"/>
          <p:nvPr/>
        </p:nvSpPr>
        <p:spPr>
          <a:xfrm>
            <a:off x="6174209" y="1566913"/>
            <a:ext cx="4856279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400"/>
              <a:t>VERSICHERUNGSBESITZ &amp; NEUABSCHLUSS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8F93B360-9D06-458A-2F2A-F9867A7C12D0}"/>
              </a:ext>
            </a:extLst>
          </p:cNvPr>
          <p:cNvSpPr/>
          <p:nvPr/>
        </p:nvSpPr>
        <p:spPr>
          <a:xfrm>
            <a:off x="6157976" y="1847901"/>
            <a:ext cx="5695735" cy="4428067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160BC09-082B-0354-3558-6159139C1026}"/>
              </a:ext>
            </a:extLst>
          </p:cNvPr>
          <p:cNvSpPr txBox="1"/>
          <p:nvPr/>
        </p:nvSpPr>
        <p:spPr>
          <a:xfrm>
            <a:off x="396875" y="1875824"/>
            <a:ext cx="123661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Beratertyp</a:t>
            </a:r>
          </a:p>
        </p:txBody>
      </p:sp>
      <p:graphicFrame>
        <p:nvGraphicFramePr>
          <p:cNvPr id="21" name="Diagramm 20">
            <a:extLst>
              <a:ext uri="{FF2B5EF4-FFF2-40B4-BE49-F238E27FC236}">
                <a16:creationId xmlns:a16="http://schemas.microsoft.com/office/drawing/2014/main" id="{4E44B545-673C-6769-BE00-684A5B98177E}"/>
              </a:ext>
            </a:extLst>
          </p:cNvPr>
          <p:cNvGraphicFramePr/>
          <p:nvPr/>
        </p:nvGraphicFramePr>
        <p:xfrm>
          <a:off x="-1267663" y="2025101"/>
          <a:ext cx="5638517" cy="1083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9" name="Grafik 68" descr="Ein Bild, das Schrift, Grafiken, Grafikdesign, Logo enthält.&#10;&#10;KI-generierte Inhalte können fehlerhaft sein.">
            <a:extLst>
              <a:ext uri="{FF2B5EF4-FFF2-40B4-BE49-F238E27FC236}">
                <a16:creationId xmlns:a16="http://schemas.microsoft.com/office/drawing/2014/main" id="{B043C69E-346B-95CD-1F0D-2022B6D1C3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148" y="3547223"/>
            <a:ext cx="1061371" cy="190355"/>
          </a:xfrm>
          <a:prstGeom prst="rect">
            <a:avLst/>
          </a:prstGeom>
        </p:spPr>
      </p:pic>
      <p:sp>
        <p:nvSpPr>
          <p:cNvPr id="70" name="Textfeld 69">
            <a:extLst>
              <a:ext uri="{FF2B5EF4-FFF2-40B4-BE49-F238E27FC236}">
                <a16:creationId xmlns:a16="http://schemas.microsoft.com/office/drawing/2014/main" id="{3E9D5378-97FD-343E-4B32-04D89FE2A97E}"/>
              </a:ext>
            </a:extLst>
          </p:cNvPr>
          <p:cNvSpPr txBox="1"/>
          <p:nvPr/>
        </p:nvSpPr>
        <p:spPr>
          <a:xfrm>
            <a:off x="424094" y="3845347"/>
            <a:ext cx="1515196" cy="3899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600"/>
              </a:spcAft>
              <a:buClr>
                <a:schemeClr val="tx2"/>
              </a:buClr>
            </a:pPr>
            <a:r>
              <a:rPr lang="de-DE" sz="1100" err="1">
                <a:solidFill>
                  <a:srgbClr val="000000"/>
                </a:solidFill>
              </a:rPr>
              <a:t>Kund:innen</a:t>
            </a:r>
            <a:r>
              <a:rPr lang="de-DE" sz="1100">
                <a:solidFill>
                  <a:srgbClr val="000000"/>
                </a:solidFill>
              </a:rPr>
              <a:t>*: </a:t>
            </a:r>
            <a:r>
              <a:rPr lang="de-DE" sz="1100" b="1">
                <a:solidFill>
                  <a:srgbClr val="FF0000"/>
                </a:solidFill>
              </a:rPr>
              <a:t>24%</a:t>
            </a:r>
          </a:p>
          <a:p>
            <a:pPr algn="l">
              <a:spcAft>
                <a:spcPts val="600"/>
              </a:spcAft>
              <a:buClr>
                <a:schemeClr val="tx2"/>
              </a:buClr>
            </a:pPr>
            <a:r>
              <a:rPr lang="de-DE" sz="1100">
                <a:solidFill>
                  <a:srgbClr val="000000"/>
                </a:solidFill>
              </a:rPr>
              <a:t>Hauptversicherte: 14%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50D80C41-E6E1-1FF5-680B-96D2C3128A0D}"/>
              </a:ext>
            </a:extLst>
          </p:cNvPr>
          <p:cNvSpPr txBox="1"/>
          <p:nvPr/>
        </p:nvSpPr>
        <p:spPr>
          <a:xfrm>
            <a:off x="391464" y="4476410"/>
            <a:ext cx="1628876" cy="37847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800">
                <a:solidFill>
                  <a:schemeClr val="bg1">
                    <a:lumMod val="75000"/>
                  </a:schemeClr>
                </a:solidFill>
              </a:rPr>
              <a:t>*Definition als </a:t>
            </a:r>
            <a:r>
              <a:rPr lang="de-DE" sz="800" err="1">
                <a:solidFill>
                  <a:schemeClr val="bg1">
                    <a:lumMod val="75000"/>
                  </a:schemeClr>
                </a:solidFill>
              </a:rPr>
              <a:t>Kund:in</a:t>
            </a:r>
            <a:r>
              <a:rPr lang="de-DE" sz="800">
                <a:solidFill>
                  <a:schemeClr val="bg1">
                    <a:lumMod val="75000"/>
                  </a:schemeClr>
                </a:solidFill>
              </a:rPr>
              <a:t>: Person selbst oder der Haushalt der Person ist bei UNIQA versichert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BB072716-62F0-D9D6-A0E0-9A5F6BCD9552}"/>
              </a:ext>
            </a:extLst>
          </p:cNvPr>
          <p:cNvSpPr txBox="1"/>
          <p:nvPr/>
        </p:nvSpPr>
        <p:spPr>
          <a:xfrm>
            <a:off x="396875" y="3174136"/>
            <a:ext cx="123661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Kundenstatus</a:t>
            </a:r>
          </a:p>
        </p:txBody>
      </p:sp>
      <p:cxnSp>
        <p:nvCxnSpPr>
          <p:cNvPr id="73" name="Gerade Verbindung 72">
            <a:extLst>
              <a:ext uri="{FF2B5EF4-FFF2-40B4-BE49-F238E27FC236}">
                <a16:creationId xmlns:a16="http://schemas.microsoft.com/office/drawing/2014/main" id="{A6CD5876-60EF-F97E-D17B-38A79060103C}"/>
              </a:ext>
            </a:extLst>
          </p:cNvPr>
          <p:cNvCxnSpPr>
            <a:cxnSpLocks/>
          </p:cNvCxnSpPr>
          <p:nvPr/>
        </p:nvCxnSpPr>
        <p:spPr>
          <a:xfrm flipH="1">
            <a:off x="343271" y="4921627"/>
            <a:ext cx="5661288" cy="0"/>
          </a:xfrm>
          <a:prstGeom prst="line">
            <a:avLst/>
          </a:prstGeom>
          <a:ln w="28575">
            <a:solidFill>
              <a:srgbClr val="F2610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feld 73">
            <a:extLst>
              <a:ext uri="{FF2B5EF4-FFF2-40B4-BE49-F238E27FC236}">
                <a16:creationId xmlns:a16="http://schemas.microsoft.com/office/drawing/2014/main" id="{4D602089-CD69-AC9A-3F64-563D1D2E308A}"/>
              </a:ext>
            </a:extLst>
          </p:cNvPr>
          <p:cNvSpPr txBox="1"/>
          <p:nvPr/>
        </p:nvSpPr>
        <p:spPr>
          <a:xfrm>
            <a:off x="2132649" y="3174136"/>
            <a:ext cx="1976531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Versicherungsausgaben</a:t>
            </a: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019B6708-FDE3-A2EA-CE6D-A3318ABB199D}"/>
              </a:ext>
            </a:extLst>
          </p:cNvPr>
          <p:cNvSpPr txBox="1"/>
          <p:nvPr/>
        </p:nvSpPr>
        <p:spPr>
          <a:xfrm>
            <a:off x="2676789" y="3430707"/>
            <a:ext cx="796904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b="1" dirty="0">
                <a:solidFill>
                  <a:srgbClr val="FF0000"/>
                </a:solidFill>
              </a:rPr>
              <a:t>€ 166,8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7BB3E167-6C0B-D7D5-94A5-F3443BC6FECB}"/>
              </a:ext>
            </a:extLst>
          </p:cNvPr>
          <p:cNvSpPr txBox="1"/>
          <p:nvPr/>
        </p:nvSpPr>
        <p:spPr>
          <a:xfrm>
            <a:off x="2079699" y="3766473"/>
            <a:ext cx="1943839" cy="6764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  <a:buClr>
                <a:schemeClr val="tx2"/>
              </a:buClr>
            </a:pPr>
            <a:r>
              <a:rPr lang="de-DE" sz="1100">
                <a:solidFill>
                  <a:srgbClr val="000000"/>
                </a:solidFill>
              </a:rPr>
              <a:t>im Durchschnitt pro Monat als Gesamtausgaben des Haushalts für private Versicherungen</a:t>
            </a:r>
          </a:p>
        </p:txBody>
      </p:sp>
      <p:pic>
        <p:nvPicPr>
          <p:cNvPr id="80" name="Grafik 79" descr="Ein Bild, das Electric Blue (Farbe), Screenshot, Grafiken, Majorelle Blue enthält.&#10;&#10;KI-generierte Inhalte können fehlerhaft sein.">
            <a:extLst>
              <a:ext uri="{FF2B5EF4-FFF2-40B4-BE49-F238E27FC236}">
                <a16:creationId xmlns:a16="http://schemas.microsoft.com/office/drawing/2014/main" id="{82105981-EF70-7A55-B06C-7FD32252E51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F2610D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8318" y="3193074"/>
            <a:ext cx="528471" cy="792707"/>
          </a:xfrm>
          <a:prstGeom prst="rect">
            <a:avLst/>
          </a:prstGeom>
        </p:spPr>
      </p:pic>
      <p:sp>
        <p:nvSpPr>
          <p:cNvPr id="81" name="Textfeld 80">
            <a:extLst>
              <a:ext uri="{FF2B5EF4-FFF2-40B4-BE49-F238E27FC236}">
                <a16:creationId xmlns:a16="http://schemas.microsoft.com/office/drawing/2014/main" id="{20B16DC3-3BAB-E3A0-0458-DFADE8ACF498}"/>
              </a:ext>
            </a:extLst>
          </p:cNvPr>
          <p:cNvSpPr txBox="1"/>
          <p:nvPr/>
        </p:nvSpPr>
        <p:spPr>
          <a:xfrm>
            <a:off x="2058124" y="4435241"/>
            <a:ext cx="1994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>
                <a:solidFill>
                  <a:schemeClr val="bg1">
                    <a:lumMod val="75000"/>
                  </a:schemeClr>
                </a:solidFill>
              </a:rPr>
              <a:t>*Näherungsweiser Mittelwert auf Basis von Klassenmittelpunkten, da die Abfrage in Kategorien erfolgte</a:t>
            </a: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DCFEAF79-5982-D9E0-DB22-3DB2D600B84A}"/>
              </a:ext>
            </a:extLst>
          </p:cNvPr>
          <p:cNvSpPr txBox="1"/>
          <p:nvPr/>
        </p:nvSpPr>
        <p:spPr>
          <a:xfrm>
            <a:off x="4159562" y="3193074"/>
            <a:ext cx="1797227" cy="4351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Weiterempfehlung der Hauptversicherung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BF0E6252-EB03-A08C-9A8E-C0C7D2E6CF25}"/>
              </a:ext>
            </a:extLst>
          </p:cNvPr>
          <p:cNvSpPr txBox="1"/>
          <p:nvPr/>
        </p:nvSpPr>
        <p:spPr>
          <a:xfrm>
            <a:off x="4297620" y="4040433"/>
            <a:ext cx="1488374" cy="70737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  <a:buClr>
                <a:schemeClr val="tx2"/>
              </a:buClr>
            </a:pPr>
            <a:r>
              <a:rPr lang="de-DE" sz="1100" dirty="0">
                <a:solidFill>
                  <a:srgbClr val="000000"/>
                </a:solidFill>
              </a:rPr>
              <a:t>Net Promotor Score (NPS) = Promotoren – </a:t>
            </a:r>
            <a:r>
              <a:rPr lang="de-DE" sz="1100" dirty="0" err="1">
                <a:solidFill>
                  <a:srgbClr val="000000"/>
                </a:solidFill>
              </a:rPr>
              <a:t>Detraktoren</a:t>
            </a:r>
            <a:r>
              <a:rPr lang="de-DE" sz="1100" dirty="0">
                <a:solidFill>
                  <a:srgbClr val="000000"/>
                </a:solidFill>
              </a:rPr>
              <a:t> = </a:t>
            </a:r>
            <a:r>
              <a:rPr lang="de-DE" sz="1100" b="1" dirty="0">
                <a:solidFill>
                  <a:srgbClr val="FF0000"/>
                </a:solidFill>
              </a:rPr>
              <a:t>34%</a:t>
            </a:r>
            <a:r>
              <a:rPr lang="de-DE" sz="1100" dirty="0">
                <a:solidFill>
                  <a:srgbClr val="000000"/>
                </a:solidFill>
              </a:rPr>
              <a:t> - </a:t>
            </a:r>
            <a:r>
              <a:rPr lang="de-DE" sz="1100" b="1" dirty="0">
                <a:solidFill>
                  <a:srgbClr val="4DA685"/>
                </a:solidFill>
              </a:rPr>
              <a:t>32%</a:t>
            </a:r>
            <a:r>
              <a:rPr lang="de-DE" sz="1100" dirty="0">
                <a:solidFill>
                  <a:srgbClr val="000000"/>
                </a:solidFill>
              </a:rPr>
              <a:t> = 1</a:t>
            </a:r>
          </a:p>
        </p:txBody>
      </p:sp>
      <p:cxnSp>
        <p:nvCxnSpPr>
          <p:cNvPr id="100" name="Gerade Verbindung 99">
            <a:extLst>
              <a:ext uri="{FF2B5EF4-FFF2-40B4-BE49-F238E27FC236}">
                <a16:creationId xmlns:a16="http://schemas.microsoft.com/office/drawing/2014/main" id="{ADC84B56-F3C1-6D84-95E7-C954C94A5983}"/>
              </a:ext>
            </a:extLst>
          </p:cNvPr>
          <p:cNvCxnSpPr>
            <a:cxnSpLocks/>
          </p:cNvCxnSpPr>
          <p:nvPr/>
        </p:nvCxnSpPr>
        <p:spPr>
          <a:xfrm>
            <a:off x="4073627" y="1849466"/>
            <a:ext cx="0" cy="4414566"/>
          </a:xfrm>
          <a:prstGeom prst="line">
            <a:avLst/>
          </a:prstGeom>
          <a:ln w="28575">
            <a:solidFill>
              <a:srgbClr val="F2610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feld 100">
            <a:extLst>
              <a:ext uri="{FF2B5EF4-FFF2-40B4-BE49-F238E27FC236}">
                <a16:creationId xmlns:a16="http://schemas.microsoft.com/office/drawing/2014/main" id="{CE0EECC9-823E-C3CA-77B2-F385381E5B03}"/>
              </a:ext>
            </a:extLst>
          </p:cNvPr>
          <p:cNvSpPr txBox="1"/>
          <p:nvPr/>
        </p:nvSpPr>
        <p:spPr>
          <a:xfrm>
            <a:off x="4159562" y="4999604"/>
            <a:ext cx="1875354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Wechselwahrscheinlichkeit der Hauptversicherung</a:t>
            </a: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7318E051-F66C-356F-BDCD-3B4F61D8F0CB}"/>
              </a:ext>
            </a:extLst>
          </p:cNvPr>
          <p:cNvSpPr txBox="1"/>
          <p:nvPr/>
        </p:nvSpPr>
        <p:spPr>
          <a:xfrm>
            <a:off x="4129645" y="6028185"/>
            <a:ext cx="1931230" cy="1992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  <a:buClr>
                <a:schemeClr val="tx2"/>
              </a:buClr>
            </a:pPr>
            <a:r>
              <a:rPr lang="de-DE" sz="800" spc="-30">
                <a:solidFill>
                  <a:schemeClr val="bg1">
                    <a:lumMod val="75000"/>
                  </a:schemeClr>
                </a:solidFill>
              </a:rPr>
              <a:t>6-10 auf einer 11-stufigen Skala von 0=Sehr unwahrscheinlich bis 10=Sehr wahrscheinlich</a:t>
            </a:r>
          </a:p>
        </p:txBody>
      </p:sp>
      <p:pic>
        <p:nvPicPr>
          <p:cNvPr id="105" name="Grafik 104" descr="Ein Bild, das Cartoon, Grafiken, Licht enthält.&#10;&#10;KI-generierte Inhalte können fehlerhaft sein.">
            <a:extLst>
              <a:ext uri="{FF2B5EF4-FFF2-40B4-BE49-F238E27FC236}">
                <a16:creationId xmlns:a16="http://schemas.microsoft.com/office/drawing/2014/main" id="{B3FBCD74-82E1-66E0-4F1D-B796D51ADD7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rgbClr val="F2610D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0275" y="3329797"/>
            <a:ext cx="636890" cy="955333"/>
          </a:xfrm>
          <a:prstGeom prst="rect">
            <a:avLst/>
          </a:prstGeom>
        </p:spPr>
      </p:pic>
      <p:sp>
        <p:nvSpPr>
          <p:cNvPr id="108" name="Textfeld 107">
            <a:extLst>
              <a:ext uri="{FF2B5EF4-FFF2-40B4-BE49-F238E27FC236}">
                <a16:creationId xmlns:a16="http://schemas.microsoft.com/office/drawing/2014/main" id="{7DE4BD84-EED1-06EF-1263-AA3E3EADCB51}"/>
              </a:ext>
            </a:extLst>
          </p:cNvPr>
          <p:cNvSpPr txBox="1"/>
          <p:nvPr/>
        </p:nvSpPr>
        <p:spPr>
          <a:xfrm>
            <a:off x="9814830" y="1875824"/>
            <a:ext cx="1742004" cy="435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Neuabschluss-wahrscheinlichkeit in den nächsten 3 Jahren</a:t>
            </a:r>
          </a:p>
        </p:txBody>
      </p:sp>
      <p:pic>
        <p:nvPicPr>
          <p:cNvPr id="119" name="Grafik 118" descr="Ein Bild, das Grafiken, Majorelle Blue, Electric Blue (Farbe), Cartoon enthält.&#10;&#10;KI-generierte Inhalte können fehlerhaft sein.">
            <a:extLst>
              <a:ext uri="{FF2B5EF4-FFF2-40B4-BE49-F238E27FC236}">
                <a16:creationId xmlns:a16="http://schemas.microsoft.com/office/drawing/2014/main" id="{E2236967-EB15-F6DC-BC25-506F576F1BB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duotone>
              <a:prstClr val="black"/>
              <a:srgbClr val="F2610D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880" y="5231282"/>
            <a:ext cx="502572" cy="753857"/>
          </a:xfrm>
          <a:prstGeom prst="rect">
            <a:avLst/>
          </a:prstGeom>
        </p:spPr>
      </p:pic>
      <p:sp>
        <p:nvSpPr>
          <p:cNvPr id="130" name="Textfeld 129">
            <a:extLst>
              <a:ext uri="{FF2B5EF4-FFF2-40B4-BE49-F238E27FC236}">
                <a16:creationId xmlns:a16="http://schemas.microsoft.com/office/drawing/2014/main" id="{05A788C3-D5CD-FB5E-3F04-FAAD4EC1E55D}"/>
              </a:ext>
            </a:extLst>
          </p:cNvPr>
          <p:cNvSpPr txBox="1"/>
          <p:nvPr/>
        </p:nvSpPr>
        <p:spPr>
          <a:xfrm>
            <a:off x="6272494" y="1875824"/>
            <a:ext cx="2507280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Aktueller Versicherungsbesitz im Haushalt</a:t>
            </a:r>
          </a:p>
        </p:txBody>
      </p:sp>
      <p:sp>
        <p:nvSpPr>
          <p:cNvPr id="133" name="Textfeld 132">
            <a:extLst>
              <a:ext uri="{FF2B5EF4-FFF2-40B4-BE49-F238E27FC236}">
                <a16:creationId xmlns:a16="http://schemas.microsoft.com/office/drawing/2014/main" id="{7954D2CE-ED71-AE50-EC8C-214E3045141D}"/>
              </a:ext>
            </a:extLst>
          </p:cNvPr>
          <p:cNvSpPr txBox="1"/>
          <p:nvPr/>
        </p:nvSpPr>
        <p:spPr>
          <a:xfrm>
            <a:off x="9814830" y="6100862"/>
            <a:ext cx="21096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>
                <a:solidFill>
                  <a:schemeClr val="bg1">
                    <a:lumMod val="75000"/>
                  </a:schemeClr>
                </a:solidFill>
              </a:rPr>
              <a:t>**Von insgesamt 17 vorgelegten Sparten</a:t>
            </a:r>
          </a:p>
        </p:txBody>
      </p:sp>
      <p:sp>
        <p:nvSpPr>
          <p:cNvPr id="22" name="Textfeld 87">
            <a:extLst>
              <a:ext uri="{FF2B5EF4-FFF2-40B4-BE49-F238E27FC236}">
                <a16:creationId xmlns:a16="http://schemas.microsoft.com/office/drawing/2014/main" id="{90ACD064-33A2-809B-634E-7521BF4F9A31}"/>
              </a:ext>
            </a:extLst>
          </p:cNvPr>
          <p:cNvSpPr txBox="1"/>
          <p:nvPr/>
        </p:nvSpPr>
        <p:spPr>
          <a:xfrm>
            <a:off x="4502283" y="5408218"/>
            <a:ext cx="1396366" cy="3878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buClr>
                <a:schemeClr val="tx2"/>
              </a:buClr>
            </a:pPr>
            <a:r>
              <a:rPr lang="de-DE" sz="1200" b="1" dirty="0">
                <a:solidFill>
                  <a:srgbClr val="4DA685"/>
                </a:solidFill>
              </a:rPr>
              <a:t>16%</a:t>
            </a:r>
            <a:r>
              <a:rPr lang="de-DE" sz="1200" b="1" dirty="0">
                <a:solidFill>
                  <a:srgbClr val="000000"/>
                </a:solidFill>
              </a:rPr>
              <a:t> </a:t>
            </a:r>
            <a:r>
              <a:rPr lang="de-DE" sz="1200" dirty="0">
                <a:solidFill>
                  <a:srgbClr val="000000"/>
                </a:solidFill>
              </a:rPr>
              <a:t>Wechselbereitschaft</a:t>
            </a:r>
          </a:p>
        </p:txBody>
      </p:sp>
      <p:sp>
        <p:nvSpPr>
          <p:cNvPr id="24" name="Textfeld 76">
            <a:extLst>
              <a:ext uri="{FF2B5EF4-FFF2-40B4-BE49-F238E27FC236}">
                <a16:creationId xmlns:a16="http://schemas.microsoft.com/office/drawing/2014/main" id="{41B4FAB8-62A6-6F40-AD0F-4C9C2A21CA3D}"/>
              </a:ext>
            </a:extLst>
          </p:cNvPr>
          <p:cNvSpPr txBox="1"/>
          <p:nvPr/>
        </p:nvSpPr>
        <p:spPr>
          <a:xfrm>
            <a:off x="1225352" y="5475081"/>
            <a:ext cx="796904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buClr>
                <a:schemeClr val="tx2"/>
              </a:buClr>
            </a:pPr>
            <a:r>
              <a:rPr lang="de-DE" b="1">
                <a:solidFill>
                  <a:srgbClr val="FF0000"/>
                </a:solidFill>
              </a:rPr>
              <a:t>46%</a:t>
            </a:r>
          </a:p>
        </p:txBody>
      </p:sp>
      <p:sp>
        <p:nvSpPr>
          <p:cNvPr id="26" name="Textfeld 77">
            <a:extLst>
              <a:ext uri="{FF2B5EF4-FFF2-40B4-BE49-F238E27FC236}">
                <a16:creationId xmlns:a16="http://schemas.microsoft.com/office/drawing/2014/main" id="{29AA14A6-4494-34F8-9B95-64A805A4CF56}"/>
              </a:ext>
            </a:extLst>
          </p:cNvPr>
          <p:cNvSpPr txBox="1"/>
          <p:nvPr/>
        </p:nvSpPr>
        <p:spPr>
          <a:xfrm>
            <a:off x="2043950" y="5398084"/>
            <a:ext cx="1505682" cy="6764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  <a:buClr>
                <a:schemeClr val="tx2"/>
              </a:buClr>
            </a:pPr>
            <a:r>
              <a:rPr lang="de-DE" sz="1100" dirty="0">
                <a:solidFill>
                  <a:srgbClr val="000000"/>
                </a:solidFill>
              </a:rPr>
              <a:t>sind sehr / eher positiv eingestellt gegenüber Versicherungen</a:t>
            </a:r>
          </a:p>
        </p:txBody>
      </p:sp>
      <p:sp>
        <p:nvSpPr>
          <p:cNvPr id="33" name="Textfeld 9">
            <a:extLst>
              <a:ext uri="{FF2B5EF4-FFF2-40B4-BE49-F238E27FC236}">
                <a16:creationId xmlns:a16="http://schemas.microsoft.com/office/drawing/2014/main" id="{97B6B37E-6762-1760-1D60-0E8444DD832D}"/>
              </a:ext>
            </a:extLst>
          </p:cNvPr>
          <p:cNvSpPr txBox="1"/>
          <p:nvPr/>
        </p:nvSpPr>
        <p:spPr>
          <a:xfrm>
            <a:off x="376168" y="4992987"/>
            <a:ext cx="278223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Einstellung gegenüber Versicherungen</a:t>
            </a:r>
          </a:p>
        </p:txBody>
      </p:sp>
      <p:sp>
        <p:nvSpPr>
          <p:cNvPr id="37" name="Textfeld 9">
            <a:extLst>
              <a:ext uri="{FF2B5EF4-FFF2-40B4-BE49-F238E27FC236}">
                <a16:creationId xmlns:a16="http://schemas.microsoft.com/office/drawing/2014/main" id="{15020B72-3E3A-C94A-6E0C-29D47D95F32A}"/>
              </a:ext>
            </a:extLst>
          </p:cNvPr>
          <p:cNvSpPr txBox="1"/>
          <p:nvPr/>
        </p:nvSpPr>
        <p:spPr>
          <a:xfrm>
            <a:off x="4159562" y="1903304"/>
            <a:ext cx="1585835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Hauptversicherungen – Top 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D8CB51E-1712-2428-5B29-318D19D43BE6}"/>
              </a:ext>
            </a:extLst>
          </p:cNvPr>
          <p:cNvSpPr txBox="1"/>
          <p:nvPr/>
        </p:nvSpPr>
        <p:spPr>
          <a:xfrm>
            <a:off x="4123717" y="2335070"/>
            <a:ext cx="202037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u="none">
                <a:solidFill>
                  <a:srgbClr val="000000"/>
                </a:solidFill>
              </a:rPr>
              <a:t>#1: UNIQA – </a:t>
            </a:r>
            <a:r>
              <a:rPr lang="de-DE" sz="1100">
                <a:solidFill>
                  <a:srgbClr val="000000"/>
                </a:solidFill>
              </a:rPr>
              <a:t>14</a:t>
            </a:r>
            <a:r>
              <a:rPr lang="de-DE" sz="1100" u="none">
                <a:solidFill>
                  <a:srgbClr val="000000"/>
                </a:solidFill>
              </a:rPr>
              <a:t>%</a:t>
            </a:r>
          </a:p>
          <a:p>
            <a:r>
              <a:rPr lang="de-DE" sz="1100">
                <a:solidFill>
                  <a:srgbClr val="000000"/>
                </a:solidFill>
              </a:rPr>
              <a:t>#2: Wiener Städtische – 11%</a:t>
            </a:r>
          </a:p>
          <a:p>
            <a:r>
              <a:rPr lang="de-DE" sz="1100">
                <a:solidFill>
                  <a:srgbClr val="000000"/>
                </a:solidFill>
              </a:rPr>
              <a:t>#3: Allianz – 10%</a:t>
            </a:r>
            <a:endParaRPr lang="de-AT" sz="1100">
              <a:solidFill>
                <a:srgbClr val="000000"/>
              </a:solidFill>
            </a:endParaRPr>
          </a:p>
        </p:txBody>
      </p:sp>
      <p:graphicFrame>
        <p:nvGraphicFramePr>
          <p:cNvPr id="66" name="Diagramm 59">
            <a:extLst>
              <a:ext uri="{FF2B5EF4-FFF2-40B4-BE49-F238E27FC236}">
                <a16:creationId xmlns:a16="http://schemas.microsoft.com/office/drawing/2014/main" id="{913FADD0-8C10-7C07-590E-11EA64D1FC59}"/>
              </a:ext>
            </a:extLst>
          </p:cNvPr>
          <p:cNvGraphicFramePr/>
          <p:nvPr/>
        </p:nvGraphicFramePr>
        <p:xfrm>
          <a:off x="6103619" y="2388757"/>
          <a:ext cx="3382600" cy="38230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17" name="Diagramm 59">
            <a:extLst>
              <a:ext uri="{FF2B5EF4-FFF2-40B4-BE49-F238E27FC236}">
                <a16:creationId xmlns:a16="http://schemas.microsoft.com/office/drawing/2014/main" id="{0A28EF79-907B-AC49-D0A5-C9DFA4B28D38}"/>
              </a:ext>
            </a:extLst>
          </p:cNvPr>
          <p:cNvGraphicFramePr/>
          <p:nvPr/>
        </p:nvGraphicFramePr>
        <p:xfrm>
          <a:off x="9758269" y="2415552"/>
          <a:ext cx="1872443" cy="38230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pic>
        <p:nvPicPr>
          <p:cNvPr id="123" name="Grafik 49" descr="Ein Bild, das Fahrzeug, Landfahrzeug, Rad, Auto enthält.&#10;&#10;KI-generierte Inhalte können fehlerhaft sein.">
            <a:extLst>
              <a:ext uri="{FF2B5EF4-FFF2-40B4-BE49-F238E27FC236}">
                <a16:creationId xmlns:a16="http://schemas.microsoft.com/office/drawing/2014/main" id="{E8E88645-6EA0-D2DE-12C4-D9C241423BE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duotone>
              <a:prstClr val="black"/>
              <a:srgbClr val="F2610D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68350" y="2651419"/>
            <a:ext cx="350915" cy="178229"/>
          </a:xfrm>
          <a:prstGeom prst="rect">
            <a:avLst/>
          </a:prstGeom>
        </p:spPr>
      </p:pic>
      <p:pic>
        <p:nvPicPr>
          <p:cNvPr id="124" name="Grafik 44" descr="Ein Bild, das Waage enthält.&#10;&#10;KI-generierte Inhalte können fehlerhaft sein.">
            <a:extLst>
              <a:ext uri="{FF2B5EF4-FFF2-40B4-BE49-F238E27FC236}">
                <a16:creationId xmlns:a16="http://schemas.microsoft.com/office/drawing/2014/main" id="{8C038FB0-F6E4-CE5F-111B-B4E28EF46A5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duotone>
              <a:prstClr val="black"/>
              <a:srgbClr val="F2610D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74492" y="2872630"/>
            <a:ext cx="338630" cy="218808"/>
          </a:xfrm>
          <a:prstGeom prst="rect">
            <a:avLst/>
          </a:prstGeom>
        </p:spPr>
      </p:pic>
      <p:pic>
        <p:nvPicPr>
          <p:cNvPr id="125" name="Grafik 51" descr="Ein Bild, das Fahrzeug, Landfahrzeug, Rad, Transport enthält.&#10;&#10;KI-generierte Inhalte können fehlerhaft sein.">
            <a:extLst>
              <a:ext uri="{FF2B5EF4-FFF2-40B4-BE49-F238E27FC236}">
                <a16:creationId xmlns:a16="http://schemas.microsoft.com/office/drawing/2014/main" id="{D85FCA68-7CDC-F599-48F4-C45AD9F6681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duotone>
              <a:prstClr val="black"/>
              <a:srgbClr val="F2610D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33976" y="3053349"/>
            <a:ext cx="419662" cy="279450"/>
          </a:xfrm>
          <a:prstGeom prst="rect">
            <a:avLst/>
          </a:prstGeom>
        </p:spPr>
      </p:pic>
      <p:pic>
        <p:nvPicPr>
          <p:cNvPr id="126" name="Grafik 50" descr="Ein Bild, das Screenshot, Lampe, Licht, Nacht enthält.&#10;&#10;KI-generierte Inhalte können fehlerhaft sein.">
            <a:extLst>
              <a:ext uri="{FF2B5EF4-FFF2-40B4-BE49-F238E27FC236}">
                <a16:creationId xmlns:a16="http://schemas.microsoft.com/office/drawing/2014/main" id="{22DF2A9B-9483-3C52-D74F-A76AFFBF249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duotone>
              <a:prstClr val="black"/>
              <a:srgbClr val="F2610D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503"/>
          <a:stretch>
            <a:fillRect/>
          </a:stretch>
        </p:blipFill>
        <p:spPr>
          <a:xfrm>
            <a:off x="6182967" y="3722254"/>
            <a:ext cx="336465" cy="271782"/>
          </a:xfrm>
          <a:prstGeom prst="rect">
            <a:avLst/>
          </a:prstGeom>
        </p:spPr>
      </p:pic>
      <p:pic>
        <p:nvPicPr>
          <p:cNvPr id="127" name="Grafik 46" descr="Ein Bild, das Cartoon, Majorelle Blue, Blau, Electric Blue (Farbe) enthält.&#10;&#10;KI-generierte Inhalte können fehlerhaft sein.">
            <a:extLst>
              <a:ext uri="{FF2B5EF4-FFF2-40B4-BE49-F238E27FC236}">
                <a16:creationId xmlns:a16="http://schemas.microsoft.com/office/drawing/2014/main" id="{089A1780-6CFB-CEF0-008A-11B59BCBF67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duotone>
              <a:prstClr val="black"/>
              <a:srgbClr val="F2610D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971"/>
          <a:stretch>
            <a:fillRect/>
          </a:stretch>
        </p:blipFill>
        <p:spPr>
          <a:xfrm>
            <a:off x="6183070" y="3328470"/>
            <a:ext cx="274432" cy="259817"/>
          </a:xfrm>
          <a:prstGeom prst="rect">
            <a:avLst/>
          </a:prstGeom>
        </p:spPr>
      </p:pic>
      <p:pic>
        <p:nvPicPr>
          <p:cNvPr id="132" name="Grafik 56" descr="Ein Bild, das Screenshot, Design, Nacht enthält.&#10;&#10;KI-generierte Inhalte können fehlerhaft sein.">
            <a:extLst>
              <a:ext uri="{FF2B5EF4-FFF2-40B4-BE49-F238E27FC236}">
                <a16:creationId xmlns:a16="http://schemas.microsoft.com/office/drawing/2014/main" id="{425BF199-3D47-5E09-3277-FBF96D6B4D71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duotone>
              <a:prstClr val="black"/>
              <a:srgbClr val="F2610D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21580" y="3566013"/>
            <a:ext cx="419662" cy="196353"/>
          </a:xfrm>
          <a:prstGeom prst="rect">
            <a:avLst/>
          </a:prstGeom>
        </p:spPr>
      </p:pic>
      <p:pic>
        <p:nvPicPr>
          <p:cNvPr id="136" name="Grafik 41" descr="Ein Bild, das Kobaltblau, Flasche, Licht enthält.&#10;&#10;KI-generierte Inhalte können fehlerhaft sein.">
            <a:extLst>
              <a:ext uri="{FF2B5EF4-FFF2-40B4-BE49-F238E27FC236}">
                <a16:creationId xmlns:a16="http://schemas.microsoft.com/office/drawing/2014/main" id="{3B12086F-BC78-4F8F-31AA-2C608C7C8411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duotone>
              <a:prstClr val="black"/>
              <a:srgbClr val="F2610D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399"/>
          <a:stretch>
            <a:fillRect/>
          </a:stretch>
        </p:blipFill>
        <p:spPr>
          <a:xfrm>
            <a:off x="6239273" y="3991026"/>
            <a:ext cx="209069" cy="192330"/>
          </a:xfrm>
          <a:prstGeom prst="rect">
            <a:avLst/>
          </a:prstGeom>
        </p:spPr>
      </p:pic>
      <p:pic>
        <p:nvPicPr>
          <p:cNvPr id="137" name="Grafik 45" descr="Ein Bild, das Symbol enthält.&#10;&#10;KI-generierte Inhalte können fehlerhaft sein.">
            <a:extLst>
              <a:ext uri="{FF2B5EF4-FFF2-40B4-BE49-F238E27FC236}">
                <a16:creationId xmlns:a16="http://schemas.microsoft.com/office/drawing/2014/main" id="{BEC34D58-894C-5BFC-CC85-09E12FD583C6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duotone>
              <a:prstClr val="black"/>
              <a:srgbClr val="F2610D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1128" y="4108729"/>
            <a:ext cx="245359" cy="368039"/>
          </a:xfrm>
          <a:prstGeom prst="rect">
            <a:avLst/>
          </a:prstGeom>
        </p:spPr>
      </p:pic>
      <p:pic>
        <p:nvPicPr>
          <p:cNvPr id="138" name="Grafik 42" descr="Ein Bild, das Plastik, Blau, Electric Blue (Farbe), Zubehör enthält.&#10;&#10;KI-generierte Inhalte können fehlerhaft sein.">
            <a:extLst>
              <a:ext uri="{FF2B5EF4-FFF2-40B4-BE49-F238E27FC236}">
                <a16:creationId xmlns:a16="http://schemas.microsoft.com/office/drawing/2014/main" id="{CDB5D36F-8F2E-16A4-94BC-0055206C08B8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duotone>
              <a:prstClr val="black"/>
              <a:srgbClr val="F2610D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54355" y="4397001"/>
            <a:ext cx="378905" cy="252604"/>
          </a:xfrm>
          <a:prstGeom prst="rect">
            <a:avLst/>
          </a:prstGeom>
        </p:spPr>
      </p:pic>
      <p:pic>
        <p:nvPicPr>
          <p:cNvPr id="140" name="Grafik 58">
            <a:extLst>
              <a:ext uri="{FF2B5EF4-FFF2-40B4-BE49-F238E27FC236}">
                <a16:creationId xmlns:a16="http://schemas.microsoft.com/office/drawing/2014/main" id="{B6C385AE-B553-4677-AA80-2E8BE98AEB41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duotone>
              <a:prstClr val="black"/>
              <a:srgbClr val="F2610D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88481" y="5007794"/>
            <a:ext cx="461980" cy="307987"/>
          </a:xfrm>
          <a:prstGeom prst="rect">
            <a:avLst/>
          </a:prstGeom>
        </p:spPr>
      </p:pic>
      <p:pic>
        <p:nvPicPr>
          <p:cNvPr id="142" name="Grafik 47" descr="Ein Bild, das Electric Blue (Farbe), Blau, Majorelle Blue, Licht enthält.&#10;&#10;KI-generierte Inhalte können fehlerhaft sein.">
            <a:extLst>
              <a:ext uri="{FF2B5EF4-FFF2-40B4-BE49-F238E27FC236}">
                <a16:creationId xmlns:a16="http://schemas.microsoft.com/office/drawing/2014/main" id="{884DBE1D-4490-5012-902C-67375E3DB57F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duotone>
              <a:prstClr val="black"/>
              <a:srgbClr val="F2610D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4735" y="4805846"/>
            <a:ext cx="458145" cy="305430"/>
          </a:xfrm>
          <a:prstGeom prst="rect">
            <a:avLst/>
          </a:prstGeom>
        </p:spPr>
      </p:pic>
      <p:pic>
        <p:nvPicPr>
          <p:cNvPr id="143" name="Grafik 55" descr="Ein Bild, das Blau, Electric Blue (Farbe), Nacht, Licht enthält.&#10;&#10;KI-generierte Inhalte können fehlerhaft sein.">
            <a:extLst>
              <a:ext uri="{FF2B5EF4-FFF2-40B4-BE49-F238E27FC236}">
                <a16:creationId xmlns:a16="http://schemas.microsoft.com/office/drawing/2014/main" id="{4665913E-C88B-8E32-7414-E225012C0A0A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duotone>
              <a:prstClr val="black"/>
              <a:srgbClr val="F2610D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3219" y="4625847"/>
            <a:ext cx="418023" cy="278682"/>
          </a:xfrm>
          <a:prstGeom prst="rect">
            <a:avLst/>
          </a:prstGeom>
        </p:spPr>
      </p:pic>
      <p:pic>
        <p:nvPicPr>
          <p:cNvPr id="144" name="Grafik 53" descr="Ein Bild, das Tierfigur, Hund, Cartoon enthält.&#10;&#10;KI-generierte Inhalte können fehlerhaft sein.">
            <a:extLst>
              <a:ext uri="{FF2B5EF4-FFF2-40B4-BE49-F238E27FC236}">
                <a16:creationId xmlns:a16="http://schemas.microsoft.com/office/drawing/2014/main" id="{64CBCEA4-D062-4737-E9BA-DFC82FA29AA6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duotone>
              <a:prstClr val="black"/>
              <a:srgbClr val="F2610D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48003" y="5262234"/>
            <a:ext cx="191609" cy="215890"/>
          </a:xfrm>
          <a:prstGeom prst="rect">
            <a:avLst/>
          </a:prstGeom>
        </p:spPr>
      </p:pic>
      <p:pic>
        <p:nvPicPr>
          <p:cNvPr id="145" name="Grafik 59" descr="Ein Bild, das Transport, Bike, Fahrzeug, Fahrradreifen enthält.&#10;&#10;KI-generierte Inhalte können fehlerhaft sein.">
            <a:extLst>
              <a:ext uri="{FF2B5EF4-FFF2-40B4-BE49-F238E27FC236}">
                <a16:creationId xmlns:a16="http://schemas.microsoft.com/office/drawing/2014/main" id="{1BBEA87C-B866-1708-90CD-FDFA350A6588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duotone>
              <a:prstClr val="black"/>
              <a:srgbClr val="F2610D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08874" y="5464424"/>
            <a:ext cx="269866" cy="207133"/>
          </a:xfrm>
          <a:prstGeom prst="rect">
            <a:avLst/>
          </a:prstGeom>
        </p:spPr>
      </p:pic>
      <p:pic>
        <p:nvPicPr>
          <p:cNvPr id="146" name="Grafik 57" descr="Ein Bild, das Symbol, Grafiken, Logo, Screenshot enthält.&#10;&#10;KI-generierte Inhalte können fehlerhaft sein.">
            <a:extLst>
              <a:ext uri="{FF2B5EF4-FFF2-40B4-BE49-F238E27FC236}">
                <a16:creationId xmlns:a16="http://schemas.microsoft.com/office/drawing/2014/main" id="{417F9D15-4285-5210-793C-3F89B1944AA4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duotone>
              <a:prstClr val="black"/>
              <a:srgbClr val="F2610D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3138" y="5675092"/>
            <a:ext cx="428291" cy="285527"/>
          </a:xfrm>
          <a:prstGeom prst="rect">
            <a:avLst/>
          </a:prstGeom>
        </p:spPr>
      </p:pic>
      <p:pic>
        <p:nvPicPr>
          <p:cNvPr id="148" name="Grafik 52" descr="Ein Bild, das Symbol, Logo, Emblem, Markenzeichen enthält.&#10;&#10;KI-generierte Inhalte können fehlerhaft sein.">
            <a:extLst>
              <a:ext uri="{FF2B5EF4-FFF2-40B4-BE49-F238E27FC236}">
                <a16:creationId xmlns:a16="http://schemas.microsoft.com/office/drawing/2014/main" id="{C936841B-F408-09CB-193A-6C3BBD7D6638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duotone>
              <a:prstClr val="black"/>
              <a:srgbClr val="F2610D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55549" y="5888002"/>
            <a:ext cx="376517" cy="220132"/>
          </a:xfrm>
          <a:prstGeom prst="rect">
            <a:avLst/>
          </a:prstGeom>
        </p:spPr>
      </p:pic>
      <p:pic>
        <p:nvPicPr>
          <p:cNvPr id="156" name="Grafik 54" descr="Ein Bild, das Screenshot enthält.&#10;&#10;KI-generierte Inhalte können fehlerhaft sein.">
            <a:extLst>
              <a:ext uri="{FF2B5EF4-FFF2-40B4-BE49-F238E27FC236}">
                <a16:creationId xmlns:a16="http://schemas.microsoft.com/office/drawing/2014/main" id="{8662873B-0AD7-3EB4-460A-A26D31A833BF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duotone>
              <a:prstClr val="black"/>
              <a:srgbClr val="F2610D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68889" y="2418354"/>
            <a:ext cx="349837" cy="206266"/>
          </a:xfrm>
          <a:prstGeom prst="rect">
            <a:avLst/>
          </a:prstGeom>
        </p:spPr>
      </p:pic>
      <p:sp>
        <p:nvSpPr>
          <p:cNvPr id="158" name="Textfeld 108">
            <a:extLst>
              <a:ext uri="{FF2B5EF4-FFF2-40B4-BE49-F238E27FC236}">
                <a16:creationId xmlns:a16="http://schemas.microsoft.com/office/drawing/2014/main" id="{E595EACE-A3E8-3A34-8425-820F0FA44823}"/>
              </a:ext>
            </a:extLst>
          </p:cNvPr>
          <p:cNvSpPr txBox="1"/>
          <p:nvPr/>
        </p:nvSpPr>
        <p:spPr>
          <a:xfrm>
            <a:off x="10576954" y="4460484"/>
            <a:ext cx="1253610" cy="16540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1,5**</a:t>
            </a:r>
          </a:p>
          <a:p>
            <a:pPr algn="ctr">
              <a:spcAft>
                <a:spcPts val="300"/>
              </a:spcAft>
              <a:buClr>
                <a:schemeClr val="tx2"/>
              </a:buClr>
            </a:pPr>
            <a:r>
              <a:rPr lang="de-DE" sz="1100">
                <a:solidFill>
                  <a:srgbClr val="000000"/>
                </a:solidFill>
              </a:rPr>
              <a:t>Neuabschluss-bereitschaft</a:t>
            </a:r>
          </a:p>
          <a:p>
            <a:pPr algn="ctr">
              <a:spcAft>
                <a:spcPts val="300"/>
              </a:spcAft>
              <a:buClr>
                <a:schemeClr val="tx2"/>
              </a:buClr>
            </a:pPr>
            <a:r>
              <a:rPr lang="de-DE" sz="800" i="1">
                <a:solidFill>
                  <a:srgbClr val="000000"/>
                </a:solidFill>
              </a:rPr>
              <a:t>(Durchschnittliche Anzahl an privaten Versicherungssparten, für die ein Neuabschluss/ zusätzlicher Abschluss für den eigenen Haushalt innerhalb der nächsten 3 Jahre vorstellbar ist</a:t>
            </a:r>
            <a:r>
              <a:rPr lang="de-DE" sz="800" b="1" i="1">
                <a:solidFill>
                  <a:srgbClr val="000000"/>
                </a:solidFill>
              </a:rPr>
              <a:t>.</a:t>
            </a:r>
            <a:r>
              <a:rPr lang="de-DE" sz="800" i="1">
                <a:solidFill>
                  <a:srgbClr val="000000"/>
                </a:solidFill>
              </a:rPr>
              <a:t>)</a:t>
            </a:r>
            <a:endParaRPr lang="de-DE" sz="800" b="1" i="1">
              <a:solidFill>
                <a:srgbClr val="000000"/>
              </a:solidFill>
            </a:endParaRPr>
          </a:p>
        </p:txBody>
      </p:sp>
      <p:sp>
        <p:nvSpPr>
          <p:cNvPr id="8" name="Textfeld 108">
            <a:extLst>
              <a:ext uri="{FF2B5EF4-FFF2-40B4-BE49-F238E27FC236}">
                <a16:creationId xmlns:a16="http://schemas.microsoft.com/office/drawing/2014/main" id="{46A0E64E-7131-A864-EF9B-B81E01B5B4A8}"/>
              </a:ext>
            </a:extLst>
          </p:cNvPr>
          <p:cNvSpPr txBox="1"/>
          <p:nvPr/>
        </p:nvSpPr>
        <p:spPr>
          <a:xfrm>
            <a:off x="8527263" y="3954246"/>
            <a:ext cx="1180408" cy="11161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1,6*</a:t>
            </a:r>
          </a:p>
          <a:p>
            <a:pPr algn="ctr">
              <a:spcAft>
                <a:spcPts val="300"/>
              </a:spcAft>
              <a:buClr>
                <a:schemeClr val="tx2"/>
              </a:buClr>
            </a:pPr>
            <a:r>
              <a:rPr lang="de-DE" sz="1100" dirty="0">
                <a:solidFill>
                  <a:srgbClr val="000000"/>
                </a:solidFill>
              </a:rPr>
              <a:t>Anzahl Versicherer</a:t>
            </a:r>
          </a:p>
          <a:p>
            <a:pPr algn="ctr">
              <a:spcAft>
                <a:spcPts val="300"/>
              </a:spcAft>
              <a:buClr>
                <a:schemeClr val="tx2"/>
              </a:buClr>
            </a:pPr>
            <a:r>
              <a:rPr lang="de-DE" sz="800" i="1" dirty="0">
                <a:solidFill>
                  <a:srgbClr val="000000"/>
                </a:solidFill>
              </a:rPr>
              <a:t>(Durchschnittliche Anzahl an Versicherungs-unternehmen, mit denen der Haushalt einen Vertrag hat)</a:t>
            </a:r>
            <a:endParaRPr lang="de-DE" sz="800" b="1" i="1" dirty="0">
              <a:solidFill>
                <a:srgbClr val="000000"/>
              </a:solidFill>
            </a:endParaRPr>
          </a:p>
        </p:txBody>
      </p:sp>
      <p:pic>
        <p:nvPicPr>
          <p:cNvPr id="14" name="Picture 13" descr="A blue cartoon of a clipboard with a checklist and a shield and a pen&#10;&#10;AI-generated content may be incorrect.">
            <a:extLst>
              <a:ext uri="{FF2B5EF4-FFF2-40B4-BE49-F238E27FC236}">
                <a16:creationId xmlns:a16="http://schemas.microsoft.com/office/drawing/2014/main" id="{4C64C02B-651C-BA65-05C5-15771DB3F270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duotone>
              <a:prstClr val="black"/>
              <a:srgbClr val="F2610D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9192" y="5359598"/>
            <a:ext cx="782370" cy="573866"/>
          </a:xfrm>
          <a:prstGeom prst="rect">
            <a:avLst/>
          </a:prstGeom>
        </p:spPr>
      </p:pic>
      <p:sp>
        <p:nvSpPr>
          <p:cNvPr id="109" name="Textfeld 108">
            <a:extLst>
              <a:ext uri="{FF2B5EF4-FFF2-40B4-BE49-F238E27FC236}">
                <a16:creationId xmlns:a16="http://schemas.microsoft.com/office/drawing/2014/main" id="{A37CE147-908E-B865-DFC8-D4502DD56543}"/>
              </a:ext>
            </a:extLst>
          </p:cNvPr>
          <p:cNvSpPr txBox="1"/>
          <p:nvPr/>
        </p:nvSpPr>
        <p:spPr>
          <a:xfrm>
            <a:off x="8490662" y="5320163"/>
            <a:ext cx="1253610" cy="88657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  <a:buClr>
                <a:schemeClr val="tx2"/>
              </a:buClr>
            </a:pPr>
            <a:r>
              <a:rPr lang="de-DE" sz="1100" b="1">
                <a:solidFill>
                  <a:srgbClr val="FF0000"/>
                </a:solidFill>
              </a:rPr>
              <a:t>3,8</a:t>
            </a:r>
            <a:r>
              <a:rPr lang="de-DE" sz="1100">
                <a:solidFill>
                  <a:srgbClr val="FF0000"/>
                </a:solidFill>
              </a:rPr>
              <a:t>**</a:t>
            </a:r>
          </a:p>
          <a:p>
            <a:pPr algn="ctr">
              <a:spcAft>
                <a:spcPts val="300"/>
              </a:spcAft>
              <a:buClr>
                <a:schemeClr val="tx2"/>
              </a:buClr>
            </a:pPr>
            <a:r>
              <a:rPr lang="de-DE" sz="1100">
                <a:solidFill>
                  <a:srgbClr val="000000"/>
                </a:solidFill>
              </a:rPr>
              <a:t>Produktdichte</a:t>
            </a:r>
          </a:p>
          <a:p>
            <a:pPr algn="ctr">
              <a:spcAft>
                <a:spcPts val="300"/>
              </a:spcAft>
              <a:buClr>
                <a:schemeClr val="tx2"/>
              </a:buClr>
            </a:pPr>
            <a:r>
              <a:rPr lang="de-DE" sz="800" i="1">
                <a:solidFill>
                  <a:srgbClr val="000000"/>
                </a:solidFill>
              </a:rPr>
              <a:t>(Durchschnittliche Anzahl an privaten Versicherungs-sparten im Haushalt)</a:t>
            </a:r>
            <a:endParaRPr lang="de-DE" sz="800" b="1" i="1">
              <a:solidFill>
                <a:srgbClr val="000000"/>
              </a:solidFill>
            </a:endParaRPr>
          </a:p>
        </p:txBody>
      </p:sp>
      <p:sp>
        <p:nvSpPr>
          <p:cNvPr id="15" name="Textfeld 132">
            <a:extLst>
              <a:ext uri="{FF2B5EF4-FFF2-40B4-BE49-F238E27FC236}">
                <a16:creationId xmlns:a16="http://schemas.microsoft.com/office/drawing/2014/main" id="{BDB22EB1-9124-3ECE-70D0-89BEA4CBE7C6}"/>
              </a:ext>
            </a:extLst>
          </p:cNvPr>
          <p:cNvSpPr txBox="1"/>
          <p:nvPr/>
        </p:nvSpPr>
        <p:spPr>
          <a:xfrm>
            <a:off x="6855732" y="6100862"/>
            <a:ext cx="30168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>
                <a:solidFill>
                  <a:schemeClr val="bg1">
                    <a:lumMod val="75000"/>
                  </a:schemeClr>
                </a:solidFill>
              </a:rPr>
              <a:t>*Von insgesamt 16 vorgelegten Versicherungsunternehmen</a:t>
            </a:r>
          </a:p>
        </p:txBody>
      </p:sp>
      <p:sp>
        <p:nvSpPr>
          <p:cNvPr id="47" name="Textfeld 38">
            <a:extLst>
              <a:ext uri="{FF2B5EF4-FFF2-40B4-BE49-F238E27FC236}">
                <a16:creationId xmlns:a16="http://schemas.microsoft.com/office/drawing/2014/main" id="{201F424E-45E8-D9E2-45DC-AC3622D3359C}"/>
              </a:ext>
            </a:extLst>
          </p:cNvPr>
          <p:cNvSpPr txBox="1"/>
          <p:nvPr/>
        </p:nvSpPr>
        <p:spPr>
          <a:xfrm rot="10800000">
            <a:off x="3330507" y="2368155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19" name="Textfeld 6">
            <a:extLst>
              <a:ext uri="{FF2B5EF4-FFF2-40B4-BE49-F238E27FC236}">
                <a16:creationId xmlns:a16="http://schemas.microsoft.com/office/drawing/2014/main" id="{4D511C67-0970-73A6-1CF0-DA0F3C19315A}"/>
              </a:ext>
            </a:extLst>
          </p:cNvPr>
          <p:cNvSpPr txBox="1"/>
          <p:nvPr/>
        </p:nvSpPr>
        <p:spPr>
          <a:xfrm>
            <a:off x="4441567" y="6585418"/>
            <a:ext cx="53725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= größere, signifikante Abweichungen von der Gesamtstichprobe (mindestens 7 Prozentpunkte höher/niedriger)</a:t>
            </a:r>
          </a:p>
        </p:txBody>
      </p:sp>
      <p:sp>
        <p:nvSpPr>
          <p:cNvPr id="20" name="Textfeld 38">
            <a:extLst>
              <a:ext uri="{FF2B5EF4-FFF2-40B4-BE49-F238E27FC236}">
                <a16:creationId xmlns:a16="http://schemas.microsoft.com/office/drawing/2014/main" id="{56E62C91-B2F9-8DA7-8EFC-29718DE248F9}"/>
              </a:ext>
            </a:extLst>
          </p:cNvPr>
          <p:cNvSpPr txBox="1"/>
          <p:nvPr/>
        </p:nvSpPr>
        <p:spPr>
          <a:xfrm>
            <a:off x="4236176" y="6565779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30" name="Textfeld 38">
            <a:extLst>
              <a:ext uri="{FF2B5EF4-FFF2-40B4-BE49-F238E27FC236}">
                <a16:creationId xmlns:a16="http://schemas.microsoft.com/office/drawing/2014/main" id="{A46FFBA0-FFD2-8F92-D355-28A1BD998F8A}"/>
              </a:ext>
            </a:extLst>
          </p:cNvPr>
          <p:cNvSpPr txBox="1"/>
          <p:nvPr/>
        </p:nvSpPr>
        <p:spPr>
          <a:xfrm rot="10800000">
            <a:off x="4328015" y="6610935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13" name="Textfeld 38">
            <a:extLst>
              <a:ext uri="{FF2B5EF4-FFF2-40B4-BE49-F238E27FC236}">
                <a16:creationId xmlns:a16="http://schemas.microsoft.com/office/drawing/2014/main" id="{B3A2C80F-048C-7231-7AD1-64A372E47BFF}"/>
              </a:ext>
            </a:extLst>
          </p:cNvPr>
          <p:cNvSpPr txBox="1"/>
          <p:nvPr/>
        </p:nvSpPr>
        <p:spPr>
          <a:xfrm rot="10800000">
            <a:off x="3591367" y="2141020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17" name="Textfeld 38">
            <a:extLst>
              <a:ext uri="{FF2B5EF4-FFF2-40B4-BE49-F238E27FC236}">
                <a16:creationId xmlns:a16="http://schemas.microsoft.com/office/drawing/2014/main" id="{77E3EBB8-CD97-D9CE-9BB1-89D75F24AF7E}"/>
              </a:ext>
            </a:extLst>
          </p:cNvPr>
          <p:cNvSpPr txBox="1"/>
          <p:nvPr/>
        </p:nvSpPr>
        <p:spPr>
          <a:xfrm>
            <a:off x="3747827" y="2765529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18" name="Textfeld 38">
            <a:extLst>
              <a:ext uri="{FF2B5EF4-FFF2-40B4-BE49-F238E27FC236}">
                <a16:creationId xmlns:a16="http://schemas.microsoft.com/office/drawing/2014/main" id="{39D60EDB-2DE0-0E5E-491E-A420DC928E3B}"/>
              </a:ext>
            </a:extLst>
          </p:cNvPr>
          <p:cNvSpPr txBox="1"/>
          <p:nvPr/>
        </p:nvSpPr>
        <p:spPr>
          <a:xfrm rot="10800000">
            <a:off x="1835481" y="5520231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23" name="Textfeld 38">
            <a:extLst>
              <a:ext uri="{FF2B5EF4-FFF2-40B4-BE49-F238E27FC236}">
                <a16:creationId xmlns:a16="http://schemas.microsoft.com/office/drawing/2014/main" id="{192875A0-1F43-3E0F-E002-677DA6B652A6}"/>
              </a:ext>
            </a:extLst>
          </p:cNvPr>
          <p:cNvSpPr txBox="1"/>
          <p:nvPr/>
        </p:nvSpPr>
        <p:spPr>
          <a:xfrm rot="10800000">
            <a:off x="8435207" y="3125106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25" name="Textfeld 38">
            <a:extLst>
              <a:ext uri="{FF2B5EF4-FFF2-40B4-BE49-F238E27FC236}">
                <a16:creationId xmlns:a16="http://schemas.microsoft.com/office/drawing/2014/main" id="{AA425055-24F4-2001-7DAE-F117BEE391DA}"/>
              </a:ext>
            </a:extLst>
          </p:cNvPr>
          <p:cNvSpPr txBox="1"/>
          <p:nvPr/>
        </p:nvSpPr>
        <p:spPr>
          <a:xfrm rot="10800000">
            <a:off x="8567875" y="290540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27" name="Textfeld 38">
            <a:extLst>
              <a:ext uri="{FF2B5EF4-FFF2-40B4-BE49-F238E27FC236}">
                <a16:creationId xmlns:a16="http://schemas.microsoft.com/office/drawing/2014/main" id="{BD3930DD-9B9F-92BA-08A8-AA2E8E483843}"/>
              </a:ext>
            </a:extLst>
          </p:cNvPr>
          <p:cNvSpPr txBox="1"/>
          <p:nvPr/>
        </p:nvSpPr>
        <p:spPr>
          <a:xfrm rot="10800000">
            <a:off x="8694944" y="2683964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28" name="Textfeld 38">
            <a:extLst>
              <a:ext uri="{FF2B5EF4-FFF2-40B4-BE49-F238E27FC236}">
                <a16:creationId xmlns:a16="http://schemas.microsoft.com/office/drawing/2014/main" id="{4DF15C8C-4CB0-E523-0908-D4869C1A6D55}"/>
              </a:ext>
            </a:extLst>
          </p:cNvPr>
          <p:cNvSpPr txBox="1"/>
          <p:nvPr/>
        </p:nvSpPr>
        <p:spPr>
          <a:xfrm rot="10800000">
            <a:off x="8901482" y="2474766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29" name="Textfeld 38">
            <a:extLst>
              <a:ext uri="{FF2B5EF4-FFF2-40B4-BE49-F238E27FC236}">
                <a16:creationId xmlns:a16="http://schemas.microsoft.com/office/drawing/2014/main" id="{FC734DF0-97F8-42BB-0581-2CB3F358020D}"/>
              </a:ext>
            </a:extLst>
          </p:cNvPr>
          <p:cNvSpPr txBox="1"/>
          <p:nvPr/>
        </p:nvSpPr>
        <p:spPr>
          <a:xfrm rot="10800000">
            <a:off x="8450447" y="3340730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32" name="Textfeld 38">
            <a:extLst>
              <a:ext uri="{FF2B5EF4-FFF2-40B4-BE49-F238E27FC236}">
                <a16:creationId xmlns:a16="http://schemas.microsoft.com/office/drawing/2014/main" id="{568104CA-0CC0-045C-0086-1F065338A7DE}"/>
              </a:ext>
            </a:extLst>
          </p:cNvPr>
          <p:cNvSpPr txBox="1"/>
          <p:nvPr/>
        </p:nvSpPr>
        <p:spPr>
          <a:xfrm rot="10800000">
            <a:off x="8418657" y="3554259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35" name="Textfeld 38">
            <a:extLst>
              <a:ext uri="{FF2B5EF4-FFF2-40B4-BE49-F238E27FC236}">
                <a16:creationId xmlns:a16="http://schemas.microsoft.com/office/drawing/2014/main" id="{D15ACDAC-206A-E2E0-2DE2-F7D528750411}"/>
              </a:ext>
            </a:extLst>
          </p:cNvPr>
          <p:cNvSpPr txBox="1"/>
          <p:nvPr/>
        </p:nvSpPr>
        <p:spPr>
          <a:xfrm rot="10800000">
            <a:off x="8313084" y="4211561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38" name="Textfeld 38">
            <a:extLst>
              <a:ext uri="{FF2B5EF4-FFF2-40B4-BE49-F238E27FC236}">
                <a16:creationId xmlns:a16="http://schemas.microsoft.com/office/drawing/2014/main" id="{2F4D1ACA-4CBD-8B73-05C6-4B40C7654DDA}"/>
              </a:ext>
            </a:extLst>
          </p:cNvPr>
          <p:cNvSpPr txBox="1"/>
          <p:nvPr/>
        </p:nvSpPr>
        <p:spPr>
          <a:xfrm rot="10800000">
            <a:off x="8406823" y="3779942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graphicFrame>
        <p:nvGraphicFramePr>
          <p:cNvPr id="9" name="Diagramm 9">
            <a:extLst>
              <a:ext uri="{FF2B5EF4-FFF2-40B4-BE49-F238E27FC236}">
                <a16:creationId xmlns:a16="http://schemas.microsoft.com/office/drawing/2014/main" id="{0CB43B48-E9D5-FCF1-EDC0-4D2051422F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19996" y="470504"/>
          <a:ext cx="2019762" cy="1378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8"/>
          </a:graphicData>
        </a:graphic>
      </p:graphicFrame>
      <p:sp>
        <p:nvSpPr>
          <p:cNvPr id="31" name="Textfeld 38">
            <a:extLst>
              <a:ext uri="{FF2B5EF4-FFF2-40B4-BE49-F238E27FC236}">
                <a16:creationId xmlns:a16="http://schemas.microsoft.com/office/drawing/2014/main" id="{9D552A10-A559-337B-D622-21F1E318BA04}"/>
              </a:ext>
            </a:extLst>
          </p:cNvPr>
          <p:cNvSpPr txBox="1"/>
          <p:nvPr/>
        </p:nvSpPr>
        <p:spPr>
          <a:xfrm>
            <a:off x="4974805" y="4509854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40" name="Textfeld 38">
            <a:extLst>
              <a:ext uri="{FF2B5EF4-FFF2-40B4-BE49-F238E27FC236}">
                <a16:creationId xmlns:a16="http://schemas.microsoft.com/office/drawing/2014/main" id="{50824530-1DC6-0E14-F2E1-E2EA4CB91FDF}"/>
              </a:ext>
            </a:extLst>
          </p:cNvPr>
          <p:cNvSpPr txBox="1"/>
          <p:nvPr/>
        </p:nvSpPr>
        <p:spPr>
          <a:xfrm rot="10800000">
            <a:off x="5499725" y="4376101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39" name="Datumsplatzhalter 1">
            <a:extLst>
              <a:ext uri="{FF2B5EF4-FFF2-40B4-BE49-F238E27FC236}">
                <a16:creationId xmlns:a16="http://schemas.microsoft.com/office/drawing/2014/main" id="{6A1FD775-1DC1-023C-7ED3-AD5BA6C13E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875" y="6556875"/>
            <a:ext cx="588192" cy="219454"/>
          </a:xfrm>
        </p:spPr>
        <p:txBody>
          <a:bodyPr/>
          <a:lstStyle/>
          <a:p>
            <a:fld id="{72D77B36-95B7-FF43-8BF5-D80FC3958B26}" type="datetime1">
              <a:rPr lang="de-AT" noProof="0" smtClean="0"/>
              <a:t>28.05.26</a:t>
            </a:fld>
            <a:endParaRPr lang="de-AT" noProof="0" dirty="0"/>
          </a:p>
        </p:txBody>
      </p:sp>
      <p:sp>
        <p:nvSpPr>
          <p:cNvPr id="41" name="Fußzeilenplatzhalter 2">
            <a:extLst>
              <a:ext uri="{FF2B5EF4-FFF2-40B4-BE49-F238E27FC236}">
                <a16:creationId xmlns:a16="http://schemas.microsoft.com/office/drawing/2014/main" id="{5B59D2D9-E413-A64D-2C7A-925B04998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0" y="6556875"/>
            <a:ext cx="6127477" cy="219454"/>
          </a:xfrm>
        </p:spPr>
        <p:txBody>
          <a:bodyPr/>
          <a:lstStyle/>
          <a:p>
            <a:r>
              <a:rPr lang="de-AT" noProof="0" dirty="0"/>
              <a:t>Retail-Segmentierung Neu│ S. Stratula &amp; K. Preibisch</a:t>
            </a:r>
          </a:p>
        </p:txBody>
      </p:sp>
    </p:spTree>
    <p:extLst>
      <p:ext uri="{BB962C8B-B14F-4D97-AF65-F5344CB8AC3E}">
        <p14:creationId xmlns:p14="http://schemas.microsoft.com/office/powerpoint/2010/main" val="1445074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86103-E294-B080-0A5D-A3C4560D1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EC7A7292-0125-7D8D-54BA-75468E04CE6A}"/>
              </a:ext>
            </a:extLst>
          </p:cNvPr>
          <p:cNvSpPr/>
          <p:nvPr/>
        </p:nvSpPr>
        <p:spPr>
          <a:xfrm>
            <a:off x="402545" y="1842624"/>
            <a:ext cx="7818028" cy="4414566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B39989-7050-EE26-9D82-F2A6A2210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14</a:t>
            </a:fld>
            <a:endParaRPr lang="de-AT" noProof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E890521-F172-FD53-824A-2C82E72CB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76" y="917607"/>
            <a:ext cx="11395074" cy="484473"/>
          </a:xfrm>
        </p:spPr>
        <p:txBody>
          <a:bodyPr/>
          <a:lstStyle/>
          <a:p>
            <a:r>
              <a:rPr lang="de-DE" sz="3400"/>
              <a:t>Versicherungspräferenzen und Bedürfnisse (1/2)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381CBCE-E7AB-3590-9432-F451068D63B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74313" y="142287"/>
            <a:ext cx="8817638" cy="475950"/>
          </a:xfrm>
        </p:spPr>
        <p:txBody>
          <a:bodyPr/>
          <a:lstStyle/>
          <a:p>
            <a:r>
              <a:rPr lang="de-DE" dirty="0"/>
              <a:t>Segment 2: Die Online Affinen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0835894-AAD4-C274-B0AD-03F65C5F032C}"/>
              </a:ext>
            </a:extLst>
          </p:cNvPr>
          <p:cNvSpPr txBox="1"/>
          <p:nvPr/>
        </p:nvSpPr>
        <p:spPr>
          <a:xfrm>
            <a:off x="406797" y="1540342"/>
            <a:ext cx="7818028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400"/>
              <a:t>KAUFENTSCHEIDUNGSKRITERIEN UND PSYCHOGRAPHIE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E29CC21C-E75F-62BE-9AFE-E4FC1EF23CF3}"/>
              </a:ext>
            </a:extLst>
          </p:cNvPr>
          <p:cNvSpPr txBox="1"/>
          <p:nvPr/>
        </p:nvSpPr>
        <p:spPr>
          <a:xfrm>
            <a:off x="501862" y="1881128"/>
            <a:ext cx="3744881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Wichtigste/entscheidende Kriterien beim Versicherungskauf</a:t>
            </a:r>
          </a:p>
        </p:txBody>
      </p:sp>
      <p:sp>
        <p:nvSpPr>
          <p:cNvPr id="49" name="AutoShape 2" descr="Generated image">
            <a:extLst>
              <a:ext uri="{FF2B5EF4-FFF2-40B4-BE49-F238E27FC236}">
                <a16:creationId xmlns:a16="http://schemas.microsoft.com/office/drawing/2014/main" id="{171BD410-3CDB-4493-ED94-AB6E19B454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9270" y="314784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E5E6B0B8-F610-CECA-4B86-794010FBF95D}"/>
              </a:ext>
            </a:extLst>
          </p:cNvPr>
          <p:cNvSpPr txBox="1"/>
          <p:nvPr/>
        </p:nvSpPr>
        <p:spPr>
          <a:xfrm>
            <a:off x="4417902" y="1881128"/>
            <a:ext cx="2315302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Psychographie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6B387FD4-3C29-7349-F3EA-0D6A55E88908}"/>
              </a:ext>
            </a:extLst>
          </p:cNvPr>
          <p:cNvSpPr txBox="1"/>
          <p:nvPr/>
        </p:nvSpPr>
        <p:spPr>
          <a:xfrm>
            <a:off x="8423263" y="1566913"/>
            <a:ext cx="3008176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400"/>
              <a:t>INFORMATIONSEINHOLUNG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BF418262-2DFE-B430-7790-164458EE9F38}"/>
              </a:ext>
            </a:extLst>
          </p:cNvPr>
          <p:cNvSpPr/>
          <p:nvPr/>
        </p:nvSpPr>
        <p:spPr>
          <a:xfrm>
            <a:off x="8401524" y="1842624"/>
            <a:ext cx="3459807" cy="4430368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D0FFD23-E0D7-1814-A0B0-E90232D3A293}"/>
              </a:ext>
            </a:extLst>
          </p:cNvPr>
          <p:cNvSpPr txBox="1"/>
          <p:nvPr/>
        </p:nvSpPr>
        <p:spPr>
          <a:xfrm>
            <a:off x="315266" y="6371801"/>
            <a:ext cx="115460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Basis: </a:t>
            </a:r>
            <a:r>
              <a:rPr lang="de-DE" sz="800" err="1"/>
              <a:t>n</a:t>
            </a:r>
            <a:r>
              <a:rPr lang="de-DE" sz="800"/>
              <a:t>(Segment2)=688 | Grüne/rote Schriftfarbe und fette Markierung von Werten: Signifikante Abweichungen von der Gesamtstichprobe. Grün = signifikant höherer Wert, rot = signifikant niedrigerer Wert</a:t>
            </a:r>
          </a:p>
        </p:txBody>
      </p:sp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DA3C7D37-468D-DD2C-CD77-A3C84DCF4C6A}"/>
              </a:ext>
            </a:extLst>
          </p:cNvPr>
          <p:cNvGraphicFramePr/>
          <p:nvPr/>
        </p:nvGraphicFramePr>
        <p:xfrm>
          <a:off x="-696376" y="2242537"/>
          <a:ext cx="4920426" cy="4030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9" name="Textfeld 58">
            <a:extLst>
              <a:ext uri="{FF2B5EF4-FFF2-40B4-BE49-F238E27FC236}">
                <a16:creationId xmlns:a16="http://schemas.microsoft.com/office/drawing/2014/main" id="{81504991-A5DA-7D2B-0CFA-BA73FFC066BC}"/>
              </a:ext>
            </a:extLst>
          </p:cNvPr>
          <p:cNvSpPr txBox="1"/>
          <p:nvPr/>
        </p:nvSpPr>
        <p:spPr>
          <a:xfrm>
            <a:off x="4406746" y="2199150"/>
            <a:ext cx="3032690" cy="232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 dirty="0">
                <a:solidFill>
                  <a:srgbClr val="000000"/>
                </a:solidFill>
              </a:rPr>
              <a:t>Bei der Auswahl einer Versicherung achte ich besonders auf das </a:t>
            </a:r>
            <a:r>
              <a:rPr lang="de-DE" sz="800" b="1" dirty="0">
                <a:solidFill>
                  <a:srgbClr val="000000"/>
                </a:solidFill>
              </a:rPr>
              <a:t>Preis-Leistungsverhältnis</a:t>
            </a:r>
            <a:r>
              <a:rPr lang="de-DE" sz="8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4D2CE013-0E14-07AD-542C-B098D6D7C5CA}"/>
              </a:ext>
            </a:extLst>
          </p:cNvPr>
          <p:cNvSpPr txBox="1"/>
          <p:nvPr/>
        </p:nvSpPr>
        <p:spPr>
          <a:xfrm>
            <a:off x="4406746" y="3241777"/>
            <a:ext cx="3360619" cy="232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 dirty="0">
                <a:solidFill>
                  <a:srgbClr val="000000"/>
                </a:solidFill>
              </a:rPr>
              <a:t>Ich möchte </a:t>
            </a:r>
            <a:r>
              <a:rPr lang="de-DE" sz="800" b="1" dirty="0">
                <a:solidFill>
                  <a:srgbClr val="000000"/>
                </a:solidFill>
              </a:rPr>
              <a:t>flexible und maßgeschneiderte Versicherungsprodukte</a:t>
            </a:r>
            <a:r>
              <a:rPr lang="de-DE" sz="800" dirty="0">
                <a:solidFill>
                  <a:srgbClr val="000000"/>
                </a:solidFill>
              </a:rPr>
              <a:t>, die auf meine Bedürfnisse abgestimmt sind.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0CC10F2E-651C-3B8A-10A9-8A501BE513A3}"/>
              </a:ext>
            </a:extLst>
          </p:cNvPr>
          <p:cNvSpPr txBox="1"/>
          <p:nvPr/>
        </p:nvSpPr>
        <p:spPr>
          <a:xfrm>
            <a:off x="4406746" y="5686792"/>
            <a:ext cx="3032695" cy="232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 dirty="0">
                <a:solidFill>
                  <a:srgbClr val="000000"/>
                </a:solidFill>
              </a:rPr>
              <a:t>Für mich ist das </a:t>
            </a:r>
            <a:r>
              <a:rPr lang="de-DE" sz="800" b="1" dirty="0">
                <a:solidFill>
                  <a:srgbClr val="000000"/>
                </a:solidFill>
              </a:rPr>
              <a:t>persönliche Vertrauensverhältnis </a:t>
            </a:r>
            <a:r>
              <a:rPr lang="de-DE" sz="800" dirty="0">
                <a:solidFill>
                  <a:srgbClr val="000000"/>
                </a:solidFill>
              </a:rPr>
              <a:t>zu einem/</a:t>
            </a:r>
            <a:r>
              <a:rPr lang="de-DE" sz="800" dirty="0" err="1">
                <a:solidFill>
                  <a:srgbClr val="000000"/>
                </a:solidFill>
              </a:rPr>
              <a:t>r</a:t>
            </a:r>
            <a:r>
              <a:rPr lang="de-DE" sz="800" dirty="0">
                <a:solidFill>
                  <a:srgbClr val="000000"/>
                </a:solidFill>
              </a:rPr>
              <a:t> </a:t>
            </a:r>
            <a:r>
              <a:rPr lang="de-DE" sz="800" dirty="0" err="1">
                <a:solidFill>
                  <a:srgbClr val="000000"/>
                </a:solidFill>
              </a:rPr>
              <a:t>Versicherungsberater:in</a:t>
            </a:r>
            <a:r>
              <a:rPr lang="de-DE" sz="800" dirty="0">
                <a:solidFill>
                  <a:srgbClr val="000000"/>
                </a:solidFill>
              </a:rPr>
              <a:t> sehr wichtig.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534FBECB-2EAD-5634-C4B4-8638BDA82FD3}"/>
              </a:ext>
            </a:extLst>
          </p:cNvPr>
          <p:cNvSpPr txBox="1"/>
          <p:nvPr/>
        </p:nvSpPr>
        <p:spPr>
          <a:xfrm>
            <a:off x="4406746" y="2528906"/>
            <a:ext cx="3032695" cy="232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 dirty="0">
                <a:solidFill>
                  <a:srgbClr val="000000"/>
                </a:solidFill>
              </a:rPr>
              <a:t>Bevor ich eine Versicherung abschließe, schaue ich mir meistens </a:t>
            </a:r>
            <a:r>
              <a:rPr lang="de-DE" sz="800" b="1" dirty="0">
                <a:solidFill>
                  <a:srgbClr val="000000"/>
                </a:solidFill>
              </a:rPr>
              <a:t>mehrere Angebote </a:t>
            </a:r>
            <a:r>
              <a:rPr lang="de-DE" sz="800" dirty="0">
                <a:solidFill>
                  <a:srgbClr val="000000"/>
                </a:solidFill>
              </a:rPr>
              <a:t>an.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672E4419-C4BA-1596-8B59-23D5F618ED1B}"/>
              </a:ext>
            </a:extLst>
          </p:cNvPr>
          <p:cNvSpPr txBox="1"/>
          <p:nvPr/>
        </p:nvSpPr>
        <p:spPr>
          <a:xfrm>
            <a:off x="4406747" y="2823408"/>
            <a:ext cx="3032690" cy="232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 dirty="0">
                <a:solidFill>
                  <a:srgbClr val="000000"/>
                </a:solidFill>
              </a:rPr>
              <a:t>Ich schätze bei Versicherungen </a:t>
            </a:r>
            <a:r>
              <a:rPr lang="de-DE" sz="800" b="1" dirty="0">
                <a:solidFill>
                  <a:srgbClr val="000000"/>
                </a:solidFill>
              </a:rPr>
              <a:t>Apps und/ oder online Kundenportale</a:t>
            </a:r>
            <a:r>
              <a:rPr lang="de-DE" sz="800" dirty="0">
                <a:solidFill>
                  <a:srgbClr val="000000"/>
                </a:solidFill>
              </a:rPr>
              <a:t>, mit denen ich meine Angelegenheiten selbständig erledigen kann.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51A52860-96A4-3794-4E1F-19C0AB9DE385}"/>
              </a:ext>
            </a:extLst>
          </p:cNvPr>
          <p:cNvSpPr txBox="1"/>
          <p:nvPr/>
        </p:nvSpPr>
        <p:spPr>
          <a:xfrm>
            <a:off x="4406746" y="3551449"/>
            <a:ext cx="2937550" cy="232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 dirty="0">
                <a:solidFill>
                  <a:srgbClr val="000000"/>
                </a:solidFill>
              </a:rPr>
              <a:t>Um Versicherungsangelegenheiten kümmere ich mich nur </a:t>
            </a:r>
            <a:r>
              <a:rPr lang="de-DE" sz="800" b="1" dirty="0">
                <a:solidFill>
                  <a:srgbClr val="000000"/>
                </a:solidFill>
              </a:rPr>
              <a:t>so viel wie unbedingt nötig</a:t>
            </a:r>
            <a:r>
              <a:rPr lang="de-DE" sz="8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1AF4B829-2295-5443-A5E6-F6E06FED60D2}"/>
              </a:ext>
            </a:extLst>
          </p:cNvPr>
          <p:cNvSpPr txBox="1"/>
          <p:nvPr/>
        </p:nvSpPr>
        <p:spPr>
          <a:xfrm>
            <a:off x="4406746" y="4949359"/>
            <a:ext cx="2798839" cy="232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 dirty="0">
                <a:solidFill>
                  <a:srgbClr val="000000"/>
                </a:solidFill>
              </a:rPr>
              <a:t>Mir ist es wichtig, </a:t>
            </a:r>
            <a:r>
              <a:rPr lang="de-DE" sz="800" b="1" dirty="0">
                <a:solidFill>
                  <a:srgbClr val="000000"/>
                </a:solidFill>
              </a:rPr>
              <a:t>alle Bereiche meines Lebens gut zu versichern</a:t>
            </a:r>
            <a:r>
              <a:rPr lang="de-DE" sz="8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BFB092B3-4EA0-01DD-3508-6CA2E66190DA}"/>
              </a:ext>
            </a:extLst>
          </p:cNvPr>
          <p:cNvSpPr txBox="1"/>
          <p:nvPr/>
        </p:nvSpPr>
        <p:spPr>
          <a:xfrm>
            <a:off x="4406746" y="4578819"/>
            <a:ext cx="2853563" cy="232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>
                <a:solidFill>
                  <a:srgbClr val="000000"/>
                </a:solidFill>
              </a:rPr>
              <a:t>Ich präferiere möglichst </a:t>
            </a:r>
            <a:r>
              <a:rPr lang="de-DE" sz="800" b="1">
                <a:solidFill>
                  <a:srgbClr val="000000"/>
                </a:solidFill>
              </a:rPr>
              <a:t>nur von einem Versicherer alle meine Versicherungsprodukte zu beziehen</a:t>
            </a:r>
            <a:r>
              <a:rPr lang="de-DE" sz="80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9A3A50B0-1575-2C3D-2EA7-05AA614F6E35}"/>
              </a:ext>
            </a:extLst>
          </p:cNvPr>
          <p:cNvSpPr txBox="1"/>
          <p:nvPr/>
        </p:nvSpPr>
        <p:spPr>
          <a:xfrm>
            <a:off x="4406746" y="4250341"/>
            <a:ext cx="2504846" cy="3361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 dirty="0">
                <a:solidFill>
                  <a:srgbClr val="000000"/>
                </a:solidFill>
              </a:rPr>
              <a:t>Ich bin bereit </a:t>
            </a:r>
            <a:r>
              <a:rPr lang="de-DE" sz="800" b="1" dirty="0">
                <a:solidFill>
                  <a:srgbClr val="000000"/>
                </a:solidFill>
              </a:rPr>
              <a:t>Selbstbehalte zu akzeptieren</a:t>
            </a:r>
            <a:r>
              <a:rPr lang="de-DE" sz="800" dirty="0">
                <a:solidFill>
                  <a:srgbClr val="000000"/>
                </a:solidFill>
              </a:rPr>
              <a:t>, um </a:t>
            </a:r>
            <a:r>
              <a:rPr lang="de-DE" sz="800" b="1" dirty="0">
                <a:solidFill>
                  <a:srgbClr val="000000"/>
                </a:solidFill>
              </a:rPr>
              <a:t>weniger Prämie </a:t>
            </a:r>
            <a:r>
              <a:rPr lang="de-DE" sz="800" dirty="0">
                <a:solidFill>
                  <a:srgbClr val="000000"/>
                </a:solidFill>
              </a:rPr>
              <a:t>zu zahlen.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9ED52769-B201-0DEE-A753-D5386E9B7B94}"/>
              </a:ext>
            </a:extLst>
          </p:cNvPr>
          <p:cNvSpPr txBox="1"/>
          <p:nvPr/>
        </p:nvSpPr>
        <p:spPr>
          <a:xfrm>
            <a:off x="4406746" y="5246248"/>
            <a:ext cx="2688517" cy="232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>
                <a:solidFill>
                  <a:srgbClr val="000000"/>
                </a:solidFill>
              </a:rPr>
              <a:t>Ich </a:t>
            </a:r>
            <a:r>
              <a:rPr lang="de-DE" sz="800" b="1">
                <a:solidFill>
                  <a:srgbClr val="000000"/>
                </a:solidFill>
              </a:rPr>
              <a:t>achte bei Versicherungen auf Nachhaltigkeitsaspekte </a:t>
            </a:r>
            <a:r>
              <a:rPr lang="de-DE" sz="800">
                <a:solidFill>
                  <a:srgbClr val="000000"/>
                </a:solidFill>
              </a:rPr>
              <a:t>(z.B. Reparieren statt </a:t>
            </a:r>
            <a:br>
              <a:rPr lang="de-DE" sz="800">
                <a:solidFill>
                  <a:srgbClr val="000000"/>
                </a:solidFill>
              </a:rPr>
            </a:br>
            <a:r>
              <a:rPr lang="de-DE" sz="800">
                <a:solidFill>
                  <a:srgbClr val="000000"/>
                </a:solidFill>
              </a:rPr>
              <a:t>Neukaufen, Belohnung für </a:t>
            </a:r>
            <a:r>
              <a:rPr lang="de-DE" sz="800" err="1">
                <a:solidFill>
                  <a:srgbClr val="000000"/>
                </a:solidFill>
              </a:rPr>
              <a:t>nachh</a:t>
            </a:r>
            <a:r>
              <a:rPr lang="de-DE" sz="800">
                <a:solidFill>
                  <a:srgbClr val="000000"/>
                </a:solidFill>
              </a:rPr>
              <a:t>. Kundenverhalten).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E46AC9E2-99FC-D781-8AB2-19EED6FE6789}"/>
              </a:ext>
            </a:extLst>
          </p:cNvPr>
          <p:cNvSpPr txBox="1"/>
          <p:nvPr/>
        </p:nvSpPr>
        <p:spPr>
          <a:xfrm>
            <a:off x="4406746" y="5994305"/>
            <a:ext cx="1982783" cy="232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 dirty="0">
                <a:solidFill>
                  <a:srgbClr val="000000"/>
                </a:solidFill>
              </a:rPr>
              <a:t>Bei </a:t>
            </a:r>
            <a:r>
              <a:rPr lang="de-DE" sz="800" b="1" dirty="0">
                <a:solidFill>
                  <a:srgbClr val="000000"/>
                </a:solidFill>
              </a:rPr>
              <a:t>Versicherungen suche ich mir stets die billigste aus</a:t>
            </a:r>
            <a:r>
              <a:rPr lang="de-DE" sz="8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89" name="Textfeld 88">
            <a:extLst>
              <a:ext uri="{FF2B5EF4-FFF2-40B4-BE49-F238E27FC236}">
                <a16:creationId xmlns:a16="http://schemas.microsoft.com/office/drawing/2014/main" id="{ED1C20F6-9D68-2184-7EC8-F91A8942EDFD}"/>
              </a:ext>
            </a:extLst>
          </p:cNvPr>
          <p:cNvSpPr txBox="1"/>
          <p:nvPr/>
        </p:nvSpPr>
        <p:spPr>
          <a:xfrm>
            <a:off x="8446631" y="1881128"/>
            <a:ext cx="3387753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Genutzte Informationskanäle vor Versicherungsabschluss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21FA5CA-512B-B8A6-2D27-A679F537675A}"/>
              </a:ext>
            </a:extLst>
          </p:cNvPr>
          <p:cNvSpPr txBox="1"/>
          <p:nvPr/>
        </p:nvSpPr>
        <p:spPr>
          <a:xfrm>
            <a:off x="4406746" y="3828507"/>
            <a:ext cx="2860839" cy="4427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 dirty="0">
                <a:solidFill>
                  <a:srgbClr val="000000"/>
                </a:solidFill>
              </a:rPr>
              <a:t>Ich wünsche mir von meiner Versicherung, dass sie nicht nur einzelne Schäden abdeckt, sondern mich auch </a:t>
            </a:r>
            <a:r>
              <a:rPr lang="de-DE" sz="800" b="1" dirty="0">
                <a:solidFill>
                  <a:srgbClr val="000000"/>
                </a:solidFill>
              </a:rPr>
              <a:t>rundum bei wichtigen Lebensereignissen berät</a:t>
            </a:r>
            <a:r>
              <a:rPr lang="de-DE" sz="800" dirty="0">
                <a:solidFill>
                  <a:srgbClr val="000000"/>
                </a:solidFill>
              </a:rPr>
              <a:t>.</a:t>
            </a:r>
          </a:p>
        </p:txBody>
      </p: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19005451-22AD-800E-DD04-C6DBB45B5968}"/>
              </a:ext>
            </a:extLst>
          </p:cNvPr>
          <p:cNvCxnSpPr>
            <a:cxnSpLocks/>
          </p:cNvCxnSpPr>
          <p:nvPr/>
        </p:nvCxnSpPr>
        <p:spPr>
          <a:xfrm>
            <a:off x="4273299" y="1849466"/>
            <a:ext cx="0" cy="4414566"/>
          </a:xfrm>
          <a:prstGeom prst="line">
            <a:avLst/>
          </a:prstGeom>
          <a:ln w="28575">
            <a:solidFill>
              <a:srgbClr val="F2610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107EB45-24DF-D5D7-8FA3-D0138ABAE492}"/>
              </a:ext>
            </a:extLst>
          </p:cNvPr>
          <p:cNvGraphicFramePr>
            <a:graphicFrameLocks noGrp="1"/>
          </p:cNvGraphicFramePr>
          <p:nvPr/>
        </p:nvGraphicFramePr>
        <p:xfrm>
          <a:off x="398502" y="2409755"/>
          <a:ext cx="2440330" cy="3755912"/>
        </p:xfrm>
        <a:graphic>
          <a:graphicData uri="http://schemas.openxmlformats.org/drawingml/2006/table">
            <a:tbl>
              <a:tblPr/>
              <a:tblGrid>
                <a:gridCol w="2440330">
                  <a:extLst>
                    <a:ext uri="{9D8B030D-6E8A-4147-A177-3AD203B41FA5}">
                      <a16:colId xmlns:a16="http://schemas.microsoft.com/office/drawing/2014/main" val="477942972"/>
                    </a:ext>
                  </a:extLst>
                </a:gridCol>
              </a:tblGrid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Das 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Preis-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Leistungsverhältnis</a:t>
                      </a:r>
                      <a:endParaRPr lang="en-US" sz="800" b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051307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Die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Versicherungsprämie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</a:t>
                      </a:r>
                      <a:r>
                        <a:rPr lang="en-US" sz="800" b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möglichst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geringer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Preis für die Versicherung)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100797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Die </a:t>
                      </a:r>
                      <a:r>
                        <a:rPr lang="en-US" sz="800" b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Möglichkeit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online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abzuschließen</a:t>
                      </a:r>
                      <a:endParaRPr lang="en-US" sz="800" b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58625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Das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Produkt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ist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umfangreich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(hat </a:t>
                      </a:r>
                      <a:r>
                        <a:rPr lang="en-US" sz="800" b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viele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Deckungen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15767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Die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Produktinformationen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</a:t>
                      </a:r>
                      <a:r>
                        <a:rPr lang="en-US" sz="800" b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möglichst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klar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und transparent: </a:t>
                      </a:r>
                      <a:r>
                        <a:rPr lang="en-US" sz="800" b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Angebot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Folder, online)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7485256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Das 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Produkt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ist 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flexibel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und kann auf mich zugeschnitten werden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239811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en-US" sz="800" b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Bereits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positive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Erfahrungen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mit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dem Versicherungsunternehmen </a:t>
                      </a:r>
                      <a:r>
                        <a:rPr lang="en-US" sz="800" b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gemacht</a:t>
                      </a:r>
                      <a:endParaRPr lang="en-US" sz="800" b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804547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Digitale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Services </a:t>
                      </a:r>
                      <a:r>
                        <a:rPr lang="en-US" sz="800" b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sind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vorhanden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</a:t>
                      </a:r>
                      <a:r>
                        <a:rPr lang="en-US" sz="800" b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Kund:innenportal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-US" sz="800" b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Versicherungs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-App)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755430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Das </a:t>
                      </a:r>
                      <a:r>
                        <a:rPr lang="en-US" sz="800" b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Produkt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beinhaltet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relevante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Zusatzleistungen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800" b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z.B.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Assistance-Services)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885480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Das 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Image des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Versicherungsunternehmens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800" b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Bekanntheit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-US" sz="800" b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guter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Ruf)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899555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Weiterempfehlung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</a:t>
                      </a:r>
                      <a:r>
                        <a:rPr lang="en-US" sz="800" b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durch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Familie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 </a:t>
                      </a:r>
                      <a:r>
                        <a:rPr lang="en-US" sz="800" b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Freund:innen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 </a:t>
                      </a:r>
                      <a:r>
                        <a:rPr lang="en-US" sz="800" b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Bekannte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0200942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Der/ die 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Berater:in/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Makler:in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ist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kompetent</a:t>
                      </a:r>
                      <a:endParaRPr lang="en-US" sz="800" b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893059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Der/ die 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Berater:in/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Makler:in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ist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bereits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bekannt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und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verlässlich</a:t>
                      </a:r>
                      <a:endParaRPr lang="en-US" sz="800" b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354514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Der/ die 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Berater:in/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Makler:in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befindet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sich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in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meiner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Nähe</a:t>
                      </a:r>
                      <a:endParaRPr lang="en-US" sz="800" b="1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522281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Die </a:t>
                      </a:r>
                      <a:r>
                        <a:rPr lang="en-US" sz="800" b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Berücksichtigung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von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Nachhaltigkeitsaspekten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durch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das Versicherungsunternehmen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2882206"/>
                  </a:ext>
                </a:extLst>
              </a:tr>
            </a:tbl>
          </a:graphicData>
        </a:graphic>
      </p:graphicFrame>
      <p:sp>
        <p:nvSpPr>
          <p:cNvPr id="27" name="Textfeld 38">
            <a:extLst>
              <a:ext uri="{FF2B5EF4-FFF2-40B4-BE49-F238E27FC236}">
                <a16:creationId xmlns:a16="http://schemas.microsoft.com/office/drawing/2014/main" id="{C7AC2831-6B1B-9D75-D7B5-36AB93538D7C}"/>
              </a:ext>
            </a:extLst>
          </p:cNvPr>
          <p:cNvSpPr txBox="1"/>
          <p:nvPr/>
        </p:nvSpPr>
        <p:spPr>
          <a:xfrm>
            <a:off x="3646741" y="2910042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29" name="Textfeld 38">
            <a:extLst>
              <a:ext uri="{FF2B5EF4-FFF2-40B4-BE49-F238E27FC236}">
                <a16:creationId xmlns:a16="http://schemas.microsoft.com/office/drawing/2014/main" id="{951D3692-7BF7-189C-3558-F08816758E78}"/>
              </a:ext>
            </a:extLst>
          </p:cNvPr>
          <p:cNvSpPr txBox="1"/>
          <p:nvPr/>
        </p:nvSpPr>
        <p:spPr>
          <a:xfrm>
            <a:off x="3602067" y="3404271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31" name="Textfeld 38">
            <a:extLst>
              <a:ext uri="{FF2B5EF4-FFF2-40B4-BE49-F238E27FC236}">
                <a16:creationId xmlns:a16="http://schemas.microsoft.com/office/drawing/2014/main" id="{5B31A461-D470-8A48-EAE3-5F3F4D238B0F}"/>
              </a:ext>
            </a:extLst>
          </p:cNvPr>
          <p:cNvSpPr txBox="1"/>
          <p:nvPr/>
        </p:nvSpPr>
        <p:spPr>
          <a:xfrm>
            <a:off x="3492833" y="4134418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54" name="Textfeld 6">
            <a:extLst>
              <a:ext uri="{FF2B5EF4-FFF2-40B4-BE49-F238E27FC236}">
                <a16:creationId xmlns:a16="http://schemas.microsoft.com/office/drawing/2014/main" id="{691CA510-3E65-54B4-8FFF-ED9684FDC936}"/>
              </a:ext>
            </a:extLst>
          </p:cNvPr>
          <p:cNvSpPr txBox="1"/>
          <p:nvPr/>
        </p:nvSpPr>
        <p:spPr>
          <a:xfrm>
            <a:off x="4441567" y="6585418"/>
            <a:ext cx="53725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= größere, signifikante Abweichungen von der Gesamtstichprobe (mindestens 7 Prozentpunkte höher/niedriger)</a:t>
            </a:r>
          </a:p>
        </p:txBody>
      </p:sp>
      <p:sp>
        <p:nvSpPr>
          <p:cNvPr id="55" name="Textfeld 38">
            <a:extLst>
              <a:ext uri="{FF2B5EF4-FFF2-40B4-BE49-F238E27FC236}">
                <a16:creationId xmlns:a16="http://schemas.microsoft.com/office/drawing/2014/main" id="{3F2C673B-2729-75E9-92E3-B5CB1897A577}"/>
              </a:ext>
            </a:extLst>
          </p:cNvPr>
          <p:cNvSpPr txBox="1"/>
          <p:nvPr/>
        </p:nvSpPr>
        <p:spPr>
          <a:xfrm>
            <a:off x="4236176" y="6565779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56" name="Textfeld 38">
            <a:extLst>
              <a:ext uri="{FF2B5EF4-FFF2-40B4-BE49-F238E27FC236}">
                <a16:creationId xmlns:a16="http://schemas.microsoft.com/office/drawing/2014/main" id="{37B2E95C-A948-BC3C-B987-04E0F472C252}"/>
              </a:ext>
            </a:extLst>
          </p:cNvPr>
          <p:cNvSpPr txBox="1"/>
          <p:nvPr/>
        </p:nvSpPr>
        <p:spPr>
          <a:xfrm rot="10800000">
            <a:off x="4328015" y="6610935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9" name="Textfeld 38">
            <a:extLst>
              <a:ext uri="{FF2B5EF4-FFF2-40B4-BE49-F238E27FC236}">
                <a16:creationId xmlns:a16="http://schemas.microsoft.com/office/drawing/2014/main" id="{6C0C2386-CB10-DAB4-8190-F7BFB6521A53}"/>
              </a:ext>
            </a:extLst>
          </p:cNvPr>
          <p:cNvSpPr txBox="1"/>
          <p:nvPr/>
        </p:nvSpPr>
        <p:spPr>
          <a:xfrm rot="10800000">
            <a:off x="3531542" y="3929050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14" name="Textfeld 38">
            <a:extLst>
              <a:ext uri="{FF2B5EF4-FFF2-40B4-BE49-F238E27FC236}">
                <a16:creationId xmlns:a16="http://schemas.microsoft.com/office/drawing/2014/main" id="{4F262725-CC69-B6C3-C487-139632AAF337}"/>
              </a:ext>
            </a:extLst>
          </p:cNvPr>
          <p:cNvSpPr txBox="1"/>
          <p:nvPr/>
        </p:nvSpPr>
        <p:spPr>
          <a:xfrm rot="10800000">
            <a:off x="3316983" y="5394404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19" name="Textfeld 38">
            <a:extLst>
              <a:ext uri="{FF2B5EF4-FFF2-40B4-BE49-F238E27FC236}">
                <a16:creationId xmlns:a16="http://schemas.microsoft.com/office/drawing/2014/main" id="{676642AB-1905-8757-02DA-5F479C70BDFA}"/>
              </a:ext>
            </a:extLst>
          </p:cNvPr>
          <p:cNvSpPr txBox="1"/>
          <p:nvPr/>
        </p:nvSpPr>
        <p:spPr>
          <a:xfrm rot="10800000">
            <a:off x="3372514" y="5147333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20" name="Textfeld 38">
            <a:extLst>
              <a:ext uri="{FF2B5EF4-FFF2-40B4-BE49-F238E27FC236}">
                <a16:creationId xmlns:a16="http://schemas.microsoft.com/office/drawing/2014/main" id="{2EC95B71-3022-95A9-FF36-2DC02E87635C}"/>
              </a:ext>
            </a:extLst>
          </p:cNvPr>
          <p:cNvSpPr txBox="1"/>
          <p:nvPr/>
        </p:nvSpPr>
        <p:spPr>
          <a:xfrm rot="10800000">
            <a:off x="3157249" y="5644675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graphicFrame>
        <p:nvGraphicFramePr>
          <p:cNvPr id="45" name="Inhaltsplatzhalter 7">
            <a:extLst>
              <a:ext uri="{FF2B5EF4-FFF2-40B4-BE49-F238E27FC236}">
                <a16:creationId xmlns:a16="http://schemas.microsoft.com/office/drawing/2014/main" id="{E8482E9D-FCF3-1C98-C839-978EB83BCBB0}"/>
              </a:ext>
            </a:extLst>
          </p:cNvPr>
          <p:cNvGraphicFramePr>
            <a:graphicFrameLocks/>
          </p:cNvGraphicFramePr>
          <p:nvPr/>
        </p:nvGraphicFramePr>
        <p:xfrm>
          <a:off x="4889840" y="1540342"/>
          <a:ext cx="3471495" cy="5554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6" name="Textfeld 75">
            <a:extLst>
              <a:ext uri="{FF2B5EF4-FFF2-40B4-BE49-F238E27FC236}">
                <a16:creationId xmlns:a16="http://schemas.microsoft.com/office/drawing/2014/main" id="{92608BEC-D73B-F037-E858-099B00889084}"/>
              </a:ext>
            </a:extLst>
          </p:cNvPr>
          <p:cNvSpPr txBox="1"/>
          <p:nvPr/>
        </p:nvSpPr>
        <p:spPr>
          <a:xfrm>
            <a:off x="7586058" y="2173122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b="1" dirty="0">
                <a:solidFill>
                  <a:srgbClr val="4DA685"/>
                </a:solidFill>
              </a:rPr>
              <a:t>85%</a:t>
            </a: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563568DF-1995-CA11-28DC-F0C623FBFE24}"/>
              </a:ext>
            </a:extLst>
          </p:cNvPr>
          <p:cNvSpPr txBox="1"/>
          <p:nvPr/>
        </p:nvSpPr>
        <p:spPr>
          <a:xfrm>
            <a:off x="7966367" y="3228149"/>
            <a:ext cx="356122" cy="1976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b="1" dirty="0">
                <a:solidFill>
                  <a:srgbClr val="FF0000"/>
                </a:solidFill>
              </a:rPr>
              <a:t>73%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AA58FE27-BEB9-48A4-A305-D4F5B82EF635}"/>
              </a:ext>
            </a:extLst>
          </p:cNvPr>
          <p:cNvSpPr txBox="1"/>
          <p:nvPr/>
        </p:nvSpPr>
        <p:spPr>
          <a:xfrm>
            <a:off x="7517909" y="5682681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b="1" dirty="0">
                <a:solidFill>
                  <a:srgbClr val="FF0000"/>
                </a:solidFill>
              </a:rPr>
              <a:t>44%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1D6AC1E4-217A-580F-D6D3-5D48CDE7F0A6}"/>
              </a:ext>
            </a:extLst>
          </p:cNvPr>
          <p:cNvSpPr txBox="1"/>
          <p:nvPr/>
        </p:nvSpPr>
        <p:spPr>
          <a:xfrm>
            <a:off x="7838700" y="3573183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dirty="0">
                <a:solidFill>
                  <a:srgbClr val="000000"/>
                </a:solidFill>
              </a:rPr>
              <a:t>63%</a:t>
            </a: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F3C80F8B-0034-B2CC-8402-3A067191D696}"/>
              </a:ext>
            </a:extLst>
          </p:cNvPr>
          <p:cNvSpPr txBox="1"/>
          <p:nvPr/>
        </p:nvSpPr>
        <p:spPr>
          <a:xfrm>
            <a:off x="7558705" y="4984041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b="1">
                <a:solidFill>
                  <a:srgbClr val="FF0000"/>
                </a:solidFill>
              </a:rPr>
              <a:t>45%</a:t>
            </a: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6F929197-222C-AB33-45CB-779A50767446}"/>
              </a:ext>
            </a:extLst>
          </p:cNvPr>
          <p:cNvSpPr txBox="1"/>
          <p:nvPr/>
        </p:nvSpPr>
        <p:spPr>
          <a:xfrm>
            <a:off x="7560190" y="4620778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b="1" dirty="0">
                <a:solidFill>
                  <a:srgbClr val="FF0000"/>
                </a:solidFill>
              </a:rPr>
              <a:t>47%</a:t>
            </a: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D6EAA43B-C891-8D1C-C112-AC337B213F1B}"/>
              </a:ext>
            </a:extLst>
          </p:cNvPr>
          <p:cNvSpPr txBox="1"/>
          <p:nvPr/>
        </p:nvSpPr>
        <p:spPr>
          <a:xfrm>
            <a:off x="7646867" y="3929965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b="1" dirty="0">
                <a:solidFill>
                  <a:srgbClr val="FF0000"/>
                </a:solidFill>
              </a:rPr>
              <a:t>51%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22BC068C-6881-CCB1-F788-F6FFFC4F2317}"/>
              </a:ext>
            </a:extLst>
          </p:cNvPr>
          <p:cNvSpPr txBox="1"/>
          <p:nvPr/>
        </p:nvSpPr>
        <p:spPr>
          <a:xfrm>
            <a:off x="7583722" y="4283995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b="1" dirty="0">
                <a:solidFill>
                  <a:srgbClr val="4DA685"/>
                </a:solidFill>
              </a:rPr>
              <a:t>48%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433B5014-5A46-ED3F-C537-90632921ABFB}"/>
              </a:ext>
            </a:extLst>
          </p:cNvPr>
          <p:cNvSpPr txBox="1"/>
          <p:nvPr/>
        </p:nvSpPr>
        <p:spPr>
          <a:xfrm>
            <a:off x="7558865" y="5342636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b="1" dirty="0">
                <a:solidFill>
                  <a:srgbClr val="4DA685"/>
                </a:solidFill>
              </a:rPr>
              <a:t>45%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CD34D6FA-D789-D39F-8460-CA1ABAD78608}"/>
              </a:ext>
            </a:extLst>
          </p:cNvPr>
          <p:cNvSpPr txBox="1"/>
          <p:nvPr/>
        </p:nvSpPr>
        <p:spPr>
          <a:xfrm>
            <a:off x="7505941" y="6050360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b="1" dirty="0">
                <a:solidFill>
                  <a:srgbClr val="4DA685"/>
                </a:solidFill>
              </a:rPr>
              <a:t>42%</a:t>
            </a:r>
          </a:p>
        </p:txBody>
      </p:sp>
      <p:sp>
        <p:nvSpPr>
          <p:cNvPr id="21" name="Textfeld 38">
            <a:extLst>
              <a:ext uri="{FF2B5EF4-FFF2-40B4-BE49-F238E27FC236}">
                <a16:creationId xmlns:a16="http://schemas.microsoft.com/office/drawing/2014/main" id="{EFE3D287-76D1-DB5F-28CD-10202BECE50D}"/>
              </a:ext>
            </a:extLst>
          </p:cNvPr>
          <p:cNvSpPr txBox="1"/>
          <p:nvPr/>
        </p:nvSpPr>
        <p:spPr>
          <a:xfrm>
            <a:off x="7771581" y="2129272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22" name="Textfeld 38">
            <a:extLst>
              <a:ext uri="{FF2B5EF4-FFF2-40B4-BE49-F238E27FC236}">
                <a16:creationId xmlns:a16="http://schemas.microsoft.com/office/drawing/2014/main" id="{38B61233-D426-646F-9EAE-C4CCBBA46CD0}"/>
              </a:ext>
            </a:extLst>
          </p:cNvPr>
          <p:cNvSpPr txBox="1"/>
          <p:nvPr/>
        </p:nvSpPr>
        <p:spPr>
          <a:xfrm rot="10800000">
            <a:off x="7735316" y="5671573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33" name="Textfeld 38">
            <a:extLst>
              <a:ext uri="{FF2B5EF4-FFF2-40B4-BE49-F238E27FC236}">
                <a16:creationId xmlns:a16="http://schemas.microsoft.com/office/drawing/2014/main" id="{AF9E0573-44DA-FB4E-8D3D-E22E45C984C1}"/>
              </a:ext>
            </a:extLst>
          </p:cNvPr>
          <p:cNvSpPr txBox="1"/>
          <p:nvPr/>
        </p:nvSpPr>
        <p:spPr>
          <a:xfrm rot="10800000">
            <a:off x="7774707" y="4611733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35" name="Textfeld 38">
            <a:extLst>
              <a:ext uri="{FF2B5EF4-FFF2-40B4-BE49-F238E27FC236}">
                <a16:creationId xmlns:a16="http://schemas.microsoft.com/office/drawing/2014/main" id="{FBB2038E-06FB-B4D6-012C-6CE6E6B4E3AF}"/>
              </a:ext>
            </a:extLst>
          </p:cNvPr>
          <p:cNvSpPr txBox="1"/>
          <p:nvPr/>
        </p:nvSpPr>
        <p:spPr>
          <a:xfrm rot="10800000">
            <a:off x="7774632" y="4972891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38" name="Textfeld 38">
            <a:extLst>
              <a:ext uri="{FF2B5EF4-FFF2-40B4-BE49-F238E27FC236}">
                <a16:creationId xmlns:a16="http://schemas.microsoft.com/office/drawing/2014/main" id="{EA8B7231-AE6C-719A-C4F9-71DC0077D70D}"/>
              </a:ext>
            </a:extLst>
          </p:cNvPr>
          <p:cNvSpPr txBox="1"/>
          <p:nvPr/>
        </p:nvSpPr>
        <p:spPr>
          <a:xfrm>
            <a:off x="7691874" y="6007062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24" name="Textfeld 38">
            <a:extLst>
              <a:ext uri="{FF2B5EF4-FFF2-40B4-BE49-F238E27FC236}">
                <a16:creationId xmlns:a16="http://schemas.microsoft.com/office/drawing/2014/main" id="{C5CD1FF4-E2C5-FB6E-981E-790D4AA13249}"/>
              </a:ext>
            </a:extLst>
          </p:cNvPr>
          <p:cNvSpPr txBox="1"/>
          <p:nvPr/>
        </p:nvSpPr>
        <p:spPr>
          <a:xfrm>
            <a:off x="7740051" y="2486054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8E3554E0-759A-7EDB-43E3-6D48FDF9E1AF}"/>
              </a:ext>
            </a:extLst>
          </p:cNvPr>
          <p:cNvSpPr txBox="1"/>
          <p:nvPr/>
        </p:nvSpPr>
        <p:spPr>
          <a:xfrm>
            <a:off x="7544729" y="2529687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b="1" dirty="0">
                <a:solidFill>
                  <a:srgbClr val="4DA685"/>
                </a:solidFill>
              </a:rPr>
              <a:t>82%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13F77887-E6B3-EA40-E6A6-952389E550AF}"/>
              </a:ext>
            </a:extLst>
          </p:cNvPr>
          <p:cNvSpPr txBox="1"/>
          <p:nvPr/>
        </p:nvSpPr>
        <p:spPr>
          <a:xfrm>
            <a:off x="7507628" y="2878335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b="1" dirty="0">
                <a:solidFill>
                  <a:srgbClr val="4DA685"/>
                </a:solidFill>
              </a:rPr>
              <a:t>79%</a:t>
            </a:r>
          </a:p>
        </p:txBody>
      </p:sp>
      <p:sp>
        <p:nvSpPr>
          <p:cNvPr id="23" name="Textfeld 38">
            <a:extLst>
              <a:ext uri="{FF2B5EF4-FFF2-40B4-BE49-F238E27FC236}">
                <a16:creationId xmlns:a16="http://schemas.microsoft.com/office/drawing/2014/main" id="{9ADDF85D-00D0-861D-6CD0-C0EE9DDBD6CA}"/>
              </a:ext>
            </a:extLst>
          </p:cNvPr>
          <p:cNvSpPr txBox="1"/>
          <p:nvPr/>
        </p:nvSpPr>
        <p:spPr>
          <a:xfrm>
            <a:off x="7695129" y="2832515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graphicFrame>
        <p:nvGraphicFramePr>
          <p:cNvPr id="90" name="Diagramm 89">
            <a:extLst>
              <a:ext uri="{FF2B5EF4-FFF2-40B4-BE49-F238E27FC236}">
                <a16:creationId xmlns:a16="http://schemas.microsoft.com/office/drawing/2014/main" id="{54D7396A-07A7-CE86-9376-8F625B6CAB1A}"/>
              </a:ext>
            </a:extLst>
          </p:cNvPr>
          <p:cNvGraphicFramePr/>
          <p:nvPr/>
        </p:nvGraphicFramePr>
        <p:xfrm>
          <a:off x="7997111" y="2352697"/>
          <a:ext cx="3957036" cy="38625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3" name="Textfeld 38">
            <a:extLst>
              <a:ext uri="{FF2B5EF4-FFF2-40B4-BE49-F238E27FC236}">
                <a16:creationId xmlns:a16="http://schemas.microsoft.com/office/drawing/2014/main" id="{6C15A0B7-C41F-B763-B90D-FFD835015C9D}"/>
              </a:ext>
            </a:extLst>
          </p:cNvPr>
          <p:cNvSpPr txBox="1"/>
          <p:nvPr/>
        </p:nvSpPr>
        <p:spPr>
          <a:xfrm>
            <a:off x="11386490" y="3063921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44" name="Textfeld 38">
            <a:extLst>
              <a:ext uri="{FF2B5EF4-FFF2-40B4-BE49-F238E27FC236}">
                <a16:creationId xmlns:a16="http://schemas.microsoft.com/office/drawing/2014/main" id="{ED2DBFF4-0432-7762-05BF-AF89659C0F04}"/>
              </a:ext>
            </a:extLst>
          </p:cNvPr>
          <p:cNvSpPr txBox="1"/>
          <p:nvPr/>
        </p:nvSpPr>
        <p:spPr>
          <a:xfrm>
            <a:off x="11319101" y="3495431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46" name="Textfeld 38">
            <a:extLst>
              <a:ext uri="{FF2B5EF4-FFF2-40B4-BE49-F238E27FC236}">
                <a16:creationId xmlns:a16="http://schemas.microsoft.com/office/drawing/2014/main" id="{7DACC3B6-5C2D-32B7-E8F8-5365AAFFAD1F}"/>
              </a:ext>
            </a:extLst>
          </p:cNvPr>
          <p:cNvSpPr txBox="1"/>
          <p:nvPr/>
        </p:nvSpPr>
        <p:spPr>
          <a:xfrm>
            <a:off x="11548752" y="2608196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42" name="Textfeld 38">
            <a:extLst>
              <a:ext uri="{FF2B5EF4-FFF2-40B4-BE49-F238E27FC236}">
                <a16:creationId xmlns:a16="http://schemas.microsoft.com/office/drawing/2014/main" id="{975F2B5E-FE81-3ACD-D217-39BF59A52746}"/>
              </a:ext>
            </a:extLst>
          </p:cNvPr>
          <p:cNvSpPr txBox="1"/>
          <p:nvPr/>
        </p:nvSpPr>
        <p:spPr>
          <a:xfrm rot="10800000">
            <a:off x="11084663" y="4862410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FF0000"/>
                </a:solidFill>
              </a:rPr>
              <a:t>↑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62A2559-CDB2-D4CF-2D52-2267EC092142}"/>
              </a:ext>
            </a:extLst>
          </p:cNvPr>
          <p:cNvGraphicFramePr>
            <a:graphicFrameLocks noGrp="1"/>
          </p:cNvGraphicFramePr>
          <p:nvPr/>
        </p:nvGraphicFramePr>
        <p:xfrm>
          <a:off x="8469907" y="2493046"/>
          <a:ext cx="2062623" cy="3556037"/>
        </p:xfrm>
        <a:graphic>
          <a:graphicData uri="http://schemas.openxmlformats.org/drawingml/2006/table">
            <a:tbl>
              <a:tblPr/>
              <a:tblGrid>
                <a:gridCol w="2062623">
                  <a:extLst>
                    <a:ext uri="{9D8B030D-6E8A-4147-A177-3AD203B41FA5}">
                      <a16:colId xmlns:a16="http://schemas.microsoft.com/office/drawing/2014/main" val="3309409780"/>
                    </a:ext>
                  </a:extLst>
                </a:gridCol>
              </a:tblGrid>
              <a:tr h="4403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Online auf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Vergleichsplattformen</a:t>
                      </a:r>
                      <a:endParaRPr lang="en-US" sz="800" b="1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9307659"/>
                  </a:ext>
                </a:extLst>
              </a:tr>
              <a:tr h="4403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Auf den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Webseiten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von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Versicherungsanbietern</a:t>
                      </a:r>
                      <a:endParaRPr lang="en-US" sz="800" b="1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921235"/>
                  </a:ext>
                </a:extLst>
              </a:tr>
              <a:tr h="4403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Mittels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Online-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Suche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 Google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3671539"/>
                  </a:ext>
                </a:extLst>
              </a:tr>
              <a:tr h="4403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Bei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meiner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Familie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unter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Verwandten</a:t>
                      </a:r>
                      <a:endParaRPr lang="en-US" sz="800" b="1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816057"/>
                  </a:ext>
                </a:extLst>
              </a:tr>
              <a:tr h="4403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Bei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Freund:innen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Bekannten</a:t>
                      </a:r>
                      <a:endParaRPr lang="en-US" sz="800" b="1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070986"/>
                  </a:ext>
                </a:extLst>
              </a:tr>
              <a:tr h="47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Bei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einem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einer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Versicherungs-berater:in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Versicherungsmakler:in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 General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Agent:in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121752"/>
                  </a:ext>
                </a:extLst>
              </a:tr>
              <a:tr h="4403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Mit Hilfe des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Kundenservices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der Versicherung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6184908"/>
                  </a:ext>
                </a:extLst>
              </a:tr>
              <a:tr h="4403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Direkt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beim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Standort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der Versicherung 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z.B.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Filiale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255650"/>
                  </a:ext>
                </a:extLst>
              </a:tr>
            </a:tbl>
          </a:graphicData>
        </a:graphic>
      </p:graphicFrame>
      <p:graphicFrame>
        <p:nvGraphicFramePr>
          <p:cNvPr id="15" name="Diagramm 9">
            <a:extLst>
              <a:ext uri="{FF2B5EF4-FFF2-40B4-BE49-F238E27FC236}">
                <a16:creationId xmlns:a16="http://schemas.microsoft.com/office/drawing/2014/main" id="{43533BF5-5ED0-16C6-2524-C531E95BC7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19996" y="470504"/>
          <a:ext cx="2019762" cy="1378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6" name="Datumsplatzhalter 1">
            <a:extLst>
              <a:ext uri="{FF2B5EF4-FFF2-40B4-BE49-F238E27FC236}">
                <a16:creationId xmlns:a16="http://schemas.microsoft.com/office/drawing/2014/main" id="{6A9D7FEC-6BD6-DE9C-81F1-D60118768C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875" y="6556875"/>
            <a:ext cx="588192" cy="219454"/>
          </a:xfrm>
        </p:spPr>
        <p:txBody>
          <a:bodyPr/>
          <a:lstStyle/>
          <a:p>
            <a:fld id="{72D77B36-95B7-FF43-8BF5-D80FC3958B26}" type="datetime1">
              <a:rPr lang="de-AT" noProof="0" smtClean="0"/>
              <a:t>28.05.26</a:t>
            </a:fld>
            <a:endParaRPr lang="de-AT" noProof="0" dirty="0"/>
          </a:p>
        </p:txBody>
      </p:sp>
      <p:sp>
        <p:nvSpPr>
          <p:cNvPr id="25" name="Fußzeilenplatzhalter 2">
            <a:extLst>
              <a:ext uri="{FF2B5EF4-FFF2-40B4-BE49-F238E27FC236}">
                <a16:creationId xmlns:a16="http://schemas.microsoft.com/office/drawing/2014/main" id="{70D21D48-37FC-71D0-1E23-6F7A23D65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0" y="6556875"/>
            <a:ext cx="6127477" cy="219454"/>
          </a:xfrm>
        </p:spPr>
        <p:txBody>
          <a:bodyPr/>
          <a:lstStyle/>
          <a:p>
            <a:r>
              <a:rPr lang="de-AT" noProof="0" dirty="0"/>
              <a:t>Retail-Segmentierung Neu│ S. Stratula &amp; K. Preibisch</a:t>
            </a:r>
          </a:p>
        </p:txBody>
      </p:sp>
    </p:spTree>
    <p:extLst>
      <p:ext uri="{BB962C8B-B14F-4D97-AF65-F5344CB8AC3E}">
        <p14:creationId xmlns:p14="http://schemas.microsoft.com/office/powerpoint/2010/main" val="1558565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8EB6F-B433-4C9B-BBB8-097636A24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hteck 10">
            <a:extLst>
              <a:ext uri="{FF2B5EF4-FFF2-40B4-BE49-F238E27FC236}">
                <a16:creationId xmlns:a16="http://schemas.microsoft.com/office/drawing/2014/main" id="{4543DF9D-5669-58D5-BBEA-E24232ABDE6A}"/>
              </a:ext>
            </a:extLst>
          </p:cNvPr>
          <p:cNvSpPr/>
          <p:nvPr/>
        </p:nvSpPr>
        <p:spPr>
          <a:xfrm>
            <a:off x="402544" y="1788492"/>
            <a:ext cx="11546001" cy="1365274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3C62680-E08B-0768-3B24-0C466179F61B}"/>
              </a:ext>
            </a:extLst>
          </p:cNvPr>
          <p:cNvSpPr/>
          <p:nvPr/>
        </p:nvSpPr>
        <p:spPr>
          <a:xfrm>
            <a:off x="402545" y="3460034"/>
            <a:ext cx="5618112" cy="2819792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>
              <a:spcAft>
                <a:spcPts val="1000"/>
              </a:spcAft>
            </a:pPr>
            <a:endParaRPr lang="de-DE" sz="800">
              <a:solidFill>
                <a:srgbClr val="000000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0338620-6181-BFB8-79A0-021B86A1C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15</a:t>
            </a:fld>
            <a:endParaRPr lang="de-AT" noProof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8CCD75EB-3E8B-E678-6691-322451B42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76" y="917607"/>
            <a:ext cx="11395074" cy="484473"/>
          </a:xfrm>
        </p:spPr>
        <p:txBody>
          <a:bodyPr/>
          <a:lstStyle/>
          <a:p>
            <a:r>
              <a:rPr lang="de-DE" sz="3400"/>
              <a:t>Versicherungspräferenzen und Bedürfnisse (2/2)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BB061A7-F163-378C-6C3C-3812E18EC71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/>
              <a:t>Segment 2: Die Online Affinen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A7EDBFF-2D7E-1EDE-34E1-F3CAF5C7BC2E}"/>
              </a:ext>
            </a:extLst>
          </p:cNvPr>
          <p:cNvSpPr txBox="1"/>
          <p:nvPr/>
        </p:nvSpPr>
        <p:spPr>
          <a:xfrm>
            <a:off x="406797" y="1540342"/>
            <a:ext cx="7818028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algn="l" defTabSz="914400" rtl="0" eaLnBrk="1" latinLnBrk="0" hangingPunct="1">
              <a:buClr>
                <a:schemeClr val="tx2"/>
              </a:buClr>
            </a:pPr>
            <a:r>
              <a:rPr lang="de-AT" sz="1400"/>
              <a:t>GEWÜNSCHTE CUSTOMER JOURNEY</a:t>
            </a:r>
            <a:endParaRPr lang="de-DE" sz="140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51062CF-8DFB-E38B-20A8-9E7E4FB7008A}"/>
              </a:ext>
            </a:extLst>
          </p:cNvPr>
          <p:cNvSpPr txBox="1"/>
          <p:nvPr/>
        </p:nvSpPr>
        <p:spPr>
          <a:xfrm>
            <a:off x="315266" y="6371801"/>
            <a:ext cx="115460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Basis: </a:t>
            </a:r>
            <a:r>
              <a:rPr lang="de-DE" sz="800" err="1"/>
              <a:t>n</a:t>
            </a:r>
            <a:r>
              <a:rPr lang="de-DE" sz="800"/>
              <a:t>(Segment2)=688 | Grüne/rote Schriftfarbe und fette Markierung von Werten: Signifikante Abweichungen von der Gesamtstichprobe. Grün = signifikant höherer Wert, rot = signifikant niedrigerer Wert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6C218658-2523-4B72-B80F-656B57211FD2}"/>
              </a:ext>
            </a:extLst>
          </p:cNvPr>
          <p:cNvGraphicFramePr>
            <a:graphicFrameLocks noGrp="1"/>
          </p:cNvGraphicFramePr>
          <p:nvPr/>
        </p:nvGraphicFramePr>
        <p:xfrm>
          <a:off x="475802" y="1828307"/>
          <a:ext cx="11201089" cy="13537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6209">
                  <a:extLst>
                    <a:ext uri="{9D8B030D-6E8A-4147-A177-3AD203B41FA5}">
                      <a16:colId xmlns:a16="http://schemas.microsoft.com/office/drawing/2014/main" val="1578067308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3148616686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601574479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2382619099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3144059005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725252944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1727548551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151905168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669813839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2529105639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4060331723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2660782090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3995529280"/>
                    </a:ext>
                  </a:extLst>
                </a:gridCol>
              </a:tblGrid>
              <a:tr h="4082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Einholen von </a:t>
                      </a:r>
                      <a:b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Informationen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Einholung eines Angebots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Vergleichen von Angeboten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Beratung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Kauf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Fragen zu einem Vertrag stellen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Persönliche Informationen aktualisieren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Vertrag ändern oder verlängern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Vertrag kündigen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Ein-/ Auszahlungen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Schaden melden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Schadenstatus ansehen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047583"/>
                  </a:ext>
                </a:extLst>
              </a:tr>
              <a:tr h="26540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Möchte selbst machen</a:t>
                      </a:r>
                      <a:b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(Kundenportal/ Homepage)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610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610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610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610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61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610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610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610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610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610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610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61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290549"/>
                  </a:ext>
                </a:extLst>
              </a:tr>
              <a:tr h="26540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Möchte mich dafür an den Kundenservice wenden</a:t>
                      </a:r>
                      <a:b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(Anruf, Email, Messenger)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062264"/>
                  </a:ext>
                </a:extLst>
              </a:tr>
              <a:tr h="26540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Möchte das über meine/n </a:t>
                      </a:r>
                      <a:b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Berater:in/Makler:in machen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453935"/>
                  </a:ext>
                </a:extLst>
              </a:tr>
            </a:tbl>
          </a:graphicData>
        </a:graphic>
      </p:graphicFrame>
      <p:cxnSp>
        <p:nvCxnSpPr>
          <p:cNvPr id="73" name="Gerader Verbinder 2">
            <a:extLst>
              <a:ext uri="{FF2B5EF4-FFF2-40B4-BE49-F238E27FC236}">
                <a16:creationId xmlns:a16="http://schemas.microsoft.com/office/drawing/2014/main" id="{95FD805B-99D0-0447-C1C1-44A91E4FA82A}"/>
              </a:ext>
            </a:extLst>
          </p:cNvPr>
          <p:cNvCxnSpPr>
            <a:cxnSpLocks/>
          </p:cNvCxnSpPr>
          <p:nvPr/>
        </p:nvCxnSpPr>
        <p:spPr>
          <a:xfrm>
            <a:off x="2505933" y="2423010"/>
            <a:ext cx="8788288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feld 11">
            <a:extLst>
              <a:ext uri="{FF2B5EF4-FFF2-40B4-BE49-F238E27FC236}">
                <a16:creationId xmlns:a16="http://schemas.microsoft.com/office/drawing/2014/main" id="{7A552B72-3395-BBCD-B095-3EDCF345BF10}"/>
              </a:ext>
            </a:extLst>
          </p:cNvPr>
          <p:cNvSpPr txBox="1"/>
          <p:nvPr/>
        </p:nvSpPr>
        <p:spPr>
          <a:xfrm>
            <a:off x="406797" y="3227274"/>
            <a:ext cx="5613854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1400"/>
              <a:t>VERTRIEBSWEGE</a:t>
            </a:r>
          </a:p>
        </p:txBody>
      </p:sp>
      <p:sp>
        <p:nvSpPr>
          <p:cNvPr id="84" name="Pfeil: nach unten 31">
            <a:extLst>
              <a:ext uri="{FF2B5EF4-FFF2-40B4-BE49-F238E27FC236}">
                <a16:creationId xmlns:a16="http://schemas.microsoft.com/office/drawing/2014/main" id="{452F0276-4BCD-B5FD-A3D3-3982FA2A9A84}"/>
              </a:ext>
            </a:extLst>
          </p:cNvPr>
          <p:cNvSpPr/>
          <p:nvPr/>
        </p:nvSpPr>
        <p:spPr>
          <a:xfrm>
            <a:off x="1068824" y="5497920"/>
            <a:ext cx="374904" cy="20468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85" name="Textfeld 32">
            <a:extLst>
              <a:ext uri="{FF2B5EF4-FFF2-40B4-BE49-F238E27FC236}">
                <a16:creationId xmlns:a16="http://schemas.microsoft.com/office/drawing/2014/main" id="{92B670D8-537E-B852-75C0-F8652E8BB2E4}"/>
              </a:ext>
            </a:extLst>
          </p:cNvPr>
          <p:cNvSpPr txBox="1"/>
          <p:nvPr/>
        </p:nvSpPr>
        <p:spPr>
          <a:xfrm>
            <a:off x="439050" y="5743288"/>
            <a:ext cx="1634452" cy="49643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buClr>
                <a:schemeClr val="tx2"/>
              </a:buClr>
            </a:pPr>
            <a:r>
              <a:rPr lang="de-DE" sz="1200" dirty="0"/>
              <a:t>Kauf persönlich: </a:t>
            </a:r>
            <a:r>
              <a:rPr lang="de-DE" sz="1200" b="1" dirty="0">
                <a:solidFill>
                  <a:srgbClr val="FF0000"/>
                </a:solidFill>
              </a:rPr>
              <a:t>31%</a:t>
            </a:r>
          </a:p>
          <a:p>
            <a:pPr algn="ctr">
              <a:buClr>
                <a:schemeClr val="tx2"/>
              </a:buClr>
            </a:pPr>
            <a:r>
              <a:rPr lang="de-DE" sz="1200" dirty="0"/>
              <a:t>Kauf Online: </a:t>
            </a:r>
            <a:r>
              <a:rPr lang="de-DE" sz="1200" b="1" dirty="0">
                <a:solidFill>
                  <a:srgbClr val="4DA685"/>
                </a:solidFill>
              </a:rPr>
              <a:t>69%</a:t>
            </a:r>
          </a:p>
        </p:txBody>
      </p:sp>
      <p:sp>
        <p:nvSpPr>
          <p:cNvPr id="86" name="Rechteck 10">
            <a:extLst>
              <a:ext uri="{FF2B5EF4-FFF2-40B4-BE49-F238E27FC236}">
                <a16:creationId xmlns:a16="http://schemas.microsoft.com/office/drawing/2014/main" id="{2AF17CB0-B18C-F57B-83AC-0FFE828D19EC}"/>
              </a:ext>
            </a:extLst>
          </p:cNvPr>
          <p:cNvSpPr/>
          <p:nvPr/>
        </p:nvSpPr>
        <p:spPr>
          <a:xfrm>
            <a:off x="6174057" y="3460034"/>
            <a:ext cx="5774477" cy="2819792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>
              <a:spcAft>
                <a:spcPts val="1000"/>
              </a:spcAft>
            </a:pPr>
            <a:endParaRPr lang="de-DE" sz="800">
              <a:solidFill>
                <a:srgbClr val="000000"/>
              </a:solidFill>
            </a:endParaRPr>
          </a:p>
        </p:txBody>
      </p:sp>
      <p:sp>
        <p:nvSpPr>
          <p:cNvPr id="88" name="Textfeld 11">
            <a:extLst>
              <a:ext uri="{FF2B5EF4-FFF2-40B4-BE49-F238E27FC236}">
                <a16:creationId xmlns:a16="http://schemas.microsoft.com/office/drawing/2014/main" id="{D054F33B-BCD1-4376-F89C-39E79277736A}"/>
              </a:ext>
            </a:extLst>
          </p:cNvPr>
          <p:cNvSpPr txBox="1"/>
          <p:nvPr/>
        </p:nvSpPr>
        <p:spPr>
          <a:xfrm>
            <a:off x="6178310" y="3227274"/>
            <a:ext cx="5613854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1400"/>
              <a:t>LEBENSMOMENTE</a:t>
            </a:r>
          </a:p>
        </p:txBody>
      </p:sp>
      <p:graphicFrame>
        <p:nvGraphicFramePr>
          <p:cNvPr id="119" name="Table 118">
            <a:extLst>
              <a:ext uri="{FF2B5EF4-FFF2-40B4-BE49-F238E27FC236}">
                <a16:creationId xmlns:a16="http://schemas.microsoft.com/office/drawing/2014/main" id="{351245FC-4B11-FDFE-021A-63CFCA4BAE15}"/>
              </a:ext>
            </a:extLst>
          </p:cNvPr>
          <p:cNvGraphicFramePr>
            <a:graphicFrameLocks noGrp="1"/>
          </p:cNvGraphicFramePr>
          <p:nvPr/>
        </p:nvGraphicFramePr>
        <p:xfrm>
          <a:off x="474753" y="3839663"/>
          <a:ext cx="1572708" cy="1490446"/>
        </p:xfrm>
        <a:graphic>
          <a:graphicData uri="http://schemas.openxmlformats.org/drawingml/2006/table">
            <a:tbl>
              <a:tblPr/>
              <a:tblGrid>
                <a:gridCol w="545123">
                  <a:extLst>
                    <a:ext uri="{9D8B030D-6E8A-4147-A177-3AD203B41FA5}">
                      <a16:colId xmlns:a16="http://schemas.microsoft.com/office/drawing/2014/main" val="477942972"/>
                    </a:ext>
                  </a:extLst>
                </a:gridCol>
                <a:gridCol w="1027585">
                  <a:extLst>
                    <a:ext uri="{9D8B030D-6E8A-4147-A177-3AD203B41FA5}">
                      <a16:colId xmlns:a16="http://schemas.microsoft.com/office/drawing/2014/main" val="2395302743"/>
                    </a:ext>
                  </a:extLst>
                </a:gridCol>
              </a:tblGrid>
              <a:tr h="3849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b="1">
                          <a:solidFill>
                            <a:srgbClr val="4DA685"/>
                          </a:solidFill>
                        </a:rPr>
                        <a:t>59%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rgbClr val="000000"/>
                          </a:solidFill>
                        </a:rPr>
                        <a:t>Info und Kauf Online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051307"/>
                  </a:ext>
                </a:extLst>
              </a:tr>
              <a:tr h="3849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b="1" dirty="0">
                          <a:solidFill>
                            <a:srgbClr val="FF0000"/>
                          </a:solidFill>
                        </a:rPr>
                        <a:t>16%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rgbClr val="000000"/>
                          </a:solidFill>
                        </a:rPr>
                        <a:t>Info Online und Kauf persönlich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100797"/>
                  </a:ext>
                </a:extLst>
              </a:tr>
              <a:tr h="3849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b="1" dirty="0">
                          <a:solidFill>
                            <a:srgbClr val="FF0000"/>
                          </a:solidFill>
                        </a:rPr>
                        <a:t>15%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rgbClr val="000000"/>
                          </a:solidFill>
                        </a:rPr>
                        <a:t>Info und Kauf persönlich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58625"/>
                  </a:ext>
                </a:extLst>
              </a:tr>
              <a:tr h="3356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b="0">
                          <a:solidFill>
                            <a:srgbClr val="000000"/>
                          </a:solidFill>
                        </a:rPr>
                        <a:t>10%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rgbClr val="000000"/>
                          </a:solidFill>
                        </a:rPr>
                        <a:t>Info persönlich und Kauf Online 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15767"/>
                  </a:ext>
                </a:extLst>
              </a:tr>
            </a:tbl>
          </a:graphicData>
        </a:graphic>
      </p:graphicFrame>
      <p:cxnSp>
        <p:nvCxnSpPr>
          <p:cNvPr id="120" name="Gerade Verbindung 21">
            <a:extLst>
              <a:ext uri="{FF2B5EF4-FFF2-40B4-BE49-F238E27FC236}">
                <a16:creationId xmlns:a16="http://schemas.microsoft.com/office/drawing/2014/main" id="{0181B4D9-29D9-3218-74CC-194699776FC3}"/>
              </a:ext>
            </a:extLst>
          </p:cNvPr>
          <p:cNvCxnSpPr>
            <a:cxnSpLocks/>
          </p:cNvCxnSpPr>
          <p:nvPr/>
        </p:nvCxnSpPr>
        <p:spPr>
          <a:xfrm>
            <a:off x="2156193" y="3437792"/>
            <a:ext cx="0" cy="2825293"/>
          </a:xfrm>
          <a:prstGeom prst="line">
            <a:avLst/>
          </a:prstGeom>
          <a:ln w="28575">
            <a:solidFill>
              <a:srgbClr val="F2610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feld 39">
            <a:extLst>
              <a:ext uri="{FF2B5EF4-FFF2-40B4-BE49-F238E27FC236}">
                <a16:creationId xmlns:a16="http://schemas.microsoft.com/office/drawing/2014/main" id="{EE93B624-ABEC-6272-F09C-B58DAACB49E8}"/>
              </a:ext>
            </a:extLst>
          </p:cNvPr>
          <p:cNvSpPr txBox="1"/>
          <p:nvPr/>
        </p:nvSpPr>
        <p:spPr>
          <a:xfrm>
            <a:off x="2241411" y="3515466"/>
            <a:ext cx="3367819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1200"/>
              <a:t>Bisherige und zukünftige Online-Abschlüsse</a:t>
            </a: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011B487-BD74-8B16-F443-A2E8116ACBDA}"/>
              </a:ext>
            </a:extLst>
          </p:cNvPr>
          <p:cNvGrpSpPr/>
          <p:nvPr/>
        </p:nvGrpSpPr>
        <p:grpSpPr>
          <a:xfrm>
            <a:off x="2209161" y="3816396"/>
            <a:ext cx="550765" cy="440528"/>
            <a:chOff x="2209161" y="3929114"/>
            <a:chExt cx="550765" cy="440528"/>
          </a:xfrm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2545566B-900D-2C2A-9CB5-6491DD4B5A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72768" y="3929114"/>
              <a:ext cx="461843" cy="44052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2610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spcAft>
                  <a:spcPts val="1000"/>
                </a:spcAft>
              </a:pPr>
              <a:endParaRPr lang="de-DE" sz="1600" err="1">
                <a:solidFill>
                  <a:schemeClr val="bg1"/>
                </a:solidFill>
              </a:endParaRPr>
            </a:p>
          </p:txBody>
        </p:sp>
        <p:sp>
          <p:nvSpPr>
            <p:cNvPr id="125" name="Textfeld 45">
              <a:extLst>
                <a:ext uri="{FF2B5EF4-FFF2-40B4-BE49-F238E27FC236}">
                  <a16:creationId xmlns:a16="http://schemas.microsoft.com/office/drawing/2014/main" id="{6D631A4B-A0FA-15E1-6644-0EFC44B27DAD}"/>
                </a:ext>
              </a:extLst>
            </p:cNvPr>
            <p:cNvSpPr txBox="1"/>
            <p:nvPr/>
          </p:nvSpPr>
          <p:spPr>
            <a:xfrm>
              <a:off x="2209161" y="4003882"/>
              <a:ext cx="550765" cy="2865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buClr>
                  <a:schemeClr val="tx2"/>
                </a:buClr>
              </a:pPr>
              <a:r>
                <a:rPr lang="de-DE" sz="1400" dirty="0">
                  <a:solidFill>
                    <a:srgbClr val="4DA685"/>
                  </a:solidFill>
                </a:rPr>
                <a:t>64%</a:t>
              </a:r>
            </a:p>
          </p:txBody>
        </p:sp>
      </p:grpSp>
      <p:sp>
        <p:nvSpPr>
          <p:cNvPr id="126" name="Textfeld 46">
            <a:extLst>
              <a:ext uri="{FF2B5EF4-FFF2-40B4-BE49-F238E27FC236}">
                <a16:creationId xmlns:a16="http://schemas.microsoft.com/office/drawing/2014/main" id="{7296E481-6352-9937-BAD2-82AE4D97E05E}"/>
              </a:ext>
            </a:extLst>
          </p:cNvPr>
          <p:cNvSpPr txBox="1"/>
          <p:nvPr/>
        </p:nvSpPr>
        <p:spPr>
          <a:xfrm>
            <a:off x="2842084" y="3821115"/>
            <a:ext cx="1311627" cy="3728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900">
                <a:solidFill>
                  <a:srgbClr val="000000"/>
                </a:solidFill>
              </a:rPr>
              <a:t>haben </a:t>
            </a:r>
            <a:r>
              <a:rPr lang="de-DE" sz="900" b="1">
                <a:solidFill>
                  <a:srgbClr val="000000"/>
                </a:solidFill>
              </a:rPr>
              <a:t>schon einmal </a:t>
            </a:r>
            <a:r>
              <a:rPr lang="de-DE" sz="900">
                <a:solidFill>
                  <a:srgbClr val="000000"/>
                </a:solidFill>
              </a:rPr>
              <a:t>online eine Versicherung abgeschlossen. </a:t>
            </a:r>
          </a:p>
        </p:txBody>
      </p:sp>
      <p:sp>
        <p:nvSpPr>
          <p:cNvPr id="129" name="Textfeld 52">
            <a:extLst>
              <a:ext uri="{FF2B5EF4-FFF2-40B4-BE49-F238E27FC236}">
                <a16:creationId xmlns:a16="http://schemas.microsoft.com/office/drawing/2014/main" id="{29016536-39D5-51F6-0DE0-A4D872965731}"/>
              </a:ext>
            </a:extLst>
          </p:cNvPr>
          <p:cNvSpPr txBox="1"/>
          <p:nvPr/>
        </p:nvSpPr>
        <p:spPr>
          <a:xfrm>
            <a:off x="2854889" y="4426472"/>
            <a:ext cx="1323269" cy="6482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900">
                <a:solidFill>
                  <a:srgbClr val="000000"/>
                </a:solidFill>
              </a:rPr>
              <a:t>geben an, dass </a:t>
            </a:r>
            <a:r>
              <a:rPr lang="de-DE" sz="900" b="1">
                <a:solidFill>
                  <a:srgbClr val="000000"/>
                </a:solidFill>
              </a:rPr>
              <a:t>sie in den nächsten 3 Jahren </a:t>
            </a:r>
            <a:r>
              <a:rPr lang="de-DE" sz="900">
                <a:solidFill>
                  <a:srgbClr val="000000"/>
                </a:solidFill>
              </a:rPr>
              <a:t>bestimmt oder wahrscheinlich eine Versicherung online abschließen werden. </a:t>
            </a: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A4F42CD1-412C-6F9B-3220-5BDCCEAE2A00}"/>
              </a:ext>
            </a:extLst>
          </p:cNvPr>
          <p:cNvGrpSpPr/>
          <p:nvPr/>
        </p:nvGrpSpPr>
        <p:grpSpPr>
          <a:xfrm>
            <a:off x="2197241" y="4616714"/>
            <a:ext cx="550765" cy="440528"/>
            <a:chOff x="2197241" y="3929114"/>
            <a:chExt cx="550765" cy="440528"/>
          </a:xfrm>
        </p:grpSpPr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4466EC88-92ED-C224-2C64-CF34A89004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72768" y="3929114"/>
              <a:ext cx="461843" cy="44052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2610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spcAft>
                  <a:spcPts val="1000"/>
                </a:spcAft>
              </a:pPr>
              <a:endParaRPr lang="de-DE" sz="1600" err="1">
                <a:solidFill>
                  <a:schemeClr val="bg1"/>
                </a:solidFill>
              </a:endParaRPr>
            </a:p>
          </p:txBody>
        </p:sp>
        <p:sp>
          <p:nvSpPr>
            <p:cNvPr id="135" name="Textfeld 45">
              <a:extLst>
                <a:ext uri="{FF2B5EF4-FFF2-40B4-BE49-F238E27FC236}">
                  <a16:creationId xmlns:a16="http://schemas.microsoft.com/office/drawing/2014/main" id="{84453A49-7CEC-8ADB-2420-8CB4EAAB7D2A}"/>
                </a:ext>
              </a:extLst>
            </p:cNvPr>
            <p:cNvSpPr txBox="1"/>
            <p:nvPr/>
          </p:nvSpPr>
          <p:spPr>
            <a:xfrm>
              <a:off x="2197241" y="4006216"/>
              <a:ext cx="550765" cy="2865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buClr>
                  <a:schemeClr val="tx2"/>
                </a:buClr>
              </a:pPr>
              <a:r>
                <a:rPr lang="de-DE" sz="1400" dirty="0">
                  <a:solidFill>
                    <a:srgbClr val="4DA685"/>
                  </a:solidFill>
                </a:rPr>
                <a:t>43%</a:t>
              </a:r>
            </a:p>
          </p:txBody>
        </p:sp>
      </p:grpSp>
      <p:sp>
        <p:nvSpPr>
          <p:cNvPr id="136" name="Textfeld 39">
            <a:extLst>
              <a:ext uri="{FF2B5EF4-FFF2-40B4-BE49-F238E27FC236}">
                <a16:creationId xmlns:a16="http://schemas.microsoft.com/office/drawing/2014/main" id="{5B48F62D-AA13-81A3-736A-2CB070AE687D}"/>
              </a:ext>
            </a:extLst>
          </p:cNvPr>
          <p:cNvSpPr txBox="1"/>
          <p:nvPr/>
        </p:nvSpPr>
        <p:spPr>
          <a:xfrm>
            <a:off x="2241411" y="5455496"/>
            <a:ext cx="3692747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1200"/>
              <a:t>Kundenportalnutzung (unabhängig vom Versicherer)</a:t>
            </a:r>
          </a:p>
        </p:txBody>
      </p:sp>
      <p:cxnSp>
        <p:nvCxnSpPr>
          <p:cNvPr id="137" name="Gerade Verbindung 53">
            <a:extLst>
              <a:ext uri="{FF2B5EF4-FFF2-40B4-BE49-F238E27FC236}">
                <a16:creationId xmlns:a16="http://schemas.microsoft.com/office/drawing/2014/main" id="{89F59282-2EF5-2BC6-CCEF-F3F0568AD259}"/>
              </a:ext>
            </a:extLst>
          </p:cNvPr>
          <p:cNvCxnSpPr>
            <a:cxnSpLocks/>
          </p:cNvCxnSpPr>
          <p:nvPr/>
        </p:nvCxnSpPr>
        <p:spPr>
          <a:xfrm flipH="1">
            <a:off x="2177729" y="5407730"/>
            <a:ext cx="3635116" cy="0"/>
          </a:xfrm>
          <a:prstGeom prst="line">
            <a:avLst/>
          </a:prstGeom>
          <a:ln w="28575">
            <a:solidFill>
              <a:srgbClr val="F2610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8" name="Grafik 49" descr="Ein Bild, das Electric Blue (Farbe), Screenshot, Kobaltblau, Majorelle Blue enthält.&#10;&#10;KI-generierte Inhalte können fehlerhaft sein.">
            <a:extLst>
              <a:ext uri="{FF2B5EF4-FFF2-40B4-BE49-F238E27FC236}">
                <a16:creationId xmlns:a16="http://schemas.microsoft.com/office/drawing/2014/main" id="{10D60454-28B7-2AC7-C189-4CF4DF04A2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rgbClr val="F2610D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405" y="5657866"/>
            <a:ext cx="1000921" cy="667280"/>
          </a:xfrm>
          <a:prstGeom prst="rect">
            <a:avLst/>
          </a:prstGeom>
        </p:spPr>
      </p:pic>
      <p:sp>
        <p:nvSpPr>
          <p:cNvPr id="139" name="Textfeld 50">
            <a:extLst>
              <a:ext uri="{FF2B5EF4-FFF2-40B4-BE49-F238E27FC236}">
                <a16:creationId xmlns:a16="http://schemas.microsoft.com/office/drawing/2014/main" id="{291A18C7-3F01-DA54-1228-3DE26B4F88BC}"/>
              </a:ext>
            </a:extLst>
          </p:cNvPr>
          <p:cNvSpPr txBox="1"/>
          <p:nvPr/>
        </p:nvSpPr>
        <p:spPr>
          <a:xfrm>
            <a:off x="3003896" y="5963678"/>
            <a:ext cx="2724837" cy="3222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1400" b="1" dirty="0">
                <a:solidFill>
                  <a:srgbClr val="4DA685"/>
                </a:solidFill>
              </a:rPr>
              <a:t>31%  </a:t>
            </a:r>
            <a:r>
              <a:rPr lang="de-DE" sz="1000" dirty="0">
                <a:solidFill>
                  <a:srgbClr val="000000"/>
                </a:solidFill>
              </a:rPr>
              <a:t>Aktiv innerhalb der letzten 12 Monate</a:t>
            </a:r>
          </a:p>
        </p:txBody>
      </p:sp>
      <p:sp>
        <p:nvSpPr>
          <p:cNvPr id="140" name="Textfeld 52">
            <a:extLst>
              <a:ext uri="{FF2B5EF4-FFF2-40B4-BE49-F238E27FC236}">
                <a16:creationId xmlns:a16="http://schemas.microsoft.com/office/drawing/2014/main" id="{9BBC8DB6-9C70-7A4A-ED5F-23152A687D3E}"/>
              </a:ext>
            </a:extLst>
          </p:cNvPr>
          <p:cNvSpPr txBox="1"/>
          <p:nvPr/>
        </p:nvSpPr>
        <p:spPr>
          <a:xfrm>
            <a:off x="3003898" y="5725989"/>
            <a:ext cx="2275460" cy="30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1400" b="1" dirty="0">
                <a:solidFill>
                  <a:srgbClr val="4DA685"/>
                </a:solidFill>
              </a:rPr>
              <a:t>47%  </a:t>
            </a:r>
            <a:r>
              <a:rPr lang="de-DE" sz="1000" dirty="0">
                <a:solidFill>
                  <a:srgbClr val="000000"/>
                </a:solidFill>
              </a:rPr>
              <a:t>Registrierte </a:t>
            </a:r>
            <a:r>
              <a:rPr lang="de-DE" sz="1000" dirty="0" err="1">
                <a:solidFill>
                  <a:srgbClr val="000000"/>
                </a:solidFill>
              </a:rPr>
              <a:t>Nutzer:innen</a:t>
            </a:r>
            <a:endParaRPr lang="de-DE" sz="800" dirty="0">
              <a:solidFill>
                <a:srgbClr val="000000"/>
              </a:solidFill>
            </a:endParaRPr>
          </a:p>
        </p:txBody>
      </p:sp>
      <p:sp>
        <p:nvSpPr>
          <p:cNvPr id="141" name="Textfeld 9">
            <a:extLst>
              <a:ext uri="{FF2B5EF4-FFF2-40B4-BE49-F238E27FC236}">
                <a16:creationId xmlns:a16="http://schemas.microsoft.com/office/drawing/2014/main" id="{41C6FD51-13C8-19F9-6647-19EDB0D43FCA}"/>
              </a:ext>
            </a:extLst>
          </p:cNvPr>
          <p:cNvSpPr txBox="1"/>
          <p:nvPr/>
        </p:nvSpPr>
        <p:spPr>
          <a:xfrm>
            <a:off x="4572677" y="3821732"/>
            <a:ext cx="1384175" cy="4958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>
                <a:solidFill>
                  <a:srgbClr val="F2610D"/>
                </a:solidFill>
              </a:rPr>
              <a:t>Versicherungen, die dafür am ehesten in Frage kommen (Top 5):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A0A9E03-453F-2E0E-9B4E-FE498B8DF285}"/>
              </a:ext>
            </a:extLst>
          </p:cNvPr>
          <p:cNvSpPr txBox="1"/>
          <p:nvPr/>
        </p:nvSpPr>
        <p:spPr>
          <a:xfrm>
            <a:off x="4472526" y="4420691"/>
            <a:ext cx="174480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u="none" dirty="0">
                <a:solidFill>
                  <a:srgbClr val="000000"/>
                </a:solidFill>
              </a:rPr>
              <a:t>#1: Haushalt </a:t>
            </a:r>
            <a:r>
              <a:rPr lang="de-DE" sz="1000" b="1" u="none" dirty="0">
                <a:solidFill>
                  <a:srgbClr val="4DA685"/>
                </a:solidFill>
              </a:rPr>
              <a:t>(30%)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#2: Reise </a:t>
            </a:r>
            <a:r>
              <a:rPr lang="de-DE" sz="1000" b="1" dirty="0">
                <a:solidFill>
                  <a:srgbClr val="4DA685"/>
                </a:solidFill>
              </a:rPr>
              <a:t>(30%)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#3: Kfz-Haftpflicht </a:t>
            </a:r>
            <a:r>
              <a:rPr lang="de-DE" sz="1000" b="1" dirty="0">
                <a:solidFill>
                  <a:srgbClr val="4DA685"/>
                </a:solidFill>
              </a:rPr>
              <a:t>(29%)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#4: Rechtsschutz </a:t>
            </a:r>
            <a:r>
              <a:rPr lang="de-DE" sz="1000" b="1" dirty="0">
                <a:solidFill>
                  <a:srgbClr val="4DA685"/>
                </a:solidFill>
              </a:rPr>
              <a:t>(26%)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#5: Kfz-Kasko </a:t>
            </a:r>
            <a:r>
              <a:rPr lang="de-DE" sz="1000" b="1" dirty="0">
                <a:solidFill>
                  <a:srgbClr val="4DA685"/>
                </a:solidFill>
              </a:rPr>
              <a:t>(20%)</a:t>
            </a:r>
            <a:endParaRPr lang="de-AT" sz="1000" b="1" dirty="0">
              <a:solidFill>
                <a:srgbClr val="4DA685"/>
              </a:solidFill>
            </a:endParaRPr>
          </a:p>
        </p:txBody>
      </p:sp>
      <p:graphicFrame>
        <p:nvGraphicFramePr>
          <p:cNvPr id="143" name="Table 142">
            <a:extLst>
              <a:ext uri="{FF2B5EF4-FFF2-40B4-BE49-F238E27FC236}">
                <a16:creationId xmlns:a16="http://schemas.microsoft.com/office/drawing/2014/main" id="{4AABB6F8-D5FE-5E77-DF63-F7313DC6A280}"/>
              </a:ext>
            </a:extLst>
          </p:cNvPr>
          <p:cNvGraphicFramePr>
            <a:graphicFrameLocks noGrp="1"/>
          </p:cNvGraphicFramePr>
          <p:nvPr/>
        </p:nvGraphicFramePr>
        <p:xfrm>
          <a:off x="6227486" y="3991643"/>
          <a:ext cx="2684785" cy="1710963"/>
        </p:xfrm>
        <a:graphic>
          <a:graphicData uri="http://schemas.openxmlformats.org/drawingml/2006/table">
            <a:tbl>
              <a:tblPr/>
              <a:tblGrid>
                <a:gridCol w="325714">
                  <a:extLst>
                    <a:ext uri="{9D8B030D-6E8A-4147-A177-3AD203B41FA5}">
                      <a16:colId xmlns:a16="http://schemas.microsoft.com/office/drawing/2014/main" val="477942972"/>
                    </a:ext>
                  </a:extLst>
                </a:gridCol>
                <a:gridCol w="2359071">
                  <a:extLst>
                    <a:ext uri="{9D8B030D-6E8A-4147-A177-3AD203B41FA5}">
                      <a16:colId xmlns:a16="http://schemas.microsoft.com/office/drawing/2014/main" val="2395302743"/>
                    </a:ext>
                  </a:extLst>
                </a:gridCol>
              </a:tblGrid>
              <a:tr h="1901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dirty="0">
                          <a:solidFill>
                            <a:srgbClr val="000000"/>
                          </a:solidFill>
                        </a:rPr>
                        <a:t>61%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>
                          <a:schemeClr val="tx2"/>
                        </a:buClr>
                      </a:pPr>
                      <a:r>
                        <a:rPr lang="de-DE" sz="900" b="0" dirty="0">
                          <a:solidFill>
                            <a:srgbClr val="000000"/>
                          </a:solidFill>
                        </a:rPr>
                        <a:t>Leichtere körperliche Beschwerden</a:t>
                      </a:r>
                    </a:p>
                  </a:txBody>
                  <a:tcPr marL="45720" marR="4572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020555"/>
                  </a:ext>
                </a:extLst>
              </a:tr>
              <a:tr h="3802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>
                          <a:solidFill>
                            <a:srgbClr val="000000"/>
                          </a:solidFill>
                        </a:rPr>
                        <a:t>39%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>
                          <a:schemeClr val="tx2"/>
                        </a:buClr>
                      </a:pPr>
                      <a:r>
                        <a:rPr lang="de-DE" sz="900" b="0" dirty="0">
                          <a:solidFill>
                            <a:srgbClr val="000000"/>
                          </a:solidFill>
                        </a:rPr>
                        <a:t>Leichtere psychische Belastung (z.B. Stress, Erschöpfung)</a:t>
                      </a:r>
                    </a:p>
                  </a:txBody>
                  <a:tcPr marL="45720" marR="4572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051307"/>
                  </a:ext>
                </a:extLst>
              </a:tr>
              <a:tr h="1901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>
                          <a:solidFill>
                            <a:srgbClr val="4DA685"/>
                          </a:solidFill>
                        </a:rPr>
                        <a:t>40%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>
                          <a:schemeClr val="tx2"/>
                        </a:buClr>
                      </a:pPr>
                      <a:r>
                        <a:rPr lang="de-DE" sz="900" b="0" dirty="0">
                          <a:solidFill>
                            <a:srgbClr val="000000"/>
                          </a:solidFill>
                        </a:rPr>
                        <a:t>Umzug</a:t>
                      </a:r>
                    </a:p>
                  </a:txBody>
                  <a:tcPr marL="45720" marR="4572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100797"/>
                  </a:ext>
                </a:extLst>
              </a:tr>
              <a:tr h="3802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>
                          <a:solidFill>
                            <a:srgbClr val="FF0000"/>
                          </a:solidFill>
                        </a:rPr>
                        <a:t>31%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>
                          <a:schemeClr val="tx2"/>
                        </a:buClr>
                      </a:pPr>
                      <a:r>
                        <a:rPr lang="de-DE" sz="900" b="0" dirty="0">
                          <a:solidFill>
                            <a:srgbClr val="000000"/>
                          </a:solidFill>
                        </a:rPr>
                        <a:t>Stationärer Krankenhausaufenthalt (in den letzten 3 Jahren)</a:t>
                      </a:r>
                    </a:p>
                  </a:txBody>
                  <a:tcPr marL="45720" marR="4572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667112"/>
                  </a:ext>
                </a:extLst>
              </a:tr>
              <a:tr h="3802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dirty="0">
                          <a:solidFill>
                            <a:srgbClr val="4DA685"/>
                          </a:solidFill>
                        </a:rPr>
                        <a:t>21%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>
                          <a:schemeClr val="tx2"/>
                        </a:buClr>
                      </a:pPr>
                      <a:r>
                        <a:rPr lang="de-DE" sz="900" b="0" dirty="0">
                          <a:solidFill>
                            <a:srgbClr val="000000"/>
                          </a:solidFill>
                        </a:rPr>
                        <a:t>Begonnen zu investieren/Investieren verstärkt (z.B. Fonds, Aktien, Immobilien)</a:t>
                      </a:r>
                    </a:p>
                  </a:txBody>
                  <a:tcPr marL="45720" marR="4572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58625"/>
                  </a:ext>
                </a:extLst>
              </a:tr>
              <a:tr h="1901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dirty="0">
                          <a:solidFill>
                            <a:srgbClr val="4DA685"/>
                          </a:solidFill>
                        </a:rPr>
                        <a:t>20%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dirty="0">
                          <a:solidFill>
                            <a:srgbClr val="000000"/>
                          </a:solidFill>
                        </a:rPr>
                        <a:t>Erstes Auto</a:t>
                      </a:r>
                    </a:p>
                  </a:txBody>
                  <a:tcPr marL="45720" marR="4572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15767"/>
                  </a:ext>
                </a:extLst>
              </a:tr>
            </a:tbl>
          </a:graphicData>
        </a:graphic>
      </p:graphicFrame>
      <p:sp>
        <p:nvSpPr>
          <p:cNvPr id="89" name="Textfeld 88">
            <a:extLst>
              <a:ext uri="{FF2B5EF4-FFF2-40B4-BE49-F238E27FC236}">
                <a16:creationId xmlns:a16="http://schemas.microsoft.com/office/drawing/2014/main" id="{D2B0AD01-A039-C586-9B88-B3F0D376C3CF}"/>
              </a:ext>
            </a:extLst>
          </p:cNvPr>
          <p:cNvSpPr txBox="1"/>
          <p:nvPr/>
        </p:nvSpPr>
        <p:spPr>
          <a:xfrm>
            <a:off x="6227486" y="3549491"/>
            <a:ext cx="2811700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Wichtige Lebensereignisse innerhalb der </a:t>
            </a:r>
            <a:r>
              <a:rPr lang="de-DE" sz="1200" b="1"/>
              <a:t>letzten 5 Jahre</a:t>
            </a:r>
            <a:r>
              <a:rPr lang="de-DE" sz="1200"/>
              <a:t> vor der Befragung</a:t>
            </a:r>
          </a:p>
        </p:txBody>
      </p:sp>
      <p:cxnSp>
        <p:nvCxnSpPr>
          <p:cNvPr id="147" name="Gerade Verbindung 21">
            <a:extLst>
              <a:ext uri="{FF2B5EF4-FFF2-40B4-BE49-F238E27FC236}">
                <a16:creationId xmlns:a16="http://schemas.microsoft.com/office/drawing/2014/main" id="{B024185A-E1F2-6F43-5DC8-00C7BEB093A6}"/>
              </a:ext>
            </a:extLst>
          </p:cNvPr>
          <p:cNvCxnSpPr>
            <a:cxnSpLocks/>
          </p:cNvCxnSpPr>
          <p:nvPr/>
        </p:nvCxnSpPr>
        <p:spPr>
          <a:xfrm>
            <a:off x="9023144" y="3437792"/>
            <a:ext cx="0" cy="2825293"/>
          </a:xfrm>
          <a:prstGeom prst="line">
            <a:avLst/>
          </a:prstGeom>
          <a:ln w="28575">
            <a:solidFill>
              <a:srgbClr val="F2610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feld 88">
            <a:extLst>
              <a:ext uri="{FF2B5EF4-FFF2-40B4-BE49-F238E27FC236}">
                <a16:creationId xmlns:a16="http://schemas.microsoft.com/office/drawing/2014/main" id="{9234ED47-5321-4D55-F857-8513EFF9CB34}"/>
              </a:ext>
            </a:extLst>
          </p:cNvPr>
          <p:cNvSpPr txBox="1"/>
          <p:nvPr/>
        </p:nvSpPr>
        <p:spPr>
          <a:xfrm>
            <a:off x="9091336" y="3549491"/>
            <a:ext cx="2890325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1200"/>
              <a:t>Wichtige Zukunftspläne innerhalb </a:t>
            </a:r>
            <a:r>
              <a:rPr lang="de-DE" sz="1200" b="1"/>
              <a:t>der kommenden 3 Jahre </a:t>
            </a:r>
            <a:r>
              <a:rPr lang="de-DE" sz="1200"/>
              <a:t>nach der Befragung</a:t>
            </a:r>
          </a:p>
        </p:txBody>
      </p:sp>
      <p:graphicFrame>
        <p:nvGraphicFramePr>
          <p:cNvPr id="149" name="Table 148">
            <a:extLst>
              <a:ext uri="{FF2B5EF4-FFF2-40B4-BE49-F238E27FC236}">
                <a16:creationId xmlns:a16="http://schemas.microsoft.com/office/drawing/2014/main" id="{D9AC520E-4139-C571-DAB6-25F676D6C0CF}"/>
              </a:ext>
            </a:extLst>
          </p:cNvPr>
          <p:cNvGraphicFramePr>
            <a:graphicFrameLocks noGrp="1"/>
          </p:cNvGraphicFramePr>
          <p:nvPr/>
        </p:nvGraphicFramePr>
        <p:xfrm>
          <a:off x="9141413" y="3957776"/>
          <a:ext cx="2684785" cy="1169701"/>
        </p:xfrm>
        <a:graphic>
          <a:graphicData uri="http://schemas.openxmlformats.org/drawingml/2006/table">
            <a:tbl>
              <a:tblPr/>
              <a:tblGrid>
                <a:gridCol w="341254">
                  <a:extLst>
                    <a:ext uri="{9D8B030D-6E8A-4147-A177-3AD203B41FA5}">
                      <a16:colId xmlns:a16="http://schemas.microsoft.com/office/drawing/2014/main" val="477942972"/>
                    </a:ext>
                  </a:extLst>
                </a:gridCol>
                <a:gridCol w="2343531">
                  <a:extLst>
                    <a:ext uri="{9D8B030D-6E8A-4147-A177-3AD203B41FA5}">
                      <a16:colId xmlns:a16="http://schemas.microsoft.com/office/drawing/2014/main" val="2395302743"/>
                    </a:ext>
                  </a:extLst>
                </a:gridCol>
              </a:tblGrid>
              <a:tr h="1949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>
                          <a:solidFill>
                            <a:srgbClr val="000000"/>
                          </a:solidFill>
                        </a:rPr>
                        <a:t>45%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solidFill>
                            <a:srgbClr val="000000"/>
                          </a:solidFill>
                        </a:rPr>
                        <a:t>Anschaffung Auto</a:t>
                      </a:r>
                    </a:p>
                  </a:txBody>
                  <a:tcPr marL="47625" marR="47625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748476"/>
                  </a:ext>
                </a:extLst>
              </a:tr>
              <a:tr h="1949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dirty="0">
                          <a:solidFill>
                            <a:srgbClr val="4DA685"/>
                          </a:solidFill>
                        </a:rPr>
                        <a:t>36%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solidFill>
                            <a:srgbClr val="000000"/>
                          </a:solidFill>
                        </a:rPr>
                        <a:t>Umzug</a:t>
                      </a:r>
                    </a:p>
                  </a:txBody>
                  <a:tcPr marL="47625" marR="47625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348440"/>
                  </a:ext>
                </a:extLst>
              </a:tr>
              <a:tr h="1949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dirty="0">
                          <a:solidFill>
                            <a:srgbClr val="000000"/>
                          </a:solidFill>
                        </a:rPr>
                        <a:t>30%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>
                          <a:schemeClr val="tx2"/>
                        </a:buClr>
                      </a:pPr>
                      <a:r>
                        <a:rPr lang="de-DE" sz="900" b="0" dirty="0">
                          <a:solidFill>
                            <a:srgbClr val="000000"/>
                          </a:solidFill>
                        </a:rPr>
                        <a:t>(Öfter) Sport treiben</a:t>
                      </a:r>
                    </a:p>
                  </a:txBody>
                  <a:tcPr marL="47625" marR="47625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680973"/>
                  </a:ext>
                </a:extLst>
              </a:tr>
              <a:tr h="1949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dirty="0">
                          <a:solidFill>
                            <a:srgbClr val="4DA685"/>
                          </a:solidFill>
                        </a:rPr>
                        <a:t>17%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dirty="0">
                          <a:solidFill>
                            <a:srgbClr val="000000"/>
                          </a:solidFill>
                        </a:rPr>
                        <a:t>Arbeitsplatzwechsel</a:t>
                      </a:r>
                    </a:p>
                  </a:txBody>
                  <a:tcPr marL="47625" marR="47625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886079"/>
                  </a:ext>
                </a:extLst>
              </a:tr>
              <a:tr h="3899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dirty="0">
                          <a:solidFill>
                            <a:srgbClr val="4DA685"/>
                          </a:solidFill>
                        </a:rPr>
                        <a:t>16%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solidFill>
                            <a:srgbClr val="000000"/>
                          </a:solidFill>
                        </a:rPr>
                        <a:t>Beginnen zu investieren/Investieren verstärken (z.B. Fonds, Aktien, Immobilien)</a:t>
                      </a:r>
                    </a:p>
                  </a:txBody>
                  <a:tcPr marL="47625" marR="47625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5978768"/>
                  </a:ext>
                </a:extLst>
              </a:tr>
            </a:tbl>
          </a:graphicData>
        </a:graphic>
      </p:graphicFrame>
      <p:sp>
        <p:nvSpPr>
          <p:cNvPr id="8" name="Textfeld 38">
            <a:extLst>
              <a:ext uri="{FF2B5EF4-FFF2-40B4-BE49-F238E27FC236}">
                <a16:creationId xmlns:a16="http://schemas.microsoft.com/office/drawing/2014/main" id="{5A4501D3-7EBA-FCED-5784-8B51F9DB69A5}"/>
              </a:ext>
            </a:extLst>
          </p:cNvPr>
          <p:cNvSpPr txBox="1"/>
          <p:nvPr/>
        </p:nvSpPr>
        <p:spPr>
          <a:xfrm>
            <a:off x="883710" y="390270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B41159-1E5F-CADA-4779-7B49E307DBC5}"/>
              </a:ext>
            </a:extLst>
          </p:cNvPr>
          <p:cNvSpPr txBox="1"/>
          <p:nvPr/>
        </p:nvSpPr>
        <p:spPr>
          <a:xfrm>
            <a:off x="2453852" y="2338839"/>
            <a:ext cx="388231" cy="1525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</a:t>
            </a:r>
            <a:r>
              <a:rPr lang="de-AT" sz="1000" b="1" noProof="1">
                <a:solidFill>
                  <a:srgbClr val="4DA685"/>
                </a:solidFill>
              </a:rPr>
              <a:t>90</a:t>
            </a: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C84383-6712-12D7-04F0-61F78F68FCCA}"/>
              </a:ext>
            </a:extLst>
          </p:cNvPr>
          <p:cNvSpPr txBox="1"/>
          <p:nvPr/>
        </p:nvSpPr>
        <p:spPr>
          <a:xfrm>
            <a:off x="4061972" y="2338839"/>
            <a:ext cx="372765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9</a:t>
            </a:r>
            <a:r>
              <a:rPr lang="de-AT" sz="1000" b="1" noProof="1">
                <a:solidFill>
                  <a:srgbClr val="4DA685"/>
                </a:solidFill>
              </a:rPr>
              <a:t>4</a:t>
            </a: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B89E32-57EE-9A29-E92B-9F299CED0D77}"/>
              </a:ext>
            </a:extLst>
          </p:cNvPr>
          <p:cNvSpPr txBox="1"/>
          <p:nvPr/>
        </p:nvSpPr>
        <p:spPr>
          <a:xfrm>
            <a:off x="6399590" y="2338839"/>
            <a:ext cx="387990" cy="1525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72%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F31F24-4D2D-273B-E5E8-7633D56A9795}"/>
              </a:ext>
            </a:extLst>
          </p:cNvPr>
          <p:cNvSpPr txBox="1"/>
          <p:nvPr/>
        </p:nvSpPr>
        <p:spPr>
          <a:xfrm>
            <a:off x="7180284" y="2338839"/>
            <a:ext cx="391619" cy="1525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94%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BEF727-8DF9-FEFE-9C08-B25218962610}"/>
              </a:ext>
            </a:extLst>
          </p:cNvPr>
          <p:cNvSpPr txBox="1"/>
          <p:nvPr/>
        </p:nvSpPr>
        <p:spPr>
          <a:xfrm>
            <a:off x="8767109" y="2338839"/>
            <a:ext cx="363530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92%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F878E6-7F66-D44F-9CDA-8504674A87D3}"/>
              </a:ext>
            </a:extLst>
          </p:cNvPr>
          <p:cNvSpPr txBox="1"/>
          <p:nvPr/>
        </p:nvSpPr>
        <p:spPr>
          <a:xfrm>
            <a:off x="9532813" y="2338839"/>
            <a:ext cx="391257" cy="1525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92%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B0620E-B78A-1495-D3F5-ECF7A1776E1D}"/>
              </a:ext>
            </a:extLst>
          </p:cNvPr>
          <p:cNvSpPr txBox="1"/>
          <p:nvPr/>
        </p:nvSpPr>
        <p:spPr>
          <a:xfrm>
            <a:off x="10326151" y="2338839"/>
            <a:ext cx="391351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</a:t>
            </a:r>
            <a:r>
              <a:rPr lang="de-AT" sz="1000" b="1" noProof="1">
                <a:solidFill>
                  <a:srgbClr val="4DA685"/>
                </a:solidFill>
              </a:rPr>
              <a:t>85</a:t>
            </a: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0C8D41-B193-3EF6-A14A-69A66447C867}"/>
              </a:ext>
            </a:extLst>
          </p:cNvPr>
          <p:cNvSpPr txBox="1"/>
          <p:nvPr/>
        </p:nvSpPr>
        <p:spPr>
          <a:xfrm>
            <a:off x="11114341" y="2338839"/>
            <a:ext cx="394317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</a:t>
            </a:r>
            <a:r>
              <a:rPr lang="de-AT" sz="1000" b="1" noProof="1">
                <a:solidFill>
                  <a:srgbClr val="4DA685"/>
                </a:solidFill>
              </a:rPr>
              <a:t>90</a:t>
            </a: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FDAC9F-86A7-956F-B5A0-8B33E1512E01}"/>
              </a:ext>
            </a:extLst>
          </p:cNvPr>
          <p:cNvSpPr txBox="1"/>
          <p:nvPr/>
        </p:nvSpPr>
        <p:spPr>
          <a:xfrm>
            <a:off x="4813236" y="2338182"/>
            <a:ext cx="390819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61%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B5407D-43A8-FE10-FA45-E26609DC78AD}"/>
              </a:ext>
            </a:extLst>
          </p:cNvPr>
          <p:cNvSpPr txBox="1"/>
          <p:nvPr/>
        </p:nvSpPr>
        <p:spPr>
          <a:xfrm>
            <a:off x="5613706" y="2338184"/>
            <a:ext cx="393219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89%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32" name="Textfeld 38">
            <a:extLst>
              <a:ext uri="{FF2B5EF4-FFF2-40B4-BE49-F238E27FC236}">
                <a16:creationId xmlns:a16="http://schemas.microsoft.com/office/drawing/2014/main" id="{6CCCA209-A590-F1C1-F57C-2F09E6270F91}"/>
              </a:ext>
            </a:extLst>
          </p:cNvPr>
          <p:cNvSpPr txBox="1"/>
          <p:nvPr/>
        </p:nvSpPr>
        <p:spPr>
          <a:xfrm>
            <a:off x="6439026" y="4103389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endParaRPr lang="de-DE" sz="1100" b="1">
              <a:solidFill>
                <a:srgbClr val="4DA685"/>
              </a:solidFill>
            </a:endParaRPr>
          </a:p>
        </p:txBody>
      </p:sp>
      <p:sp>
        <p:nvSpPr>
          <p:cNvPr id="40" name="Textfeld 38">
            <a:extLst>
              <a:ext uri="{FF2B5EF4-FFF2-40B4-BE49-F238E27FC236}">
                <a16:creationId xmlns:a16="http://schemas.microsoft.com/office/drawing/2014/main" id="{0D7F70FB-CB4D-E970-24CC-3C4875B0D8E5}"/>
              </a:ext>
            </a:extLst>
          </p:cNvPr>
          <p:cNvSpPr txBox="1"/>
          <p:nvPr/>
        </p:nvSpPr>
        <p:spPr>
          <a:xfrm>
            <a:off x="2690249" y="228437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42" name="Textfeld 38">
            <a:extLst>
              <a:ext uri="{FF2B5EF4-FFF2-40B4-BE49-F238E27FC236}">
                <a16:creationId xmlns:a16="http://schemas.microsoft.com/office/drawing/2014/main" id="{01C51194-5947-B8FD-1B55-3CF39E62B267}"/>
              </a:ext>
            </a:extLst>
          </p:cNvPr>
          <p:cNvSpPr txBox="1"/>
          <p:nvPr/>
        </p:nvSpPr>
        <p:spPr>
          <a:xfrm>
            <a:off x="4274100" y="228437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54" name="Textfeld 38">
            <a:extLst>
              <a:ext uri="{FF2B5EF4-FFF2-40B4-BE49-F238E27FC236}">
                <a16:creationId xmlns:a16="http://schemas.microsoft.com/office/drawing/2014/main" id="{DE46B7B6-03A7-8BC6-2E00-1379C7E14A3C}"/>
              </a:ext>
            </a:extLst>
          </p:cNvPr>
          <p:cNvSpPr txBox="1"/>
          <p:nvPr/>
        </p:nvSpPr>
        <p:spPr>
          <a:xfrm>
            <a:off x="6629063" y="228437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55" name="Textfeld 38">
            <a:extLst>
              <a:ext uri="{FF2B5EF4-FFF2-40B4-BE49-F238E27FC236}">
                <a16:creationId xmlns:a16="http://schemas.microsoft.com/office/drawing/2014/main" id="{8F72E065-6E91-C4E8-841E-1C1C5919D968}"/>
              </a:ext>
            </a:extLst>
          </p:cNvPr>
          <p:cNvSpPr txBox="1"/>
          <p:nvPr/>
        </p:nvSpPr>
        <p:spPr>
          <a:xfrm>
            <a:off x="7413387" y="228437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57" name="Textfeld 38">
            <a:extLst>
              <a:ext uri="{FF2B5EF4-FFF2-40B4-BE49-F238E27FC236}">
                <a16:creationId xmlns:a16="http://schemas.microsoft.com/office/drawing/2014/main" id="{6B3C9202-373B-30D2-F5F0-EE0E6BA8A3A1}"/>
              </a:ext>
            </a:extLst>
          </p:cNvPr>
          <p:cNvSpPr txBox="1"/>
          <p:nvPr/>
        </p:nvSpPr>
        <p:spPr>
          <a:xfrm>
            <a:off x="8998663" y="228437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58" name="Textfeld 38">
            <a:extLst>
              <a:ext uri="{FF2B5EF4-FFF2-40B4-BE49-F238E27FC236}">
                <a16:creationId xmlns:a16="http://schemas.microsoft.com/office/drawing/2014/main" id="{84FC2E37-AB55-8C92-FF1A-09510648F3BC}"/>
              </a:ext>
            </a:extLst>
          </p:cNvPr>
          <p:cNvSpPr txBox="1"/>
          <p:nvPr/>
        </p:nvSpPr>
        <p:spPr>
          <a:xfrm>
            <a:off x="9765554" y="228437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60" name="Textfeld 38">
            <a:extLst>
              <a:ext uri="{FF2B5EF4-FFF2-40B4-BE49-F238E27FC236}">
                <a16:creationId xmlns:a16="http://schemas.microsoft.com/office/drawing/2014/main" id="{BFBF2B3A-6E04-2B61-E56A-7AFB193B59E6}"/>
              </a:ext>
            </a:extLst>
          </p:cNvPr>
          <p:cNvSpPr txBox="1"/>
          <p:nvPr/>
        </p:nvSpPr>
        <p:spPr>
          <a:xfrm>
            <a:off x="10558986" y="228437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61" name="Textfeld 38">
            <a:extLst>
              <a:ext uri="{FF2B5EF4-FFF2-40B4-BE49-F238E27FC236}">
                <a16:creationId xmlns:a16="http://schemas.microsoft.com/office/drawing/2014/main" id="{B50018A6-B2F3-E4C9-441F-18D775A63AA3}"/>
              </a:ext>
            </a:extLst>
          </p:cNvPr>
          <p:cNvSpPr txBox="1"/>
          <p:nvPr/>
        </p:nvSpPr>
        <p:spPr>
          <a:xfrm>
            <a:off x="11343468" y="228437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64" name="Textfeld 38">
            <a:extLst>
              <a:ext uri="{FF2B5EF4-FFF2-40B4-BE49-F238E27FC236}">
                <a16:creationId xmlns:a16="http://schemas.microsoft.com/office/drawing/2014/main" id="{E384CFA1-FAC1-7A0B-3375-5DC0E5277254}"/>
              </a:ext>
            </a:extLst>
          </p:cNvPr>
          <p:cNvSpPr txBox="1"/>
          <p:nvPr/>
        </p:nvSpPr>
        <p:spPr>
          <a:xfrm>
            <a:off x="5835059" y="2282712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65" name="Textfeld 38">
            <a:extLst>
              <a:ext uri="{FF2B5EF4-FFF2-40B4-BE49-F238E27FC236}">
                <a16:creationId xmlns:a16="http://schemas.microsoft.com/office/drawing/2014/main" id="{EFF4E015-C129-76A5-A525-765AD85DD619}"/>
              </a:ext>
            </a:extLst>
          </p:cNvPr>
          <p:cNvSpPr txBox="1"/>
          <p:nvPr/>
        </p:nvSpPr>
        <p:spPr>
          <a:xfrm>
            <a:off x="5045539" y="2282712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72" name="Textfeld 38">
            <a:extLst>
              <a:ext uri="{FF2B5EF4-FFF2-40B4-BE49-F238E27FC236}">
                <a16:creationId xmlns:a16="http://schemas.microsoft.com/office/drawing/2014/main" id="{60FE3532-33D2-94EE-6880-871C7D10ADEC}"/>
              </a:ext>
            </a:extLst>
          </p:cNvPr>
          <p:cNvSpPr txBox="1"/>
          <p:nvPr/>
        </p:nvSpPr>
        <p:spPr>
          <a:xfrm>
            <a:off x="5608964" y="4422262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78" name="Textfeld 38">
            <a:extLst>
              <a:ext uri="{FF2B5EF4-FFF2-40B4-BE49-F238E27FC236}">
                <a16:creationId xmlns:a16="http://schemas.microsoft.com/office/drawing/2014/main" id="{5DD11704-2A89-EF6E-8AC9-CFBCC65E0531}"/>
              </a:ext>
            </a:extLst>
          </p:cNvPr>
          <p:cNvSpPr txBox="1"/>
          <p:nvPr/>
        </p:nvSpPr>
        <p:spPr>
          <a:xfrm>
            <a:off x="6439026" y="3917292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endParaRPr lang="de-DE" sz="1100" b="1">
              <a:solidFill>
                <a:srgbClr val="4DA685"/>
              </a:solidFill>
            </a:endParaRPr>
          </a:p>
        </p:txBody>
      </p:sp>
      <p:sp>
        <p:nvSpPr>
          <p:cNvPr id="28" name="Textfeld 6">
            <a:extLst>
              <a:ext uri="{FF2B5EF4-FFF2-40B4-BE49-F238E27FC236}">
                <a16:creationId xmlns:a16="http://schemas.microsoft.com/office/drawing/2014/main" id="{032846EB-065C-B18A-A9A9-55D887D244A9}"/>
              </a:ext>
            </a:extLst>
          </p:cNvPr>
          <p:cNvSpPr txBox="1"/>
          <p:nvPr/>
        </p:nvSpPr>
        <p:spPr>
          <a:xfrm>
            <a:off x="4441567" y="6585418"/>
            <a:ext cx="53725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= größere, signifikante Abweichungen von der Gesamtstichprobe (mindestens 7 Prozentpunkte höher/niedriger)</a:t>
            </a:r>
          </a:p>
        </p:txBody>
      </p:sp>
      <p:sp>
        <p:nvSpPr>
          <p:cNvPr id="29" name="Textfeld 38">
            <a:extLst>
              <a:ext uri="{FF2B5EF4-FFF2-40B4-BE49-F238E27FC236}">
                <a16:creationId xmlns:a16="http://schemas.microsoft.com/office/drawing/2014/main" id="{68E75219-A348-187C-763E-1B3D12319489}"/>
              </a:ext>
            </a:extLst>
          </p:cNvPr>
          <p:cNvSpPr txBox="1"/>
          <p:nvPr/>
        </p:nvSpPr>
        <p:spPr>
          <a:xfrm>
            <a:off x="4236176" y="6565779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30" name="Textfeld 38">
            <a:extLst>
              <a:ext uri="{FF2B5EF4-FFF2-40B4-BE49-F238E27FC236}">
                <a16:creationId xmlns:a16="http://schemas.microsoft.com/office/drawing/2014/main" id="{C2A27AC1-297B-A3F4-31E7-3A79EA7B2F63}"/>
              </a:ext>
            </a:extLst>
          </p:cNvPr>
          <p:cNvSpPr txBox="1"/>
          <p:nvPr/>
        </p:nvSpPr>
        <p:spPr>
          <a:xfrm rot="10800000">
            <a:off x="4328015" y="6610935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7" name="Textfeld 38">
            <a:extLst>
              <a:ext uri="{FF2B5EF4-FFF2-40B4-BE49-F238E27FC236}">
                <a16:creationId xmlns:a16="http://schemas.microsoft.com/office/drawing/2014/main" id="{7F9346F3-A92C-31C7-C3B4-CA8DFEFF30F8}"/>
              </a:ext>
            </a:extLst>
          </p:cNvPr>
          <p:cNvSpPr txBox="1"/>
          <p:nvPr/>
        </p:nvSpPr>
        <p:spPr>
          <a:xfrm>
            <a:off x="5417819" y="4573176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21" name="Textfeld 38">
            <a:extLst>
              <a:ext uri="{FF2B5EF4-FFF2-40B4-BE49-F238E27FC236}">
                <a16:creationId xmlns:a16="http://schemas.microsoft.com/office/drawing/2014/main" id="{1D120F6E-E6C0-6BB9-711E-B58F44207CC4}"/>
              </a:ext>
            </a:extLst>
          </p:cNvPr>
          <p:cNvSpPr txBox="1"/>
          <p:nvPr/>
        </p:nvSpPr>
        <p:spPr>
          <a:xfrm>
            <a:off x="5893553" y="4729359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35" name="Textfeld 38">
            <a:extLst>
              <a:ext uri="{FF2B5EF4-FFF2-40B4-BE49-F238E27FC236}">
                <a16:creationId xmlns:a16="http://schemas.microsoft.com/office/drawing/2014/main" id="{4E5A2BC0-1121-FF33-3016-DD50299738C3}"/>
              </a:ext>
            </a:extLst>
          </p:cNvPr>
          <p:cNvSpPr txBox="1"/>
          <p:nvPr/>
        </p:nvSpPr>
        <p:spPr>
          <a:xfrm>
            <a:off x="5864704" y="4882874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38" name="Textfeld 38">
            <a:extLst>
              <a:ext uri="{FF2B5EF4-FFF2-40B4-BE49-F238E27FC236}">
                <a16:creationId xmlns:a16="http://schemas.microsoft.com/office/drawing/2014/main" id="{081CDF42-A0E9-6D40-1B20-830A64813A73}"/>
              </a:ext>
            </a:extLst>
          </p:cNvPr>
          <p:cNvSpPr txBox="1"/>
          <p:nvPr/>
        </p:nvSpPr>
        <p:spPr>
          <a:xfrm>
            <a:off x="5689390" y="5038193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43" name="Textfeld 38">
            <a:extLst>
              <a:ext uri="{FF2B5EF4-FFF2-40B4-BE49-F238E27FC236}">
                <a16:creationId xmlns:a16="http://schemas.microsoft.com/office/drawing/2014/main" id="{4DEF8FD6-C8BE-6191-7BDF-7CA9B9764C19}"/>
              </a:ext>
            </a:extLst>
          </p:cNvPr>
          <p:cNvSpPr txBox="1"/>
          <p:nvPr/>
        </p:nvSpPr>
        <p:spPr>
          <a:xfrm rot="10800000">
            <a:off x="898746" y="4762403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34" name="Textfeld 38">
            <a:extLst>
              <a:ext uri="{FF2B5EF4-FFF2-40B4-BE49-F238E27FC236}">
                <a16:creationId xmlns:a16="http://schemas.microsoft.com/office/drawing/2014/main" id="{6F1C9755-4F9C-F481-809D-559F4A29F1A0}"/>
              </a:ext>
            </a:extLst>
          </p:cNvPr>
          <p:cNvSpPr txBox="1"/>
          <p:nvPr/>
        </p:nvSpPr>
        <p:spPr>
          <a:xfrm>
            <a:off x="6439026" y="4507241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36" name="Textfeld 38">
            <a:extLst>
              <a:ext uri="{FF2B5EF4-FFF2-40B4-BE49-F238E27FC236}">
                <a16:creationId xmlns:a16="http://schemas.microsoft.com/office/drawing/2014/main" id="{B35DAF9A-EC7D-F30F-E384-5084B39373A4}"/>
              </a:ext>
            </a:extLst>
          </p:cNvPr>
          <p:cNvSpPr txBox="1"/>
          <p:nvPr/>
        </p:nvSpPr>
        <p:spPr>
          <a:xfrm>
            <a:off x="9355424" y="4098886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971F92-5FF9-385A-D42B-DB1B3B72FDCB}"/>
              </a:ext>
            </a:extLst>
          </p:cNvPr>
          <p:cNvSpPr txBox="1"/>
          <p:nvPr/>
        </p:nvSpPr>
        <p:spPr>
          <a:xfrm>
            <a:off x="3220029" y="2338839"/>
            <a:ext cx="388231" cy="1525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</a:t>
            </a:r>
            <a:r>
              <a:rPr lang="de-AT" sz="1000" b="1" noProof="1">
                <a:solidFill>
                  <a:srgbClr val="4DA685"/>
                </a:solidFill>
              </a:rPr>
              <a:t>86</a:t>
            </a: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44" name="Textfeld 38">
            <a:extLst>
              <a:ext uri="{FF2B5EF4-FFF2-40B4-BE49-F238E27FC236}">
                <a16:creationId xmlns:a16="http://schemas.microsoft.com/office/drawing/2014/main" id="{8924EF58-F452-38E4-3F0C-1403E54CBB84}"/>
              </a:ext>
            </a:extLst>
          </p:cNvPr>
          <p:cNvSpPr txBox="1"/>
          <p:nvPr/>
        </p:nvSpPr>
        <p:spPr>
          <a:xfrm>
            <a:off x="3456426" y="228437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9E1697B-0D88-A3AE-FCD5-1469B125E1C1}"/>
              </a:ext>
            </a:extLst>
          </p:cNvPr>
          <p:cNvSpPr txBox="1"/>
          <p:nvPr/>
        </p:nvSpPr>
        <p:spPr>
          <a:xfrm>
            <a:off x="7931185" y="2338839"/>
            <a:ext cx="388231" cy="1525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</a:t>
            </a:r>
            <a:r>
              <a:rPr lang="de-AT" sz="1000" b="1" noProof="1">
                <a:solidFill>
                  <a:srgbClr val="4DA685"/>
                </a:solidFill>
              </a:rPr>
              <a:t>89</a:t>
            </a: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46" name="Textfeld 38">
            <a:extLst>
              <a:ext uri="{FF2B5EF4-FFF2-40B4-BE49-F238E27FC236}">
                <a16:creationId xmlns:a16="http://schemas.microsoft.com/office/drawing/2014/main" id="{F69EB226-2D94-B682-7966-B4E94FED6D92}"/>
              </a:ext>
            </a:extLst>
          </p:cNvPr>
          <p:cNvSpPr txBox="1"/>
          <p:nvPr/>
        </p:nvSpPr>
        <p:spPr>
          <a:xfrm>
            <a:off x="8167582" y="228437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20" name="Textfeld 38">
            <a:extLst>
              <a:ext uri="{FF2B5EF4-FFF2-40B4-BE49-F238E27FC236}">
                <a16:creationId xmlns:a16="http://schemas.microsoft.com/office/drawing/2014/main" id="{0A45D037-5F23-FB59-9BEA-98D4C288EF0E}"/>
              </a:ext>
            </a:extLst>
          </p:cNvPr>
          <p:cNvSpPr txBox="1"/>
          <p:nvPr/>
        </p:nvSpPr>
        <p:spPr>
          <a:xfrm>
            <a:off x="2526389" y="3904657"/>
            <a:ext cx="310237" cy="3381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24" name="Textfeld 38">
            <a:extLst>
              <a:ext uri="{FF2B5EF4-FFF2-40B4-BE49-F238E27FC236}">
                <a16:creationId xmlns:a16="http://schemas.microsoft.com/office/drawing/2014/main" id="{62E9F326-1D03-1F55-56CF-124C9B391B46}"/>
              </a:ext>
            </a:extLst>
          </p:cNvPr>
          <p:cNvSpPr txBox="1"/>
          <p:nvPr/>
        </p:nvSpPr>
        <p:spPr>
          <a:xfrm>
            <a:off x="2513296" y="4700859"/>
            <a:ext cx="310237" cy="3381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26" name="Textfeld 38">
            <a:extLst>
              <a:ext uri="{FF2B5EF4-FFF2-40B4-BE49-F238E27FC236}">
                <a16:creationId xmlns:a16="http://schemas.microsoft.com/office/drawing/2014/main" id="{8842CFD9-515F-592E-5ABC-6F4C0CFE5E81}"/>
              </a:ext>
            </a:extLst>
          </p:cNvPr>
          <p:cNvSpPr txBox="1"/>
          <p:nvPr/>
        </p:nvSpPr>
        <p:spPr>
          <a:xfrm>
            <a:off x="3287298" y="5709451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200" b="1" dirty="0">
                <a:solidFill>
                  <a:srgbClr val="4DA685"/>
                </a:solidFill>
              </a:rPr>
              <a:t>↑</a:t>
            </a:r>
          </a:p>
        </p:txBody>
      </p:sp>
      <p:graphicFrame>
        <p:nvGraphicFramePr>
          <p:cNvPr id="27" name="Diagramm 9">
            <a:extLst>
              <a:ext uri="{FF2B5EF4-FFF2-40B4-BE49-F238E27FC236}">
                <a16:creationId xmlns:a16="http://schemas.microsoft.com/office/drawing/2014/main" id="{348DA48D-D281-F127-10DC-E40B1CF801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19996" y="470504"/>
          <a:ext cx="2019762" cy="1378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1" name="Textfeld 38">
            <a:extLst>
              <a:ext uri="{FF2B5EF4-FFF2-40B4-BE49-F238E27FC236}">
                <a16:creationId xmlns:a16="http://schemas.microsoft.com/office/drawing/2014/main" id="{D0A4A27F-E52D-572F-F6E2-8F18839D195D}"/>
              </a:ext>
            </a:extLst>
          </p:cNvPr>
          <p:cNvSpPr txBox="1"/>
          <p:nvPr/>
        </p:nvSpPr>
        <p:spPr>
          <a:xfrm rot="10800000">
            <a:off x="1921621" y="5745348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41" name="Textfeld 38">
            <a:extLst>
              <a:ext uri="{FF2B5EF4-FFF2-40B4-BE49-F238E27FC236}">
                <a16:creationId xmlns:a16="http://schemas.microsoft.com/office/drawing/2014/main" id="{DE9E4B92-793A-A299-7571-7324BB6EC04B}"/>
              </a:ext>
            </a:extLst>
          </p:cNvPr>
          <p:cNvSpPr txBox="1"/>
          <p:nvPr/>
        </p:nvSpPr>
        <p:spPr>
          <a:xfrm>
            <a:off x="1794058" y="5893555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32859775-08B4-414C-CB59-B41C9A00781C}"/>
              </a:ext>
            </a:extLst>
          </p:cNvPr>
          <p:cNvSpPr txBox="1"/>
          <p:nvPr/>
        </p:nvSpPr>
        <p:spPr>
          <a:xfrm>
            <a:off x="7837457" y="3205872"/>
            <a:ext cx="4354544" cy="1992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  <a:buClr>
                <a:schemeClr val="tx2"/>
              </a:buClr>
            </a:pPr>
            <a:r>
              <a:rPr lang="de-DE" sz="800" spc="-30" dirty="0">
                <a:solidFill>
                  <a:schemeClr val="bg1">
                    <a:lumMod val="75000"/>
                  </a:schemeClr>
                </a:solidFill>
              </a:rPr>
              <a:t>Lebensmomente/Zukunftspläne mit Anteilen von mind. 30% angeführt. Zusätzlich signifikant häufigere Lebensmomente/Zukunftspläne (vgl. zur Gesamtstichprobe) mit Anteilen von mind. 15% angeführt. </a:t>
            </a:r>
          </a:p>
        </p:txBody>
      </p:sp>
      <p:sp>
        <p:nvSpPr>
          <p:cNvPr id="47" name="Datumsplatzhalter 1">
            <a:extLst>
              <a:ext uri="{FF2B5EF4-FFF2-40B4-BE49-F238E27FC236}">
                <a16:creationId xmlns:a16="http://schemas.microsoft.com/office/drawing/2014/main" id="{036DA177-E85C-D86B-A579-62379281A9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875" y="6556875"/>
            <a:ext cx="588192" cy="219454"/>
          </a:xfrm>
        </p:spPr>
        <p:txBody>
          <a:bodyPr/>
          <a:lstStyle/>
          <a:p>
            <a:fld id="{72D77B36-95B7-FF43-8BF5-D80FC3958B26}" type="datetime1">
              <a:rPr lang="de-AT" noProof="0" smtClean="0"/>
              <a:t>28.05.26</a:t>
            </a:fld>
            <a:endParaRPr lang="de-AT" noProof="0" dirty="0"/>
          </a:p>
        </p:txBody>
      </p:sp>
      <p:sp>
        <p:nvSpPr>
          <p:cNvPr id="48" name="Fußzeilenplatzhalter 2">
            <a:extLst>
              <a:ext uri="{FF2B5EF4-FFF2-40B4-BE49-F238E27FC236}">
                <a16:creationId xmlns:a16="http://schemas.microsoft.com/office/drawing/2014/main" id="{FB86C345-1FF6-E326-983F-839D372A9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0" y="6556875"/>
            <a:ext cx="6127477" cy="219454"/>
          </a:xfrm>
        </p:spPr>
        <p:txBody>
          <a:bodyPr/>
          <a:lstStyle/>
          <a:p>
            <a:r>
              <a:rPr lang="de-AT" noProof="0" dirty="0"/>
              <a:t>Retail-Segmentierung Neu│ S. Stratula &amp; K. Preibisch</a:t>
            </a:r>
          </a:p>
        </p:txBody>
      </p:sp>
    </p:spTree>
    <p:extLst>
      <p:ext uri="{BB962C8B-B14F-4D97-AF65-F5344CB8AC3E}">
        <p14:creationId xmlns:p14="http://schemas.microsoft.com/office/powerpoint/2010/main" val="567677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A4F0C-1B4C-058F-4844-1543573B5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DD27F9-FD65-D6A3-EE3C-5A3BD53C7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6212921"/>
            <a:ext cx="12192001" cy="645079"/>
          </a:xfrm>
          <a:solidFill>
            <a:srgbClr val="FF9E66"/>
          </a:solidFill>
        </p:spPr>
        <p:txBody>
          <a:bodyPr/>
          <a:lstStyle/>
          <a:p>
            <a:pPr algn="ctr"/>
            <a:r>
              <a:rPr lang="de-DE" sz="4000" dirty="0">
                <a:solidFill>
                  <a:schemeClr val="bg1"/>
                </a:solidFill>
                <a:cs typeface="Times New Roman" panose="02020603050405020304" pitchFamily="18" charset="0"/>
              </a:rPr>
              <a:t>Segment 3 </a:t>
            </a:r>
            <a:r>
              <a:rPr lang="de-DE" sz="4800" dirty="0">
                <a:solidFill>
                  <a:schemeClr val="bg1"/>
                </a:solidFill>
                <a:cs typeface="Times New Roman" panose="02020603050405020304" pitchFamily="18" charset="0"/>
              </a:rPr>
              <a:t>- </a:t>
            </a:r>
            <a:r>
              <a:rPr lang="de-DE" sz="4000" dirty="0">
                <a:solidFill>
                  <a:schemeClr val="bg1"/>
                </a:solidFill>
                <a:cs typeface="Times New Roman" panose="02020603050405020304" pitchFamily="18" charset="0"/>
              </a:rPr>
              <a:t>Die Kundenservice Affinen</a:t>
            </a:r>
            <a:endParaRPr lang="de-DE" sz="4000" dirty="0">
              <a:solidFill>
                <a:schemeClr val="bg1"/>
              </a:solidFill>
              <a:highlight>
                <a:srgbClr val="FF00FF"/>
              </a:highlight>
              <a:cs typeface="Times New Roman" panose="02020603050405020304" pitchFamily="18" charset="0"/>
            </a:endParaRPr>
          </a:p>
        </p:txBody>
      </p:sp>
      <p:pic>
        <p:nvPicPr>
          <p:cNvPr id="8" name="Picture 7" descr="A person and person talking on the phone&#10;&#10;AI-generated content may be incorrect.">
            <a:extLst>
              <a:ext uri="{FF2B5EF4-FFF2-40B4-BE49-F238E27FC236}">
                <a16:creationId xmlns:a16="http://schemas.microsoft.com/office/drawing/2014/main" id="{249A05EE-3114-A9A2-1779-003833AC07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" y="0"/>
            <a:ext cx="4458596" cy="6212921"/>
          </a:xfrm>
          <a:prstGeom prst="rect">
            <a:avLst/>
          </a:prstGeom>
        </p:spPr>
      </p:pic>
      <p:pic>
        <p:nvPicPr>
          <p:cNvPr id="10" name="Picture 9" descr="A person working on a computer&#10;&#10;AI-generated content may be incorrect.">
            <a:extLst>
              <a:ext uri="{FF2B5EF4-FFF2-40B4-BE49-F238E27FC236}">
                <a16:creationId xmlns:a16="http://schemas.microsoft.com/office/drawing/2014/main" id="{D814E919-E91C-AD79-1481-3FBE5C158C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58595" y="0"/>
            <a:ext cx="4572000" cy="621292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67D2567-D186-9E02-FA7C-9C015A8CF7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6875" y="345856"/>
            <a:ext cx="1415976" cy="2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047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8D2FE-0C63-B606-685D-4F6B78393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feld 11">
            <a:extLst>
              <a:ext uri="{FF2B5EF4-FFF2-40B4-BE49-F238E27FC236}">
                <a16:creationId xmlns:a16="http://schemas.microsoft.com/office/drawing/2014/main" id="{322A213B-5473-1633-708D-250627465B2D}"/>
              </a:ext>
            </a:extLst>
          </p:cNvPr>
          <p:cNvSpPr txBox="1"/>
          <p:nvPr/>
        </p:nvSpPr>
        <p:spPr>
          <a:xfrm>
            <a:off x="406797" y="1540342"/>
            <a:ext cx="3008176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400"/>
              <a:t>SOZIODEMOGRAPHIE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553A2CB1-F0F4-A7EF-7BA0-32B6C0153BC6}"/>
              </a:ext>
            </a:extLst>
          </p:cNvPr>
          <p:cNvSpPr/>
          <p:nvPr/>
        </p:nvSpPr>
        <p:spPr>
          <a:xfrm>
            <a:off x="8401524" y="1842622"/>
            <a:ext cx="3459807" cy="2892763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graphicFrame>
        <p:nvGraphicFramePr>
          <p:cNvPr id="98" name="Diagramm 51">
            <a:extLst>
              <a:ext uri="{FF2B5EF4-FFF2-40B4-BE49-F238E27FC236}">
                <a16:creationId xmlns:a16="http://schemas.microsoft.com/office/drawing/2014/main" id="{0A1FE6A9-3152-442B-EBDF-850E83921223}"/>
              </a:ext>
            </a:extLst>
          </p:cNvPr>
          <p:cNvGraphicFramePr/>
          <p:nvPr/>
        </p:nvGraphicFramePr>
        <p:xfrm>
          <a:off x="8831945" y="3098310"/>
          <a:ext cx="3471496" cy="8536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echteck 10">
            <a:extLst>
              <a:ext uri="{FF2B5EF4-FFF2-40B4-BE49-F238E27FC236}">
                <a16:creationId xmlns:a16="http://schemas.microsoft.com/office/drawing/2014/main" id="{29CC4061-FF78-78F0-7736-2ACC4F17BE6D}"/>
              </a:ext>
            </a:extLst>
          </p:cNvPr>
          <p:cNvSpPr/>
          <p:nvPr/>
        </p:nvSpPr>
        <p:spPr>
          <a:xfrm>
            <a:off x="402545" y="1842623"/>
            <a:ext cx="3844199" cy="4457285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>
              <a:solidFill>
                <a:schemeClr val="bg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05B03D9-BB73-BC3D-AB0F-75E33AA41CC3}"/>
              </a:ext>
            </a:extLst>
          </p:cNvPr>
          <p:cNvSpPr txBox="1"/>
          <p:nvPr/>
        </p:nvSpPr>
        <p:spPr>
          <a:xfrm>
            <a:off x="315266" y="6371801"/>
            <a:ext cx="115460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Basis: </a:t>
            </a:r>
            <a:r>
              <a:rPr lang="de-DE" sz="800" dirty="0" err="1"/>
              <a:t>n</a:t>
            </a:r>
            <a:r>
              <a:rPr lang="de-DE" sz="800" dirty="0"/>
              <a:t>(Segment3)=546 | Grüne/rote Schriftfarbe und fette Markierung von Werten: Signifikante Abweichungen von der Gesamtstichprobe. Grün = signifikant höherer Wert, rot = signifikant niedrigerer Wert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C26EECED-F32D-E99B-69D3-D27FD44E4317}"/>
              </a:ext>
            </a:extLst>
          </p:cNvPr>
          <p:cNvSpPr/>
          <p:nvPr/>
        </p:nvSpPr>
        <p:spPr>
          <a:xfrm>
            <a:off x="4380626" y="1842623"/>
            <a:ext cx="3880357" cy="4450443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40603096-9C48-E97E-140F-7A0A6C524D45}"/>
              </a:ext>
            </a:extLst>
          </p:cNvPr>
          <p:cNvSpPr txBox="1"/>
          <p:nvPr/>
        </p:nvSpPr>
        <p:spPr>
          <a:xfrm>
            <a:off x="4427956" y="2339581"/>
            <a:ext cx="3753905" cy="25994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800">
                <a:solidFill>
                  <a:schemeClr val="bg1">
                    <a:lumMod val="75000"/>
                  </a:schemeClr>
                </a:solidFill>
              </a:rPr>
              <a:t>*Näherungsweiser Mittelwert auf Basis von Klassenmittelpunkten, da die Abfrage in Kategorien erfolgte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983E0E3-41AE-8249-28E3-327236751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17</a:t>
            </a:fld>
            <a:endParaRPr lang="de-AT" noProof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B356DEE-2950-1925-015C-95AE3F71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76" y="917607"/>
            <a:ext cx="11395074" cy="484473"/>
          </a:xfrm>
        </p:spPr>
        <p:txBody>
          <a:bodyPr/>
          <a:lstStyle/>
          <a:p>
            <a:r>
              <a:rPr lang="de-DE" sz="3400"/>
              <a:t>Struktur und Charakteristika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EA6C487-280F-DD1E-27E0-1C2B88F3AA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/>
              <a:t>Segment 3: Die Kundenservice Affinen</a:t>
            </a:r>
          </a:p>
        </p:txBody>
      </p:sp>
      <p:cxnSp>
        <p:nvCxnSpPr>
          <p:cNvPr id="14" name="Gerade Verbindung 13">
            <a:extLst>
              <a:ext uri="{FF2B5EF4-FFF2-40B4-BE49-F238E27FC236}">
                <a16:creationId xmlns:a16="http://schemas.microsoft.com/office/drawing/2014/main" id="{8D95D9E5-142F-1F10-E64B-522BEA7BA52A}"/>
              </a:ext>
            </a:extLst>
          </p:cNvPr>
          <p:cNvCxnSpPr>
            <a:cxnSpLocks/>
          </p:cNvCxnSpPr>
          <p:nvPr/>
        </p:nvCxnSpPr>
        <p:spPr>
          <a:xfrm>
            <a:off x="2320314" y="1835313"/>
            <a:ext cx="0" cy="4414566"/>
          </a:xfrm>
          <a:prstGeom prst="line">
            <a:avLst/>
          </a:prstGeom>
          <a:ln w="28575">
            <a:solidFill>
              <a:srgbClr val="FF9E6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0189ED1E-142B-D69D-148C-163EED54981F}"/>
              </a:ext>
            </a:extLst>
          </p:cNvPr>
          <p:cNvSpPr txBox="1"/>
          <p:nvPr/>
        </p:nvSpPr>
        <p:spPr>
          <a:xfrm>
            <a:off x="1132452" y="2191138"/>
            <a:ext cx="522514" cy="2786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600" dirty="0">
                <a:solidFill>
                  <a:srgbClr val="000000"/>
                </a:solidFill>
              </a:rPr>
              <a:t>48%</a:t>
            </a:r>
          </a:p>
        </p:txBody>
      </p:sp>
      <p:pic>
        <p:nvPicPr>
          <p:cNvPr id="28" name="Grafik 27" descr="Weiblich mit einfarbiger Füllung">
            <a:extLst>
              <a:ext uri="{FF2B5EF4-FFF2-40B4-BE49-F238E27FC236}">
                <a16:creationId xmlns:a16="http://schemas.microsoft.com/office/drawing/2014/main" id="{9BD27906-8FFA-883E-AE34-5C39DFCB3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136" y="2468047"/>
            <a:ext cx="322661" cy="322661"/>
          </a:xfrm>
          <a:prstGeom prst="rect">
            <a:avLst/>
          </a:prstGeom>
        </p:spPr>
      </p:pic>
      <p:sp>
        <p:nvSpPr>
          <p:cNvPr id="29" name="Textfeld 28">
            <a:extLst>
              <a:ext uri="{FF2B5EF4-FFF2-40B4-BE49-F238E27FC236}">
                <a16:creationId xmlns:a16="http://schemas.microsoft.com/office/drawing/2014/main" id="{AA2554CB-AC82-1364-1211-8682EAA6C860}"/>
              </a:ext>
            </a:extLst>
          </p:cNvPr>
          <p:cNvSpPr txBox="1"/>
          <p:nvPr/>
        </p:nvSpPr>
        <p:spPr>
          <a:xfrm>
            <a:off x="1132452" y="2466290"/>
            <a:ext cx="522514" cy="2786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600" dirty="0">
                <a:solidFill>
                  <a:srgbClr val="000000"/>
                </a:solidFill>
              </a:rPr>
              <a:t>51%</a:t>
            </a:r>
          </a:p>
        </p:txBody>
      </p:sp>
      <p:graphicFrame>
        <p:nvGraphicFramePr>
          <p:cNvPr id="30" name="Diagramm 29">
            <a:extLst>
              <a:ext uri="{FF2B5EF4-FFF2-40B4-BE49-F238E27FC236}">
                <a16:creationId xmlns:a16="http://schemas.microsoft.com/office/drawing/2014/main" id="{64E9FEE9-AA20-29AA-E994-667DF1F1DCE4}"/>
              </a:ext>
            </a:extLst>
          </p:cNvPr>
          <p:cNvGraphicFramePr/>
          <p:nvPr/>
        </p:nvGraphicFramePr>
        <p:xfrm>
          <a:off x="353330" y="3091692"/>
          <a:ext cx="2223089" cy="2045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1" name="Textfeld 30">
            <a:extLst>
              <a:ext uri="{FF2B5EF4-FFF2-40B4-BE49-F238E27FC236}">
                <a16:creationId xmlns:a16="http://schemas.microsoft.com/office/drawing/2014/main" id="{5A6AE8A1-02D1-AA2D-AAF6-E134F0437012}"/>
              </a:ext>
            </a:extLst>
          </p:cNvPr>
          <p:cNvSpPr txBox="1"/>
          <p:nvPr/>
        </p:nvSpPr>
        <p:spPr>
          <a:xfrm>
            <a:off x="2374614" y="3467281"/>
            <a:ext cx="1861562" cy="251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100" dirty="0">
                <a:solidFill>
                  <a:srgbClr val="FF9E66"/>
                </a:solidFill>
              </a:rPr>
              <a:t>Durchschnittsalter: </a:t>
            </a:r>
            <a:r>
              <a:rPr lang="de-DE" sz="1100" b="1" dirty="0">
                <a:solidFill>
                  <a:srgbClr val="FF0000"/>
                </a:solidFill>
              </a:rPr>
              <a:t>40,9</a:t>
            </a:r>
            <a:r>
              <a:rPr lang="de-DE" sz="1100" dirty="0"/>
              <a:t> </a:t>
            </a:r>
            <a:r>
              <a:rPr lang="de-DE" sz="1100" dirty="0">
                <a:solidFill>
                  <a:srgbClr val="FF9E66"/>
                </a:solidFill>
              </a:rPr>
              <a:t>Jahre</a:t>
            </a:r>
          </a:p>
        </p:txBody>
      </p:sp>
      <p:graphicFrame>
        <p:nvGraphicFramePr>
          <p:cNvPr id="32" name="Diagramm 31">
            <a:extLst>
              <a:ext uri="{FF2B5EF4-FFF2-40B4-BE49-F238E27FC236}">
                <a16:creationId xmlns:a16="http://schemas.microsoft.com/office/drawing/2014/main" id="{ECA06A7C-0EBA-C17D-C4EB-60F5270455AA}"/>
              </a:ext>
            </a:extLst>
          </p:cNvPr>
          <p:cNvGraphicFramePr/>
          <p:nvPr/>
        </p:nvGraphicFramePr>
        <p:xfrm>
          <a:off x="2405421" y="2074358"/>
          <a:ext cx="2057062" cy="1422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8" name="Diagramm 37">
            <a:extLst>
              <a:ext uri="{FF2B5EF4-FFF2-40B4-BE49-F238E27FC236}">
                <a16:creationId xmlns:a16="http://schemas.microsoft.com/office/drawing/2014/main" id="{F895434A-98E5-9FA4-933A-2DB5B4A5AF4C}"/>
              </a:ext>
            </a:extLst>
          </p:cNvPr>
          <p:cNvGraphicFramePr/>
          <p:nvPr/>
        </p:nvGraphicFramePr>
        <p:xfrm>
          <a:off x="2444874" y="5373297"/>
          <a:ext cx="1620400" cy="970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0" name="Textfeld 39">
            <a:extLst>
              <a:ext uri="{FF2B5EF4-FFF2-40B4-BE49-F238E27FC236}">
                <a16:creationId xmlns:a16="http://schemas.microsoft.com/office/drawing/2014/main" id="{BA67E187-C801-F0FF-6DD4-A6AFF41BF4DD}"/>
              </a:ext>
            </a:extLst>
          </p:cNvPr>
          <p:cNvSpPr txBox="1"/>
          <p:nvPr/>
        </p:nvSpPr>
        <p:spPr>
          <a:xfrm>
            <a:off x="501863" y="1881128"/>
            <a:ext cx="123661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Geschlecht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CB0C6A6E-20F5-7230-8846-1B49A4D199C7}"/>
              </a:ext>
            </a:extLst>
          </p:cNvPr>
          <p:cNvSpPr txBox="1"/>
          <p:nvPr/>
        </p:nvSpPr>
        <p:spPr>
          <a:xfrm>
            <a:off x="2428695" y="1881128"/>
            <a:ext cx="123661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1200"/>
              <a:t>Alter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3DF98A23-D531-E797-0787-1AB8959389AF}"/>
              </a:ext>
            </a:extLst>
          </p:cNvPr>
          <p:cNvSpPr txBox="1"/>
          <p:nvPr/>
        </p:nvSpPr>
        <p:spPr>
          <a:xfrm>
            <a:off x="501863" y="3009866"/>
            <a:ext cx="123661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 dirty="0"/>
              <a:t>Bundesland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724661D9-B831-12C3-9BE4-EA77AA0F7557}"/>
              </a:ext>
            </a:extLst>
          </p:cNvPr>
          <p:cNvSpPr txBox="1"/>
          <p:nvPr/>
        </p:nvSpPr>
        <p:spPr>
          <a:xfrm>
            <a:off x="2428695" y="3897680"/>
            <a:ext cx="123661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1200"/>
              <a:t>Beruf</a:t>
            </a:r>
          </a:p>
        </p:txBody>
      </p:sp>
      <p:cxnSp>
        <p:nvCxnSpPr>
          <p:cNvPr id="44" name="Gerade Verbindung 43">
            <a:extLst>
              <a:ext uri="{FF2B5EF4-FFF2-40B4-BE49-F238E27FC236}">
                <a16:creationId xmlns:a16="http://schemas.microsoft.com/office/drawing/2014/main" id="{F081A24C-F63F-C3F3-74C1-DBB6C38820C6}"/>
              </a:ext>
            </a:extLst>
          </p:cNvPr>
          <p:cNvCxnSpPr>
            <a:cxnSpLocks/>
          </p:cNvCxnSpPr>
          <p:nvPr/>
        </p:nvCxnSpPr>
        <p:spPr>
          <a:xfrm flipH="1">
            <a:off x="396875" y="5141533"/>
            <a:ext cx="3849869" cy="0"/>
          </a:xfrm>
          <a:prstGeom prst="line">
            <a:avLst/>
          </a:prstGeom>
          <a:ln w="28575">
            <a:solidFill>
              <a:srgbClr val="FF9E6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feld 45">
            <a:extLst>
              <a:ext uri="{FF2B5EF4-FFF2-40B4-BE49-F238E27FC236}">
                <a16:creationId xmlns:a16="http://schemas.microsoft.com/office/drawing/2014/main" id="{99500348-85BB-0D44-9E16-D9A7929178AE}"/>
              </a:ext>
            </a:extLst>
          </p:cNvPr>
          <p:cNvSpPr txBox="1"/>
          <p:nvPr/>
        </p:nvSpPr>
        <p:spPr>
          <a:xfrm>
            <a:off x="2428695" y="5219828"/>
            <a:ext cx="123661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1200"/>
              <a:t>Bildung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019EA514-B514-2667-108F-04859A8B042A}"/>
              </a:ext>
            </a:extLst>
          </p:cNvPr>
          <p:cNvSpPr txBox="1"/>
          <p:nvPr/>
        </p:nvSpPr>
        <p:spPr>
          <a:xfrm>
            <a:off x="4445182" y="1540342"/>
            <a:ext cx="3008176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400"/>
              <a:t>FINANZEN &amp; BESITZ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3D3A551D-ED11-5B97-4815-9E88D7AFE80D}"/>
              </a:ext>
            </a:extLst>
          </p:cNvPr>
          <p:cNvSpPr txBox="1"/>
          <p:nvPr/>
        </p:nvSpPr>
        <p:spPr>
          <a:xfrm>
            <a:off x="4465636" y="1881128"/>
            <a:ext cx="2315302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Haushaltsnettoeinkommen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E3C6C86A-3B17-9026-69A6-ECDF936BF0A4}"/>
              </a:ext>
            </a:extLst>
          </p:cNvPr>
          <p:cNvSpPr txBox="1"/>
          <p:nvPr/>
        </p:nvSpPr>
        <p:spPr>
          <a:xfrm>
            <a:off x="4465636" y="2113407"/>
            <a:ext cx="3400995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100" dirty="0">
                <a:solidFill>
                  <a:srgbClr val="FF9E66"/>
                </a:solidFill>
              </a:rPr>
              <a:t>Durchschnittlich: </a:t>
            </a:r>
            <a:r>
              <a:rPr lang="de-DE" sz="1100" b="1" dirty="0">
                <a:solidFill>
                  <a:srgbClr val="FF0000"/>
                </a:solidFill>
              </a:rPr>
              <a:t>€ 3.557*</a:t>
            </a:r>
            <a:r>
              <a:rPr lang="de-DE" sz="1100" b="1" dirty="0">
                <a:solidFill>
                  <a:srgbClr val="4DA685"/>
                </a:solidFill>
              </a:rPr>
              <a:t> </a:t>
            </a:r>
            <a:r>
              <a:rPr lang="de-DE" sz="1100" dirty="0">
                <a:solidFill>
                  <a:srgbClr val="FF9E66"/>
                </a:solidFill>
              </a:rPr>
              <a:t>pro Monat </a:t>
            </a:r>
          </a:p>
        </p:txBody>
      </p:sp>
      <p:cxnSp>
        <p:nvCxnSpPr>
          <p:cNvPr id="54" name="Gerade Verbindung 53">
            <a:extLst>
              <a:ext uri="{FF2B5EF4-FFF2-40B4-BE49-F238E27FC236}">
                <a16:creationId xmlns:a16="http://schemas.microsoft.com/office/drawing/2014/main" id="{8539BE6D-305D-38DF-FAC2-BB0000DE92ED}"/>
              </a:ext>
            </a:extLst>
          </p:cNvPr>
          <p:cNvCxnSpPr>
            <a:cxnSpLocks/>
          </p:cNvCxnSpPr>
          <p:nvPr/>
        </p:nvCxnSpPr>
        <p:spPr>
          <a:xfrm flipH="1">
            <a:off x="4380626" y="2673371"/>
            <a:ext cx="3833631" cy="0"/>
          </a:xfrm>
          <a:prstGeom prst="line">
            <a:avLst/>
          </a:prstGeom>
          <a:ln w="28575">
            <a:solidFill>
              <a:srgbClr val="FF9E6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feld 54">
            <a:extLst>
              <a:ext uri="{FF2B5EF4-FFF2-40B4-BE49-F238E27FC236}">
                <a16:creationId xmlns:a16="http://schemas.microsoft.com/office/drawing/2014/main" id="{8227C52F-58A5-01CA-1C5C-49C0609C6DAB}"/>
              </a:ext>
            </a:extLst>
          </p:cNvPr>
          <p:cNvSpPr txBox="1"/>
          <p:nvPr/>
        </p:nvSpPr>
        <p:spPr>
          <a:xfrm>
            <a:off x="4371433" y="2763651"/>
            <a:ext cx="2054763" cy="2608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buClr>
                <a:schemeClr val="tx2"/>
              </a:buClr>
            </a:pPr>
            <a:r>
              <a:rPr lang="de-DE" sz="1200"/>
              <a:t>Finanzielle Vermögenswerte im  Haushalt</a:t>
            </a:r>
          </a:p>
        </p:txBody>
      </p:sp>
      <p:graphicFrame>
        <p:nvGraphicFramePr>
          <p:cNvPr id="60" name="Diagramm 59">
            <a:extLst>
              <a:ext uri="{FF2B5EF4-FFF2-40B4-BE49-F238E27FC236}">
                <a16:creationId xmlns:a16="http://schemas.microsoft.com/office/drawing/2014/main" id="{2D7C0C5B-4E79-8BDF-103B-225451734283}"/>
              </a:ext>
            </a:extLst>
          </p:cNvPr>
          <p:cNvGraphicFramePr/>
          <p:nvPr/>
        </p:nvGraphicFramePr>
        <p:xfrm>
          <a:off x="4351728" y="3129065"/>
          <a:ext cx="2319923" cy="23928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64" name="Rechteck 63">
            <a:extLst>
              <a:ext uri="{FF2B5EF4-FFF2-40B4-BE49-F238E27FC236}">
                <a16:creationId xmlns:a16="http://schemas.microsoft.com/office/drawing/2014/main" id="{1B7CF706-FEFB-17DC-52FE-9A37FAB752D6}"/>
              </a:ext>
            </a:extLst>
          </p:cNvPr>
          <p:cNvSpPr/>
          <p:nvPr/>
        </p:nvSpPr>
        <p:spPr>
          <a:xfrm>
            <a:off x="8390103" y="5041893"/>
            <a:ext cx="3471495" cy="1258016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1A55A16F-18A7-3144-1BBE-C7FCB623D3FA}"/>
              </a:ext>
            </a:extLst>
          </p:cNvPr>
          <p:cNvSpPr txBox="1"/>
          <p:nvPr/>
        </p:nvSpPr>
        <p:spPr>
          <a:xfrm>
            <a:off x="8443124" y="4839699"/>
            <a:ext cx="3008176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400"/>
              <a:t>MEDIENNUTZUNG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7B82AE3E-F378-65A7-F795-1D19962DB8B3}"/>
              </a:ext>
            </a:extLst>
          </p:cNvPr>
          <p:cNvSpPr txBox="1"/>
          <p:nvPr/>
        </p:nvSpPr>
        <p:spPr>
          <a:xfrm>
            <a:off x="8430583" y="5070325"/>
            <a:ext cx="343074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 dirty="0"/>
              <a:t>Tägliche Nutzung von Kanälen - Top 5 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E76B53F7-00F0-85BF-48BB-33BBF9A7631C}"/>
              </a:ext>
            </a:extLst>
          </p:cNvPr>
          <p:cNvSpPr txBox="1"/>
          <p:nvPr/>
        </p:nvSpPr>
        <p:spPr>
          <a:xfrm>
            <a:off x="8836941" y="5296922"/>
            <a:ext cx="2834640" cy="1104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75%  </a:t>
            </a:r>
            <a:r>
              <a:rPr lang="de-DE" sz="1100" dirty="0">
                <a:solidFill>
                  <a:srgbClr val="000000"/>
                </a:solidFill>
              </a:rPr>
              <a:t>Messenger-Dienste</a:t>
            </a:r>
          </a:p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71%  </a:t>
            </a:r>
            <a:r>
              <a:rPr lang="de-DE" sz="1100" dirty="0">
                <a:solidFill>
                  <a:srgbClr val="000000"/>
                </a:solidFill>
              </a:rPr>
              <a:t>Suchmaschinen </a:t>
            </a:r>
          </a:p>
          <a:p>
            <a:pPr algn="l">
              <a:spcAft>
                <a:spcPts val="300"/>
              </a:spcAft>
              <a:buClr>
                <a:schemeClr val="tx2"/>
              </a:buClr>
            </a:pPr>
            <a:r>
              <a:rPr lang="de-DE" sz="1100" dirty="0">
                <a:solidFill>
                  <a:srgbClr val="000000"/>
                </a:solidFill>
              </a:rPr>
              <a:t>66%  Soziale Medien</a:t>
            </a:r>
          </a:p>
          <a:p>
            <a:pPr algn="l">
              <a:spcAft>
                <a:spcPts val="300"/>
              </a:spcAft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49%  </a:t>
            </a:r>
            <a:r>
              <a:rPr lang="de-DE" sz="1100" dirty="0">
                <a:solidFill>
                  <a:srgbClr val="000000"/>
                </a:solidFill>
              </a:rPr>
              <a:t>Radio</a:t>
            </a:r>
          </a:p>
          <a:p>
            <a:pPr>
              <a:spcAft>
                <a:spcPts val="300"/>
              </a:spcAft>
              <a:buClr>
                <a:schemeClr val="tx2"/>
              </a:buClr>
            </a:pPr>
            <a:r>
              <a:rPr lang="de-DE" sz="1100" dirty="0">
                <a:solidFill>
                  <a:srgbClr val="000000"/>
                </a:solidFill>
              </a:rPr>
              <a:t>49%  Streaming-Dienste für Videos &amp; Filme</a:t>
            </a:r>
            <a:endParaRPr lang="de-DE" sz="1000" dirty="0"/>
          </a:p>
        </p:txBody>
      </p:sp>
      <p:pic>
        <p:nvPicPr>
          <p:cNvPr id="8" name="Grafik 7" descr="Ein Bild, das Grafiken, Symbol, Clipart, Grafikdesign enthält.&#10;&#10;KI-generierte Inhalte können fehlerhaft sein.">
            <a:extLst>
              <a:ext uri="{FF2B5EF4-FFF2-40B4-BE49-F238E27FC236}">
                <a16:creationId xmlns:a16="http://schemas.microsoft.com/office/drawing/2014/main" id="{DC2B028D-C421-A641-53CC-153C7288850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prstClr val="black"/>
              <a:srgbClr val="FF9E6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54285" y="5254877"/>
            <a:ext cx="287133" cy="273067"/>
          </a:xfrm>
          <a:prstGeom prst="rect">
            <a:avLst/>
          </a:prstGeom>
        </p:spPr>
      </p:pic>
      <p:pic>
        <p:nvPicPr>
          <p:cNvPr id="13" name="Grafik 12" descr="Ein Bild, das Kreis, Grafiken,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1784A452-4856-1D51-077F-1A50CB39F2F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duotone>
              <a:prstClr val="black"/>
              <a:srgbClr val="FF9E6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34023" y="5513304"/>
            <a:ext cx="287133" cy="268990"/>
          </a:xfrm>
          <a:prstGeom prst="rect">
            <a:avLst/>
          </a:prstGeom>
        </p:spPr>
      </p:pic>
      <p:pic>
        <p:nvPicPr>
          <p:cNvPr id="18" name="Grafik 17" descr="Ein Bild, das Grafiken, Logo, Electric Blue (Farbe), Schrift enthält.&#10;&#10;KI-generierte Inhalte können fehlerhaft sein.">
            <a:extLst>
              <a:ext uri="{FF2B5EF4-FFF2-40B4-BE49-F238E27FC236}">
                <a16:creationId xmlns:a16="http://schemas.microsoft.com/office/drawing/2014/main" id="{0549AF09-C6E3-1CA6-8B69-F2DE3BF046E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duotone>
              <a:prstClr val="black"/>
              <a:srgbClr val="FF9E6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26633" y="5722631"/>
            <a:ext cx="350507" cy="197670"/>
          </a:xfrm>
          <a:prstGeom prst="rect">
            <a:avLst/>
          </a:prstGeom>
        </p:spPr>
      </p:pic>
      <p:pic>
        <p:nvPicPr>
          <p:cNvPr id="24" name="Grafik 23" descr="Ein Bild, das Electric Blue (Farbe), Screenshot, Majorelle Blue, Blau enthält.&#10;&#10;KI-generierte Inhalte können fehlerhaft sein.">
            <a:extLst>
              <a:ext uri="{FF2B5EF4-FFF2-40B4-BE49-F238E27FC236}">
                <a16:creationId xmlns:a16="http://schemas.microsoft.com/office/drawing/2014/main" id="{20EDF6BF-C4D4-AECD-9CE2-779C4E81B94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duotone>
              <a:prstClr val="black"/>
              <a:srgbClr val="FF9E6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20504" y="6093053"/>
            <a:ext cx="321745" cy="235201"/>
          </a:xfrm>
          <a:prstGeom prst="rect">
            <a:avLst/>
          </a:prstGeom>
        </p:spPr>
      </p:pic>
      <p:sp>
        <p:nvSpPr>
          <p:cNvPr id="34" name="Textfeld 33">
            <a:extLst>
              <a:ext uri="{FF2B5EF4-FFF2-40B4-BE49-F238E27FC236}">
                <a16:creationId xmlns:a16="http://schemas.microsoft.com/office/drawing/2014/main" id="{0A9D64DF-6201-4619-27F5-5B304B8ACD8D}"/>
              </a:ext>
            </a:extLst>
          </p:cNvPr>
          <p:cNvSpPr txBox="1"/>
          <p:nvPr/>
        </p:nvSpPr>
        <p:spPr>
          <a:xfrm>
            <a:off x="8360012" y="1540342"/>
            <a:ext cx="3008176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400"/>
              <a:t>WOHNEN &amp; FAMILIE</a:t>
            </a:r>
          </a:p>
        </p:txBody>
      </p:sp>
      <p:graphicFrame>
        <p:nvGraphicFramePr>
          <p:cNvPr id="52" name="Diagramm 51">
            <a:extLst>
              <a:ext uri="{FF2B5EF4-FFF2-40B4-BE49-F238E27FC236}">
                <a16:creationId xmlns:a16="http://schemas.microsoft.com/office/drawing/2014/main" id="{1ABFBC7D-6556-5E95-199D-CB40A9A07D27}"/>
              </a:ext>
            </a:extLst>
          </p:cNvPr>
          <p:cNvGraphicFramePr/>
          <p:nvPr/>
        </p:nvGraphicFramePr>
        <p:xfrm>
          <a:off x="7121368" y="2015654"/>
          <a:ext cx="3421154" cy="9053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56" name="Textfeld 55">
            <a:extLst>
              <a:ext uri="{FF2B5EF4-FFF2-40B4-BE49-F238E27FC236}">
                <a16:creationId xmlns:a16="http://schemas.microsoft.com/office/drawing/2014/main" id="{D8933416-B69C-4C9B-8660-8BAA8A89E58B}"/>
              </a:ext>
            </a:extLst>
          </p:cNvPr>
          <p:cNvSpPr txBox="1"/>
          <p:nvPr/>
        </p:nvSpPr>
        <p:spPr>
          <a:xfrm>
            <a:off x="8568974" y="3164949"/>
            <a:ext cx="1403276" cy="7917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ctr">
              <a:buClr>
                <a:schemeClr val="tx2"/>
              </a:buClr>
            </a:pPr>
            <a:r>
              <a:rPr lang="de-DE" sz="1100" dirty="0">
                <a:solidFill>
                  <a:srgbClr val="000000"/>
                </a:solidFill>
              </a:rPr>
              <a:t>30%</a:t>
            </a:r>
          </a:p>
          <a:p>
            <a:pPr algn="ctr">
              <a:buClr>
                <a:schemeClr val="tx2"/>
              </a:buClr>
            </a:pPr>
            <a:r>
              <a:rPr lang="de-DE" sz="1000" dirty="0">
                <a:solidFill>
                  <a:srgbClr val="000000"/>
                </a:solidFill>
              </a:rPr>
              <a:t>leben mit </a:t>
            </a:r>
            <a:r>
              <a:rPr lang="de-DE" sz="1000" dirty="0">
                <a:solidFill>
                  <a:srgbClr val="FF9E66"/>
                </a:solidFill>
              </a:rPr>
              <a:t>Kindern</a:t>
            </a:r>
            <a:r>
              <a:rPr lang="de-DE" sz="1000" dirty="0">
                <a:solidFill>
                  <a:srgbClr val="000000"/>
                </a:solidFill>
              </a:rPr>
              <a:t> </a:t>
            </a:r>
            <a:r>
              <a:rPr lang="de-DE" sz="1000" dirty="0">
                <a:solidFill>
                  <a:srgbClr val="FF9E66"/>
                </a:solidFill>
              </a:rPr>
              <a:t>im Haushalt </a:t>
            </a:r>
            <a:br>
              <a:rPr lang="de-DE" sz="1000" dirty="0">
                <a:solidFill>
                  <a:srgbClr val="000000"/>
                </a:solidFill>
              </a:rPr>
            </a:br>
            <a:r>
              <a:rPr lang="de-DE" sz="800" i="1" dirty="0">
                <a:solidFill>
                  <a:schemeClr val="bg1">
                    <a:lumMod val="75000"/>
                  </a:schemeClr>
                </a:solidFill>
              </a:rPr>
              <a:t>(eigene Kinder oder Stief-/Pflegekinder)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E5165082-D6B2-25EF-360A-12B1F023E357}"/>
              </a:ext>
            </a:extLst>
          </p:cNvPr>
          <p:cNvSpPr txBox="1"/>
          <p:nvPr/>
        </p:nvSpPr>
        <p:spPr>
          <a:xfrm>
            <a:off x="8451364" y="1881128"/>
            <a:ext cx="343074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Haushaltsgröße und Beziehungsstatus</a:t>
            </a:r>
          </a:p>
        </p:txBody>
      </p:sp>
      <p:sp>
        <p:nvSpPr>
          <p:cNvPr id="35" name="Textfeld 38">
            <a:extLst>
              <a:ext uri="{FF2B5EF4-FFF2-40B4-BE49-F238E27FC236}">
                <a16:creationId xmlns:a16="http://schemas.microsoft.com/office/drawing/2014/main" id="{19860980-FA40-510F-5F0D-497316AF300A}"/>
              </a:ext>
            </a:extLst>
          </p:cNvPr>
          <p:cNvSpPr txBox="1"/>
          <p:nvPr/>
        </p:nvSpPr>
        <p:spPr>
          <a:xfrm>
            <a:off x="556649" y="5494634"/>
            <a:ext cx="1777770" cy="7190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ts val="1720"/>
              </a:lnSpc>
              <a:buClr>
                <a:schemeClr val="tx2"/>
              </a:buClr>
            </a:pPr>
            <a:r>
              <a:rPr lang="de-DE" sz="1100" dirty="0">
                <a:solidFill>
                  <a:srgbClr val="FF9E66"/>
                </a:solidFill>
              </a:rPr>
              <a:t>Land: </a:t>
            </a:r>
            <a:r>
              <a:rPr lang="de-DE" sz="1100" b="1" dirty="0">
                <a:solidFill>
                  <a:srgbClr val="FF0000"/>
                </a:solidFill>
              </a:rPr>
              <a:t>44%</a:t>
            </a:r>
            <a:br>
              <a:rPr lang="de-DE" sz="1100" dirty="0">
                <a:solidFill>
                  <a:srgbClr val="71ADFF"/>
                </a:solidFill>
              </a:rPr>
            </a:br>
            <a:r>
              <a:rPr lang="de-DE" sz="1100" dirty="0">
                <a:solidFill>
                  <a:srgbClr val="FF9E66"/>
                </a:solidFill>
              </a:rPr>
              <a:t>Zwischenregion: </a:t>
            </a:r>
            <a:r>
              <a:rPr lang="de-DE" sz="1100" dirty="0">
                <a:solidFill>
                  <a:srgbClr val="000000"/>
                </a:solidFill>
              </a:rPr>
              <a:t>16%</a:t>
            </a:r>
            <a:br>
              <a:rPr lang="de-DE" sz="1100" dirty="0">
                <a:solidFill>
                  <a:srgbClr val="71ADFF"/>
                </a:solidFill>
              </a:rPr>
            </a:br>
            <a:r>
              <a:rPr lang="de-DE" sz="1100" dirty="0">
                <a:solidFill>
                  <a:srgbClr val="FF9E66"/>
                </a:solidFill>
              </a:rPr>
              <a:t>Stadt: </a:t>
            </a:r>
            <a:r>
              <a:rPr lang="de-DE" sz="1100" b="1" dirty="0">
                <a:solidFill>
                  <a:srgbClr val="4DA685"/>
                </a:solidFill>
              </a:rPr>
              <a:t>41%</a:t>
            </a:r>
          </a:p>
        </p:txBody>
      </p:sp>
      <p:sp>
        <p:nvSpPr>
          <p:cNvPr id="37" name="Textfeld 42">
            <a:extLst>
              <a:ext uri="{FF2B5EF4-FFF2-40B4-BE49-F238E27FC236}">
                <a16:creationId xmlns:a16="http://schemas.microsoft.com/office/drawing/2014/main" id="{DCA651E6-2D06-DBC0-1622-82D1936F5388}"/>
              </a:ext>
            </a:extLst>
          </p:cNvPr>
          <p:cNvSpPr txBox="1"/>
          <p:nvPr/>
        </p:nvSpPr>
        <p:spPr>
          <a:xfrm>
            <a:off x="525275" y="5219828"/>
            <a:ext cx="123661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Urbanität</a:t>
            </a:r>
          </a:p>
        </p:txBody>
      </p:sp>
      <p:cxnSp>
        <p:nvCxnSpPr>
          <p:cNvPr id="58" name="Gerade Verbindung 43">
            <a:extLst>
              <a:ext uri="{FF2B5EF4-FFF2-40B4-BE49-F238E27FC236}">
                <a16:creationId xmlns:a16="http://schemas.microsoft.com/office/drawing/2014/main" id="{876B8801-FC90-CB91-D6BC-CFC54457F9FA}"/>
              </a:ext>
            </a:extLst>
          </p:cNvPr>
          <p:cNvCxnSpPr>
            <a:cxnSpLocks/>
          </p:cNvCxnSpPr>
          <p:nvPr/>
        </p:nvCxnSpPr>
        <p:spPr>
          <a:xfrm flipH="1">
            <a:off x="2320314" y="3829072"/>
            <a:ext cx="1926430" cy="0"/>
          </a:xfrm>
          <a:prstGeom prst="line">
            <a:avLst/>
          </a:prstGeom>
          <a:ln w="28575">
            <a:solidFill>
              <a:srgbClr val="FF9E6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43">
            <a:extLst>
              <a:ext uri="{FF2B5EF4-FFF2-40B4-BE49-F238E27FC236}">
                <a16:creationId xmlns:a16="http://schemas.microsoft.com/office/drawing/2014/main" id="{0CB7A76D-375C-1BD0-8D8F-B51B68041ACF}"/>
              </a:ext>
            </a:extLst>
          </p:cNvPr>
          <p:cNvCxnSpPr>
            <a:cxnSpLocks/>
          </p:cNvCxnSpPr>
          <p:nvPr/>
        </p:nvCxnSpPr>
        <p:spPr>
          <a:xfrm flipH="1">
            <a:off x="396875" y="2955623"/>
            <a:ext cx="1923439" cy="0"/>
          </a:xfrm>
          <a:prstGeom prst="line">
            <a:avLst/>
          </a:prstGeom>
          <a:ln w="28575">
            <a:solidFill>
              <a:srgbClr val="FF9E6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Graphic 68" descr="Briefcase with solid fill">
            <a:extLst>
              <a:ext uri="{FF2B5EF4-FFF2-40B4-BE49-F238E27FC236}">
                <a16:creationId xmlns:a16="http://schemas.microsoft.com/office/drawing/2014/main" id="{674E551C-6D92-FC2F-9A59-887869F613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12805" y="4179281"/>
            <a:ext cx="318757" cy="318757"/>
          </a:xfrm>
          <a:prstGeom prst="rect">
            <a:avLst/>
          </a:prstGeom>
        </p:spPr>
      </p:pic>
      <p:pic>
        <p:nvPicPr>
          <p:cNvPr id="71" name="Graphic 70" descr="House with solid fill">
            <a:extLst>
              <a:ext uri="{FF2B5EF4-FFF2-40B4-BE49-F238E27FC236}">
                <a16:creationId xmlns:a16="http://schemas.microsoft.com/office/drawing/2014/main" id="{62E640C1-02AD-B1DD-DEB4-2D60778133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471735" y="4552979"/>
            <a:ext cx="367046" cy="367046"/>
          </a:xfrm>
          <a:prstGeom prst="rect">
            <a:avLst/>
          </a:prstGeom>
        </p:spPr>
      </p:pic>
      <p:sp>
        <p:nvSpPr>
          <p:cNvPr id="72" name="Textfeld 38">
            <a:extLst>
              <a:ext uri="{FF2B5EF4-FFF2-40B4-BE49-F238E27FC236}">
                <a16:creationId xmlns:a16="http://schemas.microsoft.com/office/drawing/2014/main" id="{6917B610-4B9B-D2D0-768E-5007105DDECE}"/>
              </a:ext>
            </a:extLst>
          </p:cNvPr>
          <p:cNvSpPr txBox="1"/>
          <p:nvPr/>
        </p:nvSpPr>
        <p:spPr>
          <a:xfrm>
            <a:off x="2915396" y="4175386"/>
            <a:ext cx="1158751" cy="32654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720"/>
              </a:lnSpc>
              <a:buClr>
                <a:schemeClr val="tx2"/>
              </a:buClr>
            </a:pPr>
            <a:r>
              <a:rPr lang="de-DE" sz="1100" dirty="0">
                <a:solidFill>
                  <a:srgbClr val="FF9E66"/>
                </a:solidFill>
              </a:rPr>
              <a:t>Angestellte: </a:t>
            </a:r>
            <a:r>
              <a:rPr lang="de-DE" sz="1100" dirty="0">
                <a:solidFill>
                  <a:srgbClr val="000000"/>
                </a:solidFill>
              </a:rPr>
              <a:t>60%</a:t>
            </a:r>
            <a:endParaRPr lang="de-DE" sz="1100" b="1" dirty="0">
              <a:solidFill>
                <a:srgbClr val="000000"/>
              </a:solidFill>
            </a:endParaRPr>
          </a:p>
        </p:txBody>
      </p:sp>
      <p:sp>
        <p:nvSpPr>
          <p:cNvPr id="73" name="Textfeld 38">
            <a:extLst>
              <a:ext uri="{FF2B5EF4-FFF2-40B4-BE49-F238E27FC236}">
                <a16:creationId xmlns:a16="http://schemas.microsoft.com/office/drawing/2014/main" id="{AA112845-74F0-460F-9394-1D5D82D882FD}"/>
              </a:ext>
            </a:extLst>
          </p:cNvPr>
          <p:cNvSpPr txBox="1"/>
          <p:nvPr/>
        </p:nvSpPr>
        <p:spPr>
          <a:xfrm>
            <a:off x="2915396" y="4569183"/>
            <a:ext cx="1059915" cy="32654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720"/>
              </a:lnSpc>
              <a:buClr>
                <a:schemeClr val="tx2"/>
              </a:buClr>
            </a:pPr>
            <a:r>
              <a:rPr lang="de-DE" sz="1100" dirty="0">
                <a:solidFill>
                  <a:srgbClr val="FF9E66"/>
                </a:solidFill>
              </a:rPr>
              <a:t>In Pension: </a:t>
            </a:r>
            <a:r>
              <a:rPr lang="de-DE" sz="1100" b="1" dirty="0">
                <a:solidFill>
                  <a:srgbClr val="FF0000"/>
                </a:solidFill>
              </a:rPr>
              <a:t>15%</a:t>
            </a:r>
          </a:p>
        </p:txBody>
      </p:sp>
      <p:cxnSp>
        <p:nvCxnSpPr>
          <p:cNvPr id="78" name="Gerade Verbindung 13">
            <a:extLst>
              <a:ext uri="{FF2B5EF4-FFF2-40B4-BE49-F238E27FC236}">
                <a16:creationId xmlns:a16="http://schemas.microsoft.com/office/drawing/2014/main" id="{FCEBFB93-0B80-1A4B-9738-6A7D77826403}"/>
              </a:ext>
            </a:extLst>
          </p:cNvPr>
          <p:cNvCxnSpPr>
            <a:cxnSpLocks/>
          </p:cNvCxnSpPr>
          <p:nvPr/>
        </p:nvCxnSpPr>
        <p:spPr>
          <a:xfrm>
            <a:off x="6442074" y="2660077"/>
            <a:ext cx="0" cy="3639831"/>
          </a:xfrm>
          <a:prstGeom prst="line">
            <a:avLst/>
          </a:prstGeom>
          <a:ln w="28575">
            <a:solidFill>
              <a:srgbClr val="FF9E6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feld 54">
            <a:extLst>
              <a:ext uri="{FF2B5EF4-FFF2-40B4-BE49-F238E27FC236}">
                <a16:creationId xmlns:a16="http://schemas.microsoft.com/office/drawing/2014/main" id="{1630FFE6-D226-DD62-76FD-59DE947670A1}"/>
              </a:ext>
            </a:extLst>
          </p:cNvPr>
          <p:cNvSpPr txBox="1"/>
          <p:nvPr/>
        </p:nvSpPr>
        <p:spPr>
          <a:xfrm>
            <a:off x="6420748" y="2763651"/>
            <a:ext cx="1887860" cy="2608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buClr>
                <a:schemeClr val="tx2"/>
              </a:buClr>
            </a:pPr>
            <a:r>
              <a:rPr lang="de-DE" sz="1200" spc="-20"/>
              <a:t>Fahrzeugbesitz &amp; Mobilität</a:t>
            </a:r>
          </a:p>
        </p:txBody>
      </p:sp>
      <p:graphicFrame>
        <p:nvGraphicFramePr>
          <p:cNvPr id="81" name="Diagramm 59">
            <a:extLst>
              <a:ext uri="{FF2B5EF4-FFF2-40B4-BE49-F238E27FC236}">
                <a16:creationId xmlns:a16="http://schemas.microsoft.com/office/drawing/2014/main" id="{8C6B408A-C6C5-C4DE-93CF-6FF8B71FE545}"/>
              </a:ext>
            </a:extLst>
          </p:cNvPr>
          <p:cNvGraphicFramePr/>
          <p:nvPr/>
        </p:nvGraphicFramePr>
        <p:xfrm>
          <a:off x="6205344" y="2969716"/>
          <a:ext cx="1957716" cy="1216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83" name="Textfeld 38">
            <a:extLst>
              <a:ext uri="{FF2B5EF4-FFF2-40B4-BE49-F238E27FC236}">
                <a16:creationId xmlns:a16="http://schemas.microsoft.com/office/drawing/2014/main" id="{C10147E9-CFE0-EB18-F0E5-B60404F81F72}"/>
              </a:ext>
            </a:extLst>
          </p:cNvPr>
          <p:cNvSpPr txBox="1"/>
          <p:nvPr/>
        </p:nvSpPr>
        <p:spPr>
          <a:xfrm>
            <a:off x="6644754" y="4190180"/>
            <a:ext cx="1344597" cy="42943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100" dirty="0">
                <a:solidFill>
                  <a:srgbClr val="FF9E66"/>
                </a:solidFill>
              </a:rPr>
              <a:t>Vielfahrer: </a:t>
            </a:r>
            <a:r>
              <a:rPr lang="de-DE" sz="1100" dirty="0">
                <a:solidFill>
                  <a:srgbClr val="000000"/>
                </a:solidFill>
              </a:rPr>
              <a:t>49%</a:t>
            </a:r>
            <a:br>
              <a:rPr lang="de-DE" sz="1100" dirty="0">
                <a:solidFill>
                  <a:srgbClr val="71ADFF"/>
                </a:solidFill>
              </a:rPr>
            </a:br>
            <a:r>
              <a:rPr lang="de-DE" sz="1100" dirty="0" err="1">
                <a:solidFill>
                  <a:srgbClr val="FF9E66"/>
                </a:solidFill>
              </a:rPr>
              <a:t>Wenigfahrer</a:t>
            </a:r>
            <a:r>
              <a:rPr lang="de-DE" sz="1100" dirty="0">
                <a:solidFill>
                  <a:srgbClr val="FF9E66"/>
                </a:solidFill>
              </a:rPr>
              <a:t>: </a:t>
            </a:r>
            <a:r>
              <a:rPr lang="de-DE" sz="1100" b="1" dirty="0">
                <a:solidFill>
                  <a:srgbClr val="FF0000"/>
                </a:solidFill>
              </a:rPr>
              <a:t>23%</a:t>
            </a:r>
          </a:p>
        </p:txBody>
      </p:sp>
      <p:cxnSp>
        <p:nvCxnSpPr>
          <p:cNvPr id="84" name="Gerade Verbindung 43">
            <a:extLst>
              <a:ext uri="{FF2B5EF4-FFF2-40B4-BE49-F238E27FC236}">
                <a16:creationId xmlns:a16="http://schemas.microsoft.com/office/drawing/2014/main" id="{98E17F0D-B79C-CEF5-D030-F260A0BC081E}"/>
              </a:ext>
            </a:extLst>
          </p:cNvPr>
          <p:cNvCxnSpPr>
            <a:cxnSpLocks/>
          </p:cNvCxnSpPr>
          <p:nvPr/>
        </p:nvCxnSpPr>
        <p:spPr>
          <a:xfrm flipH="1">
            <a:off x="4404986" y="5594024"/>
            <a:ext cx="3849869" cy="0"/>
          </a:xfrm>
          <a:prstGeom prst="line">
            <a:avLst/>
          </a:prstGeom>
          <a:ln w="28575">
            <a:solidFill>
              <a:srgbClr val="FF9E6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feld 54">
            <a:extLst>
              <a:ext uri="{FF2B5EF4-FFF2-40B4-BE49-F238E27FC236}">
                <a16:creationId xmlns:a16="http://schemas.microsoft.com/office/drawing/2014/main" id="{E863938F-E5DF-F245-2FC9-7B6FE1CE7FE6}"/>
              </a:ext>
            </a:extLst>
          </p:cNvPr>
          <p:cNvSpPr txBox="1"/>
          <p:nvPr/>
        </p:nvSpPr>
        <p:spPr>
          <a:xfrm>
            <a:off x="4404986" y="5668527"/>
            <a:ext cx="1887860" cy="2608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buClr>
                <a:schemeClr val="tx2"/>
              </a:buClr>
            </a:pPr>
            <a:r>
              <a:rPr lang="de-DE" sz="1200" dirty="0"/>
              <a:t>Wohnen im Eigentum</a:t>
            </a:r>
          </a:p>
        </p:txBody>
      </p:sp>
      <p:sp>
        <p:nvSpPr>
          <p:cNvPr id="86" name="Textfeld 38">
            <a:extLst>
              <a:ext uri="{FF2B5EF4-FFF2-40B4-BE49-F238E27FC236}">
                <a16:creationId xmlns:a16="http://schemas.microsoft.com/office/drawing/2014/main" id="{24617052-B5E1-CB42-4B05-76D53E42D29F}"/>
              </a:ext>
            </a:extLst>
          </p:cNvPr>
          <p:cNvSpPr txBox="1"/>
          <p:nvPr/>
        </p:nvSpPr>
        <p:spPr>
          <a:xfrm>
            <a:off x="4597363" y="5860405"/>
            <a:ext cx="1777770" cy="4292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720"/>
              </a:lnSpc>
              <a:buClr>
                <a:schemeClr val="tx2"/>
              </a:buClr>
            </a:pPr>
            <a:r>
              <a:rPr lang="de-DE" sz="1100" dirty="0">
                <a:solidFill>
                  <a:srgbClr val="FF9E66"/>
                </a:solidFill>
              </a:rPr>
              <a:t>Eigentumswohnung: </a:t>
            </a:r>
            <a:r>
              <a:rPr lang="de-DE" sz="1100" dirty="0">
                <a:solidFill>
                  <a:srgbClr val="000000"/>
                </a:solidFill>
              </a:rPr>
              <a:t>18%</a:t>
            </a:r>
            <a:br>
              <a:rPr lang="de-DE" sz="1100" dirty="0">
                <a:solidFill>
                  <a:srgbClr val="000000"/>
                </a:solidFill>
              </a:rPr>
            </a:br>
            <a:r>
              <a:rPr lang="de-DE" sz="1100" dirty="0">
                <a:solidFill>
                  <a:srgbClr val="FF9E66"/>
                </a:solidFill>
              </a:rPr>
              <a:t>Haus im Eigentum: </a:t>
            </a:r>
            <a:r>
              <a:rPr lang="de-DE" sz="1100" b="1" dirty="0">
                <a:solidFill>
                  <a:srgbClr val="FF0000"/>
                </a:solidFill>
              </a:rPr>
              <a:t>26%</a:t>
            </a:r>
          </a:p>
        </p:txBody>
      </p:sp>
      <p:sp>
        <p:nvSpPr>
          <p:cNvPr id="87" name="Textfeld 54">
            <a:extLst>
              <a:ext uri="{FF2B5EF4-FFF2-40B4-BE49-F238E27FC236}">
                <a16:creationId xmlns:a16="http://schemas.microsoft.com/office/drawing/2014/main" id="{DAFE1D67-8E63-41D7-B1DA-89F3459D5760}"/>
              </a:ext>
            </a:extLst>
          </p:cNvPr>
          <p:cNvSpPr txBox="1"/>
          <p:nvPr/>
        </p:nvSpPr>
        <p:spPr>
          <a:xfrm>
            <a:off x="6358422" y="5668527"/>
            <a:ext cx="1887860" cy="2608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buClr>
                <a:schemeClr val="tx2"/>
              </a:buClr>
            </a:pPr>
            <a:r>
              <a:rPr lang="de-DE" sz="1200"/>
              <a:t>Haustiere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CA3CE19-B06E-D5C5-01BA-D8816DA8654D}"/>
              </a:ext>
            </a:extLst>
          </p:cNvPr>
          <p:cNvSpPr txBox="1"/>
          <p:nvPr/>
        </p:nvSpPr>
        <p:spPr>
          <a:xfrm>
            <a:off x="12808178" y="40128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3600" indent="-183600" algn="l"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de-AT" err="1"/>
          </a:p>
        </p:txBody>
      </p:sp>
      <p:pic>
        <p:nvPicPr>
          <p:cNvPr id="25" name="Grafik 24" descr="Männlich mit einfarbiger Füllung">
            <a:extLst>
              <a:ext uri="{FF2B5EF4-FFF2-40B4-BE49-F238E27FC236}">
                <a16:creationId xmlns:a16="http://schemas.microsoft.com/office/drawing/2014/main" id="{BA32898E-865F-F398-95EA-6875179B39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50048" y="2169145"/>
            <a:ext cx="322661" cy="322661"/>
          </a:xfrm>
          <a:prstGeom prst="rect">
            <a:avLst/>
          </a:prstGeom>
        </p:spPr>
      </p:pic>
      <p:sp>
        <p:nvSpPr>
          <p:cNvPr id="88" name="Textfeld 38">
            <a:extLst>
              <a:ext uri="{FF2B5EF4-FFF2-40B4-BE49-F238E27FC236}">
                <a16:creationId xmlns:a16="http://schemas.microsoft.com/office/drawing/2014/main" id="{117A0018-D90A-0922-6321-EDB301895450}"/>
              </a:ext>
            </a:extLst>
          </p:cNvPr>
          <p:cNvSpPr txBox="1"/>
          <p:nvPr/>
        </p:nvSpPr>
        <p:spPr>
          <a:xfrm>
            <a:off x="6620470" y="5860405"/>
            <a:ext cx="1513329" cy="4292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720"/>
              </a:lnSpc>
              <a:buClr>
                <a:schemeClr val="tx2"/>
              </a:buClr>
            </a:pPr>
            <a:r>
              <a:rPr lang="de-DE" sz="1100" dirty="0">
                <a:solidFill>
                  <a:srgbClr val="FF9E66"/>
                </a:solidFill>
              </a:rPr>
              <a:t>Katze/</a:t>
            </a:r>
            <a:r>
              <a:rPr lang="de-DE" sz="1100" dirty="0" err="1">
                <a:solidFill>
                  <a:srgbClr val="FF9E66"/>
                </a:solidFill>
              </a:rPr>
              <a:t>n</a:t>
            </a:r>
            <a:r>
              <a:rPr lang="de-DE" sz="1100" dirty="0">
                <a:solidFill>
                  <a:srgbClr val="FF9E66"/>
                </a:solidFill>
              </a:rPr>
              <a:t>: </a:t>
            </a:r>
            <a:r>
              <a:rPr lang="de-DE" sz="1100" dirty="0">
                <a:solidFill>
                  <a:srgbClr val="000000"/>
                </a:solidFill>
              </a:rPr>
              <a:t>29%</a:t>
            </a:r>
            <a:br>
              <a:rPr lang="de-DE" sz="1100" dirty="0">
                <a:solidFill>
                  <a:srgbClr val="71ADFF"/>
                </a:solidFill>
              </a:rPr>
            </a:br>
            <a:r>
              <a:rPr lang="de-DE" sz="1100" dirty="0">
                <a:solidFill>
                  <a:srgbClr val="FF9E66"/>
                </a:solidFill>
              </a:rPr>
              <a:t>Hund/</a:t>
            </a:r>
            <a:r>
              <a:rPr lang="de-DE" sz="1100" dirty="0" err="1">
                <a:solidFill>
                  <a:srgbClr val="FF9E66"/>
                </a:solidFill>
              </a:rPr>
              <a:t>e</a:t>
            </a:r>
            <a:r>
              <a:rPr lang="de-DE" sz="1100" dirty="0">
                <a:solidFill>
                  <a:srgbClr val="FF9E66"/>
                </a:solidFill>
              </a:rPr>
              <a:t>: </a:t>
            </a:r>
            <a:r>
              <a:rPr lang="de-DE" sz="1100" dirty="0">
                <a:solidFill>
                  <a:srgbClr val="000000"/>
                </a:solidFill>
              </a:rPr>
              <a:t>24%</a:t>
            </a:r>
            <a:endParaRPr lang="de-DE" sz="1100" b="1" dirty="0">
              <a:solidFill>
                <a:srgbClr val="000000"/>
              </a:solidFill>
            </a:endParaRPr>
          </a:p>
        </p:txBody>
      </p:sp>
      <p:sp>
        <p:nvSpPr>
          <p:cNvPr id="89" name="Textfeld 54">
            <a:extLst>
              <a:ext uri="{FF2B5EF4-FFF2-40B4-BE49-F238E27FC236}">
                <a16:creationId xmlns:a16="http://schemas.microsoft.com/office/drawing/2014/main" id="{818EFF0F-92CF-7A40-4F23-9E53DB4AC3D6}"/>
              </a:ext>
            </a:extLst>
          </p:cNvPr>
          <p:cNvSpPr txBox="1"/>
          <p:nvPr/>
        </p:nvSpPr>
        <p:spPr>
          <a:xfrm>
            <a:off x="6373123" y="4672673"/>
            <a:ext cx="1887860" cy="2608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buClr>
                <a:schemeClr val="tx2"/>
              </a:buClr>
            </a:pPr>
            <a:r>
              <a:rPr lang="de-DE" sz="1200"/>
              <a:t>Am häufigsten genutzte Transportmittel</a:t>
            </a:r>
          </a:p>
        </p:txBody>
      </p:sp>
      <p:pic>
        <p:nvPicPr>
          <p:cNvPr id="91" name="Graphic 90" descr="Car with solid fill">
            <a:extLst>
              <a:ext uri="{FF2B5EF4-FFF2-40B4-BE49-F238E27FC236}">
                <a16:creationId xmlns:a16="http://schemas.microsoft.com/office/drawing/2014/main" id="{BADB8307-8DDC-0B4D-3075-9A450CA02E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53687" y="5033970"/>
            <a:ext cx="267836" cy="267836"/>
          </a:xfrm>
          <a:prstGeom prst="rect">
            <a:avLst/>
          </a:prstGeom>
        </p:spPr>
      </p:pic>
      <p:pic>
        <p:nvPicPr>
          <p:cNvPr id="93" name="Graphic 92" descr="Train with solid fill">
            <a:extLst>
              <a:ext uri="{FF2B5EF4-FFF2-40B4-BE49-F238E27FC236}">
                <a16:creationId xmlns:a16="http://schemas.microsoft.com/office/drawing/2014/main" id="{13D8972B-1261-BD96-1652-6D0B38FCAA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80625" y="5286222"/>
            <a:ext cx="193664" cy="193664"/>
          </a:xfrm>
          <a:prstGeom prst="rect">
            <a:avLst/>
          </a:prstGeom>
        </p:spPr>
      </p:pic>
      <p:sp>
        <p:nvSpPr>
          <p:cNvPr id="94" name="Textfeld 38">
            <a:extLst>
              <a:ext uri="{FF2B5EF4-FFF2-40B4-BE49-F238E27FC236}">
                <a16:creationId xmlns:a16="http://schemas.microsoft.com/office/drawing/2014/main" id="{CE03A683-6095-4FA4-EC69-AB9F881AA5A9}"/>
              </a:ext>
            </a:extLst>
          </p:cNvPr>
          <p:cNvSpPr txBox="1"/>
          <p:nvPr/>
        </p:nvSpPr>
        <p:spPr>
          <a:xfrm>
            <a:off x="7004614" y="5041893"/>
            <a:ext cx="1165274" cy="4292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1720"/>
              </a:lnSpc>
              <a:buClr>
                <a:schemeClr val="tx2"/>
              </a:buClr>
            </a:pPr>
            <a:r>
              <a:rPr lang="de-DE" sz="1100" dirty="0">
                <a:solidFill>
                  <a:srgbClr val="FF9E66"/>
                </a:solidFill>
              </a:rPr>
              <a:t>Auto: </a:t>
            </a:r>
            <a:r>
              <a:rPr lang="de-DE" sz="1100" b="1" dirty="0">
                <a:solidFill>
                  <a:srgbClr val="FF0000"/>
                </a:solidFill>
              </a:rPr>
              <a:t>47%</a:t>
            </a:r>
            <a:br>
              <a:rPr lang="de-DE" sz="1100" dirty="0">
                <a:solidFill>
                  <a:srgbClr val="71ADFF"/>
                </a:solidFill>
              </a:rPr>
            </a:br>
            <a:r>
              <a:rPr lang="de-DE" sz="1100" dirty="0">
                <a:solidFill>
                  <a:srgbClr val="FF9E66"/>
                </a:solidFill>
              </a:rPr>
              <a:t>Öffentlich: </a:t>
            </a:r>
            <a:r>
              <a:rPr lang="de-DE" sz="1100" dirty="0">
                <a:solidFill>
                  <a:srgbClr val="000000"/>
                </a:solidFill>
              </a:rPr>
              <a:t>22%</a:t>
            </a:r>
          </a:p>
        </p:txBody>
      </p:sp>
      <p:cxnSp>
        <p:nvCxnSpPr>
          <p:cNvPr id="95" name="Gerade Verbindung 53">
            <a:extLst>
              <a:ext uri="{FF2B5EF4-FFF2-40B4-BE49-F238E27FC236}">
                <a16:creationId xmlns:a16="http://schemas.microsoft.com/office/drawing/2014/main" id="{551F1896-3288-5374-D1E2-D2BC5A8921BD}"/>
              </a:ext>
            </a:extLst>
          </p:cNvPr>
          <p:cNvCxnSpPr>
            <a:cxnSpLocks/>
          </p:cNvCxnSpPr>
          <p:nvPr/>
        </p:nvCxnSpPr>
        <p:spPr>
          <a:xfrm flipH="1">
            <a:off x="8401524" y="2913712"/>
            <a:ext cx="3459807" cy="0"/>
          </a:xfrm>
          <a:prstGeom prst="line">
            <a:avLst/>
          </a:prstGeom>
          <a:ln w="28575">
            <a:solidFill>
              <a:srgbClr val="FF9E6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feld 38">
            <a:extLst>
              <a:ext uri="{FF2B5EF4-FFF2-40B4-BE49-F238E27FC236}">
                <a16:creationId xmlns:a16="http://schemas.microsoft.com/office/drawing/2014/main" id="{E68FC790-7E84-573C-4315-CE5B6F7A2474}"/>
              </a:ext>
            </a:extLst>
          </p:cNvPr>
          <p:cNvSpPr txBox="1"/>
          <p:nvPr/>
        </p:nvSpPr>
        <p:spPr>
          <a:xfrm>
            <a:off x="10635438" y="2100305"/>
            <a:ext cx="1067816" cy="7583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buClr>
                <a:schemeClr val="tx2"/>
              </a:buClr>
            </a:pPr>
            <a:r>
              <a:rPr lang="de-DE" sz="1000" dirty="0">
                <a:solidFill>
                  <a:srgbClr val="FF9E66"/>
                </a:solidFill>
              </a:rPr>
              <a:t>In Partnerschaft: </a:t>
            </a:r>
          </a:p>
          <a:p>
            <a:pPr algn="ctr"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59%</a:t>
            </a:r>
          </a:p>
          <a:p>
            <a:pPr algn="ctr">
              <a:buClr>
                <a:schemeClr val="tx2"/>
              </a:buClr>
            </a:pPr>
            <a:br>
              <a:rPr lang="de-DE" sz="300" dirty="0">
                <a:solidFill>
                  <a:schemeClr val="accent1"/>
                </a:solidFill>
              </a:rPr>
            </a:br>
            <a:r>
              <a:rPr lang="de-DE" sz="1000" dirty="0">
                <a:solidFill>
                  <a:srgbClr val="FF9E66"/>
                </a:solidFill>
              </a:rPr>
              <a:t>Single/geschieden/verwitwet:</a:t>
            </a:r>
            <a:r>
              <a:rPr lang="de-DE" sz="900" dirty="0">
                <a:solidFill>
                  <a:srgbClr val="FF9E66"/>
                </a:solidFill>
              </a:rPr>
              <a:t> </a:t>
            </a:r>
          </a:p>
          <a:p>
            <a:pPr algn="ctr"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41%</a:t>
            </a:r>
          </a:p>
        </p:txBody>
      </p:sp>
      <p:sp>
        <p:nvSpPr>
          <p:cNvPr id="99" name="Textfeld 56">
            <a:extLst>
              <a:ext uri="{FF2B5EF4-FFF2-40B4-BE49-F238E27FC236}">
                <a16:creationId xmlns:a16="http://schemas.microsoft.com/office/drawing/2014/main" id="{2F550004-CC79-3BF9-8A5C-230FD6AB437D}"/>
              </a:ext>
            </a:extLst>
          </p:cNvPr>
          <p:cNvSpPr txBox="1"/>
          <p:nvPr/>
        </p:nvSpPr>
        <p:spPr>
          <a:xfrm>
            <a:off x="8451364" y="2963088"/>
            <a:ext cx="343074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 dirty="0"/>
              <a:t>Kinder im Haushalt &amp; Alter der Kinder</a:t>
            </a:r>
          </a:p>
        </p:txBody>
      </p:sp>
      <p:cxnSp>
        <p:nvCxnSpPr>
          <p:cNvPr id="101" name="Gerade Verbindung 53">
            <a:extLst>
              <a:ext uri="{FF2B5EF4-FFF2-40B4-BE49-F238E27FC236}">
                <a16:creationId xmlns:a16="http://schemas.microsoft.com/office/drawing/2014/main" id="{F1548A05-A6B1-E0BE-A7E7-AD062656C8CE}"/>
              </a:ext>
            </a:extLst>
          </p:cNvPr>
          <p:cNvCxnSpPr>
            <a:cxnSpLocks/>
          </p:cNvCxnSpPr>
          <p:nvPr/>
        </p:nvCxnSpPr>
        <p:spPr>
          <a:xfrm flipH="1">
            <a:off x="8401524" y="3955761"/>
            <a:ext cx="3459807" cy="0"/>
          </a:xfrm>
          <a:prstGeom prst="line">
            <a:avLst/>
          </a:prstGeom>
          <a:ln w="28575">
            <a:solidFill>
              <a:srgbClr val="FF9E6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feld 56">
            <a:extLst>
              <a:ext uri="{FF2B5EF4-FFF2-40B4-BE49-F238E27FC236}">
                <a16:creationId xmlns:a16="http://schemas.microsoft.com/office/drawing/2014/main" id="{F110E91A-74BE-937D-DD5E-5B912AF4392A}"/>
              </a:ext>
            </a:extLst>
          </p:cNvPr>
          <p:cNvSpPr txBox="1"/>
          <p:nvPr/>
        </p:nvSpPr>
        <p:spPr>
          <a:xfrm>
            <a:off x="8451364" y="4004306"/>
            <a:ext cx="343074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Wohnsituation</a:t>
            </a:r>
          </a:p>
        </p:txBody>
      </p:sp>
      <p:graphicFrame>
        <p:nvGraphicFramePr>
          <p:cNvPr id="104" name="Diagramm 37">
            <a:extLst>
              <a:ext uri="{FF2B5EF4-FFF2-40B4-BE49-F238E27FC236}">
                <a16:creationId xmlns:a16="http://schemas.microsoft.com/office/drawing/2014/main" id="{33E0E932-D876-5B48-E656-F49A88553FCB}"/>
              </a:ext>
            </a:extLst>
          </p:cNvPr>
          <p:cNvGraphicFramePr/>
          <p:nvPr/>
        </p:nvGraphicFramePr>
        <p:xfrm>
          <a:off x="8390442" y="4117824"/>
          <a:ext cx="1620400" cy="672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graphicFrame>
        <p:nvGraphicFramePr>
          <p:cNvPr id="105" name="Diagramm 37">
            <a:extLst>
              <a:ext uri="{FF2B5EF4-FFF2-40B4-BE49-F238E27FC236}">
                <a16:creationId xmlns:a16="http://schemas.microsoft.com/office/drawing/2014/main" id="{5202991C-F36A-D5D9-93B8-57CD1F1F9DCD}"/>
              </a:ext>
            </a:extLst>
          </p:cNvPr>
          <p:cNvGraphicFramePr/>
          <p:nvPr/>
        </p:nvGraphicFramePr>
        <p:xfrm>
          <a:off x="10111057" y="4117824"/>
          <a:ext cx="1620400" cy="672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1B435E7E-2404-9C3B-B1FE-95C842AB65C1}"/>
              </a:ext>
            </a:extLst>
          </p:cNvPr>
          <p:cNvGrpSpPr/>
          <p:nvPr/>
        </p:nvGrpSpPr>
        <p:grpSpPr>
          <a:xfrm>
            <a:off x="4236176" y="6565779"/>
            <a:ext cx="5577919" cy="260210"/>
            <a:chOff x="2974313" y="6565779"/>
            <a:chExt cx="5577919" cy="260210"/>
          </a:xfrm>
        </p:grpSpPr>
        <p:sp>
          <p:nvSpPr>
            <p:cNvPr id="15" name="Textfeld 6">
              <a:extLst>
                <a:ext uri="{FF2B5EF4-FFF2-40B4-BE49-F238E27FC236}">
                  <a16:creationId xmlns:a16="http://schemas.microsoft.com/office/drawing/2014/main" id="{54EBD4E0-D267-25E3-182F-C2526499C8D8}"/>
                </a:ext>
              </a:extLst>
            </p:cNvPr>
            <p:cNvSpPr txBox="1"/>
            <p:nvPr/>
          </p:nvSpPr>
          <p:spPr>
            <a:xfrm>
              <a:off x="3179704" y="6585418"/>
              <a:ext cx="537252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/>
                <a:t>= größere, signifikante Abweichungen von der Gesamtstichprobe (mindestens 7 Prozentpunkte höher/niedriger)</a:t>
              </a:r>
            </a:p>
          </p:txBody>
        </p:sp>
        <p:sp>
          <p:nvSpPr>
            <p:cNvPr id="16" name="Textfeld 38">
              <a:extLst>
                <a:ext uri="{FF2B5EF4-FFF2-40B4-BE49-F238E27FC236}">
                  <a16:creationId xmlns:a16="http://schemas.microsoft.com/office/drawing/2014/main" id="{84E11427-7042-CF82-4188-517F75B9DBFA}"/>
                </a:ext>
              </a:extLst>
            </p:cNvPr>
            <p:cNvSpPr txBox="1"/>
            <p:nvPr/>
          </p:nvSpPr>
          <p:spPr>
            <a:xfrm>
              <a:off x="2974313" y="6565779"/>
              <a:ext cx="198562" cy="2150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ts val="1720"/>
                </a:lnSpc>
                <a:buClr>
                  <a:schemeClr val="tx2"/>
                </a:buClr>
              </a:pPr>
              <a:r>
                <a:rPr lang="de-DE" sz="1100" b="1">
                  <a:solidFill>
                    <a:srgbClr val="4DA685"/>
                  </a:solidFill>
                </a:rPr>
                <a:t>↑</a:t>
              </a:r>
            </a:p>
          </p:txBody>
        </p:sp>
        <p:sp>
          <p:nvSpPr>
            <p:cNvPr id="17" name="Textfeld 38">
              <a:extLst>
                <a:ext uri="{FF2B5EF4-FFF2-40B4-BE49-F238E27FC236}">
                  <a16:creationId xmlns:a16="http://schemas.microsoft.com/office/drawing/2014/main" id="{025BFA7D-A62A-6218-8B7A-25AABF034C2F}"/>
                </a:ext>
              </a:extLst>
            </p:cNvPr>
            <p:cNvSpPr txBox="1"/>
            <p:nvPr/>
          </p:nvSpPr>
          <p:spPr>
            <a:xfrm rot="10800000">
              <a:off x="3066152" y="6610935"/>
              <a:ext cx="198562" cy="2150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ts val="1720"/>
                </a:lnSpc>
                <a:buClr>
                  <a:schemeClr val="tx2"/>
                </a:buClr>
              </a:pPr>
              <a:r>
                <a:rPr lang="de-DE" sz="1100" b="1">
                  <a:solidFill>
                    <a:srgbClr val="FF0000"/>
                  </a:solidFill>
                </a:rPr>
                <a:t>↑</a:t>
              </a:r>
            </a:p>
          </p:txBody>
        </p:sp>
      </p:grpSp>
      <p:sp>
        <p:nvSpPr>
          <p:cNvPr id="33" name="Textfeld 38">
            <a:extLst>
              <a:ext uri="{FF2B5EF4-FFF2-40B4-BE49-F238E27FC236}">
                <a16:creationId xmlns:a16="http://schemas.microsoft.com/office/drawing/2014/main" id="{F6EF8944-0CC6-5082-BBD4-1D3B04198C70}"/>
              </a:ext>
            </a:extLst>
          </p:cNvPr>
          <p:cNvSpPr txBox="1"/>
          <p:nvPr/>
        </p:nvSpPr>
        <p:spPr>
          <a:xfrm rot="10800000">
            <a:off x="6131751" y="3239922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876B1792-E248-1561-B734-33AAC66D2D11}"/>
              </a:ext>
            </a:extLst>
          </p:cNvPr>
          <p:cNvSpPr txBox="1"/>
          <p:nvPr/>
        </p:nvSpPr>
        <p:spPr>
          <a:xfrm rot="10800000">
            <a:off x="6016531" y="3802231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49" name="Textfeld 38">
            <a:extLst>
              <a:ext uri="{FF2B5EF4-FFF2-40B4-BE49-F238E27FC236}">
                <a16:creationId xmlns:a16="http://schemas.microsoft.com/office/drawing/2014/main" id="{451D976B-22E3-D564-CAB2-95FEDA864BE2}"/>
              </a:ext>
            </a:extLst>
          </p:cNvPr>
          <p:cNvSpPr txBox="1"/>
          <p:nvPr/>
        </p:nvSpPr>
        <p:spPr>
          <a:xfrm rot="10800000">
            <a:off x="8053584" y="3039108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51" name="Textfeld 38">
            <a:extLst>
              <a:ext uri="{FF2B5EF4-FFF2-40B4-BE49-F238E27FC236}">
                <a16:creationId xmlns:a16="http://schemas.microsoft.com/office/drawing/2014/main" id="{F78AAA49-C576-EEDF-0005-A27DAEAF2FDE}"/>
              </a:ext>
            </a:extLst>
          </p:cNvPr>
          <p:cNvSpPr txBox="1"/>
          <p:nvPr/>
        </p:nvSpPr>
        <p:spPr>
          <a:xfrm rot="10800000">
            <a:off x="7715321" y="440295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59" name="Textfeld 38">
            <a:extLst>
              <a:ext uri="{FF2B5EF4-FFF2-40B4-BE49-F238E27FC236}">
                <a16:creationId xmlns:a16="http://schemas.microsoft.com/office/drawing/2014/main" id="{AA9B5F04-E30D-4CCA-9722-833187487EE4}"/>
              </a:ext>
            </a:extLst>
          </p:cNvPr>
          <p:cNvSpPr txBox="1"/>
          <p:nvPr/>
        </p:nvSpPr>
        <p:spPr>
          <a:xfrm rot="10800000">
            <a:off x="7604484" y="5085384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27" name="Textfeld 38">
            <a:extLst>
              <a:ext uri="{FF2B5EF4-FFF2-40B4-BE49-F238E27FC236}">
                <a16:creationId xmlns:a16="http://schemas.microsoft.com/office/drawing/2014/main" id="{2505BC8D-C56D-5BA2-839D-42D846DDB62F}"/>
              </a:ext>
            </a:extLst>
          </p:cNvPr>
          <p:cNvSpPr txBox="1"/>
          <p:nvPr/>
        </p:nvSpPr>
        <p:spPr>
          <a:xfrm rot="10800000">
            <a:off x="3726884" y="3158724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63" name="Textfeld 38">
            <a:extLst>
              <a:ext uri="{FF2B5EF4-FFF2-40B4-BE49-F238E27FC236}">
                <a16:creationId xmlns:a16="http://schemas.microsoft.com/office/drawing/2014/main" id="{B39E111E-43C0-755B-BAE4-F89BC7A7E6EA}"/>
              </a:ext>
            </a:extLst>
          </p:cNvPr>
          <p:cNvSpPr txBox="1"/>
          <p:nvPr/>
        </p:nvSpPr>
        <p:spPr>
          <a:xfrm rot="10800000">
            <a:off x="1186410" y="5512336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68" name="Textfeld 38">
            <a:extLst>
              <a:ext uri="{FF2B5EF4-FFF2-40B4-BE49-F238E27FC236}">
                <a16:creationId xmlns:a16="http://schemas.microsoft.com/office/drawing/2014/main" id="{CCB9FC2F-C7AD-4502-F9EC-C5FCE6345D74}"/>
              </a:ext>
            </a:extLst>
          </p:cNvPr>
          <p:cNvSpPr txBox="1"/>
          <p:nvPr/>
        </p:nvSpPr>
        <p:spPr>
          <a:xfrm>
            <a:off x="1194436" y="5912435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103" name="Textfeld 38">
            <a:extLst>
              <a:ext uri="{FF2B5EF4-FFF2-40B4-BE49-F238E27FC236}">
                <a16:creationId xmlns:a16="http://schemas.microsoft.com/office/drawing/2014/main" id="{219C5167-6A91-55FE-BF43-7EBCAFDCF816}"/>
              </a:ext>
            </a:extLst>
          </p:cNvPr>
          <p:cNvSpPr txBox="1"/>
          <p:nvPr/>
        </p:nvSpPr>
        <p:spPr>
          <a:xfrm rot="10800000">
            <a:off x="10663141" y="4220921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106" name="Textfeld 38">
            <a:extLst>
              <a:ext uri="{FF2B5EF4-FFF2-40B4-BE49-F238E27FC236}">
                <a16:creationId xmlns:a16="http://schemas.microsoft.com/office/drawing/2014/main" id="{6EC124B3-4BB5-2B5C-ACD1-C1969C4C66BB}"/>
              </a:ext>
            </a:extLst>
          </p:cNvPr>
          <p:cNvSpPr txBox="1"/>
          <p:nvPr/>
        </p:nvSpPr>
        <p:spPr>
          <a:xfrm>
            <a:off x="11247089" y="2684275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107" name="Textfeld 38">
            <a:extLst>
              <a:ext uri="{FF2B5EF4-FFF2-40B4-BE49-F238E27FC236}">
                <a16:creationId xmlns:a16="http://schemas.microsoft.com/office/drawing/2014/main" id="{D5337A73-A353-B1AC-A9C6-519A4D619E1F}"/>
              </a:ext>
            </a:extLst>
          </p:cNvPr>
          <p:cNvSpPr txBox="1"/>
          <p:nvPr/>
        </p:nvSpPr>
        <p:spPr>
          <a:xfrm rot="10800000">
            <a:off x="11243390" y="2202243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graphicFrame>
        <p:nvGraphicFramePr>
          <p:cNvPr id="9" name="Diagramm 9">
            <a:extLst>
              <a:ext uri="{FF2B5EF4-FFF2-40B4-BE49-F238E27FC236}">
                <a16:creationId xmlns:a16="http://schemas.microsoft.com/office/drawing/2014/main" id="{507967A3-C87B-53D2-85F7-EC164360F3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04879" y="425113"/>
          <a:ext cx="2019762" cy="1378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21" name="Textfeld 38">
            <a:extLst>
              <a:ext uri="{FF2B5EF4-FFF2-40B4-BE49-F238E27FC236}">
                <a16:creationId xmlns:a16="http://schemas.microsoft.com/office/drawing/2014/main" id="{F730F186-78F1-4004-4471-623835CEA82A}"/>
              </a:ext>
            </a:extLst>
          </p:cNvPr>
          <p:cNvSpPr txBox="1"/>
          <p:nvPr/>
        </p:nvSpPr>
        <p:spPr>
          <a:xfrm>
            <a:off x="3848262" y="2199441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23" name="Textfeld 38">
            <a:extLst>
              <a:ext uri="{FF2B5EF4-FFF2-40B4-BE49-F238E27FC236}">
                <a16:creationId xmlns:a16="http://schemas.microsoft.com/office/drawing/2014/main" id="{4D682D3E-DAF8-D554-EC91-D09BA280E35E}"/>
              </a:ext>
            </a:extLst>
          </p:cNvPr>
          <p:cNvSpPr txBox="1"/>
          <p:nvPr/>
        </p:nvSpPr>
        <p:spPr>
          <a:xfrm rot="10800000">
            <a:off x="3893852" y="4655401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76" name="Textfeld 38">
            <a:extLst>
              <a:ext uri="{FF2B5EF4-FFF2-40B4-BE49-F238E27FC236}">
                <a16:creationId xmlns:a16="http://schemas.microsoft.com/office/drawing/2014/main" id="{D053E97D-A6EB-3AC5-72A2-8A324DDD9078}"/>
              </a:ext>
            </a:extLst>
          </p:cNvPr>
          <p:cNvSpPr txBox="1"/>
          <p:nvPr/>
        </p:nvSpPr>
        <p:spPr>
          <a:xfrm rot="10800000">
            <a:off x="7833177" y="3266454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92" name="Textfeld 38">
            <a:extLst>
              <a:ext uri="{FF2B5EF4-FFF2-40B4-BE49-F238E27FC236}">
                <a16:creationId xmlns:a16="http://schemas.microsoft.com/office/drawing/2014/main" id="{1C3444A0-C879-D44E-0528-480F4D32AA8F}"/>
              </a:ext>
            </a:extLst>
          </p:cNvPr>
          <p:cNvSpPr txBox="1"/>
          <p:nvPr/>
        </p:nvSpPr>
        <p:spPr>
          <a:xfrm rot="10800000">
            <a:off x="6047364" y="6114082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pic>
        <p:nvPicPr>
          <p:cNvPr id="109" name="Grafik 21" descr="Ein Bild, das Screenshot, Elektronik, stereo, Electric Blue (Farbe) enthält.&#10;&#10;KI-generierte Inhalte können fehlerhaft sein.">
            <a:extLst>
              <a:ext uri="{FF2B5EF4-FFF2-40B4-BE49-F238E27FC236}">
                <a16:creationId xmlns:a16="http://schemas.microsoft.com/office/drawing/2014/main" id="{82836F10-0D5B-AD3F-5B5F-C97D871FA4E7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duotone>
              <a:prstClr val="black"/>
              <a:srgbClr val="FF9E6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30583" y="5903790"/>
            <a:ext cx="321745" cy="217600"/>
          </a:xfrm>
          <a:prstGeom prst="rect">
            <a:avLst/>
          </a:prstGeom>
        </p:spPr>
      </p:pic>
      <p:sp>
        <p:nvSpPr>
          <p:cNvPr id="110" name="Textfeld 38">
            <a:extLst>
              <a:ext uri="{FF2B5EF4-FFF2-40B4-BE49-F238E27FC236}">
                <a16:creationId xmlns:a16="http://schemas.microsoft.com/office/drawing/2014/main" id="{164D5580-5243-6634-E711-3FF614105916}"/>
              </a:ext>
            </a:extLst>
          </p:cNvPr>
          <p:cNvSpPr txBox="1"/>
          <p:nvPr/>
        </p:nvSpPr>
        <p:spPr>
          <a:xfrm rot="10800000">
            <a:off x="9055013" y="5301782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111" name="Textfeld 38">
            <a:extLst>
              <a:ext uri="{FF2B5EF4-FFF2-40B4-BE49-F238E27FC236}">
                <a16:creationId xmlns:a16="http://schemas.microsoft.com/office/drawing/2014/main" id="{C4EEE8B9-4640-E4C8-2FCC-42FEE3FD7874}"/>
              </a:ext>
            </a:extLst>
          </p:cNvPr>
          <p:cNvSpPr txBox="1"/>
          <p:nvPr/>
        </p:nvSpPr>
        <p:spPr>
          <a:xfrm rot="10800000">
            <a:off x="9055013" y="550484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112" name="Textfeld 38">
            <a:extLst>
              <a:ext uri="{FF2B5EF4-FFF2-40B4-BE49-F238E27FC236}">
                <a16:creationId xmlns:a16="http://schemas.microsoft.com/office/drawing/2014/main" id="{E4587339-FEAE-AE29-89F3-9CA62D0EB89A}"/>
              </a:ext>
            </a:extLst>
          </p:cNvPr>
          <p:cNvSpPr txBox="1"/>
          <p:nvPr/>
        </p:nvSpPr>
        <p:spPr>
          <a:xfrm rot="10800000">
            <a:off x="9055013" y="591367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10" name="Datumsplatzhalter 1">
            <a:extLst>
              <a:ext uri="{FF2B5EF4-FFF2-40B4-BE49-F238E27FC236}">
                <a16:creationId xmlns:a16="http://schemas.microsoft.com/office/drawing/2014/main" id="{A0254DC2-7EBB-669A-71AE-0492C27DE2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875" y="6556875"/>
            <a:ext cx="588192" cy="219454"/>
          </a:xfrm>
        </p:spPr>
        <p:txBody>
          <a:bodyPr/>
          <a:lstStyle/>
          <a:p>
            <a:fld id="{72D77B36-95B7-FF43-8BF5-D80FC3958B26}" type="datetime1">
              <a:rPr lang="de-AT" noProof="0" smtClean="0"/>
              <a:t>28.05.26</a:t>
            </a:fld>
            <a:endParaRPr lang="de-AT" noProof="0" dirty="0"/>
          </a:p>
        </p:txBody>
      </p:sp>
      <p:sp>
        <p:nvSpPr>
          <p:cNvPr id="20" name="Fußzeilenplatzhalter 2">
            <a:extLst>
              <a:ext uri="{FF2B5EF4-FFF2-40B4-BE49-F238E27FC236}">
                <a16:creationId xmlns:a16="http://schemas.microsoft.com/office/drawing/2014/main" id="{34ED2D94-ADDB-8692-8677-2279271C9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0" y="6556875"/>
            <a:ext cx="6127477" cy="219454"/>
          </a:xfrm>
        </p:spPr>
        <p:txBody>
          <a:bodyPr/>
          <a:lstStyle/>
          <a:p>
            <a:r>
              <a:rPr lang="de-AT" noProof="0" dirty="0"/>
              <a:t>Retail-Segmentierung Neu│ S. Stratula &amp; K. Preibisch</a:t>
            </a:r>
          </a:p>
        </p:txBody>
      </p:sp>
    </p:spTree>
    <p:extLst>
      <p:ext uri="{BB962C8B-B14F-4D97-AF65-F5344CB8AC3E}">
        <p14:creationId xmlns:p14="http://schemas.microsoft.com/office/powerpoint/2010/main" val="253911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15CA3-35B4-2037-EA8B-B02F45A1C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22E25C6F-2397-BC65-5433-31A7801FDB7E}"/>
              </a:ext>
            </a:extLst>
          </p:cNvPr>
          <p:cNvSpPr/>
          <p:nvPr/>
        </p:nvSpPr>
        <p:spPr>
          <a:xfrm>
            <a:off x="337987" y="1854651"/>
            <a:ext cx="5697659" cy="4414566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5D84C8F-94D7-0D0D-CA54-B225382331AE}"/>
              </a:ext>
            </a:extLst>
          </p:cNvPr>
          <p:cNvSpPr txBox="1"/>
          <p:nvPr/>
        </p:nvSpPr>
        <p:spPr>
          <a:xfrm>
            <a:off x="315266" y="6371801"/>
            <a:ext cx="115460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Basis: </a:t>
            </a:r>
            <a:r>
              <a:rPr lang="de-DE" sz="800" dirty="0" err="1"/>
              <a:t>n</a:t>
            </a:r>
            <a:r>
              <a:rPr lang="de-DE" sz="800" dirty="0"/>
              <a:t>(Segment3)=546 | Grüne/rote Schriftfarbe und fette Markierung von Werten: Signifikante Abweichungen von der Gesamtstichprobe. Grün = signifikant höherer Wert, rot = signifikant niedrigerer Wert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E90B6E-084B-0A54-6640-64B5BD18A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18</a:t>
            </a:fld>
            <a:endParaRPr lang="de-AT" noProof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5C3B90F-4F75-30B3-E656-471CC6072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76" y="917607"/>
            <a:ext cx="11395074" cy="484473"/>
          </a:xfrm>
        </p:spPr>
        <p:txBody>
          <a:bodyPr/>
          <a:lstStyle/>
          <a:p>
            <a:r>
              <a:rPr lang="de-DE" sz="3400"/>
              <a:t>Versicherungseckdaten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94C6108-E6D0-E092-5999-9542296952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/>
              <a:t>Segment 3: Die Kundenservice Affinen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206721C-B424-195C-9A23-EE6C599647B0}"/>
              </a:ext>
            </a:extLst>
          </p:cNvPr>
          <p:cNvSpPr txBox="1"/>
          <p:nvPr/>
        </p:nvSpPr>
        <p:spPr>
          <a:xfrm>
            <a:off x="406796" y="1540342"/>
            <a:ext cx="3680713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400"/>
              <a:t>AKTUELLER VERSICHERUNGSSTATUS</a:t>
            </a:r>
          </a:p>
        </p:txBody>
      </p:sp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161DACD2-0B77-49AE-D5CB-F3AA3187C4CB}"/>
              </a:ext>
            </a:extLst>
          </p:cNvPr>
          <p:cNvCxnSpPr>
            <a:cxnSpLocks/>
          </p:cNvCxnSpPr>
          <p:nvPr/>
        </p:nvCxnSpPr>
        <p:spPr>
          <a:xfrm flipH="1">
            <a:off x="348557" y="3106183"/>
            <a:ext cx="5687089" cy="0"/>
          </a:xfrm>
          <a:prstGeom prst="line">
            <a:avLst/>
          </a:prstGeom>
          <a:ln w="28575">
            <a:solidFill>
              <a:srgbClr val="FF9E6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43">
            <a:extLst>
              <a:ext uri="{FF2B5EF4-FFF2-40B4-BE49-F238E27FC236}">
                <a16:creationId xmlns:a16="http://schemas.microsoft.com/office/drawing/2014/main" id="{047FEA49-9FB0-2C19-4B78-5F3B4FD94126}"/>
              </a:ext>
            </a:extLst>
          </p:cNvPr>
          <p:cNvCxnSpPr>
            <a:cxnSpLocks/>
          </p:cNvCxnSpPr>
          <p:nvPr/>
        </p:nvCxnSpPr>
        <p:spPr>
          <a:xfrm flipV="1">
            <a:off x="2040437" y="3112005"/>
            <a:ext cx="0" cy="1809622"/>
          </a:xfrm>
          <a:prstGeom prst="line">
            <a:avLst/>
          </a:prstGeom>
          <a:ln w="28575">
            <a:solidFill>
              <a:srgbClr val="FF9E6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feld 33">
            <a:extLst>
              <a:ext uri="{FF2B5EF4-FFF2-40B4-BE49-F238E27FC236}">
                <a16:creationId xmlns:a16="http://schemas.microsoft.com/office/drawing/2014/main" id="{A443BE32-27EB-5149-A65A-E5A51EB28074}"/>
              </a:ext>
            </a:extLst>
          </p:cNvPr>
          <p:cNvSpPr txBox="1"/>
          <p:nvPr/>
        </p:nvSpPr>
        <p:spPr>
          <a:xfrm>
            <a:off x="6174209" y="1566913"/>
            <a:ext cx="4856279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400"/>
              <a:t>VERSICHERUNGSBESITZ &amp; NEUABSCHLUSS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64E798B7-47A3-790F-0534-C06F1C7ACE5B}"/>
              </a:ext>
            </a:extLst>
          </p:cNvPr>
          <p:cNvSpPr/>
          <p:nvPr/>
        </p:nvSpPr>
        <p:spPr>
          <a:xfrm>
            <a:off x="6157976" y="1847901"/>
            <a:ext cx="5695735" cy="4428067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D795EDD-E489-1431-7CC7-522D6E1AF94A}"/>
              </a:ext>
            </a:extLst>
          </p:cNvPr>
          <p:cNvSpPr txBox="1"/>
          <p:nvPr/>
        </p:nvSpPr>
        <p:spPr>
          <a:xfrm>
            <a:off x="396875" y="1875824"/>
            <a:ext cx="123661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Beratertyp</a:t>
            </a:r>
          </a:p>
        </p:txBody>
      </p:sp>
      <p:graphicFrame>
        <p:nvGraphicFramePr>
          <p:cNvPr id="21" name="Diagramm 20">
            <a:extLst>
              <a:ext uri="{FF2B5EF4-FFF2-40B4-BE49-F238E27FC236}">
                <a16:creationId xmlns:a16="http://schemas.microsoft.com/office/drawing/2014/main" id="{B5139696-B4FC-65A9-65E1-846D01E3317E}"/>
              </a:ext>
            </a:extLst>
          </p:cNvPr>
          <p:cNvGraphicFramePr/>
          <p:nvPr/>
        </p:nvGraphicFramePr>
        <p:xfrm>
          <a:off x="-1267663" y="2025101"/>
          <a:ext cx="5638517" cy="1083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9" name="Grafik 68" descr="Ein Bild, das Schrift, Grafiken, Grafikdesign, Logo enthält.&#10;&#10;KI-generierte Inhalte können fehlerhaft sein.">
            <a:extLst>
              <a:ext uri="{FF2B5EF4-FFF2-40B4-BE49-F238E27FC236}">
                <a16:creationId xmlns:a16="http://schemas.microsoft.com/office/drawing/2014/main" id="{CF28A262-2954-6878-9BBA-B5AD6EFE5E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148" y="3547223"/>
            <a:ext cx="1061371" cy="190355"/>
          </a:xfrm>
          <a:prstGeom prst="rect">
            <a:avLst/>
          </a:prstGeom>
        </p:spPr>
      </p:pic>
      <p:sp>
        <p:nvSpPr>
          <p:cNvPr id="70" name="Textfeld 69">
            <a:extLst>
              <a:ext uri="{FF2B5EF4-FFF2-40B4-BE49-F238E27FC236}">
                <a16:creationId xmlns:a16="http://schemas.microsoft.com/office/drawing/2014/main" id="{805FBF98-6E11-2869-0FA3-F3FF20AF308D}"/>
              </a:ext>
            </a:extLst>
          </p:cNvPr>
          <p:cNvSpPr txBox="1"/>
          <p:nvPr/>
        </p:nvSpPr>
        <p:spPr>
          <a:xfrm>
            <a:off x="424094" y="3845347"/>
            <a:ext cx="1515196" cy="3899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600"/>
              </a:spcAft>
              <a:buClr>
                <a:schemeClr val="tx2"/>
              </a:buClr>
            </a:pPr>
            <a:r>
              <a:rPr lang="de-DE" sz="1100" dirty="0" err="1">
                <a:solidFill>
                  <a:srgbClr val="000000"/>
                </a:solidFill>
              </a:rPr>
              <a:t>Kund:innen</a:t>
            </a:r>
            <a:r>
              <a:rPr lang="de-DE" sz="1100" dirty="0">
                <a:solidFill>
                  <a:srgbClr val="000000"/>
                </a:solidFill>
              </a:rPr>
              <a:t>*: </a:t>
            </a:r>
            <a:r>
              <a:rPr lang="de-DE" sz="1100" b="1" dirty="0">
                <a:solidFill>
                  <a:srgbClr val="FF0000"/>
                </a:solidFill>
              </a:rPr>
              <a:t>25%</a:t>
            </a:r>
          </a:p>
          <a:p>
            <a:pPr algn="l">
              <a:spcAft>
                <a:spcPts val="600"/>
              </a:spcAft>
              <a:buClr>
                <a:schemeClr val="tx2"/>
              </a:buClr>
            </a:pPr>
            <a:r>
              <a:rPr lang="de-DE" sz="1100" dirty="0">
                <a:solidFill>
                  <a:srgbClr val="000000"/>
                </a:solidFill>
              </a:rPr>
              <a:t>Hauptversicherte: 15%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9149C966-766B-7293-F58B-B203D96C7EB7}"/>
              </a:ext>
            </a:extLst>
          </p:cNvPr>
          <p:cNvSpPr txBox="1"/>
          <p:nvPr/>
        </p:nvSpPr>
        <p:spPr>
          <a:xfrm>
            <a:off x="391464" y="4476410"/>
            <a:ext cx="1628876" cy="37847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800">
                <a:solidFill>
                  <a:schemeClr val="bg1">
                    <a:lumMod val="75000"/>
                  </a:schemeClr>
                </a:solidFill>
              </a:rPr>
              <a:t>*Definition als </a:t>
            </a:r>
            <a:r>
              <a:rPr lang="de-DE" sz="800" err="1">
                <a:solidFill>
                  <a:schemeClr val="bg1">
                    <a:lumMod val="75000"/>
                  </a:schemeClr>
                </a:solidFill>
              </a:rPr>
              <a:t>Kund:in</a:t>
            </a:r>
            <a:r>
              <a:rPr lang="de-DE" sz="800">
                <a:solidFill>
                  <a:schemeClr val="bg1">
                    <a:lumMod val="75000"/>
                  </a:schemeClr>
                </a:solidFill>
              </a:rPr>
              <a:t>: Person selbst oder der Haushalt der Person ist bei UNIQA versichert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886DF300-36CE-56B5-9339-7C2A2DE19A42}"/>
              </a:ext>
            </a:extLst>
          </p:cNvPr>
          <p:cNvSpPr txBox="1"/>
          <p:nvPr/>
        </p:nvSpPr>
        <p:spPr>
          <a:xfrm>
            <a:off x="396875" y="3174136"/>
            <a:ext cx="123661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Kundenstatus</a:t>
            </a:r>
          </a:p>
        </p:txBody>
      </p:sp>
      <p:cxnSp>
        <p:nvCxnSpPr>
          <p:cNvPr id="73" name="Gerade Verbindung 72">
            <a:extLst>
              <a:ext uri="{FF2B5EF4-FFF2-40B4-BE49-F238E27FC236}">
                <a16:creationId xmlns:a16="http://schemas.microsoft.com/office/drawing/2014/main" id="{5F962109-DBB7-40BE-0C94-F8C3F3450C85}"/>
              </a:ext>
            </a:extLst>
          </p:cNvPr>
          <p:cNvCxnSpPr>
            <a:cxnSpLocks/>
          </p:cNvCxnSpPr>
          <p:nvPr/>
        </p:nvCxnSpPr>
        <p:spPr>
          <a:xfrm flipH="1">
            <a:off x="343271" y="4921627"/>
            <a:ext cx="5661288" cy="0"/>
          </a:xfrm>
          <a:prstGeom prst="line">
            <a:avLst/>
          </a:prstGeom>
          <a:ln w="28575">
            <a:solidFill>
              <a:srgbClr val="FF9E6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feld 73">
            <a:extLst>
              <a:ext uri="{FF2B5EF4-FFF2-40B4-BE49-F238E27FC236}">
                <a16:creationId xmlns:a16="http://schemas.microsoft.com/office/drawing/2014/main" id="{3EA8C50A-5A66-03CE-C281-75D167483084}"/>
              </a:ext>
            </a:extLst>
          </p:cNvPr>
          <p:cNvSpPr txBox="1"/>
          <p:nvPr/>
        </p:nvSpPr>
        <p:spPr>
          <a:xfrm>
            <a:off x="2132649" y="3174136"/>
            <a:ext cx="1976531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Versicherungsausgaben</a:t>
            </a: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E3212AAA-FAF6-11A1-845D-DE0717292140}"/>
              </a:ext>
            </a:extLst>
          </p:cNvPr>
          <p:cNvSpPr txBox="1"/>
          <p:nvPr/>
        </p:nvSpPr>
        <p:spPr>
          <a:xfrm>
            <a:off x="2676789" y="3430707"/>
            <a:ext cx="796904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b="1" dirty="0">
                <a:solidFill>
                  <a:srgbClr val="FF0000"/>
                </a:solidFill>
              </a:rPr>
              <a:t>€ 167,3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337F024B-A386-41D0-5BA3-F0CDDB0D4E0E}"/>
              </a:ext>
            </a:extLst>
          </p:cNvPr>
          <p:cNvSpPr txBox="1"/>
          <p:nvPr/>
        </p:nvSpPr>
        <p:spPr>
          <a:xfrm>
            <a:off x="2079699" y="3766473"/>
            <a:ext cx="1943839" cy="6764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  <a:buClr>
                <a:schemeClr val="tx2"/>
              </a:buClr>
            </a:pPr>
            <a:r>
              <a:rPr lang="de-DE" sz="1100">
                <a:solidFill>
                  <a:srgbClr val="000000"/>
                </a:solidFill>
              </a:rPr>
              <a:t>im Durchschnitt pro Monat als Gesamtausgaben des Haushalts für private Versicherungen</a:t>
            </a:r>
          </a:p>
        </p:txBody>
      </p:sp>
      <p:pic>
        <p:nvPicPr>
          <p:cNvPr id="80" name="Grafik 79" descr="Ein Bild, das Electric Blue (Farbe), Screenshot, Grafiken, Majorelle Blue enthält.&#10;&#10;KI-generierte Inhalte können fehlerhaft sein.">
            <a:extLst>
              <a:ext uri="{FF2B5EF4-FFF2-40B4-BE49-F238E27FC236}">
                <a16:creationId xmlns:a16="http://schemas.microsoft.com/office/drawing/2014/main" id="{4796D59E-700A-454A-E8E2-D74FE09277A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FF9E6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8318" y="3193074"/>
            <a:ext cx="528471" cy="792707"/>
          </a:xfrm>
          <a:prstGeom prst="rect">
            <a:avLst/>
          </a:prstGeom>
        </p:spPr>
      </p:pic>
      <p:sp>
        <p:nvSpPr>
          <p:cNvPr id="81" name="Textfeld 80">
            <a:extLst>
              <a:ext uri="{FF2B5EF4-FFF2-40B4-BE49-F238E27FC236}">
                <a16:creationId xmlns:a16="http://schemas.microsoft.com/office/drawing/2014/main" id="{097AAA88-C307-8B45-90DD-1C904AFE527B}"/>
              </a:ext>
            </a:extLst>
          </p:cNvPr>
          <p:cNvSpPr txBox="1"/>
          <p:nvPr/>
        </p:nvSpPr>
        <p:spPr>
          <a:xfrm>
            <a:off x="2058124" y="4435241"/>
            <a:ext cx="1994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>
                <a:solidFill>
                  <a:schemeClr val="bg1">
                    <a:lumMod val="75000"/>
                  </a:schemeClr>
                </a:solidFill>
              </a:rPr>
              <a:t>*Näherungsweiser Mittelwert auf Basis von Klassenmittelpunkten, da die Abfrage in Kategorien erfolgte</a:t>
            </a: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FDB72159-30F9-9247-59BD-B3F40DC3F885}"/>
              </a:ext>
            </a:extLst>
          </p:cNvPr>
          <p:cNvSpPr txBox="1"/>
          <p:nvPr/>
        </p:nvSpPr>
        <p:spPr>
          <a:xfrm>
            <a:off x="4159562" y="3193074"/>
            <a:ext cx="1797227" cy="4351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Weiterempfehlung der Hauptversicherung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F095DD34-FB08-47B0-22A2-800238900CBA}"/>
              </a:ext>
            </a:extLst>
          </p:cNvPr>
          <p:cNvSpPr txBox="1"/>
          <p:nvPr/>
        </p:nvSpPr>
        <p:spPr>
          <a:xfrm>
            <a:off x="4297620" y="4040433"/>
            <a:ext cx="1488374" cy="70737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  <a:buClr>
                <a:schemeClr val="tx2"/>
              </a:buClr>
            </a:pPr>
            <a:r>
              <a:rPr lang="de-DE" sz="1100" dirty="0">
                <a:solidFill>
                  <a:srgbClr val="000000"/>
                </a:solidFill>
              </a:rPr>
              <a:t>Net Promotor Score (NPS) = Promotoren – </a:t>
            </a:r>
            <a:r>
              <a:rPr lang="de-DE" sz="1100" dirty="0" err="1">
                <a:solidFill>
                  <a:srgbClr val="000000"/>
                </a:solidFill>
              </a:rPr>
              <a:t>Detraktoren</a:t>
            </a:r>
            <a:r>
              <a:rPr lang="de-DE" sz="1100" dirty="0">
                <a:solidFill>
                  <a:srgbClr val="000000"/>
                </a:solidFill>
              </a:rPr>
              <a:t> = </a:t>
            </a:r>
            <a:r>
              <a:rPr lang="de-DE" sz="1100" b="1" dirty="0">
                <a:solidFill>
                  <a:srgbClr val="FF0000"/>
                </a:solidFill>
              </a:rPr>
              <a:t>29%  </a:t>
            </a:r>
            <a:r>
              <a:rPr lang="de-DE" sz="1100" b="1" dirty="0">
                <a:solidFill>
                  <a:srgbClr val="000000"/>
                </a:solidFill>
              </a:rPr>
              <a:t>-</a:t>
            </a:r>
            <a:r>
              <a:rPr lang="de-DE" sz="1100" b="1" dirty="0">
                <a:solidFill>
                  <a:srgbClr val="FF0000"/>
                </a:solidFill>
              </a:rPr>
              <a:t> </a:t>
            </a:r>
            <a:r>
              <a:rPr lang="de-DE" sz="1100" b="1" dirty="0">
                <a:solidFill>
                  <a:srgbClr val="4DA685"/>
                </a:solidFill>
              </a:rPr>
              <a:t>35%</a:t>
            </a:r>
            <a:r>
              <a:rPr lang="de-DE" sz="1100" dirty="0">
                <a:solidFill>
                  <a:srgbClr val="000000"/>
                </a:solidFill>
              </a:rPr>
              <a:t> = -6</a:t>
            </a:r>
          </a:p>
        </p:txBody>
      </p:sp>
      <p:cxnSp>
        <p:nvCxnSpPr>
          <p:cNvPr id="100" name="Gerade Verbindung 99">
            <a:extLst>
              <a:ext uri="{FF2B5EF4-FFF2-40B4-BE49-F238E27FC236}">
                <a16:creationId xmlns:a16="http://schemas.microsoft.com/office/drawing/2014/main" id="{F96000D7-2B6B-BF12-2289-6659828F7A3B}"/>
              </a:ext>
            </a:extLst>
          </p:cNvPr>
          <p:cNvCxnSpPr>
            <a:cxnSpLocks/>
          </p:cNvCxnSpPr>
          <p:nvPr/>
        </p:nvCxnSpPr>
        <p:spPr>
          <a:xfrm>
            <a:off x="4073627" y="1849466"/>
            <a:ext cx="0" cy="4414566"/>
          </a:xfrm>
          <a:prstGeom prst="line">
            <a:avLst/>
          </a:prstGeom>
          <a:ln w="28575">
            <a:solidFill>
              <a:srgbClr val="FF9E6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feld 100">
            <a:extLst>
              <a:ext uri="{FF2B5EF4-FFF2-40B4-BE49-F238E27FC236}">
                <a16:creationId xmlns:a16="http://schemas.microsoft.com/office/drawing/2014/main" id="{E5B2D2B1-BA4F-CF6A-CECD-39EE7D338E1E}"/>
              </a:ext>
            </a:extLst>
          </p:cNvPr>
          <p:cNvSpPr txBox="1"/>
          <p:nvPr/>
        </p:nvSpPr>
        <p:spPr>
          <a:xfrm>
            <a:off x="4159562" y="4999604"/>
            <a:ext cx="1875354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Wechselwahrscheinlichkeit der Hauptversicherung</a:t>
            </a: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7EE2DAD4-9AE4-DF1A-12BA-5EB2BAAE7770}"/>
              </a:ext>
            </a:extLst>
          </p:cNvPr>
          <p:cNvSpPr txBox="1"/>
          <p:nvPr/>
        </p:nvSpPr>
        <p:spPr>
          <a:xfrm>
            <a:off x="4129645" y="6028185"/>
            <a:ext cx="1931230" cy="1992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  <a:buClr>
                <a:schemeClr val="tx2"/>
              </a:buClr>
            </a:pPr>
            <a:r>
              <a:rPr lang="de-DE" sz="800" spc="-30">
                <a:solidFill>
                  <a:schemeClr val="bg1">
                    <a:lumMod val="75000"/>
                  </a:schemeClr>
                </a:solidFill>
              </a:rPr>
              <a:t>6-10 auf einer 11-stufigen Skala von 0=Sehr unwahrscheinlich bis 10=Sehr wahrscheinlich</a:t>
            </a:r>
          </a:p>
        </p:txBody>
      </p:sp>
      <p:pic>
        <p:nvPicPr>
          <p:cNvPr id="105" name="Grafik 104" descr="Ein Bild, das Cartoon, Grafiken, Licht enthält.&#10;&#10;KI-generierte Inhalte können fehlerhaft sein.">
            <a:extLst>
              <a:ext uri="{FF2B5EF4-FFF2-40B4-BE49-F238E27FC236}">
                <a16:creationId xmlns:a16="http://schemas.microsoft.com/office/drawing/2014/main" id="{A8B19A6A-4F0F-977C-ECE6-AE7F6E80D2B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rgbClr val="FF9E6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0275" y="3329797"/>
            <a:ext cx="636890" cy="955333"/>
          </a:xfrm>
          <a:prstGeom prst="rect">
            <a:avLst/>
          </a:prstGeom>
        </p:spPr>
      </p:pic>
      <p:sp>
        <p:nvSpPr>
          <p:cNvPr id="108" name="Textfeld 107">
            <a:extLst>
              <a:ext uri="{FF2B5EF4-FFF2-40B4-BE49-F238E27FC236}">
                <a16:creationId xmlns:a16="http://schemas.microsoft.com/office/drawing/2014/main" id="{5C1730AA-0BE0-977B-A900-B320B7E98D35}"/>
              </a:ext>
            </a:extLst>
          </p:cNvPr>
          <p:cNvSpPr txBox="1"/>
          <p:nvPr/>
        </p:nvSpPr>
        <p:spPr>
          <a:xfrm>
            <a:off x="9814830" y="1875824"/>
            <a:ext cx="1742004" cy="435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Neuabschluss-wahrscheinlichkeit in den nächsten 3 Jahren</a:t>
            </a:r>
          </a:p>
        </p:txBody>
      </p:sp>
      <p:pic>
        <p:nvPicPr>
          <p:cNvPr id="119" name="Grafik 118" descr="Ein Bild, das Grafiken, Majorelle Blue, Electric Blue (Farbe), Cartoon enthält.&#10;&#10;KI-generierte Inhalte können fehlerhaft sein.">
            <a:extLst>
              <a:ext uri="{FF2B5EF4-FFF2-40B4-BE49-F238E27FC236}">
                <a16:creationId xmlns:a16="http://schemas.microsoft.com/office/drawing/2014/main" id="{F9532341-55DE-4060-5369-9C24244D52E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duotone>
              <a:prstClr val="black"/>
              <a:srgbClr val="FF9E6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880" y="5231282"/>
            <a:ext cx="502572" cy="753857"/>
          </a:xfrm>
          <a:prstGeom prst="rect">
            <a:avLst/>
          </a:prstGeom>
        </p:spPr>
      </p:pic>
      <p:sp>
        <p:nvSpPr>
          <p:cNvPr id="130" name="Textfeld 129">
            <a:extLst>
              <a:ext uri="{FF2B5EF4-FFF2-40B4-BE49-F238E27FC236}">
                <a16:creationId xmlns:a16="http://schemas.microsoft.com/office/drawing/2014/main" id="{7A56ADC4-A677-E3FA-C35A-EDF77F39600A}"/>
              </a:ext>
            </a:extLst>
          </p:cNvPr>
          <p:cNvSpPr txBox="1"/>
          <p:nvPr/>
        </p:nvSpPr>
        <p:spPr>
          <a:xfrm>
            <a:off x="6272494" y="1875824"/>
            <a:ext cx="2507280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Aktueller Versicherungsbesitz im Haushalt</a:t>
            </a:r>
          </a:p>
        </p:txBody>
      </p:sp>
      <p:sp>
        <p:nvSpPr>
          <p:cNvPr id="133" name="Textfeld 132">
            <a:extLst>
              <a:ext uri="{FF2B5EF4-FFF2-40B4-BE49-F238E27FC236}">
                <a16:creationId xmlns:a16="http://schemas.microsoft.com/office/drawing/2014/main" id="{35E0A182-CABF-2F3E-B21C-45323C2E21A8}"/>
              </a:ext>
            </a:extLst>
          </p:cNvPr>
          <p:cNvSpPr txBox="1"/>
          <p:nvPr/>
        </p:nvSpPr>
        <p:spPr>
          <a:xfrm>
            <a:off x="9814830" y="6100862"/>
            <a:ext cx="21096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>
                <a:solidFill>
                  <a:schemeClr val="bg1">
                    <a:lumMod val="75000"/>
                  </a:schemeClr>
                </a:solidFill>
              </a:rPr>
              <a:t>**Von insgesamt 17 vorgelegten Sparten</a:t>
            </a:r>
          </a:p>
        </p:txBody>
      </p:sp>
      <p:sp>
        <p:nvSpPr>
          <p:cNvPr id="22" name="Textfeld 87">
            <a:extLst>
              <a:ext uri="{FF2B5EF4-FFF2-40B4-BE49-F238E27FC236}">
                <a16:creationId xmlns:a16="http://schemas.microsoft.com/office/drawing/2014/main" id="{A7C3F346-F664-B747-5B88-74A929E12B8A}"/>
              </a:ext>
            </a:extLst>
          </p:cNvPr>
          <p:cNvSpPr txBox="1"/>
          <p:nvPr/>
        </p:nvSpPr>
        <p:spPr>
          <a:xfrm>
            <a:off x="4502283" y="5408218"/>
            <a:ext cx="1396366" cy="3878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buClr>
                <a:schemeClr val="tx2"/>
              </a:buClr>
            </a:pPr>
            <a:r>
              <a:rPr lang="de-DE" sz="1200" b="1" dirty="0">
                <a:solidFill>
                  <a:srgbClr val="4DA685"/>
                </a:solidFill>
              </a:rPr>
              <a:t>24% </a:t>
            </a:r>
            <a:r>
              <a:rPr lang="de-DE" sz="1200" dirty="0">
                <a:solidFill>
                  <a:srgbClr val="000000"/>
                </a:solidFill>
              </a:rPr>
              <a:t>Wechselbereitschaft</a:t>
            </a:r>
          </a:p>
        </p:txBody>
      </p:sp>
      <p:sp>
        <p:nvSpPr>
          <p:cNvPr id="24" name="Textfeld 76">
            <a:extLst>
              <a:ext uri="{FF2B5EF4-FFF2-40B4-BE49-F238E27FC236}">
                <a16:creationId xmlns:a16="http://schemas.microsoft.com/office/drawing/2014/main" id="{DC6AD571-57B1-3F45-35B3-48CD4BDD388A}"/>
              </a:ext>
            </a:extLst>
          </p:cNvPr>
          <p:cNvSpPr txBox="1"/>
          <p:nvPr/>
        </p:nvSpPr>
        <p:spPr>
          <a:xfrm>
            <a:off x="1225352" y="5475081"/>
            <a:ext cx="796904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buClr>
                <a:schemeClr val="tx2"/>
              </a:buClr>
            </a:pPr>
            <a:r>
              <a:rPr lang="de-DE" b="1" dirty="0">
                <a:solidFill>
                  <a:srgbClr val="FF0000"/>
                </a:solidFill>
              </a:rPr>
              <a:t>49%</a:t>
            </a:r>
          </a:p>
        </p:txBody>
      </p:sp>
      <p:sp>
        <p:nvSpPr>
          <p:cNvPr id="26" name="Textfeld 77">
            <a:extLst>
              <a:ext uri="{FF2B5EF4-FFF2-40B4-BE49-F238E27FC236}">
                <a16:creationId xmlns:a16="http://schemas.microsoft.com/office/drawing/2014/main" id="{ADC9B394-CBF2-8369-268D-3251551023B7}"/>
              </a:ext>
            </a:extLst>
          </p:cNvPr>
          <p:cNvSpPr txBox="1"/>
          <p:nvPr/>
        </p:nvSpPr>
        <p:spPr>
          <a:xfrm>
            <a:off x="2043950" y="5398084"/>
            <a:ext cx="1505682" cy="6764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  <a:buClr>
                <a:schemeClr val="tx2"/>
              </a:buClr>
            </a:pPr>
            <a:r>
              <a:rPr lang="de-DE" sz="1100" dirty="0">
                <a:solidFill>
                  <a:srgbClr val="000000"/>
                </a:solidFill>
              </a:rPr>
              <a:t>sind sehr / eher positiv eingestellt gegenüber Versicherungen</a:t>
            </a:r>
          </a:p>
        </p:txBody>
      </p:sp>
      <p:sp>
        <p:nvSpPr>
          <p:cNvPr id="33" name="Textfeld 9">
            <a:extLst>
              <a:ext uri="{FF2B5EF4-FFF2-40B4-BE49-F238E27FC236}">
                <a16:creationId xmlns:a16="http://schemas.microsoft.com/office/drawing/2014/main" id="{D9211E0B-169B-2A4C-66D8-DAA4D7F6748E}"/>
              </a:ext>
            </a:extLst>
          </p:cNvPr>
          <p:cNvSpPr txBox="1"/>
          <p:nvPr/>
        </p:nvSpPr>
        <p:spPr>
          <a:xfrm>
            <a:off x="376168" y="4992987"/>
            <a:ext cx="2782238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Einstellung gegenüber Versicherungen</a:t>
            </a:r>
          </a:p>
        </p:txBody>
      </p:sp>
      <p:sp>
        <p:nvSpPr>
          <p:cNvPr id="37" name="Textfeld 9">
            <a:extLst>
              <a:ext uri="{FF2B5EF4-FFF2-40B4-BE49-F238E27FC236}">
                <a16:creationId xmlns:a16="http://schemas.microsoft.com/office/drawing/2014/main" id="{F28A2E25-0A55-12EE-1ABB-E618ABE3D194}"/>
              </a:ext>
            </a:extLst>
          </p:cNvPr>
          <p:cNvSpPr txBox="1"/>
          <p:nvPr/>
        </p:nvSpPr>
        <p:spPr>
          <a:xfrm>
            <a:off x="4159562" y="1903304"/>
            <a:ext cx="1585835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Hauptversicherungen – Top 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420D00E-D14D-5543-E03E-BB040C63514C}"/>
              </a:ext>
            </a:extLst>
          </p:cNvPr>
          <p:cNvSpPr txBox="1"/>
          <p:nvPr/>
        </p:nvSpPr>
        <p:spPr>
          <a:xfrm>
            <a:off x="4123717" y="2335070"/>
            <a:ext cx="202037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u="none" dirty="0">
                <a:solidFill>
                  <a:srgbClr val="000000"/>
                </a:solidFill>
              </a:rPr>
              <a:t>#1: UNIQA – </a:t>
            </a:r>
            <a:r>
              <a:rPr lang="de-DE" sz="1100" dirty="0">
                <a:solidFill>
                  <a:srgbClr val="000000"/>
                </a:solidFill>
              </a:rPr>
              <a:t>15</a:t>
            </a:r>
            <a:r>
              <a:rPr lang="de-DE" sz="1100" u="none" dirty="0">
                <a:solidFill>
                  <a:srgbClr val="000000"/>
                </a:solidFill>
              </a:rPr>
              <a:t>%</a:t>
            </a:r>
          </a:p>
          <a:p>
            <a:r>
              <a:rPr lang="de-DE" sz="1100" dirty="0">
                <a:solidFill>
                  <a:srgbClr val="000000"/>
                </a:solidFill>
              </a:rPr>
              <a:t>#2: Allianz – </a:t>
            </a:r>
            <a:r>
              <a:rPr lang="de-DE" sz="1100" b="1" dirty="0">
                <a:solidFill>
                  <a:srgbClr val="4DA685"/>
                </a:solidFill>
              </a:rPr>
              <a:t>14%</a:t>
            </a:r>
          </a:p>
          <a:p>
            <a:r>
              <a:rPr lang="de-DE" sz="1100" dirty="0">
                <a:solidFill>
                  <a:srgbClr val="000000"/>
                </a:solidFill>
              </a:rPr>
              <a:t>#3: </a:t>
            </a:r>
            <a:r>
              <a:rPr lang="de-DE" sz="1100" dirty="0" err="1">
                <a:solidFill>
                  <a:srgbClr val="000000"/>
                </a:solidFill>
              </a:rPr>
              <a:t>Generali</a:t>
            </a:r>
            <a:r>
              <a:rPr lang="de-DE" sz="1100" dirty="0">
                <a:solidFill>
                  <a:srgbClr val="000000"/>
                </a:solidFill>
              </a:rPr>
              <a:t> – 10%</a:t>
            </a:r>
            <a:endParaRPr lang="de-AT" sz="1100" dirty="0">
              <a:solidFill>
                <a:srgbClr val="000000"/>
              </a:solidFill>
            </a:endParaRPr>
          </a:p>
        </p:txBody>
      </p:sp>
      <p:graphicFrame>
        <p:nvGraphicFramePr>
          <p:cNvPr id="66" name="Diagramm 59">
            <a:extLst>
              <a:ext uri="{FF2B5EF4-FFF2-40B4-BE49-F238E27FC236}">
                <a16:creationId xmlns:a16="http://schemas.microsoft.com/office/drawing/2014/main" id="{B0AB88DD-CE9F-D448-C4CD-3BA9CC5B49DD}"/>
              </a:ext>
            </a:extLst>
          </p:cNvPr>
          <p:cNvGraphicFramePr/>
          <p:nvPr/>
        </p:nvGraphicFramePr>
        <p:xfrm>
          <a:off x="6103619" y="2388757"/>
          <a:ext cx="3382600" cy="38230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17" name="Diagramm 59">
            <a:extLst>
              <a:ext uri="{FF2B5EF4-FFF2-40B4-BE49-F238E27FC236}">
                <a16:creationId xmlns:a16="http://schemas.microsoft.com/office/drawing/2014/main" id="{E5B87BFF-B48E-DAAC-6B46-C87AEA58337D}"/>
              </a:ext>
            </a:extLst>
          </p:cNvPr>
          <p:cNvGraphicFramePr/>
          <p:nvPr/>
        </p:nvGraphicFramePr>
        <p:xfrm>
          <a:off x="9758269" y="2415552"/>
          <a:ext cx="1872443" cy="38230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pic>
        <p:nvPicPr>
          <p:cNvPr id="123" name="Grafik 49" descr="Ein Bild, das Fahrzeug, Landfahrzeug, Rad, Auto enthält.&#10;&#10;KI-generierte Inhalte können fehlerhaft sein.">
            <a:extLst>
              <a:ext uri="{FF2B5EF4-FFF2-40B4-BE49-F238E27FC236}">
                <a16:creationId xmlns:a16="http://schemas.microsoft.com/office/drawing/2014/main" id="{B1EE959F-61D8-3DF3-DD09-0C70998F948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duotone>
              <a:prstClr val="black"/>
              <a:srgbClr val="FF9E6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68350" y="2663044"/>
            <a:ext cx="350915" cy="178229"/>
          </a:xfrm>
          <a:prstGeom prst="rect">
            <a:avLst/>
          </a:prstGeom>
        </p:spPr>
      </p:pic>
      <p:pic>
        <p:nvPicPr>
          <p:cNvPr id="124" name="Grafik 44" descr="Ein Bild, das Waage enthält.&#10;&#10;KI-generierte Inhalte können fehlerhaft sein.">
            <a:extLst>
              <a:ext uri="{FF2B5EF4-FFF2-40B4-BE49-F238E27FC236}">
                <a16:creationId xmlns:a16="http://schemas.microsoft.com/office/drawing/2014/main" id="{CC7EB4C8-B79B-76D3-1312-6AA958E2E82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duotone>
              <a:prstClr val="black"/>
              <a:srgbClr val="FF9E6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74492" y="2872630"/>
            <a:ext cx="338630" cy="218808"/>
          </a:xfrm>
          <a:prstGeom prst="rect">
            <a:avLst/>
          </a:prstGeom>
        </p:spPr>
      </p:pic>
      <p:pic>
        <p:nvPicPr>
          <p:cNvPr id="125" name="Grafik 51" descr="Ein Bild, das Fahrzeug, Landfahrzeug, Rad, Transport enthält.&#10;&#10;KI-generierte Inhalte können fehlerhaft sein.">
            <a:extLst>
              <a:ext uri="{FF2B5EF4-FFF2-40B4-BE49-F238E27FC236}">
                <a16:creationId xmlns:a16="http://schemas.microsoft.com/office/drawing/2014/main" id="{06472D7A-51B0-EB37-A19F-1A0A1A745E7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duotone>
              <a:prstClr val="black"/>
              <a:srgbClr val="FF9E6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33976" y="3049474"/>
            <a:ext cx="419662" cy="279450"/>
          </a:xfrm>
          <a:prstGeom prst="rect">
            <a:avLst/>
          </a:prstGeom>
        </p:spPr>
      </p:pic>
      <p:pic>
        <p:nvPicPr>
          <p:cNvPr id="126" name="Grafik 50" descr="Ein Bild, das Screenshot, Lampe, Licht, Nacht enthält.&#10;&#10;KI-generierte Inhalte können fehlerhaft sein.">
            <a:extLst>
              <a:ext uri="{FF2B5EF4-FFF2-40B4-BE49-F238E27FC236}">
                <a16:creationId xmlns:a16="http://schemas.microsoft.com/office/drawing/2014/main" id="{8BBE66CB-349F-0A80-FDD0-1BFFED5A1650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duotone>
              <a:prstClr val="black"/>
              <a:srgbClr val="FF9E6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503"/>
          <a:stretch>
            <a:fillRect/>
          </a:stretch>
        </p:blipFill>
        <p:spPr>
          <a:xfrm>
            <a:off x="6178559" y="3473568"/>
            <a:ext cx="336465" cy="271782"/>
          </a:xfrm>
          <a:prstGeom prst="rect">
            <a:avLst/>
          </a:prstGeom>
        </p:spPr>
      </p:pic>
      <p:pic>
        <p:nvPicPr>
          <p:cNvPr id="127" name="Grafik 46" descr="Ein Bild, das Cartoon, Majorelle Blue, Blau, Electric Blue (Farbe) enthält.&#10;&#10;KI-generierte Inhalte können fehlerhaft sein.">
            <a:extLst>
              <a:ext uri="{FF2B5EF4-FFF2-40B4-BE49-F238E27FC236}">
                <a16:creationId xmlns:a16="http://schemas.microsoft.com/office/drawing/2014/main" id="{57761145-CEC8-2EAF-D232-DD5E959E67D8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duotone>
              <a:prstClr val="black"/>
              <a:srgbClr val="FF9E6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971"/>
          <a:stretch>
            <a:fillRect/>
          </a:stretch>
        </p:blipFill>
        <p:spPr>
          <a:xfrm>
            <a:off x="6212749" y="3695610"/>
            <a:ext cx="274432" cy="259817"/>
          </a:xfrm>
          <a:prstGeom prst="rect">
            <a:avLst/>
          </a:prstGeom>
        </p:spPr>
      </p:pic>
      <p:pic>
        <p:nvPicPr>
          <p:cNvPr id="132" name="Grafik 56" descr="Ein Bild, das Screenshot, Design, Nacht enthält.&#10;&#10;KI-generierte Inhalte können fehlerhaft sein.">
            <a:extLst>
              <a:ext uri="{FF2B5EF4-FFF2-40B4-BE49-F238E27FC236}">
                <a16:creationId xmlns:a16="http://schemas.microsoft.com/office/drawing/2014/main" id="{7C58569B-04A3-8F0F-54A7-360D4BF01A1B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duotone>
              <a:prstClr val="black"/>
              <a:srgbClr val="FF9E6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32747" y="3294251"/>
            <a:ext cx="419662" cy="196353"/>
          </a:xfrm>
          <a:prstGeom prst="rect">
            <a:avLst/>
          </a:prstGeom>
        </p:spPr>
      </p:pic>
      <p:pic>
        <p:nvPicPr>
          <p:cNvPr id="136" name="Grafik 41" descr="Ein Bild, das Kobaltblau, Flasche, Licht enthält.&#10;&#10;KI-generierte Inhalte können fehlerhaft sein.">
            <a:extLst>
              <a:ext uri="{FF2B5EF4-FFF2-40B4-BE49-F238E27FC236}">
                <a16:creationId xmlns:a16="http://schemas.microsoft.com/office/drawing/2014/main" id="{ADA6CB5E-4C53-994A-FC65-79B2C8DF729E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duotone>
              <a:prstClr val="black"/>
              <a:srgbClr val="FF9E6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399"/>
          <a:stretch>
            <a:fillRect/>
          </a:stretch>
        </p:blipFill>
        <p:spPr>
          <a:xfrm>
            <a:off x="6239273" y="3979401"/>
            <a:ext cx="209069" cy="192330"/>
          </a:xfrm>
          <a:prstGeom prst="rect">
            <a:avLst/>
          </a:prstGeom>
        </p:spPr>
      </p:pic>
      <p:pic>
        <p:nvPicPr>
          <p:cNvPr id="137" name="Grafik 45" descr="Ein Bild, das Symbol enthält.&#10;&#10;KI-generierte Inhalte können fehlerhaft sein.">
            <a:extLst>
              <a:ext uri="{FF2B5EF4-FFF2-40B4-BE49-F238E27FC236}">
                <a16:creationId xmlns:a16="http://schemas.microsoft.com/office/drawing/2014/main" id="{E353F861-F941-A010-7E46-336BFB78C62B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duotone>
              <a:prstClr val="black"/>
              <a:srgbClr val="FF9E6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1128" y="4100979"/>
            <a:ext cx="245359" cy="368039"/>
          </a:xfrm>
          <a:prstGeom prst="rect">
            <a:avLst/>
          </a:prstGeom>
        </p:spPr>
      </p:pic>
      <p:pic>
        <p:nvPicPr>
          <p:cNvPr id="138" name="Grafik 42" descr="Ein Bild, das Plastik, Blau, Electric Blue (Farbe), Zubehör enthält.&#10;&#10;KI-generierte Inhalte können fehlerhaft sein.">
            <a:extLst>
              <a:ext uri="{FF2B5EF4-FFF2-40B4-BE49-F238E27FC236}">
                <a16:creationId xmlns:a16="http://schemas.microsoft.com/office/drawing/2014/main" id="{768F885B-6538-89A6-1473-C997E0A39507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duotone>
              <a:prstClr val="black"/>
              <a:srgbClr val="FF9E6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54355" y="4397001"/>
            <a:ext cx="378905" cy="252604"/>
          </a:xfrm>
          <a:prstGeom prst="rect">
            <a:avLst/>
          </a:prstGeom>
        </p:spPr>
      </p:pic>
      <p:pic>
        <p:nvPicPr>
          <p:cNvPr id="140" name="Grafik 58">
            <a:extLst>
              <a:ext uri="{FF2B5EF4-FFF2-40B4-BE49-F238E27FC236}">
                <a16:creationId xmlns:a16="http://schemas.microsoft.com/office/drawing/2014/main" id="{00827887-6B6E-DD2F-C0FF-7BFD7AB91C63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duotone>
              <a:prstClr val="black"/>
              <a:srgbClr val="FF9E6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79415" y="5197302"/>
            <a:ext cx="461980" cy="307987"/>
          </a:xfrm>
          <a:prstGeom prst="rect">
            <a:avLst/>
          </a:prstGeom>
        </p:spPr>
      </p:pic>
      <p:pic>
        <p:nvPicPr>
          <p:cNvPr id="142" name="Grafik 47" descr="Ein Bild, das Electric Blue (Farbe), Blau, Majorelle Blue, Licht enthält.&#10;&#10;KI-generierte Inhalte können fehlerhaft sein.">
            <a:extLst>
              <a:ext uri="{FF2B5EF4-FFF2-40B4-BE49-F238E27FC236}">
                <a16:creationId xmlns:a16="http://schemas.microsoft.com/office/drawing/2014/main" id="{25B05A76-6D6C-86F0-1499-8F3503FAAFA4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duotone>
              <a:prstClr val="black"/>
              <a:srgbClr val="FF9E6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8210" y="4612493"/>
            <a:ext cx="458145" cy="305430"/>
          </a:xfrm>
          <a:prstGeom prst="rect">
            <a:avLst/>
          </a:prstGeom>
        </p:spPr>
      </p:pic>
      <p:pic>
        <p:nvPicPr>
          <p:cNvPr id="143" name="Grafik 55" descr="Ein Bild, das Blau, Electric Blue (Farbe), Nacht, Licht enthält.&#10;&#10;KI-generierte Inhalte können fehlerhaft sein.">
            <a:extLst>
              <a:ext uri="{FF2B5EF4-FFF2-40B4-BE49-F238E27FC236}">
                <a16:creationId xmlns:a16="http://schemas.microsoft.com/office/drawing/2014/main" id="{05C688DC-41C3-F211-3FCA-5B484F250470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duotone>
              <a:prstClr val="black"/>
              <a:srgbClr val="FF9E6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01660" y="4811162"/>
            <a:ext cx="418023" cy="278682"/>
          </a:xfrm>
          <a:prstGeom prst="rect">
            <a:avLst/>
          </a:prstGeom>
        </p:spPr>
      </p:pic>
      <p:pic>
        <p:nvPicPr>
          <p:cNvPr id="144" name="Grafik 53" descr="Ein Bild, das Tierfigur, Hund, Cartoon enthält.&#10;&#10;KI-generierte Inhalte können fehlerhaft sein.">
            <a:extLst>
              <a:ext uri="{FF2B5EF4-FFF2-40B4-BE49-F238E27FC236}">
                <a16:creationId xmlns:a16="http://schemas.microsoft.com/office/drawing/2014/main" id="{4DE45899-7343-1822-0A8D-B196B746E32D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duotone>
              <a:prstClr val="black"/>
              <a:srgbClr val="FF9E6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43843" y="5042713"/>
            <a:ext cx="191609" cy="215890"/>
          </a:xfrm>
          <a:prstGeom prst="rect">
            <a:avLst/>
          </a:prstGeom>
        </p:spPr>
      </p:pic>
      <p:pic>
        <p:nvPicPr>
          <p:cNvPr id="145" name="Grafik 59" descr="Ein Bild, das Transport, Bike, Fahrzeug, Fahrradreifen enthält.&#10;&#10;KI-generierte Inhalte können fehlerhaft sein.">
            <a:extLst>
              <a:ext uri="{FF2B5EF4-FFF2-40B4-BE49-F238E27FC236}">
                <a16:creationId xmlns:a16="http://schemas.microsoft.com/office/drawing/2014/main" id="{1B96C9E2-EBD5-0426-8F13-0A8475B14034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duotone>
              <a:prstClr val="black"/>
              <a:srgbClr val="FF9E6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12749" y="5895041"/>
            <a:ext cx="269866" cy="207133"/>
          </a:xfrm>
          <a:prstGeom prst="rect">
            <a:avLst/>
          </a:prstGeom>
        </p:spPr>
      </p:pic>
      <p:pic>
        <p:nvPicPr>
          <p:cNvPr id="146" name="Grafik 57" descr="Ein Bild, das Symbol, Grafiken, Logo, Screenshot enthält.&#10;&#10;KI-generierte Inhalte können fehlerhaft sein.">
            <a:extLst>
              <a:ext uri="{FF2B5EF4-FFF2-40B4-BE49-F238E27FC236}">
                <a16:creationId xmlns:a16="http://schemas.microsoft.com/office/drawing/2014/main" id="{DEDE1A0B-40D9-6BDC-DC60-632662C67F14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duotone>
              <a:prstClr val="black"/>
              <a:srgbClr val="FF9E6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7011" y="5663449"/>
            <a:ext cx="428291" cy="285527"/>
          </a:xfrm>
          <a:prstGeom prst="rect">
            <a:avLst/>
          </a:prstGeom>
        </p:spPr>
      </p:pic>
      <p:pic>
        <p:nvPicPr>
          <p:cNvPr id="148" name="Grafik 52" descr="Ein Bild, das Symbol, Logo, Emblem, Markenzeichen enthält.&#10;&#10;KI-generierte Inhalte können fehlerhaft sein.">
            <a:extLst>
              <a:ext uri="{FF2B5EF4-FFF2-40B4-BE49-F238E27FC236}">
                <a16:creationId xmlns:a16="http://schemas.microsoft.com/office/drawing/2014/main" id="{F8F07155-8FFA-F3A9-BB1B-2D6668919080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duotone>
              <a:prstClr val="black"/>
              <a:srgbClr val="FF9E6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54355" y="5469843"/>
            <a:ext cx="376517" cy="220132"/>
          </a:xfrm>
          <a:prstGeom prst="rect">
            <a:avLst/>
          </a:prstGeom>
        </p:spPr>
      </p:pic>
      <p:pic>
        <p:nvPicPr>
          <p:cNvPr id="156" name="Grafik 54" descr="Ein Bild, das Screenshot enthält.&#10;&#10;KI-generierte Inhalte können fehlerhaft sein.">
            <a:extLst>
              <a:ext uri="{FF2B5EF4-FFF2-40B4-BE49-F238E27FC236}">
                <a16:creationId xmlns:a16="http://schemas.microsoft.com/office/drawing/2014/main" id="{1E94F9E2-D25A-7094-EA47-6CA8EFFC215E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duotone>
              <a:prstClr val="black"/>
              <a:srgbClr val="FF9E6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68889" y="2433854"/>
            <a:ext cx="349837" cy="206266"/>
          </a:xfrm>
          <a:prstGeom prst="rect">
            <a:avLst/>
          </a:prstGeom>
        </p:spPr>
      </p:pic>
      <p:sp>
        <p:nvSpPr>
          <p:cNvPr id="158" name="Textfeld 108">
            <a:extLst>
              <a:ext uri="{FF2B5EF4-FFF2-40B4-BE49-F238E27FC236}">
                <a16:creationId xmlns:a16="http://schemas.microsoft.com/office/drawing/2014/main" id="{06485C72-1952-31D7-3FE7-EB42DFF117AD}"/>
              </a:ext>
            </a:extLst>
          </p:cNvPr>
          <p:cNvSpPr txBox="1"/>
          <p:nvPr/>
        </p:nvSpPr>
        <p:spPr>
          <a:xfrm>
            <a:off x="10576954" y="4460484"/>
            <a:ext cx="1253610" cy="16540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  <a:buClr>
                <a:schemeClr val="tx2"/>
              </a:buClr>
            </a:pPr>
            <a:r>
              <a:rPr lang="de-DE" sz="1100" dirty="0">
                <a:solidFill>
                  <a:srgbClr val="000000"/>
                </a:solidFill>
              </a:rPr>
              <a:t>1,3**</a:t>
            </a:r>
          </a:p>
          <a:p>
            <a:pPr algn="ctr">
              <a:spcAft>
                <a:spcPts val="300"/>
              </a:spcAft>
              <a:buClr>
                <a:schemeClr val="tx2"/>
              </a:buClr>
            </a:pPr>
            <a:r>
              <a:rPr lang="de-DE" sz="1100" dirty="0">
                <a:solidFill>
                  <a:srgbClr val="000000"/>
                </a:solidFill>
              </a:rPr>
              <a:t>Neuabschluss-bereitschaft</a:t>
            </a:r>
          </a:p>
          <a:p>
            <a:pPr algn="ctr">
              <a:spcAft>
                <a:spcPts val="300"/>
              </a:spcAft>
              <a:buClr>
                <a:schemeClr val="tx2"/>
              </a:buClr>
            </a:pPr>
            <a:r>
              <a:rPr lang="de-DE" sz="800" i="1" dirty="0">
                <a:solidFill>
                  <a:srgbClr val="000000"/>
                </a:solidFill>
              </a:rPr>
              <a:t>(Durchschnittliche Anzahl an privaten Versicherungssparten, für die ein Neuabschluss/ zusätzlicher Abschluss für den eigenen Haushalt innerhalb der nächsten 3 Jahre vorstellbar ist</a:t>
            </a:r>
            <a:r>
              <a:rPr lang="de-DE" sz="800" b="1" i="1" dirty="0">
                <a:solidFill>
                  <a:srgbClr val="000000"/>
                </a:solidFill>
              </a:rPr>
              <a:t>.</a:t>
            </a:r>
            <a:r>
              <a:rPr lang="de-DE" sz="800" i="1" dirty="0">
                <a:solidFill>
                  <a:srgbClr val="000000"/>
                </a:solidFill>
              </a:rPr>
              <a:t>)</a:t>
            </a:r>
            <a:endParaRPr lang="de-DE" sz="800" b="1" i="1" dirty="0">
              <a:solidFill>
                <a:srgbClr val="000000"/>
              </a:solidFill>
            </a:endParaRPr>
          </a:p>
        </p:txBody>
      </p:sp>
      <p:sp>
        <p:nvSpPr>
          <p:cNvPr id="8" name="Textfeld 108">
            <a:extLst>
              <a:ext uri="{FF2B5EF4-FFF2-40B4-BE49-F238E27FC236}">
                <a16:creationId xmlns:a16="http://schemas.microsoft.com/office/drawing/2014/main" id="{7567C6C2-1F80-41A0-AB86-A7F2B1650C1C}"/>
              </a:ext>
            </a:extLst>
          </p:cNvPr>
          <p:cNvSpPr txBox="1"/>
          <p:nvPr/>
        </p:nvSpPr>
        <p:spPr>
          <a:xfrm>
            <a:off x="8527263" y="3954246"/>
            <a:ext cx="1180408" cy="11161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  <a:buClr>
                <a:schemeClr val="tx2"/>
              </a:buClr>
            </a:pPr>
            <a:r>
              <a:rPr lang="de-DE" sz="1100" dirty="0">
                <a:solidFill>
                  <a:srgbClr val="000000"/>
                </a:solidFill>
              </a:rPr>
              <a:t>1,7*</a:t>
            </a:r>
          </a:p>
          <a:p>
            <a:pPr algn="ctr">
              <a:spcAft>
                <a:spcPts val="300"/>
              </a:spcAft>
              <a:buClr>
                <a:schemeClr val="tx2"/>
              </a:buClr>
            </a:pPr>
            <a:r>
              <a:rPr lang="de-DE" sz="1100" dirty="0">
                <a:solidFill>
                  <a:srgbClr val="000000"/>
                </a:solidFill>
              </a:rPr>
              <a:t>Anzahl Versicherer</a:t>
            </a:r>
          </a:p>
          <a:p>
            <a:pPr algn="ctr">
              <a:spcAft>
                <a:spcPts val="300"/>
              </a:spcAft>
              <a:buClr>
                <a:schemeClr val="tx2"/>
              </a:buClr>
            </a:pPr>
            <a:r>
              <a:rPr lang="de-DE" sz="800" i="1" dirty="0">
                <a:solidFill>
                  <a:srgbClr val="000000"/>
                </a:solidFill>
              </a:rPr>
              <a:t>(Durchschnittliche Anzahl an Versicherungs-unternehmen, mit denen der Haushalt einen Vertrag hat)</a:t>
            </a:r>
            <a:endParaRPr lang="de-DE" sz="800" b="1" i="1" dirty="0">
              <a:solidFill>
                <a:srgbClr val="000000"/>
              </a:solidFill>
            </a:endParaRPr>
          </a:p>
        </p:txBody>
      </p:sp>
      <p:pic>
        <p:nvPicPr>
          <p:cNvPr id="14" name="Picture 13" descr="A blue cartoon of a clipboard with a checklist and a shield and a pen&#10;&#10;AI-generated content may be incorrect.">
            <a:extLst>
              <a:ext uri="{FF2B5EF4-FFF2-40B4-BE49-F238E27FC236}">
                <a16:creationId xmlns:a16="http://schemas.microsoft.com/office/drawing/2014/main" id="{60D7508B-24CE-D1A5-F254-4357426F83F2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duotone>
              <a:prstClr val="black"/>
              <a:srgbClr val="FF9E6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9192" y="5359598"/>
            <a:ext cx="782370" cy="573866"/>
          </a:xfrm>
          <a:prstGeom prst="rect">
            <a:avLst/>
          </a:prstGeom>
        </p:spPr>
      </p:pic>
      <p:sp>
        <p:nvSpPr>
          <p:cNvPr id="109" name="Textfeld 108">
            <a:extLst>
              <a:ext uri="{FF2B5EF4-FFF2-40B4-BE49-F238E27FC236}">
                <a16:creationId xmlns:a16="http://schemas.microsoft.com/office/drawing/2014/main" id="{C432D186-0C79-6FDE-F7FF-06780EB1E39C}"/>
              </a:ext>
            </a:extLst>
          </p:cNvPr>
          <p:cNvSpPr txBox="1"/>
          <p:nvPr/>
        </p:nvSpPr>
        <p:spPr>
          <a:xfrm>
            <a:off x="8490662" y="5320163"/>
            <a:ext cx="1253610" cy="88657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3,5</a:t>
            </a:r>
            <a:r>
              <a:rPr lang="de-DE" sz="1100" dirty="0">
                <a:solidFill>
                  <a:srgbClr val="FF0000"/>
                </a:solidFill>
              </a:rPr>
              <a:t>**</a:t>
            </a:r>
          </a:p>
          <a:p>
            <a:pPr algn="ctr">
              <a:spcAft>
                <a:spcPts val="300"/>
              </a:spcAft>
              <a:buClr>
                <a:schemeClr val="tx2"/>
              </a:buClr>
            </a:pPr>
            <a:r>
              <a:rPr lang="de-DE" sz="1100" dirty="0">
                <a:solidFill>
                  <a:srgbClr val="000000"/>
                </a:solidFill>
              </a:rPr>
              <a:t>Produktdichte</a:t>
            </a:r>
          </a:p>
          <a:p>
            <a:pPr algn="ctr">
              <a:spcAft>
                <a:spcPts val="300"/>
              </a:spcAft>
              <a:buClr>
                <a:schemeClr val="tx2"/>
              </a:buClr>
            </a:pPr>
            <a:r>
              <a:rPr lang="de-DE" sz="800" i="1" dirty="0">
                <a:solidFill>
                  <a:srgbClr val="000000"/>
                </a:solidFill>
              </a:rPr>
              <a:t>(Durchschnittliche Anzahl an privaten Versicherungs-sparten im Haushalt)</a:t>
            </a:r>
            <a:endParaRPr lang="de-DE" sz="800" b="1" i="1" dirty="0">
              <a:solidFill>
                <a:srgbClr val="000000"/>
              </a:solidFill>
            </a:endParaRPr>
          </a:p>
        </p:txBody>
      </p:sp>
      <p:sp>
        <p:nvSpPr>
          <p:cNvPr id="15" name="Textfeld 132">
            <a:extLst>
              <a:ext uri="{FF2B5EF4-FFF2-40B4-BE49-F238E27FC236}">
                <a16:creationId xmlns:a16="http://schemas.microsoft.com/office/drawing/2014/main" id="{A02DFC2E-9C4F-DDDD-293D-A863A9D5E4CA}"/>
              </a:ext>
            </a:extLst>
          </p:cNvPr>
          <p:cNvSpPr txBox="1"/>
          <p:nvPr/>
        </p:nvSpPr>
        <p:spPr>
          <a:xfrm>
            <a:off x="6855732" y="6100862"/>
            <a:ext cx="30168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>
                <a:solidFill>
                  <a:schemeClr val="bg1">
                    <a:lumMod val="75000"/>
                  </a:schemeClr>
                </a:solidFill>
              </a:rPr>
              <a:t>*Von insgesamt 16 vorgelegten Versicherungsunternehmen</a:t>
            </a:r>
          </a:p>
        </p:txBody>
      </p:sp>
      <p:sp>
        <p:nvSpPr>
          <p:cNvPr id="47" name="Textfeld 38">
            <a:extLst>
              <a:ext uri="{FF2B5EF4-FFF2-40B4-BE49-F238E27FC236}">
                <a16:creationId xmlns:a16="http://schemas.microsoft.com/office/drawing/2014/main" id="{A8827452-2B4B-3888-C9FA-E9C0CD93E31D}"/>
              </a:ext>
            </a:extLst>
          </p:cNvPr>
          <p:cNvSpPr txBox="1"/>
          <p:nvPr/>
        </p:nvSpPr>
        <p:spPr>
          <a:xfrm rot="10800000">
            <a:off x="3397011" y="2368155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19" name="Textfeld 6">
            <a:extLst>
              <a:ext uri="{FF2B5EF4-FFF2-40B4-BE49-F238E27FC236}">
                <a16:creationId xmlns:a16="http://schemas.microsoft.com/office/drawing/2014/main" id="{6182D216-8A9B-2E98-8DFB-4334ECD4CC3D}"/>
              </a:ext>
            </a:extLst>
          </p:cNvPr>
          <p:cNvSpPr txBox="1"/>
          <p:nvPr/>
        </p:nvSpPr>
        <p:spPr>
          <a:xfrm>
            <a:off x="4441567" y="6585418"/>
            <a:ext cx="53725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= größere, signifikante Abweichungen von der Gesamtstichprobe (mindestens 7 Prozentpunkte höher/niedriger)</a:t>
            </a:r>
          </a:p>
        </p:txBody>
      </p:sp>
      <p:sp>
        <p:nvSpPr>
          <p:cNvPr id="20" name="Textfeld 38">
            <a:extLst>
              <a:ext uri="{FF2B5EF4-FFF2-40B4-BE49-F238E27FC236}">
                <a16:creationId xmlns:a16="http://schemas.microsoft.com/office/drawing/2014/main" id="{B7540534-C22D-464D-C11E-6E5582D57A9B}"/>
              </a:ext>
            </a:extLst>
          </p:cNvPr>
          <p:cNvSpPr txBox="1"/>
          <p:nvPr/>
        </p:nvSpPr>
        <p:spPr>
          <a:xfrm>
            <a:off x="4236176" y="6565779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30" name="Textfeld 38">
            <a:extLst>
              <a:ext uri="{FF2B5EF4-FFF2-40B4-BE49-F238E27FC236}">
                <a16:creationId xmlns:a16="http://schemas.microsoft.com/office/drawing/2014/main" id="{30870CD9-7CBC-7E32-B3E3-BEB6751C680C}"/>
              </a:ext>
            </a:extLst>
          </p:cNvPr>
          <p:cNvSpPr txBox="1"/>
          <p:nvPr/>
        </p:nvSpPr>
        <p:spPr>
          <a:xfrm rot="10800000">
            <a:off x="4328015" y="6610935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17" name="Textfeld 38">
            <a:extLst>
              <a:ext uri="{FF2B5EF4-FFF2-40B4-BE49-F238E27FC236}">
                <a16:creationId xmlns:a16="http://schemas.microsoft.com/office/drawing/2014/main" id="{0701CBC3-549C-9C1B-F091-6412711212B7}"/>
              </a:ext>
            </a:extLst>
          </p:cNvPr>
          <p:cNvSpPr txBox="1"/>
          <p:nvPr/>
        </p:nvSpPr>
        <p:spPr>
          <a:xfrm>
            <a:off x="3515071" y="2765529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18" name="Textfeld 38">
            <a:extLst>
              <a:ext uri="{FF2B5EF4-FFF2-40B4-BE49-F238E27FC236}">
                <a16:creationId xmlns:a16="http://schemas.microsoft.com/office/drawing/2014/main" id="{FBCE10CA-510E-A882-49A9-7AC33EF7AA0A}"/>
              </a:ext>
            </a:extLst>
          </p:cNvPr>
          <p:cNvSpPr txBox="1"/>
          <p:nvPr/>
        </p:nvSpPr>
        <p:spPr>
          <a:xfrm rot="10800000">
            <a:off x="1835481" y="5520231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23" name="Textfeld 38">
            <a:extLst>
              <a:ext uri="{FF2B5EF4-FFF2-40B4-BE49-F238E27FC236}">
                <a16:creationId xmlns:a16="http://schemas.microsoft.com/office/drawing/2014/main" id="{E883EF26-4158-22B1-3E8A-B0C5D45DC6CC}"/>
              </a:ext>
            </a:extLst>
          </p:cNvPr>
          <p:cNvSpPr txBox="1"/>
          <p:nvPr/>
        </p:nvSpPr>
        <p:spPr>
          <a:xfrm rot="10800000">
            <a:off x="8408152" y="3125106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25" name="Textfeld 38">
            <a:extLst>
              <a:ext uri="{FF2B5EF4-FFF2-40B4-BE49-F238E27FC236}">
                <a16:creationId xmlns:a16="http://schemas.microsoft.com/office/drawing/2014/main" id="{12A7A818-B99C-CD5D-A16D-38A266838F59}"/>
              </a:ext>
            </a:extLst>
          </p:cNvPr>
          <p:cNvSpPr txBox="1"/>
          <p:nvPr/>
        </p:nvSpPr>
        <p:spPr>
          <a:xfrm rot="10800000">
            <a:off x="8485805" y="2898945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27" name="Textfeld 38">
            <a:extLst>
              <a:ext uri="{FF2B5EF4-FFF2-40B4-BE49-F238E27FC236}">
                <a16:creationId xmlns:a16="http://schemas.microsoft.com/office/drawing/2014/main" id="{B72BFCF2-A480-0942-A4A7-AD6B27B6368A}"/>
              </a:ext>
            </a:extLst>
          </p:cNvPr>
          <p:cNvSpPr txBox="1"/>
          <p:nvPr/>
        </p:nvSpPr>
        <p:spPr>
          <a:xfrm rot="10800000">
            <a:off x="8684794" y="2700730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28" name="Textfeld 38">
            <a:extLst>
              <a:ext uri="{FF2B5EF4-FFF2-40B4-BE49-F238E27FC236}">
                <a16:creationId xmlns:a16="http://schemas.microsoft.com/office/drawing/2014/main" id="{718A4309-E492-C1EA-863C-4AA654AF63C8}"/>
              </a:ext>
            </a:extLst>
          </p:cNvPr>
          <p:cNvSpPr txBox="1"/>
          <p:nvPr/>
        </p:nvSpPr>
        <p:spPr>
          <a:xfrm rot="10800000">
            <a:off x="8739395" y="2474409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29" name="Textfeld 38">
            <a:extLst>
              <a:ext uri="{FF2B5EF4-FFF2-40B4-BE49-F238E27FC236}">
                <a16:creationId xmlns:a16="http://schemas.microsoft.com/office/drawing/2014/main" id="{23ECF998-FA9A-557D-EF10-67D1809AB89C}"/>
              </a:ext>
            </a:extLst>
          </p:cNvPr>
          <p:cNvSpPr txBox="1"/>
          <p:nvPr/>
        </p:nvSpPr>
        <p:spPr>
          <a:xfrm rot="10800000">
            <a:off x="8428803" y="3340730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32" name="Textfeld 38">
            <a:extLst>
              <a:ext uri="{FF2B5EF4-FFF2-40B4-BE49-F238E27FC236}">
                <a16:creationId xmlns:a16="http://schemas.microsoft.com/office/drawing/2014/main" id="{C354BCF9-58A8-F5B6-5A14-3F70BD99BA61}"/>
              </a:ext>
            </a:extLst>
          </p:cNvPr>
          <p:cNvSpPr txBox="1"/>
          <p:nvPr/>
        </p:nvSpPr>
        <p:spPr>
          <a:xfrm rot="10800000">
            <a:off x="8407835" y="3554259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35" name="Textfeld 38">
            <a:extLst>
              <a:ext uri="{FF2B5EF4-FFF2-40B4-BE49-F238E27FC236}">
                <a16:creationId xmlns:a16="http://schemas.microsoft.com/office/drawing/2014/main" id="{CE2E74F9-69E9-61FF-16D8-6D7931ECE83B}"/>
              </a:ext>
            </a:extLst>
          </p:cNvPr>
          <p:cNvSpPr txBox="1"/>
          <p:nvPr/>
        </p:nvSpPr>
        <p:spPr>
          <a:xfrm rot="10800000">
            <a:off x="8313084" y="4211561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38" name="Textfeld 38">
            <a:extLst>
              <a:ext uri="{FF2B5EF4-FFF2-40B4-BE49-F238E27FC236}">
                <a16:creationId xmlns:a16="http://schemas.microsoft.com/office/drawing/2014/main" id="{A3938240-88AD-01B8-31CC-EBC3CE0D6F91}"/>
              </a:ext>
            </a:extLst>
          </p:cNvPr>
          <p:cNvSpPr txBox="1"/>
          <p:nvPr/>
        </p:nvSpPr>
        <p:spPr>
          <a:xfrm rot="10800000">
            <a:off x="8368947" y="3774531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graphicFrame>
        <p:nvGraphicFramePr>
          <p:cNvPr id="9" name="Diagramm 9">
            <a:extLst>
              <a:ext uri="{FF2B5EF4-FFF2-40B4-BE49-F238E27FC236}">
                <a16:creationId xmlns:a16="http://schemas.microsoft.com/office/drawing/2014/main" id="{B512557A-753F-ADEA-AB10-3C6B1127A9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04879" y="425113"/>
          <a:ext cx="2019762" cy="1378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8"/>
          </a:graphicData>
        </a:graphic>
      </p:graphicFrame>
      <p:sp>
        <p:nvSpPr>
          <p:cNvPr id="31" name="Textfeld 38">
            <a:extLst>
              <a:ext uri="{FF2B5EF4-FFF2-40B4-BE49-F238E27FC236}">
                <a16:creationId xmlns:a16="http://schemas.microsoft.com/office/drawing/2014/main" id="{0A0BDC09-6FA1-EDAE-8BA9-B2CAD88B4E72}"/>
              </a:ext>
            </a:extLst>
          </p:cNvPr>
          <p:cNvSpPr txBox="1"/>
          <p:nvPr/>
        </p:nvSpPr>
        <p:spPr>
          <a:xfrm rot="10800000">
            <a:off x="8343064" y="3979664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B04E998F-4F69-3B9D-CD2A-1E3589EDB8E6}"/>
              </a:ext>
            </a:extLst>
          </p:cNvPr>
          <p:cNvSpPr txBox="1"/>
          <p:nvPr/>
        </p:nvSpPr>
        <p:spPr>
          <a:xfrm rot="10800000">
            <a:off x="5495960" y="4372842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41" name="Textfeld 38">
            <a:extLst>
              <a:ext uri="{FF2B5EF4-FFF2-40B4-BE49-F238E27FC236}">
                <a16:creationId xmlns:a16="http://schemas.microsoft.com/office/drawing/2014/main" id="{C3800F1F-3303-DF87-3189-EE08ABB2B780}"/>
              </a:ext>
            </a:extLst>
          </p:cNvPr>
          <p:cNvSpPr txBox="1"/>
          <p:nvPr/>
        </p:nvSpPr>
        <p:spPr>
          <a:xfrm>
            <a:off x="4957660" y="4483657"/>
            <a:ext cx="196753" cy="2156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50" name="Textfeld 38">
            <a:extLst>
              <a:ext uri="{FF2B5EF4-FFF2-40B4-BE49-F238E27FC236}">
                <a16:creationId xmlns:a16="http://schemas.microsoft.com/office/drawing/2014/main" id="{44FA9D33-D396-DFFF-8FCE-3446172F3D24}"/>
              </a:ext>
            </a:extLst>
          </p:cNvPr>
          <p:cNvSpPr txBox="1"/>
          <p:nvPr/>
        </p:nvSpPr>
        <p:spPr>
          <a:xfrm>
            <a:off x="5042482" y="5380345"/>
            <a:ext cx="676716" cy="1802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13" name="Datumsplatzhalter 1">
            <a:extLst>
              <a:ext uri="{FF2B5EF4-FFF2-40B4-BE49-F238E27FC236}">
                <a16:creationId xmlns:a16="http://schemas.microsoft.com/office/drawing/2014/main" id="{F6542191-044F-ED66-D36F-8837922951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875" y="6556875"/>
            <a:ext cx="588192" cy="219454"/>
          </a:xfrm>
        </p:spPr>
        <p:txBody>
          <a:bodyPr/>
          <a:lstStyle/>
          <a:p>
            <a:fld id="{72D77B36-95B7-FF43-8BF5-D80FC3958B26}" type="datetime1">
              <a:rPr lang="de-AT" noProof="0" smtClean="0"/>
              <a:t>28.05.26</a:t>
            </a:fld>
            <a:endParaRPr lang="de-AT" noProof="0" dirty="0"/>
          </a:p>
        </p:txBody>
      </p:sp>
      <p:sp>
        <p:nvSpPr>
          <p:cNvPr id="40" name="Fußzeilenplatzhalter 2">
            <a:extLst>
              <a:ext uri="{FF2B5EF4-FFF2-40B4-BE49-F238E27FC236}">
                <a16:creationId xmlns:a16="http://schemas.microsoft.com/office/drawing/2014/main" id="{4266E6D2-93BC-FC8D-1C92-C33AF67A8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0" y="6556875"/>
            <a:ext cx="6127477" cy="219454"/>
          </a:xfrm>
        </p:spPr>
        <p:txBody>
          <a:bodyPr/>
          <a:lstStyle/>
          <a:p>
            <a:r>
              <a:rPr lang="de-AT" noProof="0" dirty="0"/>
              <a:t>Retail-Segmentierung Neu│ S. Stratula &amp; K. Preibisch</a:t>
            </a:r>
          </a:p>
        </p:txBody>
      </p:sp>
    </p:spTree>
    <p:extLst>
      <p:ext uri="{BB962C8B-B14F-4D97-AF65-F5344CB8AC3E}">
        <p14:creationId xmlns:p14="http://schemas.microsoft.com/office/powerpoint/2010/main" val="1988275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EFAA9-B633-F5D1-0C45-DD969F0A4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0B41B4B4-5EC1-5F8E-718A-E549A004A037}"/>
              </a:ext>
            </a:extLst>
          </p:cNvPr>
          <p:cNvSpPr/>
          <p:nvPr/>
        </p:nvSpPr>
        <p:spPr>
          <a:xfrm>
            <a:off x="402545" y="1842624"/>
            <a:ext cx="7818028" cy="4414566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ED98B6A-A5A3-6808-66DA-956F8DC8C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19</a:t>
            </a:fld>
            <a:endParaRPr lang="de-AT" noProof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1C8E85D-0F32-828F-8EB7-B28E6BB1F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76" y="917607"/>
            <a:ext cx="11395074" cy="484473"/>
          </a:xfrm>
        </p:spPr>
        <p:txBody>
          <a:bodyPr/>
          <a:lstStyle/>
          <a:p>
            <a:r>
              <a:rPr lang="de-DE" sz="3400"/>
              <a:t>Versicherungspräferenzen und Bedürfnisse (1/2)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62D6FD6-EAA9-C7C6-BAB5-631356A59A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74313" y="142287"/>
            <a:ext cx="8817638" cy="475950"/>
          </a:xfrm>
        </p:spPr>
        <p:txBody>
          <a:bodyPr/>
          <a:lstStyle/>
          <a:p>
            <a:r>
              <a:rPr lang="de-DE" dirty="0"/>
              <a:t>Segment 3: Die Kundenservice Affinen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EABB64C-4DA9-88EA-D4A5-265716121259}"/>
              </a:ext>
            </a:extLst>
          </p:cNvPr>
          <p:cNvSpPr txBox="1"/>
          <p:nvPr/>
        </p:nvSpPr>
        <p:spPr>
          <a:xfrm>
            <a:off x="406797" y="1540342"/>
            <a:ext cx="7818028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400"/>
              <a:t>KAUFENTSCHEIDUNGSKRITERIEN UND PSYCHOGRAPHIE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3B5EF318-2B40-726B-AC63-AA19848AB86C}"/>
              </a:ext>
            </a:extLst>
          </p:cNvPr>
          <p:cNvSpPr txBox="1"/>
          <p:nvPr/>
        </p:nvSpPr>
        <p:spPr>
          <a:xfrm>
            <a:off x="501862" y="1881128"/>
            <a:ext cx="3744881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Wichtigste/entscheidende Kriterien beim Versicherungskauf</a:t>
            </a:r>
          </a:p>
        </p:txBody>
      </p:sp>
      <p:sp>
        <p:nvSpPr>
          <p:cNvPr id="49" name="AutoShape 2" descr="Generated image">
            <a:extLst>
              <a:ext uri="{FF2B5EF4-FFF2-40B4-BE49-F238E27FC236}">
                <a16:creationId xmlns:a16="http://schemas.microsoft.com/office/drawing/2014/main" id="{E8B5D916-E594-50A3-5D68-FF8A53F3EE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9270" y="314784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585BBD2D-1B11-0DA3-8BED-833F040C2D26}"/>
              </a:ext>
            </a:extLst>
          </p:cNvPr>
          <p:cNvSpPr txBox="1"/>
          <p:nvPr/>
        </p:nvSpPr>
        <p:spPr>
          <a:xfrm>
            <a:off x="4417902" y="1881128"/>
            <a:ext cx="2315302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Psychographie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0E6FAAE1-C658-1CC1-2C43-C711AF9DC5DB}"/>
              </a:ext>
            </a:extLst>
          </p:cNvPr>
          <p:cNvSpPr txBox="1"/>
          <p:nvPr/>
        </p:nvSpPr>
        <p:spPr>
          <a:xfrm>
            <a:off x="8423263" y="1566913"/>
            <a:ext cx="3008176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400" dirty="0"/>
              <a:t>INFORMATIONSEINHOLUNG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83A63E9-7948-C479-7C64-D2BA0925373B}"/>
              </a:ext>
            </a:extLst>
          </p:cNvPr>
          <p:cNvSpPr/>
          <p:nvPr/>
        </p:nvSpPr>
        <p:spPr>
          <a:xfrm>
            <a:off x="8401524" y="1842624"/>
            <a:ext cx="3459807" cy="4430368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E2C1264-EA30-CA38-F2FF-5CE4AAC13235}"/>
              </a:ext>
            </a:extLst>
          </p:cNvPr>
          <p:cNvSpPr txBox="1"/>
          <p:nvPr/>
        </p:nvSpPr>
        <p:spPr>
          <a:xfrm>
            <a:off x="315266" y="6371801"/>
            <a:ext cx="115460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Basis: </a:t>
            </a:r>
            <a:r>
              <a:rPr lang="de-DE" sz="800" dirty="0" err="1"/>
              <a:t>n</a:t>
            </a:r>
            <a:r>
              <a:rPr lang="de-DE" sz="800" dirty="0"/>
              <a:t>(Segment3)=546 | Grüne/rote Schriftfarbe und fette Markierung von Werten: Signifikante Abweichungen von der Gesamtstichprobe. Grün = signifikant höherer Wert, rot = signifikant niedrigerer Wert</a:t>
            </a:r>
          </a:p>
        </p:txBody>
      </p:sp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68D147F3-E5AA-2BAB-9A6A-88FEC8A0D526}"/>
              </a:ext>
            </a:extLst>
          </p:cNvPr>
          <p:cNvGraphicFramePr/>
          <p:nvPr/>
        </p:nvGraphicFramePr>
        <p:xfrm>
          <a:off x="-696376" y="2242537"/>
          <a:ext cx="4920426" cy="4030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9" name="Textfeld 58">
            <a:extLst>
              <a:ext uri="{FF2B5EF4-FFF2-40B4-BE49-F238E27FC236}">
                <a16:creationId xmlns:a16="http://schemas.microsoft.com/office/drawing/2014/main" id="{73DB1138-37E2-A1F0-83A8-C83D447E0F55}"/>
              </a:ext>
            </a:extLst>
          </p:cNvPr>
          <p:cNvSpPr txBox="1"/>
          <p:nvPr/>
        </p:nvSpPr>
        <p:spPr>
          <a:xfrm>
            <a:off x="4406746" y="2506485"/>
            <a:ext cx="3032690" cy="232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 dirty="0">
                <a:solidFill>
                  <a:srgbClr val="000000"/>
                </a:solidFill>
              </a:rPr>
              <a:t>Bei der Auswahl einer Versicherung achte ich besonders auf das </a:t>
            </a:r>
            <a:r>
              <a:rPr lang="de-DE" sz="800" b="1" dirty="0">
                <a:solidFill>
                  <a:srgbClr val="000000"/>
                </a:solidFill>
              </a:rPr>
              <a:t>Preis-Leistungsverhältnis</a:t>
            </a:r>
            <a:r>
              <a:rPr lang="de-DE" sz="8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FFECE7AA-8A3A-D5A1-87DE-5561FB564477}"/>
              </a:ext>
            </a:extLst>
          </p:cNvPr>
          <p:cNvSpPr txBox="1"/>
          <p:nvPr/>
        </p:nvSpPr>
        <p:spPr>
          <a:xfrm>
            <a:off x="4406746" y="2162698"/>
            <a:ext cx="3240121" cy="232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 dirty="0">
                <a:solidFill>
                  <a:srgbClr val="000000"/>
                </a:solidFill>
              </a:rPr>
              <a:t>Ich möchte </a:t>
            </a:r>
            <a:r>
              <a:rPr lang="de-DE" sz="800" b="1" dirty="0">
                <a:solidFill>
                  <a:srgbClr val="000000"/>
                </a:solidFill>
              </a:rPr>
              <a:t>flexible und maßgeschneiderte Versicherungsprodukte</a:t>
            </a:r>
            <a:r>
              <a:rPr lang="de-DE" sz="800" dirty="0">
                <a:solidFill>
                  <a:srgbClr val="000000"/>
                </a:solidFill>
              </a:rPr>
              <a:t>, die auf meine Bedürfnisse abgestimmt sind.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006D407D-33A0-3469-66CF-EB167AF2DCB5}"/>
              </a:ext>
            </a:extLst>
          </p:cNvPr>
          <p:cNvSpPr txBox="1"/>
          <p:nvPr/>
        </p:nvSpPr>
        <p:spPr>
          <a:xfrm>
            <a:off x="4406746" y="3544480"/>
            <a:ext cx="3032695" cy="232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 dirty="0">
                <a:solidFill>
                  <a:srgbClr val="000000"/>
                </a:solidFill>
              </a:rPr>
              <a:t>Für mich ist das </a:t>
            </a:r>
            <a:r>
              <a:rPr lang="de-DE" sz="800" b="1" dirty="0">
                <a:solidFill>
                  <a:srgbClr val="000000"/>
                </a:solidFill>
              </a:rPr>
              <a:t>persönliche Vertrauensverhältnis </a:t>
            </a:r>
            <a:r>
              <a:rPr lang="de-DE" sz="800" dirty="0">
                <a:solidFill>
                  <a:srgbClr val="000000"/>
                </a:solidFill>
              </a:rPr>
              <a:t>zu einem/</a:t>
            </a:r>
            <a:r>
              <a:rPr lang="de-DE" sz="800" dirty="0" err="1">
                <a:solidFill>
                  <a:srgbClr val="000000"/>
                </a:solidFill>
              </a:rPr>
              <a:t>r</a:t>
            </a:r>
            <a:r>
              <a:rPr lang="de-DE" sz="800" dirty="0">
                <a:solidFill>
                  <a:srgbClr val="000000"/>
                </a:solidFill>
              </a:rPr>
              <a:t> </a:t>
            </a:r>
            <a:r>
              <a:rPr lang="de-DE" sz="800" dirty="0" err="1">
                <a:solidFill>
                  <a:srgbClr val="000000"/>
                </a:solidFill>
              </a:rPr>
              <a:t>Versicherungsberater:in</a:t>
            </a:r>
            <a:r>
              <a:rPr lang="de-DE" sz="800" dirty="0">
                <a:solidFill>
                  <a:srgbClr val="000000"/>
                </a:solidFill>
              </a:rPr>
              <a:t> sehr wichtig.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EC28AB71-8D7B-4F62-DDF9-30A358D5DA9E}"/>
              </a:ext>
            </a:extLst>
          </p:cNvPr>
          <p:cNvSpPr txBox="1"/>
          <p:nvPr/>
        </p:nvSpPr>
        <p:spPr>
          <a:xfrm>
            <a:off x="4406746" y="2826033"/>
            <a:ext cx="3032695" cy="232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 dirty="0">
                <a:solidFill>
                  <a:srgbClr val="000000"/>
                </a:solidFill>
              </a:rPr>
              <a:t>Bevor ich eine Versicherung abschließe, schaue ich mir meistens </a:t>
            </a:r>
            <a:r>
              <a:rPr lang="de-DE" sz="800" b="1" dirty="0">
                <a:solidFill>
                  <a:srgbClr val="000000"/>
                </a:solidFill>
              </a:rPr>
              <a:t>mehrere Angebote </a:t>
            </a:r>
            <a:r>
              <a:rPr lang="de-DE" sz="800" dirty="0">
                <a:solidFill>
                  <a:srgbClr val="000000"/>
                </a:solidFill>
              </a:rPr>
              <a:t>an.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E21DD4B8-6A60-BBCF-2BCA-7B90A58B81B5}"/>
              </a:ext>
            </a:extLst>
          </p:cNvPr>
          <p:cNvSpPr txBox="1"/>
          <p:nvPr/>
        </p:nvSpPr>
        <p:spPr>
          <a:xfrm>
            <a:off x="4406747" y="4864657"/>
            <a:ext cx="3032690" cy="232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 dirty="0">
                <a:solidFill>
                  <a:srgbClr val="000000"/>
                </a:solidFill>
              </a:rPr>
              <a:t>Ich schätze bei Versicherungen </a:t>
            </a:r>
            <a:r>
              <a:rPr lang="de-DE" sz="800" b="1" dirty="0">
                <a:solidFill>
                  <a:srgbClr val="000000"/>
                </a:solidFill>
              </a:rPr>
              <a:t>Apps und/ oder online Kundenportale</a:t>
            </a:r>
            <a:r>
              <a:rPr lang="de-DE" sz="800" dirty="0">
                <a:solidFill>
                  <a:srgbClr val="000000"/>
                </a:solidFill>
              </a:rPr>
              <a:t>, mit denen ich meine Angelegenheiten selbständig erledigen kann.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362C097E-C665-EBA0-3E8B-96C667D2FB64}"/>
              </a:ext>
            </a:extLst>
          </p:cNvPr>
          <p:cNvSpPr txBox="1"/>
          <p:nvPr/>
        </p:nvSpPr>
        <p:spPr>
          <a:xfrm>
            <a:off x="4406746" y="3893803"/>
            <a:ext cx="2937550" cy="232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 dirty="0">
                <a:solidFill>
                  <a:srgbClr val="000000"/>
                </a:solidFill>
              </a:rPr>
              <a:t>Um Versicherungsangelegenheiten kümmere ich mich nur </a:t>
            </a:r>
            <a:r>
              <a:rPr lang="de-DE" sz="800" b="1" dirty="0">
                <a:solidFill>
                  <a:srgbClr val="000000"/>
                </a:solidFill>
              </a:rPr>
              <a:t>so viel wie unbedingt nötig</a:t>
            </a:r>
            <a:r>
              <a:rPr lang="de-DE" sz="8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BDF01757-D822-8DCB-86A0-677A23685764}"/>
              </a:ext>
            </a:extLst>
          </p:cNvPr>
          <p:cNvSpPr txBox="1"/>
          <p:nvPr/>
        </p:nvSpPr>
        <p:spPr>
          <a:xfrm>
            <a:off x="4406746" y="4592084"/>
            <a:ext cx="2798839" cy="232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 dirty="0">
                <a:solidFill>
                  <a:srgbClr val="000000"/>
                </a:solidFill>
              </a:rPr>
              <a:t>Mir ist es wichtig, </a:t>
            </a:r>
            <a:r>
              <a:rPr lang="de-DE" sz="800" b="1" dirty="0">
                <a:solidFill>
                  <a:srgbClr val="000000"/>
                </a:solidFill>
              </a:rPr>
              <a:t>alle Bereiche meines Lebens gut zu versichern</a:t>
            </a:r>
            <a:r>
              <a:rPr lang="de-DE" sz="8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F56DA4BB-F4C4-02B3-3517-FCD1188214B4}"/>
              </a:ext>
            </a:extLst>
          </p:cNvPr>
          <p:cNvSpPr txBox="1"/>
          <p:nvPr/>
        </p:nvSpPr>
        <p:spPr>
          <a:xfrm>
            <a:off x="4406746" y="4232989"/>
            <a:ext cx="2853563" cy="232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 dirty="0">
                <a:solidFill>
                  <a:srgbClr val="000000"/>
                </a:solidFill>
              </a:rPr>
              <a:t>Ich präferiere möglichst </a:t>
            </a:r>
            <a:r>
              <a:rPr lang="de-DE" sz="800" b="1" dirty="0">
                <a:solidFill>
                  <a:srgbClr val="000000"/>
                </a:solidFill>
              </a:rPr>
              <a:t>nur von einem Versicherer alle meine Versicherungsprodukte zu beziehen</a:t>
            </a:r>
            <a:r>
              <a:rPr lang="de-DE" sz="8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69FEA74D-FED6-04ED-9B77-ECEF10C8EB07}"/>
              </a:ext>
            </a:extLst>
          </p:cNvPr>
          <p:cNvSpPr txBox="1"/>
          <p:nvPr/>
        </p:nvSpPr>
        <p:spPr>
          <a:xfrm>
            <a:off x="4406746" y="5670927"/>
            <a:ext cx="2504846" cy="3361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 dirty="0">
                <a:solidFill>
                  <a:srgbClr val="000000"/>
                </a:solidFill>
              </a:rPr>
              <a:t>Ich bin bereit </a:t>
            </a:r>
            <a:r>
              <a:rPr lang="de-DE" sz="800" b="1" dirty="0">
                <a:solidFill>
                  <a:srgbClr val="000000"/>
                </a:solidFill>
              </a:rPr>
              <a:t>Selbstbehalte zu akzeptieren</a:t>
            </a:r>
            <a:r>
              <a:rPr lang="de-DE" sz="800" dirty="0">
                <a:solidFill>
                  <a:srgbClr val="000000"/>
                </a:solidFill>
              </a:rPr>
              <a:t>, um </a:t>
            </a:r>
            <a:r>
              <a:rPr lang="de-DE" sz="800" b="1" dirty="0">
                <a:solidFill>
                  <a:srgbClr val="000000"/>
                </a:solidFill>
              </a:rPr>
              <a:t>weniger Prämie </a:t>
            </a:r>
            <a:r>
              <a:rPr lang="de-DE" sz="800" dirty="0">
                <a:solidFill>
                  <a:srgbClr val="000000"/>
                </a:solidFill>
              </a:rPr>
              <a:t>zu zahlen.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1C575767-09B5-EA3F-1690-818C5EAF1944}"/>
              </a:ext>
            </a:extLst>
          </p:cNvPr>
          <p:cNvSpPr txBox="1"/>
          <p:nvPr/>
        </p:nvSpPr>
        <p:spPr>
          <a:xfrm>
            <a:off x="4406746" y="5267731"/>
            <a:ext cx="2688517" cy="232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 dirty="0">
                <a:solidFill>
                  <a:srgbClr val="000000"/>
                </a:solidFill>
              </a:rPr>
              <a:t>Ich </a:t>
            </a:r>
            <a:r>
              <a:rPr lang="de-DE" sz="800" b="1" dirty="0">
                <a:solidFill>
                  <a:srgbClr val="000000"/>
                </a:solidFill>
              </a:rPr>
              <a:t>achte bei Versicherungen auf Nachhaltigkeitsaspekte </a:t>
            </a:r>
            <a:r>
              <a:rPr lang="de-DE" sz="800" dirty="0">
                <a:solidFill>
                  <a:srgbClr val="000000"/>
                </a:solidFill>
              </a:rPr>
              <a:t>(z.B. Reparieren statt </a:t>
            </a:r>
            <a:br>
              <a:rPr lang="de-DE" sz="800" dirty="0">
                <a:solidFill>
                  <a:srgbClr val="000000"/>
                </a:solidFill>
              </a:rPr>
            </a:br>
            <a:r>
              <a:rPr lang="de-DE" sz="800" dirty="0">
                <a:solidFill>
                  <a:srgbClr val="000000"/>
                </a:solidFill>
              </a:rPr>
              <a:t>Neukaufen, Belohnung für </a:t>
            </a:r>
            <a:r>
              <a:rPr lang="de-DE" sz="800" dirty="0" err="1">
                <a:solidFill>
                  <a:srgbClr val="000000"/>
                </a:solidFill>
              </a:rPr>
              <a:t>nachh</a:t>
            </a:r>
            <a:r>
              <a:rPr lang="de-DE" sz="800" dirty="0">
                <a:solidFill>
                  <a:srgbClr val="000000"/>
                </a:solidFill>
              </a:rPr>
              <a:t>. Kundenverhalten).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D6A962CC-CD2B-21CC-2C71-130644F71928}"/>
              </a:ext>
            </a:extLst>
          </p:cNvPr>
          <p:cNvSpPr txBox="1"/>
          <p:nvPr/>
        </p:nvSpPr>
        <p:spPr>
          <a:xfrm>
            <a:off x="4406746" y="5968657"/>
            <a:ext cx="1982783" cy="232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 dirty="0">
                <a:solidFill>
                  <a:srgbClr val="000000"/>
                </a:solidFill>
              </a:rPr>
              <a:t>Bei </a:t>
            </a:r>
            <a:r>
              <a:rPr lang="de-DE" sz="800" b="1" dirty="0">
                <a:solidFill>
                  <a:srgbClr val="000000"/>
                </a:solidFill>
              </a:rPr>
              <a:t>Versicherungen suche ich mir stets die billigste aus</a:t>
            </a:r>
            <a:r>
              <a:rPr lang="de-DE" sz="8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89" name="Textfeld 88">
            <a:extLst>
              <a:ext uri="{FF2B5EF4-FFF2-40B4-BE49-F238E27FC236}">
                <a16:creationId xmlns:a16="http://schemas.microsoft.com/office/drawing/2014/main" id="{CC6054E7-EC39-6158-CA4D-1DD0B73DDB5B}"/>
              </a:ext>
            </a:extLst>
          </p:cNvPr>
          <p:cNvSpPr txBox="1"/>
          <p:nvPr/>
        </p:nvSpPr>
        <p:spPr>
          <a:xfrm>
            <a:off x="8446631" y="1881128"/>
            <a:ext cx="3387753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Genutzte Informationskanäle vor Versicherungsabschluss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FE3AC66-30E3-8E12-7653-A8F994B89727}"/>
              </a:ext>
            </a:extLst>
          </p:cNvPr>
          <p:cNvSpPr txBox="1"/>
          <p:nvPr/>
        </p:nvSpPr>
        <p:spPr>
          <a:xfrm>
            <a:off x="4406746" y="3126599"/>
            <a:ext cx="2860839" cy="4427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800" dirty="0">
                <a:solidFill>
                  <a:srgbClr val="000000"/>
                </a:solidFill>
              </a:rPr>
              <a:t>Ich wünsche mir von meiner Versicherung, dass sie nicht nur einzelne Schäden abdeckt, sondern mich auch </a:t>
            </a:r>
            <a:r>
              <a:rPr lang="de-DE" sz="800" b="1" dirty="0">
                <a:solidFill>
                  <a:srgbClr val="000000"/>
                </a:solidFill>
              </a:rPr>
              <a:t>rundum bei wichtigen Lebensereignissen berät</a:t>
            </a:r>
            <a:r>
              <a:rPr lang="de-DE" sz="800" dirty="0">
                <a:solidFill>
                  <a:srgbClr val="000000"/>
                </a:solidFill>
              </a:rPr>
              <a:t>.</a:t>
            </a:r>
          </a:p>
        </p:txBody>
      </p: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36743C1D-6A68-D115-663E-50E127F15E42}"/>
              </a:ext>
            </a:extLst>
          </p:cNvPr>
          <p:cNvCxnSpPr>
            <a:cxnSpLocks/>
          </p:cNvCxnSpPr>
          <p:nvPr/>
        </p:nvCxnSpPr>
        <p:spPr>
          <a:xfrm>
            <a:off x="4273299" y="1849466"/>
            <a:ext cx="0" cy="4414566"/>
          </a:xfrm>
          <a:prstGeom prst="line">
            <a:avLst/>
          </a:prstGeom>
          <a:ln w="28575">
            <a:solidFill>
              <a:srgbClr val="FF9E6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CCBB444-48BD-28F5-5A90-E7B7ADFF1435}"/>
              </a:ext>
            </a:extLst>
          </p:cNvPr>
          <p:cNvGraphicFramePr>
            <a:graphicFrameLocks noGrp="1"/>
          </p:cNvGraphicFramePr>
          <p:nvPr/>
        </p:nvGraphicFramePr>
        <p:xfrm>
          <a:off x="398502" y="2409755"/>
          <a:ext cx="2440330" cy="3755912"/>
        </p:xfrm>
        <a:graphic>
          <a:graphicData uri="http://schemas.openxmlformats.org/drawingml/2006/table">
            <a:tbl>
              <a:tblPr/>
              <a:tblGrid>
                <a:gridCol w="2440330">
                  <a:extLst>
                    <a:ext uri="{9D8B030D-6E8A-4147-A177-3AD203B41FA5}">
                      <a16:colId xmlns:a16="http://schemas.microsoft.com/office/drawing/2014/main" val="477942972"/>
                    </a:ext>
                  </a:extLst>
                </a:gridCol>
              </a:tblGrid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Das 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Preis-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Leistungsverhältnis</a:t>
                      </a:r>
                      <a:endParaRPr lang="en-US" sz="800" b="1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051307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Das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Produkt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ist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flexibel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und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kann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auf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mich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zugeschnitten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werden</a:t>
                      </a:r>
                      <a:endParaRPr lang="en-US" sz="800" b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100797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Bereits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positive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Erfahrungen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mit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dem Versicherungsunternehmen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gemacht</a:t>
                      </a:r>
                      <a:endParaRPr lang="en-US" sz="800" b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58625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Die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Versicherungsprämie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möglichst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geringer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Preis für die Versicherung)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15767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Das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Produkt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ist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umfangreich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(hat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viele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Deckungen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7485256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Weiterempfehlung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durch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Familie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Freund:innen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Bekannte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239811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Die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Produktinformationen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möglichst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klar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und transparent: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Angebot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Folder, online)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804547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Der/ die 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Berater:in/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Makler:in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ist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kompetent</a:t>
                      </a:r>
                      <a:endParaRPr lang="en-US" sz="800" b="1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755430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Das 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Image des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Versicherungsunternehmens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Bekanntheit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guter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Ruf)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885480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Der/ die 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Berater:in/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Makler:in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ist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bereits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bekannt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und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verlässlich</a:t>
                      </a:r>
                      <a:endParaRPr lang="en-US" sz="800" b="1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899555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  <a:buNone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Der/ die 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Berater:in/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Makler:in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befindet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sich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in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meiner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Nähe</a:t>
                      </a:r>
                      <a:endParaRPr lang="en-US" sz="800" b="1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0200942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Die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Möglichkeit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online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abzuschließen</a:t>
                      </a:r>
                      <a:endParaRPr lang="en-US" sz="800" b="1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893059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Das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Produkt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beinhaltet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relevante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Zusatzleistungen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z.B.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Assistance-Services)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354514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Digitale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Services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sind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vorhanden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Kund:innenportal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Versicherungs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-App)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522281"/>
                  </a:ext>
                </a:extLst>
              </a:tr>
              <a:tr h="2465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Die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Berücksichtigung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von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Nachhaltigkeitsaspekten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durch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das Versicherungsunternehmen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2882206"/>
                  </a:ext>
                </a:extLst>
              </a:tr>
            </a:tbl>
          </a:graphicData>
        </a:graphic>
      </p:graphicFrame>
      <p:sp>
        <p:nvSpPr>
          <p:cNvPr id="54" name="Textfeld 6">
            <a:extLst>
              <a:ext uri="{FF2B5EF4-FFF2-40B4-BE49-F238E27FC236}">
                <a16:creationId xmlns:a16="http://schemas.microsoft.com/office/drawing/2014/main" id="{BCFFCD27-CD27-8161-7726-A81AB1F480A9}"/>
              </a:ext>
            </a:extLst>
          </p:cNvPr>
          <p:cNvSpPr txBox="1"/>
          <p:nvPr/>
        </p:nvSpPr>
        <p:spPr>
          <a:xfrm>
            <a:off x="4441567" y="6585418"/>
            <a:ext cx="53725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= größere, signifikante Abweichungen von der Gesamtstichprobe (mindestens 7 Prozentpunkte höher/niedriger)</a:t>
            </a:r>
          </a:p>
        </p:txBody>
      </p:sp>
      <p:sp>
        <p:nvSpPr>
          <p:cNvPr id="55" name="Textfeld 38">
            <a:extLst>
              <a:ext uri="{FF2B5EF4-FFF2-40B4-BE49-F238E27FC236}">
                <a16:creationId xmlns:a16="http://schemas.microsoft.com/office/drawing/2014/main" id="{005B532E-B010-B114-A5A8-17A2FCC4A426}"/>
              </a:ext>
            </a:extLst>
          </p:cNvPr>
          <p:cNvSpPr txBox="1"/>
          <p:nvPr/>
        </p:nvSpPr>
        <p:spPr>
          <a:xfrm>
            <a:off x="4236176" y="6565779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56" name="Textfeld 38">
            <a:extLst>
              <a:ext uri="{FF2B5EF4-FFF2-40B4-BE49-F238E27FC236}">
                <a16:creationId xmlns:a16="http://schemas.microsoft.com/office/drawing/2014/main" id="{D2091E55-404C-7778-82A5-7CB58E7D5084}"/>
              </a:ext>
            </a:extLst>
          </p:cNvPr>
          <p:cNvSpPr txBox="1"/>
          <p:nvPr/>
        </p:nvSpPr>
        <p:spPr>
          <a:xfrm rot="10800000">
            <a:off x="4328015" y="6610935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9" name="Textfeld 38">
            <a:extLst>
              <a:ext uri="{FF2B5EF4-FFF2-40B4-BE49-F238E27FC236}">
                <a16:creationId xmlns:a16="http://schemas.microsoft.com/office/drawing/2014/main" id="{3871657D-2E4C-EDC6-B8AD-4A5DB3050BD9}"/>
              </a:ext>
            </a:extLst>
          </p:cNvPr>
          <p:cNvSpPr txBox="1"/>
          <p:nvPr/>
        </p:nvSpPr>
        <p:spPr>
          <a:xfrm rot="10800000">
            <a:off x="3740239" y="2464532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14" name="Textfeld 38">
            <a:extLst>
              <a:ext uri="{FF2B5EF4-FFF2-40B4-BE49-F238E27FC236}">
                <a16:creationId xmlns:a16="http://schemas.microsoft.com/office/drawing/2014/main" id="{9D5065F8-3D9F-577A-AF4F-367CD7206A83}"/>
              </a:ext>
            </a:extLst>
          </p:cNvPr>
          <p:cNvSpPr txBox="1"/>
          <p:nvPr/>
        </p:nvSpPr>
        <p:spPr>
          <a:xfrm rot="10800000">
            <a:off x="3482800" y="2953874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19" name="Textfeld 38">
            <a:extLst>
              <a:ext uri="{FF2B5EF4-FFF2-40B4-BE49-F238E27FC236}">
                <a16:creationId xmlns:a16="http://schemas.microsoft.com/office/drawing/2014/main" id="{B1644E32-44F0-2964-5DCE-B21F677C7081}"/>
              </a:ext>
            </a:extLst>
          </p:cNvPr>
          <p:cNvSpPr txBox="1"/>
          <p:nvPr/>
        </p:nvSpPr>
        <p:spPr>
          <a:xfrm rot="10800000">
            <a:off x="3486728" y="2707136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20" name="Textfeld 38">
            <a:extLst>
              <a:ext uri="{FF2B5EF4-FFF2-40B4-BE49-F238E27FC236}">
                <a16:creationId xmlns:a16="http://schemas.microsoft.com/office/drawing/2014/main" id="{0B1F04D5-F95D-936B-B6A0-78E20E0806D6}"/>
              </a:ext>
            </a:extLst>
          </p:cNvPr>
          <p:cNvSpPr txBox="1"/>
          <p:nvPr/>
        </p:nvSpPr>
        <p:spPr>
          <a:xfrm rot="10800000">
            <a:off x="3465931" y="3192868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graphicFrame>
        <p:nvGraphicFramePr>
          <p:cNvPr id="45" name="Inhaltsplatzhalter 7">
            <a:extLst>
              <a:ext uri="{FF2B5EF4-FFF2-40B4-BE49-F238E27FC236}">
                <a16:creationId xmlns:a16="http://schemas.microsoft.com/office/drawing/2014/main" id="{F1318BE4-3614-DDD9-8297-153881F0FCCC}"/>
              </a:ext>
            </a:extLst>
          </p:cNvPr>
          <p:cNvGraphicFramePr>
            <a:graphicFrameLocks/>
          </p:cNvGraphicFramePr>
          <p:nvPr/>
        </p:nvGraphicFramePr>
        <p:xfrm>
          <a:off x="4961840" y="1540342"/>
          <a:ext cx="3471495" cy="5554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6" name="Textfeld 75">
            <a:extLst>
              <a:ext uri="{FF2B5EF4-FFF2-40B4-BE49-F238E27FC236}">
                <a16:creationId xmlns:a16="http://schemas.microsoft.com/office/drawing/2014/main" id="{5037C2F0-AB93-97D4-4C5B-699B2F45CDF6}"/>
              </a:ext>
            </a:extLst>
          </p:cNvPr>
          <p:cNvSpPr txBox="1"/>
          <p:nvPr/>
        </p:nvSpPr>
        <p:spPr>
          <a:xfrm>
            <a:off x="7910700" y="2164324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b="1" dirty="0">
                <a:solidFill>
                  <a:srgbClr val="FF0000"/>
                </a:solidFill>
              </a:rPr>
              <a:t>65%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03B3D544-4792-B6EF-CFD8-907E478E9108}"/>
              </a:ext>
            </a:extLst>
          </p:cNvPr>
          <p:cNvSpPr txBox="1"/>
          <p:nvPr/>
        </p:nvSpPr>
        <p:spPr>
          <a:xfrm>
            <a:off x="7618709" y="5697081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dirty="0">
                <a:solidFill>
                  <a:srgbClr val="000000"/>
                </a:solidFill>
              </a:rPr>
              <a:t>46%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EF99D877-46E7-CBDF-F582-A02D7E2C0AD6}"/>
              </a:ext>
            </a:extLst>
          </p:cNvPr>
          <p:cNvSpPr txBox="1"/>
          <p:nvPr/>
        </p:nvSpPr>
        <p:spPr>
          <a:xfrm>
            <a:off x="7788300" y="3573183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b="1" dirty="0">
                <a:solidFill>
                  <a:srgbClr val="FF0000"/>
                </a:solidFill>
              </a:rPr>
              <a:t>56%</a:t>
            </a: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D086CF82-1193-7C40-0C8F-8B6B3678D218}"/>
              </a:ext>
            </a:extLst>
          </p:cNvPr>
          <p:cNvSpPr txBox="1"/>
          <p:nvPr/>
        </p:nvSpPr>
        <p:spPr>
          <a:xfrm>
            <a:off x="7645105" y="4984041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dirty="0">
                <a:solidFill>
                  <a:srgbClr val="000000"/>
                </a:solidFill>
              </a:rPr>
              <a:t>49%</a:t>
            </a: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D9B61BC6-1C79-3740-DD5D-B51EBE94CF6F}"/>
              </a:ext>
            </a:extLst>
          </p:cNvPr>
          <p:cNvSpPr txBox="1"/>
          <p:nvPr/>
        </p:nvSpPr>
        <p:spPr>
          <a:xfrm>
            <a:off x="7668190" y="4635178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b="1" dirty="0">
                <a:solidFill>
                  <a:srgbClr val="FF0000"/>
                </a:solidFill>
              </a:rPr>
              <a:t>49%</a:t>
            </a: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8690E375-3F56-00AC-60D9-7BCF097447EB}"/>
              </a:ext>
            </a:extLst>
          </p:cNvPr>
          <p:cNvSpPr txBox="1"/>
          <p:nvPr/>
        </p:nvSpPr>
        <p:spPr>
          <a:xfrm>
            <a:off x="7776467" y="3929965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b="1" dirty="0">
                <a:solidFill>
                  <a:srgbClr val="FF0000"/>
                </a:solidFill>
              </a:rPr>
              <a:t>55%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092343BB-538D-B66D-A218-771D3DCD5FD2}"/>
              </a:ext>
            </a:extLst>
          </p:cNvPr>
          <p:cNvSpPr txBox="1"/>
          <p:nvPr/>
        </p:nvSpPr>
        <p:spPr>
          <a:xfrm>
            <a:off x="7691722" y="4283995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b="1" dirty="0">
                <a:solidFill>
                  <a:srgbClr val="FF0000"/>
                </a:solidFill>
              </a:rPr>
              <a:t>50%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97E07079-5071-337D-3FA6-D365B4AB7423}"/>
              </a:ext>
            </a:extLst>
          </p:cNvPr>
          <p:cNvSpPr txBox="1"/>
          <p:nvPr/>
        </p:nvSpPr>
        <p:spPr>
          <a:xfrm>
            <a:off x="7645265" y="5342636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b="1" dirty="0">
                <a:solidFill>
                  <a:srgbClr val="4DA685"/>
                </a:solidFill>
              </a:rPr>
              <a:t>49%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98B3FB16-6F86-3584-A93B-2D2B1B55A5BD}"/>
              </a:ext>
            </a:extLst>
          </p:cNvPr>
          <p:cNvSpPr txBox="1"/>
          <p:nvPr/>
        </p:nvSpPr>
        <p:spPr>
          <a:xfrm>
            <a:off x="7505941" y="6050360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b="1" dirty="0">
                <a:solidFill>
                  <a:srgbClr val="4DA685"/>
                </a:solidFill>
              </a:rPr>
              <a:t>36%</a:t>
            </a:r>
          </a:p>
        </p:txBody>
      </p:sp>
      <p:sp>
        <p:nvSpPr>
          <p:cNvPr id="33" name="Textfeld 38">
            <a:extLst>
              <a:ext uri="{FF2B5EF4-FFF2-40B4-BE49-F238E27FC236}">
                <a16:creationId xmlns:a16="http://schemas.microsoft.com/office/drawing/2014/main" id="{BE748F9D-37D8-C38B-ECAF-8E2708B14FFA}"/>
              </a:ext>
            </a:extLst>
          </p:cNvPr>
          <p:cNvSpPr txBox="1"/>
          <p:nvPr/>
        </p:nvSpPr>
        <p:spPr>
          <a:xfrm rot="10800000">
            <a:off x="7875507" y="4614799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38" name="Textfeld 38">
            <a:extLst>
              <a:ext uri="{FF2B5EF4-FFF2-40B4-BE49-F238E27FC236}">
                <a16:creationId xmlns:a16="http://schemas.microsoft.com/office/drawing/2014/main" id="{C56D0A97-21E3-CC2B-41BC-896BD0E76B61}"/>
              </a:ext>
            </a:extLst>
          </p:cNvPr>
          <p:cNvSpPr txBox="1"/>
          <p:nvPr/>
        </p:nvSpPr>
        <p:spPr>
          <a:xfrm>
            <a:off x="7712452" y="5988528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BA4019F1-D102-684A-9D68-EAB870CEAA5D}"/>
              </a:ext>
            </a:extLst>
          </p:cNvPr>
          <p:cNvSpPr txBox="1"/>
          <p:nvPr/>
        </p:nvSpPr>
        <p:spPr>
          <a:xfrm>
            <a:off x="7874739" y="2532133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b="1" dirty="0">
                <a:solidFill>
                  <a:srgbClr val="FF0000"/>
                </a:solidFill>
              </a:rPr>
              <a:t>63%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4B1F2F85-BC29-106C-FA6F-89A34C2818D6}"/>
              </a:ext>
            </a:extLst>
          </p:cNvPr>
          <p:cNvSpPr txBox="1"/>
          <p:nvPr/>
        </p:nvSpPr>
        <p:spPr>
          <a:xfrm>
            <a:off x="7844781" y="2870972"/>
            <a:ext cx="304800" cy="1734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dirty="0">
                <a:solidFill>
                  <a:srgbClr val="000000"/>
                </a:solidFill>
              </a:rPr>
              <a:t>61%</a:t>
            </a:r>
          </a:p>
        </p:txBody>
      </p:sp>
      <p:graphicFrame>
        <p:nvGraphicFramePr>
          <p:cNvPr id="90" name="Diagramm 89">
            <a:extLst>
              <a:ext uri="{FF2B5EF4-FFF2-40B4-BE49-F238E27FC236}">
                <a16:creationId xmlns:a16="http://schemas.microsoft.com/office/drawing/2014/main" id="{278A124A-D290-A40F-FFCA-1B2C8A3E4FBE}"/>
              </a:ext>
            </a:extLst>
          </p:cNvPr>
          <p:cNvGraphicFramePr/>
          <p:nvPr/>
        </p:nvGraphicFramePr>
        <p:xfrm>
          <a:off x="7997111" y="2352697"/>
          <a:ext cx="3957036" cy="38625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2" name="Textfeld 38">
            <a:extLst>
              <a:ext uri="{FF2B5EF4-FFF2-40B4-BE49-F238E27FC236}">
                <a16:creationId xmlns:a16="http://schemas.microsoft.com/office/drawing/2014/main" id="{4D756AD1-163F-8CC1-743C-3B254F35D499}"/>
              </a:ext>
            </a:extLst>
          </p:cNvPr>
          <p:cNvSpPr txBox="1"/>
          <p:nvPr/>
        </p:nvSpPr>
        <p:spPr>
          <a:xfrm rot="10800000">
            <a:off x="11134134" y="309769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FF0000"/>
                </a:solidFill>
              </a:rPr>
              <a:t>↑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A671EBE-BF2B-5A6F-9942-1587CE0478BB}"/>
              </a:ext>
            </a:extLst>
          </p:cNvPr>
          <p:cNvGraphicFramePr>
            <a:graphicFrameLocks noGrp="1"/>
          </p:cNvGraphicFramePr>
          <p:nvPr/>
        </p:nvGraphicFramePr>
        <p:xfrm>
          <a:off x="8469907" y="2493046"/>
          <a:ext cx="2062623" cy="3556037"/>
        </p:xfrm>
        <a:graphic>
          <a:graphicData uri="http://schemas.openxmlformats.org/drawingml/2006/table">
            <a:tbl>
              <a:tblPr/>
              <a:tblGrid>
                <a:gridCol w="2062623">
                  <a:extLst>
                    <a:ext uri="{9D8B030D-6E8A-4147-A177-3AD203B41FA5}">
                      <a16:colId xmlns:a16="http://schemas.microsoft.com/office/drawing/2014/main" val="3309409780"/>
                    </a:ext>
                  </a:extLst>
                </a:gridCol>
              </a:tblGrid>
              <a:tr h="4403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Online auf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Vergleichsplattformen</a:t>
                      </a:r>
                      <a:endParaRPr lang="en-US" sz="800" b="1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9307659"/>
                  </a:ext>
                </a:extLst>
              </a:tr>
              <a:tr h="4403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Bei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einem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einer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Versicherungs-berater:in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Versicherungsmakler:in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 General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Agent:in</a:t>
                      </a:r>
                      <a:endParaRPr lang="en-US" sz="8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921235"/>
                  </a:ext>
                </a:extLst>
              </a:tr>
              <a:tr h="4403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Bei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meiner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Familie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unter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Verwandten</a:t>
                      </a:r>
                      <a:endParaRPr lang="en-US" sz="800" b="1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3671539"/>
                  </a:ext>
                </a:extLst>
              </a:tr>
              <a:tr h="4403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Auf den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Webseiten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von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Versicherungsanbietern</a:t>
                      </a:r>
                      <a:endParaRPr lang="en-US" sz="800" b="1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816057"/>
                  </a:ext>
                </a:extLst>
              </a:tr>
              <a:tr h="4403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Bei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Freund:innen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Bekannten</a:t>
                      </a:r>
                      <a:endParaRPr lang="en-US" sz="800" b="1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070986"/>
                  </a:ext>
                </a:extLst>
              </a:tr>
              <a:tr h="47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Mit Hilfe des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Kundenservices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der Versicherung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121752"/>
                  </a:ext>
                </a:extLst>
              </a:tr>
              <a:tr h="4403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Direkt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beim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Standort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der Versicherung 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z.B.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Filiale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6184908"/>
                  </a:ext>
                </a:extLst>
              </a:tr>
              <a:tr h="4403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Mittels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Online-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Suche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 Google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255650"/>
                  </a:ext>
                </a:extLst>
              </a:tr>
            </a:tbl>
          </a:graphicData>
        </a:graphic>
      </p:graphicFrame>
      <p:graphicFrame>
        <p:nvGraphicFramePr>
          <p:cNvPr id="15" name="Diagramm 9">
            <a:extLst>
              <a:ext uri="{FF2B5EF4-FFF2-40B4-BE49-F238E27FC236}">
                <a16:creationId xmlns:a16="http://schemas.microsoft.com/office/drawing/2014/main" id="{7487A677-340F-48BE-56BD-5A847C9246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04879" y="425113"/>
          <a:ext cx="2019762" cy="1378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8" name="Textfeld 38">
            <a:extLst>
              <a:ext uri="{FF2B5EF4-FFF2-40B4-BE49-F238E27FC236}">
                <a16:creationId xmlns:a16="http://schemas.microsoft.com/office/drawing/2014/main" id="{4A99E600-DF7F-35D9-22AE-7AE5B6298D1A}"/>
              </a:ext>
            </a:extLst>
          </p:cNvPr>
          <p:cNvSpPr txBox="1"/>
          <p:nvPr/>
        </p:nvSpPr>
        <p:spPr>
          <a:xfrm rot="10800000">
            <a:off x="3464923" y="3439130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30" name="Textfeld 38">
            <a:extLst>
              <a:ext uri="{FF2B5EF4-FFF2-40B4-BE49-F238E27FC236}">
                <a16:creationId xmlns:a16="http://schemas.microsoft.com/office/drawing/2014/main" id="{02586BF0-4B33-F5D8-BF0F-C72B1CC6BF46}"/>
              </a:ext>
            </a:extLst>
          </p:cNvPr>
          <p:cNvSpPr txBox="1"/>
          <p:nvPr/>
        </p:nvSpPr>
        <p:spPr>
          <a:xfrm rot="10800000">
            <a:off x="3396239" y="4169420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32" name="Textfeld 38">
            <a:extLst>
              <a:ext uri="{FF2B5EF4-FFF2-40B4-BE49-F238E27FC236}">
                <a16:creationId xmlns:a16="http://schemas.microsoft.com/office/drawing/2014/main" id="{181FFEB0-5382-AAE7-96A6-80DE7F42051D}"/>
              </a:ext>
            </a:extLst>
          </p:cNvPr>
          <p:cNvSpPr txBox="1"/>
          <p:nvPr/>
        </p:nvSpPr>
        <p:spPr>
          <a:xfrm rot="10800000">
            <a:off x="3379622" y="4653071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ED8F0BFC-A4F6-3700-9D27-E0F38F1E7FD5}"/>
              </a:ext>
            </a:extLst>
          </p:cNvPr>
          <p:cNvSpPr txBox="1"/>
          <p:nvPr/>
        </p:nvSpPr>
        <p:spPr>
          <a:xfrm>
            <a:off x="7815167" y="3228149"/>
            <a:ext cx="356122" cy="1976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dirty="0">
                <a:solidFill>
                  <a:srgbClr val="000000"/>
                </a:solidFill>
              </a:rPr>
              <a:t>58%</a:t>
            </a:r>
          </a:p>
        </p:txBody>
      </p:sp>
      <p:sp>
        <p:nvSpPr>
          <p:cNvPr id="37" name="Textfeld 38">
            <a:extLst>
              <a:ext uri="{FF2B5EF4-FFF2-40B4-BE49-F238E27FC236}">
                <a16:creationId xmlns:a16="http://schemas.microsoft.com/office/drawing/2014/main" id="{AEB1FD95-EAC1-AA66-28E3-90B48FFDCAA6}"/>
              </a:ext>
            </a:extLst>
          </p:cNvPr>
          <p:cNvSpPr txBox="1"/>
          <p:nvPr/>
        </p:nvSpPr>
        <p:spPr>
          <a:xfrm>
            <a:off x="7862119" y="5291116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368F8D1F-11B8-DCCD-2AB3-58E34FB3835C}"/>
              </a:ext>
            </a:extLst>
          </p:cNvPr>
          <p:cNvSpPr txBox="1"/>
          <p:nvPr/>
        </p:nvSpPr>
        <p:spPr>
          <a:xfrm rot="10800000">
            <a:off x="7997862" y="3557391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41" name="Textfeld 38">
            <a:extLst>
              <a:ext uri="{FF2B5EF4-FFF2-40B4-BE49-F238E27FC236}">
                <a16:creationId xmlns:a16="http://schemas.microsoft.com/office/drawing/2014/main" id="{39BC3421-7859-3F22-8B20-D534A33C7847}"/>
              </a:ext>
            </a:extLst>
          </p:cNvPr>
          <p:cNvSpPr txBox="1"/>
          <p:nvPr/>
        </p:nvSpPr>
        <p:spPr>
          <a:xfrm rot="10800000">
            <a:off x="8078879" y="2520082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47" name="Textfeld 38">
            <a:extLst>
              <a:ext uri="{FF2B5EF4-FFF2-40B4-BE49-F238E27FC236}">
                <a16:creationId xmlns:a16="http://schemas.microsoft.com/office/drawing/2014/main" id="{75221196-B60D-E2A4-A54D-8BD947E9E0C5}"/>
              </a:ext>
            </a:extLst>
          </p:cNvPr>
          <p:cNvSpPr txBox="1"/>
          <p:nvPr/>
        </p:nvSpPr>
        <p:spPr>
          <a:xfrm rot="10800000">
            <a:off x="8118756" y="2149865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16" name="Textfeld 38">
            <a:extLst>
              <a:ext uri="{FF2B5EF4-FFF2-40B4-BE49-F238E27FC236}">
                <a16:creationId xmlns:a16="http://schemas.microsoft.com/office/drawing/2014/main" id="{0B6E304D-28DD-442F-2617-763ABF07F7B4}"/>
              </a:ext>
            </a:extLst>
          </p:cNvPr>
          <p:cNvSpPr txBox="1"/>
          <p:nvPr/>
        </p:nvSpPr>
        <p:spPr>
          <a:xfrm rot="10800000">
            <a:off x="3404220" y="3926329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21" name="Datumsplatzhalter 1">
            <a:extLst>
              <a:ext uri="{FF2B5EF4-FFF2-40B4-BE49-F238E27FC236}">
                <a16:creationId xmlns:a16="http://schemas.microsoft.com/office/drawing/2014/main" id="{B37E36A0-FC12-FDDF-8DBE-7105967608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875" y="6556875"/>
            <a:ext cx="588192" cy="219454"/>
          </a:xfrm>
        </p:spPr>
        <p:txBody>
          <a:bodyPr/>
          <a:lstStyle/>
          <a:p>
            <a:fld id="{72D77B36-95B7-FF43-8BF5-D80FC3958B26}" type="datetime1">
              <a:rPr lang="de-AT" noProof="0" smtClean="0"/>
              <a:t>28.05.26</a:t>
            </a:fld>
            <a:endParaRPr lang="de-AT" noProof="0" dirty="0"/>
          </a:p>
        </p:txBody>
      </p:sp>
      <p:sp>
        <p:nvSpPr>
          <p:cNvPr id="22" name="Fußzeilenplatzhalter 2">
            <a:extLst>
              <a:ext uri="{FF2B5EF4-FFF2-40B4-BE49-F238E27FC236}">
                <a16:creationId xmlns:a16="http://schemas.microsoft.com/office/drawing/2014/main" id="{AD8EE7D0-69B7-28D1-50F3-2F06E080D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0" y="6556875"/>
            <a:ext cx="6127477" cy="219454"/>
          </a:xfrm>
        </p:spPr>
        <p:txBody>
          <a:bodyPr/>
          <a:lstStyle/>
          <a:p>
            <a:r>
              <a:rPr lang="de-AT" noProof="0" dirty="0"/>
              <a:t>Retail-Segmentierung Neu│ S. Stratula &amp; K. Preibisch</a:t>
            </a:r>
          </a:p>
        </p:txBody>
      </p:sp>
    </p:spTree>
    <p:extLst>
      <p:ext uri="{BB962C8B-B14F-4D97-AF65-F5344CB8AC3E}">
        <p14:creationId xmlns:p14="http://schemas.microsoft.com/office/powerpoint/2010/main" val="3450037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1668B-A74D-DF26-EE8A-6A56E8F52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hteck 10">
            <a:extLst>
              <a:ext uri="{FF2B5EF4-FFF2-40B4-BE49-F238E27FC236}">
                <a16:creationId xmlns:a16="http://schemas.microsoft.com/office/drawing/2014/main" id="{0679E64B-8E6E-0CE0-47DD-109BE76241CC}"/>
              </a:ext>
            </a:extLst>
          </p:cNvPr>
          <p:cNvSpPr/>
          <p:nvPr/>
        </p:nvSpPr>
        <p:spPr>
          <a:xfrm>
            <a:off x="402544" y="1788492"/>
            <a:ext cx="11546001" cy="1365274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3C0B264-72EA-B6BB-1A3A-F51EACF67429}"/>
              </a:ext>
            </a:extLst>
          </p:cNvPr>
          <p:cNvSpPr/>
          <p:nvPr/>
        </p:nvSpPr>
        <p:spPr>
          <a:xfrm>
            <a:off x="402545" y="3460034"/>
            <a:ext cx="5618112" cy="2819792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>
              <a:spcAft>
                <a:spcPts val="1000"/>
              </a:spcAft>
            </a:pPr>
            <a:endParaRPr lang="de-DE" sz="800">
              <a:solidFill>
                <a:srgbClr val="000000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987FC2-42D3-04E4-7BE6-D28A19F1F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52981-3CA4-4342-A3CD-6DEDCD14014C}" type="slidenum">
              <a:rPr lang="de-AT" noProof="0" smtClean="0"/>
              <a:pPr/>
              <a:t>20</a:t>
            </a:fld>
            <a:endParaRPr lang="de-AT" noProof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46731830-F98A-C4ED-9169-DAEDEB4A0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76" y="917607"/>
            <a:ext cx="11395074" cy="484473"/>
          </a:xfrm>
        </p:spPr>
        <p:txBody>
          <a:bodyPr/>
          <a:lstStyle/>
          <a:p>
            <a:r>
              <a:rPr lang="de-DE" sz="3400"/>
              <a:t>Versicherungspräferenzen und Bedürfnisse (2/2)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80EF00B-7A2D-2D42-7416-5BFF1E0D38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/>
              <a:t>Segment 3: Die Kundenservice Affinen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624C100-9A6B-41C2-A1EF-C8A1A2DFEC14}"/>
              </a:ext>
            </a:extLst>
          </p:cNvPr>
          <p:cNvSpPr txBox="1"/>
          <p:nvPr/>
        </p:nvSpPr>
        <p:spPr>
          <a:xfrm>
            <a:off x="406797" y="1540342"/>
            <a:ext cx="7818028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algn="l" defTabSz="914400" rtl="0" eaLnBrk="1" latinLnBrk="0" hangingPunct="1">
              <a:buClr>
                <a:schemeClr val="tx2"/>
              </a:buClr>
            </a:pPr>
            <a:r>
              <a:rPr lang="de-AT" sz="1400"/>
              <a:t>GEWÜNSCHTE CUSTOMER JOURNEY</a:t>
            </a:r>
            <a:endParaRPr lang="de-DE" sz="140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760C6E1-A5EF-EF1B-E920-41F67CC3E90E}"/>
              </a:ext>
            </a:extLst>
          </p:cNvPr>
          <p:cNvSpPr txBox="1"/>
          <p:nvPr/>
        </p:nvSpPr>
        <p:spPr>
          <a:xfrm>
            <a:off x="315266" y="6371801"/>
            <a:ext cx="115460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Basis: </a:t>
            </a:r>
            <a:r>
              <a:rPr lang="de-DE" sz="800" dirty="0" err="1"/>
              <a:t>n</a:t>
            </a:r>
            <a:r>
              <a:rPr lang="de-DE" sz="800" dirty="0"/>
              <a:t>(Segment3)=546 | Grüne/rote Schriftfarbe und fette Markierung von Werten: Signifikante Abweichungen von der Gesamtstichprobe. Grün = signifikant höherer Wert, rot = signifikant niedrigerer Wert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04B47B62-CAF9-AFD2-D383-97BFE2185C48}"/>
              </a:ext>
            </a:extLst>
          </p:cNvPr>
          <p:cNvGraphicFramePr>
            <a:graphicFrameLocks noGrp="1"/>
          </p:cNvGraphicFramePr>
          <p:nvPr/>
        </p:nvGraphicFramePr>
        <p:xfrm>
          <a:off x="475802" y="1828307"/>
          <a:ext cx="11201089" cy="13537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6209">
                  <a:extLst>
                    <a:ext uri="{9D8B030D-6E8A-4147-A177-3AD203B41FA5}">
                      <a16:colId xmlns:a16="http://schemas.microsoft.com/office/drawing/2014/main" val="1578067308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3148616686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601574479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2382619099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3144059005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725252944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1727548551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151905168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669813839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2529105639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4060331723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2660782090"/>
                    </a:ext>
                  </a:extLst>
                </a:gridCol>
                <a:gridCol w="786240">
                  <a:extLst>
                    <a:ext uri="{9D8B030D-6E8A-4147-A177-3AD203B41FA5}">
                      <a16:colId xmlns:a16="http://schemas.microsoft.com/office/drawing/2014/main" val="3995529280"/>
                    </a:ext>
                  </a:extLst>
                </a:gridCol>
              </a:tblGrid>
              <a:tr h="4082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Einholen von </a:t>
                      </a:r>
                      <a:b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Informationen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Einholung eines Angebots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Vergleichen von Angeboten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Beratung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Kauf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Fragen zu einem Vertrag stellen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Persönliche Informationen aktualisieren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Vertrag ändern oder verlängern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Vertrag kündigen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Ein-/ Auszahlungen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Schaden melden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Schadenstatus ansehen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047583"/>
                  </a:ext>
                </a:extLst>
              </a:tr>
              <a:tr h="26540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Möchte selbst machen</a:t>
                      </a:r>
                      <a:b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(Kundenportal/ Homepage)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290549"/>
                  </a:ext>
                </a:extLst>
              </a:tr>
              <a:tr h="26540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Möchte mich dafür an den Kundenservice wenden</a:t>
                      </a:r>
                      <a:b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(Anruf, Email, Messenger)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E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E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E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E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E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E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E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E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E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E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E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E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062264"/>
                  </a:ext>
                </a:extLst>
              </a:tr>
              <a:tr h="26540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Möchte das über meine/n </a:t>
                      </a:r>
                      <a:b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de-AT" sz="800" u="none" strike="noStrike" noProof="1">
                          <a:solidFill>
                            <a:srgbClr val="000000"/>
                          </a:solidFill>
                          <a:effectLst/>
                        </a:rPr>
                        <a:t>Berater:in/Makler:in machen</a:t>
                      </a:r>
                      <a:endParaRPr lang="de-AT" sz="8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AT" sz="900" b="0" i="0" u="none" strike="noStrike" noProof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453935"/>
                  </a:ext>
                </a:extLst>
              </a:tr>
            </a:tbl>
          </a:graphicData>
        </a:graphic>
      </p:graphicFrame>
      <p:cxnSp>
        <p:nvCxnSpPr>
          <p:cNvPr id="73" name="Gerader Verbinder 2">
            <a:extLst>
              <a:ext uri="{FF2B5EF4-FFF2-40B4-BE49-F238E27FC236}">
                <a16:creationId xmlns:a16="http://schemas.microsoft.com/office/drawing/2014/main" id="{ECFF0205-DD22-B36B-163F-809723FFFBDD}"/>
              </a:ext>
            </a:extLst>
          </p:cNvPr>
          <p:cNvCxnSpPr>
            <a:cxnSpLocks/>
          </p:cNvCxnSpPr>
          <p:nvPr/>
        </p:nvCxnSpPr>
        <p:spPr>
          <a:xfrm>
            <a:off x="2505933" y="2745619"/>
            <a:ext cx="8788288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feld 11">
            <a:extLst>
              <a:ext uri="{FF2B5EF4-FFF2-40B4-BE49-F238E27FC236}">
                <a16:creationId xmlns:a16="http://schemas.microsoft.com/office/drawing/2014/main" id="{BFB1EC04-5CA9-035D-420E-98C818AE3C82}"/>
              </a:ext>
            </a:extLst>
          </p:cNvPr>
          <p:cNvSpPr txBox="1"/>
          <p:nvPr/>
        </p:nvSpPr>
        <p:spPr>
          <a:xfrm>
            <a:off x="406797" y="3227274"/>
            <a:ext cx="5613854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1400"/>
              <a:t>VERTRIEBSWEGE</a:t>
            </a:r>
          </a:p>
        </p:txBody>
      </p:sp>
      <p:sp>
        <p:nvSpPr>
          <p:cNvPr id="84" name="Pfeil: nach unten 31">
            <a:extLst>
              <a:ext uri="{FF2B5EF4-FFF2-40B4-BE49-F238E27FC236}">
                <a16:creationId xmlns:a16="http://schemas.microsoft.com/office/drawing/2014/main" id="{B5C758DD-5340-55D2-38B5-CA63D752877E}"/>
              </a:ext>
            </a:extLst>
          </p:cNvPr>
          <p:cNvSpPr/>
          <p:nvPr/>
        </p:nvSpPr>
        <p:spPr>
          <a:xfrm>
            <a:off x="1068824" y="5497920"/>
            <a:ext cx="374904" cy="20468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spcAft>
                <a:spcPts val="1000"/>
              </a:spcAft>
            </a:pPr>
            <a:endParaRPr lang="de-DE" sz="1600" err="1">
              <a:solidFill>
                <a:schemeClr val="bg1"/>
              </a:solidFill>
            </a:endParaRPr>
          </a:p>
        </p:txBody>
      </p:sp>
      <p:sp>
        <p:nvSpPr>
          <p:cNvPr id="85" name="Textfeld 32">
            <a:extLst>
              <a:ext uri="{FF2B5EF4-FFF2-40B4-BE49-F238E27FC236}">
                <a16:creationId xmlns:a16="http://schemas.microsoft.com/office/drawing/2014/main" id="{B471E4AE-5734-6D9D-B796-610AA489C59E}"/>
              </a:ext>
            </a:extLst>
          </p:cNvPr>
          <p:cNvSpPr txBox="1"/>
          <p:nvPr/>
        </p:nvSpPr>
        <p:spPr>
          <a:xfrm>
            <a:off x="439050" y="5743288"/>
            <a:ext cx="1634452" cy="49643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buClr>
                <a:schemeClr val="tx2"/>
              </a:buClr>
            </a:pPr>
            <a:r>
              <a:rPr lang="de-DE" sz="1200" dirty="0"/>
              <a:t>Kauf persönlich: </a:t>
            </a:r>
            <a:r>
              <a:rPr lang="de-DE" sz="1200" b="1" dirty="0">
                <a:solidFill>
                  <a:srgbClr val="FF0000"/>
                </a:solidFill>
              </a:rPr>
              <a:t>66%</a:t>
            </a:r>
          </a:p>
          <a:p>
            <a:pPr algn="ctr">
              <a:buClr>
                <a:schemeClr val="tx2"/>
              </a:buClr>
            </a:pPr>
            <a:r>
              <a:rPr lang="de-DE" sz="1200" dirty="0"/>
              <a:t>Kauf Online: </a:t>
            </a:r>
            <a:r>
              <a:rPr lang="de-DE" sz="1200" b="1" dirty="0">
                <a:solidFill>
                  <a:srgbClr val="4DA685"/>
                </a:solidFill>
              </a:rPr>
              <a:t>34%</a:t>
            </a:r>
          </a:p>
        </p:txBody>
      </p:sp>
      <p:sp>
        <p:nvSpPr>
          <p:cNvPr id="86" name="Rechteck 10">
            <a:extLst>
              <a:ext uri="{FF2B5EF4-FFF2-40B4-BE49-F238E27FC236}">
                <a16:creationId xmlns:a16="http://schemas.microsoft.com/office/drawing/2014/main" id="{3CF34698-C214-5D4E-B109-AFF6401E78FE}"/>
              </a:ext>
            </a:extLst>
          </p:cNvPr>
          <p:cNvSpPr/>
          <p:nvPr/>
        </p:nvSpPr>
        <p:spPr>
          <a:xfrm>
            <a:off x="6174057" y="3460034"/>
            <a:ext cx="5774477" cy="2819792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>
              <a:spcAft>
                <a:spcPts val="1000"/>
              </a:spcAft>
            </a:pPr>
            <a:endParaRPr lang="de-DE" sz="800">
              <a:solidFill>
                <a:srgbClr val="000000"/>
              </a:solidFill>
            </a:endParaRPr>
          </a:p>
        </p:txBody>
      </p:sp>
      <p:sp>
        <p:nvSpPr>
          <p:cNvPr id="88" name="Textfeld 11">
            <a:extLst>
              <a:ext uri="{FF2B5EF4-FFF2-40B4-BE49-F238E27FC236}">
                <a16:creationId xmlns:a16="http://schemas.microsoft.com/office/drawing/2014/main" id="{9D7E17E0-280F-ACD8-B33E-30075CBD9D7A}"/>
              </a:ext>
            </a:extLst>
          </p:cNvPr>
          <p:cNvSpPr txBox="1"/>
          <p:nvPr/>
        </p:nvSpPr>
        <p:spPr>
          <a:xfrm>
            <a:off x="6178310" y="3227274"/>
            <a:ext cx="5613854" cy="322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1400"/>
              <a:t>LEBENSMOMENTE</a:t>
            </a:r>
          </a:p>
        </p:txBody>
      </p:sp>
      <p:graphicFrame>
        <p:nvGraphicFramePr>
          <p:cNvPr id="119" name="Table 118">
            <a:extLst>
              <a:ext uri="{FF2B5EF4-FFF2-40B4-BE49-F238E27FC236}">
                <a16:creationId xmlns:a16="http://schemas.microsoft.com/office/drawing/2014/main" id="{7D4C4244-01C0-43D3-BE06-C616E382C380}"/>
              </a:ext>
            </a:extLst>
          </p:cNvPr>
          <p:cNvGraphicFramePr>
            <a:graphicFrameLocks noGrp="1"/>
          </p:cNvGraphicFramePr>
          <p:nvPr/>
        </p:nvGraphicFramePr>
        <p:xfrm>
          <a:off x="474753" y="3839663"/>
          <a:ext cx="1572708" cy="1490446"/>
        </p:xfrm>
        <a:graphic>
          <a:graphicData uri="http://schemas.openxmlformats.org/drawingml/2006/table">
            <a:tbl>
              <a:tblPr/>
              <a:tblGrid>
                <a:gridCol w="545123">
                  <a:extLst>
                    <a:ext uri="{9D8B030D-6E8A-4147-A177-3AD203B41FA5}">
                      <a16:colId xmlns:a16="http://schemas.microsoft.com/office/drawing/2014/main" val="477942972"/>
                    </a:ext>
                  </a:extLst>
                </a:gridCol>
                <a:gridCol w="1027585">
                  <a:extLst>
                    <a:ext uri="{9D8B030D-6E8A-4147-A177-3AD203B41FA5}">
                      <a16:colId xmlns:a16="http://schemas.microsoft.com/office/drawing/2014/main" val="2395302743"/>
                    </a:ext>
                  </a:extLst>
                </a:gridCol>
              </a:tblGrid>
              <a:tr h="3849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b="0" dirty="0">
                          <a:solidFill>
                            <a:srgbClr val="000000"/>
                          </a:solidFill>
                        </a:rPr>
                        <a:t>16%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rgbClr val="000000"/>
                          </a:solidFill>
                        </a:rPr>
                        <a:t>Info und Kauf Online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051307"/>
                  </a:ext>
                </a:extLst>
              </a:tr>
              <a:tr h="3849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b="1" dirty="0">
                          <a:solidFill>
                            <a:srgbClr val="4DA685"/>
                          </a:solidFill>
                        </a:rPr>
                        <a:t>25%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rgbClr val="000000"/>
                          </a:solidFill>
                        </a:rPr>
                        <a:t>Info Online und Kauf persönlich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100797"/>
                  </a:ext>
                </a:extLst>
              </a:tr>
              <a:tr h="3849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b="1" dirty="0">
                          <a:solidFill>
                            <a:srgbClr val="FF0000"/>
                          </a:solidFill>
                        </a:rPr>
                        <a:t>40%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rgbClr val="000000"/>
                          </a:solidFill>
                        </a:rPr>
                        <a:t>Info und Kauf persönlich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58625"/>
                  </a:ext>
                </a:extLst>
              </a:tr>
              <a:tr h="3356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b="1" dirty="0">
                          <a:solidFill>
                            <a:srgbClr val="4DA685"/>
                          </a:solidFill>
                        </a:rPr>
                        <a:t>18%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rgbClr val="000000"/>
                          </a:solidFill>
                        </a:rPr>
                        <a:t>Info persönlich und Kauf Online </a:t>
                      </a:r>
                    </a:p>
                  </a:txBody>
                  <a:tcPr marL="47625" marR="47625" marT="0" marB="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15767"/>
                  </a:ext>
                </a:extLst>
              </a:tr>
            </a:tbl>
          </a:graphicData>
        </a:graphic>
      </p:graphicFrame>
      <p:cxnSp>
        <p:nvCxnSpPr>
          <p:cNvPr id="120" name="Gerade Verbindung 21">
            <a:extLst>
              <a:ext uri="{FF2B5EF4-FFF2-40B4-BE49-F238E27FC236}">
                <a16:creationId xmlns:a16="http://schemas.microsoft.com/office/drawing/2014/main" id="{A516326E-E2DB-EF0A-0150-F5AF0D6115B7}"/>
              </a:ext>
            </a:extLst>
          </p:cNvPr>
          <p:cNvCxnSpPr>
            <a:cxnSpLocks/>
          </p:cNvCxnSpPr>
          <p:nvPr/>
        </p:nvCxnSpPr>
        <p:spPr>
          <a:xfrm>
            <a:off x="2156193" y="3437792"/>
            <a:ext cx="0" cy="2825293"/>
          </a:xfrm>
          <a:prstGeom prst="line">
            <a:avLst/>
          </a:prstGeom>
          <a:ln w="28575">
            <a:solidFill>
              <a:srgbClr val="FF9E6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feld 39">
            <a:extLst>
              <a:ext uri="{FF2B5EF4-FFF2-40B4-BE49-F238E27FC236}">
                <a16:creationId xmlns:a16="http://schemas.microsoft.com/office/drawing/2014/main" id="{017BE117-9123-2E1D-1A3B-19213CB000FD}"/>
              </a:ext>
            </a:extLst>
          </p:cNvPr>
          <p:cNvSpPr txBox="1"/>
          <p:nvPr/>
        </p:nvSpPr>
        <p:spPr>
          <a:xfrm>
            <a:off x="2241411" y="3515466"/>
            <a:ext cx="3367819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1200"/>
              <a:t>Bisherige und zukünftige Online-Abschlüsse</a:t>
            </a: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E28551D2-7365-E1A6-661B-F163C5174347}"/>
              </a:ext>
            </a:extLst>
          </p:cNvPr>
          <p:cNvGrpSpPr/>
          <p:nvPr/>
        </p:nvGrpSpPr>
        <p:grpSpPr>
          <a:xfrm>
            <a:off x="2211813" y="3816396"/>
            <a:ext cx="550765" cy="440528"/>
            <a:chOff x="2211813" y="3929114"/>
            <a:chExt cx="550765" cy="440528"/>
          </a:xfrm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D874C003-0763-F85F-ADD5-184DBA5E7D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72768" y="3929114"/>
              <a:ext cx="461843" cy="44052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9E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spcAft>
                  <a:spcPts val="1000"/>
                </a:spcAft>
              </a:pPr>
              <a:endParaRPr lang="de-DE" sz="1600" err="1">
                <a:solidFill>
                  <a:schemeClr val="bg1"/>
                </a:solidFill>
              </a:endParaRPr>
            </a:p>
          </p:txBody>
        </p:sp>
        <p:sp>
          <p:nvSpPr>
            <p:cNvPr id="125" name="Textfeld 45">
              <a:extLst>
                <a:ext uri="{FF2B5EF4-FFF2-40B4-BE49-F238E27FC236}">
                  <a16:creationId xmlns:a16="http://schemas.microsoft.com/office/drawing/2014/main" id="{13DCDE63-D9C7-E92B-4B07-6A916344447C}"/>
                </a:ext>
              </a:extLst>
            </p:cNvPr>
            <p:cNvSpPr txBox="1"/>
            <p:nvPr/>
          </p:nvSpPr>
          <p:spPr>
            <a:xfrm>
              <a:off x="2211813" y="4006538"/>
              <a:ext cx="550765" cy="2865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buClr>
                  <a:schemeClr val="tx2"/>
                </a:buClr>
              </a:pPr>
              <a:r>
                <a:rPr lang="de-DE" sz="1400" dirty="0">
                  <a:solidFill>
                    <a:srgbClr val="4DA685"/>
                  </a:solidFill>
                </a:rPr>
                <a:t>39%</a:t>
              </a:r>
            </a:p>
          </p:txBody>
        </p:sp>
      </p:grpSp>
      <p:sp>
        <p:nvSpPr>
          <p:cNvPr id="126" name="Textfeld 46">
            <a:extLst>
              <a:ext uri="{FF2B5EF4-FFF2-40B4-BE49-F238E27FC236}">
                <a16:creationId xmlns:a16="http://schemas.microsoft.com/office/drawing/2014/main" id="{2F2E7B33-4B35-6F0D-1955-32BBDBE2F013}"/>
              </a:ext>
            </a:extLst>
          </p:cNvPr>
          <p:cNvSpPr txBox="1"/>
          <p:nvPr/>
        </p:nvSpPr>
        <p:spPr>
          <a:xfrm>
            <a:off x="2842084" y="3821115"/>
            <a:ext cx="1311627" cy="3728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900">
                <a:solidFill>
                  <a:srgbClr val="000000"/>
                </a:solidFill>
              </a:rPr>
              <a:t>haben </a:t>
            </a:r>
            <a:r>
              <a:rPr lang="de-DE" sz="900" b="1">
                <a:solidFill>
                  <a:srgbClr val="000000"/>
                </a:solidFill>
              </a:rPr>
              <a:t>schon einmal </a:t>
            </a:r>
            <a:r>
              <a:rPr lang="de-DE" sz="900">
                <a:solidFill>
                  <a:srgbClr val="000000"/>
                </a:solidFill>
              </a:rPr>
              <a:t>online eine Versicherung abgeschlossen. </a:t>
            </a:r>
          </a:p>
        </p:txBody>
      </p:sp>
      <p:sp>
        <p:nvSpPr>
          <p:cNvPr id="129" name="Textfeld 52">
            <a:extLst>
              <a:ext uri="{FF2B5EF4-FFF2-40B4-BE49-F238E27FC236}">
                <a16:creationId xmlns:a16="http://schemas.microsoft.com/office/drawing/2014/main" id="{24ED56C4-D72E-0FC5-9662-BC45350470AA}"/>
              </a:ext>
            </a:extLst>
          </p:cNvPr>
          <p:cNvSpPr txBox="1"/>
          <p:nvPr/>
        </p:nvSpPr>
        <p:spPr>
          <a:xfrm>
            <a:off x="2854889" y="4426472"/>
            <a:ext cx="1323269" cy="6482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900">
                <a:solidFill>
                  <a:srgbClr val="000000"/>
                </a:solidFill>
              </a:rPr>
              <a:t>geben an, dass </a:t>
            </a:r>
            <a:r>
              <a:rPr lang="de-DE" sz="900" b="1">
                <a:solidFill>
                  <a:srgbClr val="000000"/>
                </a:solidFill>
              </a:rPr>
              <a:t>sie in den nächsten 3 Jahren </a:t>
            </a:r>
            <a:r>
              <a:rPr lang="de-DE" sz="900">
                <a:solidFill>
                  <a:srgbClr val="000000"/>
                </a:solidFill>
              </a:rPr>
              <a:t>bestimmt oder wahrscheinlich eine Versicherung online abschließen werden. </a:t>
            </a: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F3784E2-1659-4ECD-13DD-7FC76F998EDB}"/>
              </a:ext>
            </a:extLst>
          </p:cNvPr>
          <p:cNvGrpSpPr/>
          <p:nvPr/>
        </p:nvGrpSpPr>
        <p:grpSpPr>
          <a:xfrm>
            <a:off x="2217909" y="4616714"/>
            <a:ext cx="550765" cy="440528"/>
            <a:chOff x="2217909" y="3929114"/>
            <a:chExt cx="550765" cy="440528"/>
          </a:xfrm>
        </p:grpSpPr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4ED27C3B-A06F-B855-8FC4-F92BB63116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72768" y="3929114"/>
              <a:ext cx="461843" cy="44052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9E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spcAft>
                  <a:spcPts val="1000"/>
                </a:spcAft>
              </a:pPr>
              <a:endParaRPr lang="de-DE" sz="1600" err="1">
                <a:solidFill>
                  <a:schemeClr val="bg1"/>
                </a:solidFill>
              </a:endParaRPr>
            </a:p>
          </p:txBody>
        </p:sp>
        <p:sp>
          <p:nvSpPr>
            <p:cNvPr id="135" name="Textfeld 45">
              <a:extLst>
                <a:ext uri="{FF2B5EF4-FFF2-40B4-BE49-F238E27FC236}">
                  <a16:creationId xmlns:a16="http://schemas.microsoft.com/office/drawing/2014/main" id="{8DC071CB-515E-D811-59F8-6519CE62A02B}"/>
                </a:ext>
              </a:extLst>
            </p:cNvPr>
            <p:cNvSpPr txBox="1"/>
            <p:nvPr/>
          </p:nvSpPr>
          <p:spPr>
            <a:xfrm>
              <a:off x="2217909" y="4006538"/>
              <a:ext cx="550765" cy="2865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buClr>
                  <a:schemeClr val="tx2"/>
                </a:buClr>
              </a:pPr>
              <a:r>
                <a:rPr lang="de-DE" sz="1400" dirty="0">
                  <a:solidFill>
                    <a:srgbClr val="4DA685"/>
                  </a:solidFill>
                </a:rPr>
                <a:t>29%</a:t>
              </a:r>
            </a:p>
          </p:txBody>
        </p:sp>
      </p:grpSp>
      <p:sp>
        <p:nvSpPr>
          <p:cNvPr id="136" name="Textfeld 39">
            <a:extLst>
              <a:ext uri="{FF2B5EF4-FFF2-40B4-BE49-F238E27FC236}">
                <a16:creationId xmlns:a16="http://schemas.microsoft.com/office/drawing/2014/main" id="{0F66226B-AA34-FAA4-AE3C-71050BB73AA0}"/>
              </a:ext>
            </a:extLst>
          </p:cNvPr>
          <p:cNvSpPr txBox="1"/>
          <p:nvPr/>
        </p:nvSpPr>
        <p:spPr>
          <a:xfrm>
            <a:off x="2241411" y="5455496"/>
            <a:ext cx="3692747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1200"/>
              <a:t>Kundenportalnutzung (unabhängig vom Versicherer)</a:t>
            </a:r>
          </a:p>
        </p:txBody>
      </p:sp>
      <p:cxnSp>
        <p:nvCxnSpPr>
          <p:cNvPr id="137" name="Gerade Verbindung 53">
            <a:extLst>
              <a:ext uri="{FF2B5EF4-FFF2-40B4-BE49-F238E27FC236}">
                <a16:creationId xmlns:a16="http://schemas.microsoft.com/office/drawing/2014/main" id="{6B476380-0673-AD77-96B2-9716B49C2B7B}"/>
              </a:ext>
            </a:extLst>
          </p:cNvPr>
          <p:cNvCxnSpPr>
            <a:cxnSpLocks/>
          </p:cNvCxnSpPr>
          <p:nvPr/>
        </p:nvCxnSpPr>
        <p:spPr>
          <a:xfrm flipH="1">
            <a:off x="2177729" y="5407730"/>
            <a:ext cx="3635116" cy="0"/>
          </a:xfrm>
          <a:prstGeom prst="line">
            <a:avLst/>
          </a:prstGeom>
          <a:ln w="28575">
            <a:solidFill>
              <a:srgbClr val="FF9E6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8" name="Grafik 49" descr="Ein Bild, das Electric Blue (Farbe), Screenshot, Kobaltblau, Majorelle Blue enthält.&#10;&#10;KI-generierte Inhalte können fehlerhaft sein.">
            <a:extLst>
              <a:ext uri="{FF2B5EF4-FFF2-40B4-BE49-F238E27FC236}">
                <a16:creationId xmlns:a16="http://schemas.microsoft.com/office/drawing/2014/main" id="{4ED08039-4AC8-B0C1-160D-AEDC718919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rgbClr val="FF9E6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405" y="5657866"/>
            <a:ext cx="1000921" cy="667280"/>
          </a:xfrm>
          <a:prstGeom prst="rect">
            <a:avLst/>
          </a:prstGeom>
        </p:spPr>
      </p:pic>
      <p:sp>
        <p:nvSpPr>
          <p:cNvPr id="139" name="Textfeld 50">
            <a:extLst>
              <a:ext uri="{FF2B5EF4-FFF2-40B4-BE49-F238E27FC236}">
                <a16:creationId xmlns:a16="http://schemas.microsoft.com/office/drawing/2014/main" id="{03FD953F-989A-C267-3173-7300E4D7BDC6}"/>
              </a:ext>
            </a:extLst>
          </p:cNvPr>
          <p:cNvSpPr txBox="1"/>
          <p:nvPr/>
        </p:nvSpPr>
        <p:spPr>
          <a:xfrm>
            <a:off x="3003896" y="5963678"/>
            <a:ext cx="2724837" cy="3222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1400" b="1" dirty="0">
                <a:solidFill>
                  <a:srgbClr val="FF0000"/>
                </a:solidFill>
              </a:rPr>
              <a:t>21%  </a:t>
            </a:r>
            <a:r>
              <a:rPr lang="de-DE" sz="1000" dirty="0">
                <a:solidFill>
                  <a:srgbClr val="000000"/>
                </a:solidFill>
              </a:rPr>
              <a:t>Aktiv innerhalb der letzten 12 Monate</a:t>
            </a:r>
          </a:p>
        </p:txBody>
      </p:sp>
      <p:sp>
        <p:nvSpPr>
          <p:cNvPr id="140" name="Textfeld 52">
            <a:extLst>
              <a:ext uri="{FF2B5EF4-FFF2-40B4-BE49-F238E27FC236}">
                <a16:creationId xmlns:a16="http://schemas.microsoft.com/office/drawing/2014/main" id="{A8643716-22E1-8D14-E3E9-69A967ECD7FF}"/>
              </a:ext>
            </a:extLst>
          </p:cNvPr>
          <p:cNvSpPr txBox="1"/>
          <p:nvPr/>
        </p:nvSpPr>
        <p:spPr>
          <a:xfrm>
            <a:off x="3003898" y="5725989"/>
            <a:ext cx="2275460" cy="30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1400" b="1" dirty="0">
                <a:solidFill>
                  <a:srgbClr val="FF0000"/>
                </a:solidFill>
              </a:rPr>
              <a:t>32%  </a:t>
            </a:r>
            <a:r>
              <a:rPr lang="de-DE" sz="1000" dirty="0">
                <a:solidFill>
                  <a:srgbClr val="000000"/>
                </a:solidFill>
              </a:rPr>
              <a:t>Registrierte </a:t>
            </a:r>
            <a:r>
              <a:rPr lang="de-DE" sz="1000" dirty="0" err="1">
                <a:solidFill>
                  <a:srgbClr val="000000"/>
                </a:solidFill>
              </a:rPr>
              <a:t>Nutzer:innen</a:t>
            </a:r>
            <a:endParaRPr lang="de-DE" sz="800" dirty="0">
              <a:solidFill>
                <a:srgbClr val="000000"/>
              </a:solidFill>
            </a:endParaRPr>
          </a:p>
        </p:txBody>
      </p:sp>
      <p:sp>
        <p:nvSpPr>
          <p:cNvPr id="141" name="Textfeld 9">
            <a:extLst>
              <a:ext uri="{FF2B5EF4-FFF2-40B4-BE49-F238E27FC236}">
                <a16:creationId xmlns:a16="http://schemas.microsoft.com/office/drawing/2014/main" id="{8B02466F-AF93-B66D-78D6-C61A894611C9}"/>
              </a:ext>
            </a:extLst>
          </p:cNvPr>
          <p:cNvSpPr txBox="1"/>
          <p:nvPr/>
        </p:nvSpPr>
        <p:spPr>
          <a:xfrm>
            <a:off x="4572677" y="3821732"/>
            <a:ext cx="1384175" cy="4958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000" dirty="0">
                <a:solidFill>
                  <a:srgbClr val="FF9E66"/>
                </a:solidFill>
              </a:rPr>
              <a:t>Versicherungen, die dafür am ehesten in Frage kommen (Top 5):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57EF405E-8A64-6891-397F-4977964BBE11}"/>
              </a:ext>
            </a:extLst>
          </p:cNvPr>
          <p:cNvSpPr txBox="1"/>
          <p:nvPr/>
        </p:nvSpPr>
        <p:spPr>
          <a:xfrm>
            <a:off x="4472526" y="4420691"/>
            <a:ext cx="174480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u="none" dirty="0">
                <a:solidFill>
                  <a:srgbClr val="000000"/>
                </a:solidFill>
              </a:rPr>
              <a:t>#1: </a:t>
            </a:r>
            <a:r>
              <a:rPr lang="de-DE" sz="1000" dirty="0">
                <a:solidFill>
                  <a:srgbClr val="000000"/>
                </a:solidFill>
              </a:rPr>
              <a:t>Kfz-Haftpflicht</a:t>
            </a:r>
            <a:r>
              <a:rPr lang="de-DE" sz="1000" u="none" dirty="0">
                <a:solidFill>
                  <a:srgbClr val="000000"/>
                </a:solidFill>
              </a:rPr>
              <a:t> </a:t>
            </a:r>
            <a:r>
              <a:rPr lang="de-DE" sz="1000" b="1" u="none" dirty="0">
                <a:solidFill>
                  <a:srgbClr val="4DA685"/>
                </a:solidFill>
              </a:rPr>
              <a:t>(18%)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#2: Reise </a:t>
            </a:r>
            <a:r>
              <a:rPr lang="de-DE" sz="1000" b="1" dirty="0">
                <a:solidFill>
                  <a:srgbClr val="FF0000"/>
                </a:solidFill>
              </a:rPr>
              <a:t>(14%)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#3: Elektro Geräte (12%)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#4: Kfz-Kasko (12%)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#5: Haushalt (11%), </a:t>
            </a:r>
            <a:br>
              <a:rPr lang="de-DE" sz="1000" dirty="0">
                <a:solidFill>
                  <a:srgbClr val="000000"/>
                </a:solidFill>
              </a:rPr>
            </a:br>
            <a:r>
              <a:rPr lang="de-DE" sz="1000" dirty="0" err="1">
                <a:solidFill>
                  <a:srgbClr val="000000"/>
                </a:solidFill>
              </a:rPr>
              <a:t>Cyber</a:t>
            </a:r>
            <a:r>
              <a:rPr lang="de-DE" sz="1000" dirty="0">
                <a:solidFill>
                  <a:srgbClr val="000000"/>
                </a:solidFill>
              </a:rPr>
              <a:t> (</a:t>
            </a:r>
            <a:r>
              <a:rPr lang="de-DE" sz="1000" b="1" dirty="0">
                <a:solidFill>
                  <a:srgbClr val="4DA685"/>
                </a:solidFill>
              </a:rPr>
              <a:t>11%</a:t>
            </a:r>
            <a:r>
              <a:rPr lang="de-DE" sz="1000" dirty="0">
                <a:solidFill>
                  <a:srgbClr val="000000"/>
                </a:solidFill>
              </a:rPr>
              <a:t>)</a:t>
            </a:r>
            <a:endParaRPr lang="de-AT" sz="1000" dirty="0">
              <a:solidFill>
                <a:srgbClr val="000000"/>
              </a:solidFill>
            </a:endParaRPr>
          </a:p>
        </p:txBody>
      </p:sp>
      <p:graphicFrame>
        <p:nvGraphicFramePr>
          <p:cNvPr id="143" name="Table 142">
            <a:extLst>
              <a:ext uri="{FF2B5EF4-FFF2-40B4-BE49-F238E27FC236}">
                <a16:creationId xmlns:a16="http://schemas.microsoft.com/office/drawing/2014/main" id="{78A85DFF-F454-AEAA-C4F4-C54E422A0245}"/>
              </a:ext>
            </a:extLst>
          </p:cNvPr>
          <p:cNvGraphicFramePr>
            <a:graphicFrameLocks noGrp="1"/>
          </p:cNvGraphicFramePr>
          <p:nvPr/>
        </p:nvGraphicFramePr>
        <p:xfrm>
          <a:off x="6227486" y="3991642"/>
          <a:ext cx="2684785" cy="2328303"/>
        </p:xfrm>
        <a:graphic>
          <a:graphicData uri="http://schemas.openxmlformats.org/drawingml/2006/table">
            <a:tbl>
              <a:tblPr/>
              <a:tblGrid>
                <a:gridCol w="325714">
                  <a:extLst>
                    <a:ext uri="{9D8B030D-6E8A-4147-A177-3AD203B41FA5}">
                      <a16:colId xmlns:a16="http://schemas.microsoft.com/office/drawing/2014/main" val="477942972"/>
                    </a:ext>
                  </a:extLst>
                </a:gridCol>
                <a:gridCol w="2359071">
                  <a:extLst>
                    <a:ext uri="{9D8B030D-6E8A-4147-A177-3AD203B41FA5}">
                      <a16:colId xmlns:a16="http://schemas.microsoft.com/office/drawing/2014/main" val="2395302743"/>
                    </a:ext>
                  </a:extLst>
                </a:gridCol>
              </a:tblGrid>
              <a:tr h="1860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dirty="0">
                          <a:solidFill>
                            <a:srgbClr val="FF0000"/>
                          </a:solidFill>
                        </a:rPr>
                        <a:t>45%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>
                          <a:schemeClr val="tx2"/>
                        </a:buClr>
                      </a:pPr>
                      <a:r>
                        <a:rPr lang="de-DE" sz="900" b="0" dirty="0">
                          <a:solidFill>
                            <a:srgbClr val="000000"/>
                          </a:solidFill>
                        </a:rPr>
                        <a:t>Leichtere körperliche Beschwerden</a:t>
                      </a:r>
                    </a:p>
                  </a:txBody>
                  <a:tcPr marL="45720" marR="4572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020555"/>
                  </a:ext>
                </a:extLst>
              </a:tr>
              <a:tr h="1860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dirty="0">
                          <a:solidFill>
                            <a:srgbClr val="4DA685"/>
                          </a:solidFill>
                        </a:rPr>
                        <a:t>45%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>
                          <a:schemeClr val="tx2"/>
                        </a:buClr>
                      </a:pPr>
                      <a:r>
                        <a:rPr lang="de-DE" sz="900" b="0" dirty="0">
                          <a:solidFill>
                            <a:srgbClr val="000000"/>
                          </a:solidFill>
                        </a:rPr>
                        <a:t>Umzug</a:t>
                      </a:r>
                    </a:p>
                  </a:txBody>
                  <a:tcPr marL="45720" marR="4572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100797"/>
                  </a:ext>
                </a:extLst>
              </a:tr>
              <a:tr h="3720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dirty="0">
                          <a:solidFill>
                            <a:srgbClr val="4DA685"/>
                          </a:solidFill>
                        </a:rPr>
                        <a:t>43%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>
                          <a:schemeClr val="tx2"/>
                        </a:buClr>
                      </a:pPr>
                      <a:r>
                        <a:rPr lang="de-DE" sz="900" b="0" dirty="0">
                          <a:solidFill>
                            <a:srgbClr val="000000"/>
                          </a:solidFill>
                        </a:rPr>
                        <a:t>Stationärer Krankenhausaufenthalt (in den letzten 3 Jahren)</a:t>
                      </a:r>
                    </a:p>
                  </a:txBody>
                  <a:tcPr marL="45720" marR="4572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667112"/>
                  </a:ext>
                </a:extLst>
              </a:tr>
              <a:tr h="1860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dirty="0">
                          <a:solidFill>
                            <a:srgbClr val="000000"/>
                          </a:solidFill>
                        </a:rPr>
                        <a:t>30%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>
                          <a:schemeClr val="tx2"/>
                        </a:buClr>
                      </a:pPr>
                      <a:r>
                        <a:rPr lang="de-DE" sz="900" b="0" dirty="0">
                          <a:solidFill>
                            <a:srgbClr val="000000"/>
                          </a:solidFill>
                        </a:rPr>
                        <a:t>Gehaltssprung im Angestelltenverhältnis</a:t>
                      </a:r>
                    </a:p>
                  </a:txBody>
                  <a:tcPr marL="45720" marR="4572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58625"/>
                  </a:ext>
                </a:extLst>
              </a:tr>
              <a:tr h="1860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dirty="0">
                          <a:solidFill>
                            <a:srgbClr val="FF0000"/>
                          </a:solidFill>
                        </a:rPr>
                        <a:t>30%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>
                          <a:schemeClr val="tx2"/>
                        </a:buClr>
                      </a:pPr>
                      <a:r>
                        <a:rPr lang="de-DE" sz="900" b="0" dirty="0">
                          <a:solidFill>
                            <a:srgbClr val="000000"/>
                          </a:solidFill>
                        </a:rPr>
                        <a:t>Leichtere psychische Belastungen</a:t>
                      </a:r>
                    </a:p>
                  </a:txBody>
                  <a:tcPr marL="45720" marR="4572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1961452"/>
                  </a:ext>
                </a:extLst>
              </a:tr>
              <a:tr h="1860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dirty="0">
                          <a:solidFill>
                            <a:srgbClr val="4DA685"/>
                          </a:solidFill>
                        </a:rPr>
                        <a:t>29%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dirty="0">
                          <a:solidFill>
                            <a:srgbClr val="000000"/>
                          </a:solidFill>
                        </a:rPr>
                        <a:t>Erstes Auto</a:t>
                      </a:r>
                    </a:p>
                  </a:txBody>
                  <a:tcPr marL="45720" marR="4572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15767"/>
                  </a:ext>
                </a:extLst>
              </a:tr>
              <a:tr h="1860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dirty="0">
                          <a:solidFill>
                            <a:srgbClr val="4DA685"/>
                          </a:solidFill>
                        </a:rPr>
                        <a:t>20%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dirty="0">
                          <a:solidFill>
                            <a:srgbClr val="000000"/>
                          </a:solidFill>
                        </a:rPr>
                        <a:t>Erbe</a:t>
                      </a:r>
                    </a:p>
                  </a:txBody>
                  <a:tcPr marL="45720" marR="4572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570426"/>
                  </a:ext>
                </a:extLst>
              </a:tr>
              <a:tr h="1860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dirty="0">
                          <a:solidFill>
                            <a:srgbClr val="4DA685"/>
                          </a:solidFill>
                        </a:rPr>
                        <a:t>18%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dirty="0">
                          <a:solidFill>
                            <a:srgbClr val="000000"/>
                          </a:solidFill>
                        </a:rPr>
                        <a:t>Kind(er) in den letzten 6 Jahren bekommen</a:t>
                      </a:r>
                    </a:p>
                  </a:txBody>
                  <a:tcPr marL="45720" marR="4572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620888"/>
                  </a:ext>
                </a:extLst>
              </a:tr>
              <a:tr h="4679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dirty="0">
                          <a:solidFill>
                            <a:srgbClr val="4DA685"/>
                          </a:solidFill>
                        </a:rPr>
                        <a:t>16%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dirty="0">
                          <a:solidFill>
                            <a:srgbClr val="000000"/>
                          </a:solidFill>
                        </a:rPr>
                        <a:t>Verantwortung für ein pflege- oder unterstützungsbedürftiges Familienmitglied übernommen</a:t>
                      </a:r>
                    </a:p>
                  </a:txBody>
                  <a:tcPr marL="45720" marR="4572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659030"/>
                  </a:ext>
                </a:extLst>
              </a:tr>
              <a:tr h="1860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dirty="0">
                          <a:solidFill>
                            <a:srgbClr val="4DA685"/>
                          </a:solidFill>
                        </a:rPr>
                        <a:t>15%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dirty="0">
                          <a:solidFill>
                            <a:srgbClr val="000000"/>
                          </a:solidFill>
                        </a:rPr>
                        <a:t>Aufstieg in eine höhere berufliche Position</a:t>
                      </a:r>
                    </a:p>
                  </a:txBody>
                  <a:tcPr marL="45720" marR="4572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778981"/>
                  </a:ext>
                </a:extLst>
              </a:tr>
            </a:tbl>
          </a:graphicData>
        </a:graphic>
      </p:graphicFrame>
      <p:sp>
        <p:nvSpPr>
          <p:cNvPr id="89" name="Textfeld 88">
            <a:extLst>
              <a:ext uri="{FF2B5EF4-FFF2-40B4-BE49-F238E27FC236}">
                <a16:creationId xmlns:a16="http://schemas.microsoft.com/office/drawing/2014/main" id="{1BE6E6F4-62D8-17B0-FC22-0CEF2DCFF7C3}"/>
              </a:ext>
            </a:extLst>
          </p:cNvPr>
          <p:cNvSpPr txBox="1"/>
          <p:nvPr/>
        </p:nvSpPr>
        <p:spPr>
          <a:xfrm>
            <a:off x="6227486" y="3549491"/>
            <a:ext cx="2811700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buClr>
                <a:schemeClr val="tx2"/>
              </a:buClr>
            </a:pPr>
            <a:r>
              <a:rPr lang="de-DE" sz="1200"/>
              <a:t>Wichtige Lebensereignisse innerhalb der </a:t>
            </a:r>
            <a:r>
              <a:rPr lang="de-DE" sz="1200" b="1"/>
              <a:t>letzten 5 Jahre</a:t>
            </a:r>
            <a:r>
              <a:rPr lang="de-DE" sz="1200"/>
              <a:t> vor der Befragung</a:t>
            </a:r>
          </a:p>
        </p:txBody>
      </p:sp>
      <p:cxnSp>
        <p:nvCxnSpPr>
          <p:cNvPr id="147" name="Gerade Verbindung 21">
            <a:extLst>
              <a:ext uri="{FF2B5EF4-FFF2-40B4-BE49-F238E27FC236}">
                <a16:creationId xmlns:a16="http://schemas.microsoft.com/office/drawing/2014/main" id="{735FBDD2-E982-3385-C8D2-878D5A924B34}"/>
              </a:ext>
            </a:extLst>
          </p:cNvPr>
          <p:cNvCxnSpPr>
            <a:cxnSpLocks/>
          </p:cNvCxnSpPr>
          <p:nvPr/>
        </p:nvCxnSpPr>
        <p:spPr>
          <a:xfrm>
            <a:off x="9023144" y="3437792"/>
            <a:ext cx="0" cy="2825293"/>
          </a:xfrm>
          <a:prstGeom prst="line">
            <a:avLst/>
          </a:prstGeom>
          <a:ln w="28575">
            <a:solidFill>
              <a:srgbClr val="FF9E6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feld 88">
            <a:extLst>
              <a:ext uri="{FF2B5EF4-FFF2-40B4-BE49-F238E27FC236}">
                <a16:creationId xmlns:a16="http://schemas.microsoft.com/office/drawing/2014/main" id="{37DFE430-0279-5250-4F80-CA6F8E77DD7D}"/>
              </a:ext>
            </a:extLst>
          </p:cNvPr>
          <p:cNvSpPr txBox="1"/>
          <p:nvPr/>
        </p:nvSpPr>
        <p:spPr>
          <a:xfrm>
            <a:off x="9091336" y="3549491"/>
            <a:ext cx="2890325" cy="223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tx2"/>
              </a:buClr>
            </a:pPr>
            <a:r>
              <a:rPr lang="de-DE" sz="1200"/>
              <a:t>Wichtige Zukunftspläne innerhalb </a:t>
            </a:r>
            <a:r>
              <a:rPr lang="de-DE" sz="1200" b="1"/>
              <a:t>der kommenden 3 Jahre </a:t>
            </a:r>
            <a:r>
              <a:rPr lang="de-DE" sz="1200"/>
              <a:t>nach der Befragung</a:t>
            </a:r>
          </a:p>
        </p:txBody>
      </p:sp>
      <p:graphicFrame>
        <p:nvGraphicFramePr>
          <p:cNvPr id="149" name="Table 148">
            <a:extLst>
              <a:ext uri="{FF2B5EF4-FFF2-40B4-BE49-F238E27FC236}">
                <a16:creationId xmlns:a16="http://schemas.microsoft.com/office/drawing/2014/main" id="{3F938893-9770-0447-A653-D297B3678996}"/>
              </a:ext>
            </a:extLst>
          </p:cNvPr>
          <p:cNvGraphicFramePr>
            <a:graphicFrameLocks noGrp="1"/>
          </p:cNvGraphicFramePr>
          <p:nvPr/>
        </p:nvGraphicFramePr>
        <p:xfrm>
          <a:off x="9141413" y="3980262"/>
          <a:ext cx="2684785" cy="1172412"/>
        </p:xfrm>
        <a:graphic>
          <a:graphicData uri="http://schemas.openxmlformats.org/drawingml/2006/table">
            <a:tbl>
              <a:tblPr/>
              <a:tblGrid>
                <a:gridCol w="341254">
                  <a:extLst>
                    <a:ext uri="{9D8B030D-6E8A-4147-A177-3AD203B41FA5}">
                      <a16:colId xmlns:a16="http://schemas.microsoft.com/office/drawing/2014/main" val="477942972"/>
                    </a:ext>
                  </a:extLst>
                </a:gridCol>
                <a:gridCol w="2343531">
                  <a:extLst>
                    <a:ext uri="{9D8B030D-6E8A-4147-A177-3AD203B41FA5}">
                      <a16:colId xmlns:a16="http://schemas.microsoft.com/office/drawing/2014/main" val="2395302743"/>
                    </a:ext>
                  </a:extLst>
                </a:gridCol>
              </a:tblGrid>
              <a:tr h="1954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dirty="0">
                          <a:solidFill>
                            <a:srgbClr val="4DA685"/>
                          </a:solidFill>
                        </a:rPr>
                        <a:t>53%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solidFill>
                            <a:srgbClr val="000000"/>
                          </a:solidFill>
                        </a:rPr>
                        <a:t>Anschaffung Auto</a:t>
                      </a:r>
                    </a:p>
                  </a:txBody>
                  <a:tcPr marL="47625" marR="47625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748476"/>
                  </a:ext>
                </a:extLst>
              </a:tr>
              <a:tr h="1954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dirty="0">
                          <a:solidFill>
                            <a:srgbClr val="4DA685"/>
                          </a:solidFill>
                        </a:rPr>
                        <a:t>45%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solidFill>
                            <a:srgbClr val="000000"/>
                          </a:solidFill>
                        </a:rPr>
                        <a:t>Umzug</a:t>
                      </a:r>
                    </a:p>
                  </a:txBody>
                  <a:tcPr marL="47625" marR="47625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348440"/>
                  </a:ext>
                </a:extLst>
              </a:tr>
              <a:tr h="1954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dirty="0">
                          <a:solidFill>
                            <a:srgbClr val="4DA685"/>
                          </a:solidFill>
                        </a:rPr>
                        <a:t>17%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>
                          <a:schemeClr val="tx2"/>
                        </a:buClr>
                      </a:pPr>
                      <a:r>
                        <a:rPr lang="de-DE" sz="900" b="0" dirty="0">
                          <a:solidFill>
                            <a:srgbClr val="000000"/>
                          </a:solidFill>
                        </a:rPr>
                        <a:t>Anschaffung Haustier/</a:t>
                      </a:r>
                      <a:r>
                        <a:rPr lang="de-DE" sz="900" b="0" dirty="0" err="1">
                          <a:solidFill>
                            <a:srgbClr val="000000"/>
                          </a:solidFill>
                        </a:rPr>
                        <a:t>e</a:t>
                      </a:r>
                      <a:endParaRPr lang="de-DE" sz="900" b="0" dirty="0">
                        <a:solidFill>
                          <a:srgbClr val="000000"/>
                        </a:solidFill>
                      </a:endParaRPr>
                    </a:p>
                  </a:txBody>
                  <a:tcPr marL="47625" marR="47625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680973"/>
                  </a:ext>
                </a:extLst>
              </a:tr>
              <a:tr h="1954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dirty="0">
                          <a:solidFill>
                            <a:srgbClr val="4DA685"/>
                          </a:solidFill>
                        </a:rPr>
                        <a:t>16%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dirty="0">
                          <a:solidFill>
                            <a:srgbClr val="000000"/>
                          </a:solidFill>
                        </a:rPr>
                        <a:t>Arbeitsplatzwechsel</a:t>
                      </a:r>
                    </a:p>
                  </a:txBody>
                  <a:tcPr marL="47625" marR="47625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886079"/>
                  </a:ext>
                </a:extLst>
              </a:tr>
              <a:tr h="1954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dirty="0">
                          <a:solidFill>
                            <a:srgbClr val="4DA685"/>
                          </a:solidFill>
                        </a:rPr>
                        <a:t>16%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dirty="0">
                          <a:solidFill>
                            <a:srgbClr val="000000"/>
                          </a:solidFill>
                        </a:rPr>
                        <a:t>Umzug in Eigentum (</a:t>
                      </a:r>
                      <a:r>
                        <a:rPr lang="de-DE" sz="900" b="0">
                          <a:solidFill>
                            <a:srgbClr val="000000"/>
                          </a:solidFill>
                        </a:rPr>
                        <a:t>Haus oder Wohnung)</a:t>
                      </a:r>
                      <a:endParaRPr lang="de-DE" sz="900" b="0" dirty="0">
                        <a:solidFill>
                          <a:srgbClr val="000000"/>
                        </a:solidFill>
                      </a:endParaRPr>
                    </a:p>
                  </a:txBody>
                  <a:tcPr marL="47625" marR="47625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005734"/>
                  </a:ext>
                </a:extLst>
              </a:tr>
              <a:tr h="1954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dirty="0">
                          <a:solidFill>
                            <a:srgbClr val="4DA685"/>
                          </a:solidFill>
                        </a:rPr>
                        <a:t>15%</a:t>
                      </a:r>
                    </a:p>
                  </a:txBody>
                  <a:tcPr marL="47625" marR="0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dirty="0">
                          <a:solidFill>
                            <a:srgbClr val="000000"/>
                          </a:solidFill>
                        </a:rPr>
                        <a:t>Erbe</a:t>
                      </a:r>
                    </a:p>
                  </a:txBody>
                  <a:tcPr marL="47625" marR="47625" marT="0" marB="0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5978768"/>
                  </a:ext>
                </a:extLst>
              </a:tr>
            </a:tbl>
          </a:graphicData>
        </a:graphic>
      </p:graphicFrame>
      <p:sp>
        <p:nvSpPr>
          <p:cNvPr id="8" name="Textfeld 38">
            <a:extLst>
              <a:ext uri="{FF2B5EF4-FFF2-40B4-BE49-F238E27FC236}">
                <a16:creationId xmlns:a16="http://schemas.microsoft.com/office/drawing/2014/main" id="{17ADCE42-852B-9954-22A9-AEF3C31E2664}"/>
              </a:ext>
            </a:extLst>
          </p:cNvPr>
          <p:cNvSpPr txBox="1"/>
          <p:nvPr/>
        </p:nvSpPr>
        <p:spPr>
          <a:xfrm>
            <a:off x="883710" y="5032637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801CDE-34F4-DC99-6070-181D726E4CE1}"/>
              </a:ext>
            </a:extLst>
          </p:cNvPr>
          <p:cNvSpPr txBox="1"/>
          <p:nvPr/>
        </p:nvSpPr>
        <p:spPr>
          <a:xfrm>
            <a:off x="2453852" y="2661448"/>
            <a:ext cx="388231" cy="1525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61%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8AE830-368C-8489-DD35-D6EDB2B352D9}"/>
              </a:ext>
            </a:extLst>
          </p:cNvPr>
          <p:cNvSpPr txBox="1"/>
          <p:nvPr/>
        </p:nvSpPr>
        <p:spPr>
          <a:xfrm>
            <a:off x="4061972" y="2661448"/>
            <a:ext cx="372765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</a:t>
            </a:r>
            <a:r>
              <a:rPr lang="de-AT" sz="1000" b="1" noProof="1">
                <a:solidFill>
                  <a:srgbClr val="4DA685"/>
                </a:solidFill>
              </a:rPr>
              <a:t>51</a:t>
            </a: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48C25B-057A-B74B-5515-DD509E7F3427}"/>
              </a:ext>
            </a:extLst>
          </p:cNvPr>
          <p:cNvSpPr txBox="1"/>
          <p:nvPr/>
        </p:nvSpPr>
        <p:spPr>
          <a:xfrm>
            <a:off x="6399590" y="2661448"/>
            <a:ext cx="387990" cy="1525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</a:t>
            </a:r>
            <a:r>
              <a:rPr lang="de-AT" sz="1000" b="1" noProof="1">
                <a:solidFill>
                  <a:srgbClr val="4DA685"/>
                </a:solidFill>
              </a:rPr>
              <a:t>63</a:t>
            </a: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D628A1-6C7B-BD3F-7B89-EC83011DE2F4}"/>
              </a:ext>
            </a:extLst>
          </p:cNvPr>
          <p:cNvSpPr txBox="1"/>
          <p:nvPr/>
        </p:nvSpPr>
        <p:spPr>
          <a:xfrm>
            <a:off x="7180284" y="2661448"/>
            <a:ext cx="391619" cy="1525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</a:t>
            </a:r>
            <a:r>
              <a:rPr lang="de-AT" sz="1000" b="1" noProof="1">
                <a:solidFill>
                  <a:srgbClr val="4DA685"/>
                </a:solidFill>
              </a:rPr>
              <a:t>59</a:t>
            </a: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987EEE-EDC8-C989-B1D4-BEBFADB4573E}"/>
              </a:ext>
            </a:extLst>
          </p:cNvPr>
          <p:cNvSpPr txBox="1"/>
          <p:nvPr/>
        </p:nvSpPr>
        <p:spPr>
          <a:xfrm>
            <a:off x="8767109" y="2661448"/>
            <a:ext cx="363530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</a:t>
            </a:r>
            <a:r>
              <a:rPr lang="de-AT" sz="1000" b="1" noProof="1">
                <a:solidFill>
                  <a:srgbClr val="4DA685"/>
                </a:solidFill>
              </a:rPr>
              <a:t>61</a:t>
            </a: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E85E7B-DF85-125A-2080-94BB2FDF3724}"/>
              </a:ext>
            </a:extLst>
          </p:cNvPr>
          <p:cNvSpPr txBox="1"/>
          <p:nvPr/>
        </p:nvSpPr>
        <p:spPr>
          <a:xfrm>
            <a:off x="9532813" y="2661448"/>
            <a:ext cx="391257" cy="1525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</a:t>
            </a:r>
            <a:r>
              <a:rPr lang="de-AT" sz="1000" b="1" noProof="1">
                <a:solidFill>
                  <a:srgbClr val="4DA685"/>
                </a:solidFill>
              </a:rPr>
              <a:t>61</a:t>
            </a: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0C8723-7F8D-3DC3-6AA6-D405369A75F2}"/>
              </a:ext>
            </a:extLst>
          </p:cNvPr>
          <p:cNvSpPr txBox="1"/>
          <p:nvPr/>
        </p:nvSpPr>
        <p:spPr>
          <a:xfrm>
            <a:off x="10326151" y="2661448"/>
            <a:ext cx="391351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62%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C045C2-5130-87BF-CF1D-995C3AA9594C}"/>
              </a:ext>
            </a:extLst>
          </p:cNvPr>
          <p:cNvSpPr txBox="1"/>
          <p:nvPr/>
        </p:nvSpPr>
        <p:spPr>
          <a:xfrm>
            <a:off x="11114341" y="2661448"/>
            <a:ext cx="394317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64%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D1FB96-E0EA-4136-F3B1-A61CFDE8C7C9}"/>
              </a:ext>
            </a:extLst>
          </p:cNvPr>
          <p:cNvSpPr txBox="1"/>
          <p:nvPr/>
        </p:nvSpPr>
        <p:spPr>
          <a:xfrm>
            <a:off x="4813236" y="2660791"/>
            <a:ext cx="390819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</a:t>
            </a:r>
            <a:r>
              <a:rPr lang="de-AT" sz="1000" b="1" noProof="1">
                <a:solidFill>
                  <a:srgbClr val="4DA685"/>
                </a:solidFill>
              </a:rPr>
              <a:t>61</a:t>
            </a: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AFF6CD-88DD-1FD3-5FEC-CCD7C3B75C30}"/>
              </a:ext>
            </a:extLst>
          </p:cNvPr>
          <p:cNvSpPr txBox="1"/>
          <p:nvPr/>
        </p:nvSpPr>
        <p:spPr>
          <a:xfrm>
            <a:off x="5613706" y="2660793"/>
            <a:ext cx="393219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</a:t>
            </a:r>
            <a:r>
              <a:rPr lang="de-AT" sz="1000" b="1" noProof="1">
                <a:solidFill>
                  <a:srgbClr val="4DA685"/>
                </a:solidFill>
              </a:rPr>
              <a:t>59</a:t>
            </a: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40" name="Textfeld 38">
            <a:extLst>
              <a:ext uri="{FF2B5EF4-FFF2-40B4-BE49-F238E27FC236}">
                <a16:creationId xmlns:a16="http://schemas.microsoft.com/office/drawing/2014/main" id="{754D0EBD-17C5-5667-BD92-2A9C7BA848B6}"/>
              </a:ext>
            </a:extLst>
          </p:cNvPr>
          <p:cNvSpPr txBox="1"/>
          <p:nvPr/>
        </p:nvSpPr>
        <p:spPr>
          <a:xfrm>
            <a:off x="2690249" y="2606986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42" name="Textfeld 38">
            <a:extLst>
              <a:ext uri="{FF2B5EF4-FFF2-40B4-BE49-F238E27FC236}">
                <a16:creationId xmlns:a16="http://schemas.microsoft.com/office/drawing/2014/main" id="{895205C2-EAED-9185-7487-CF566CCDC7DA}"/>
              </a:ext>
            </a:extLst>
          </p:cNvPr>
          <p:cNvSpPr txBox="1"/>
          <p:nvPr/>
        </p:nvSpPr>
        <p:spPr>
          <a:xfrm>
            <a:off x="4274100" y="2606986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54" name="Textfeld 38">
            <a:extLst>
              <a:ext uri="{FF2B5EF4-FFF2-40B4-BE49-F238E27FC236}">
                <a16:creationId xmlns:a16="http://schemas.microsoft.com/office/drawing/2014/main" id="{1F035EB1-62CB-C83A-EAEB-0934B5479E1A}"/>
              </a:ext>
            </a:extLst>
          </p:cNvPr>
          <p:cNvSpPr txBox="1"/>
          <p:nvPr/>
        </p:nvSpPr>
        <p:spPr>
          <a:xfrm>
            <a:off x="6629063" y="2606986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55" name="Textfeld 38">
            <a:extLst>
              <a:ext uri="{FF2B5EF4-FFF2-40B4-BE49-F238E27FC236}">
                <a16:creationId xmlns:a16="http://schemas.microsoft.com/office/drawing/2014/main" id="{0860B312-177E-B892-129F-19AF71A91624}"/>
              </a:ext>
            </a:extLst>
          </p:cNvPr>
          <p:cNvSpPr txBox="1"/>
          <p:nvPr/>
        </p:nvSpPr>
        <p:spPr>
          <a:xfrm>
            <a:off x="7413387" y="2606986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57" name="Textfeld 38">
            <a:extLst>
              <a:ext uri="{FF2B5EF4-FFF2-40B4-BE49-F238E27FC236}">
                <a16:creationId xmlns:a16="http://schemas.microsoft.com/office/drawing/2014/main" id="{9BC3A280-25D9-7A54-2A1F-75710B828F4C}"/>
              </a:ext>
            </a:extLst>
          </p:cNvPr>
          <p:cNvSpPr txBox="1"/>
          <p:nvPr/>
        </p:nvSpPr>
        <p:spPr>
          <a:xfrm>
            <a:off x="8998663" y="2606986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58" name="Textfeld 38">
            <a:extLst>
              <a:ext uri="{FF2B5EF4-FFF2-40B4-BE49-F238E27FC236}">
                <a16:creationId xmlns:a16="http://schemas.microsoft.com/office/drawing/2014/main" id="{36D9C199-2774-4534-F888-63039F133C02}"/>
              </a:ext>
            </a:extLst>
          </p:cNvPr>
          <p:cNvSpPr txBox="1"/>
          <p:nvPr/>
        </p:nvSpPr>
        <p:spPr>
          <a:xfrm>
            <a:off x="9765554" y="2606986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60" name="Textfeld 38">
            <a:extLst>
              <a:ext uri="{FF2B5EF4-FFF2-40B4-BE49-F238E27FC236}">
                <a16:creationId xmlns:a16="http://schemas.microsoft.com/office/drawing/2014/main" id="{EA7EA6A4-9FC8-B017-D150-50D918EDB17A}"/>
              </a:ext>
            </a:extLst>
          </p:cNvPr>
          <p:cNvSpPr txBox="1"/>
          <p:nvPr/>
        </p:nvSpPr>
        <p:spPr>
          <a:xfrm>
            <a:off x="10558986" y="2606986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61" name="Textfeld 38">
            <a:extLst>
              <a:ext uri="{FF2B5EF4-FFF2-40B4-BE49-F238E27FC236}">
                <a16:creationId xmlns:a16="http://schemas.microsoft.com/office/drawing/2014/main" id="{B3EF76A9-7CE9-AC02-B768-34A6D69E39D4}"/>
              </a:ext>
            </a:extLst>
          </p:cNvPr>
          <p:cNvSpPr txBox="1"/>
          <p:nvPr/>
        </p:nvSpPr>
        <p:spPr>
          <a:xfrm>
            <a:off x="11343468" y="2606986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64" name="Textfeld 38">
            <a:extLst>
              <a:ext uri="{FF2B5EF4-FFF2-40B4-BE49-F238E27FC236}">
                <a16:creationId xmlns:a16="http://schemas.microsoft.com/office/drawing/2014/main" id="{E8D2F2D9-D3CF-5223-56CD-4C010A348A84}"/>
              </a:ext>
            </a:extLst>
          </p:cNvPr>
          <p:cNvSpPr txBox="1"/>
          <p:nvPr/>
        </p:nvSpPr>
        <p:spPr>
          <a:xfrm>
            <a:off x="5835059" y="2605321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65" name="Textfeld 38">
            <a:extLst>
              <a:ext uri="{FF2B5EF4-FFF2-40B4-BE49-F238E27FC236}">
                <a16:creationId xmlns:a16="http://schemas.microsoft.com/office/drawing/2014/main" id="{29E21CC8-1B27-588F-4E9C-A24CCC28162D}"/>
              </a:ext>
            </a:extLst>
          </p:cNvPr>
          <p:cNvSpPr txBox="1"/>
          <p:nvPr/>
        </p:nvSpPr>
        <p:spPr>
          <a:xfrm>
            <a:off x="5045539" y="2605321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28" name="Textfeld 6">
            <a:extLst>
              <a:ext uri="{FF2B5EF4-FFF2-40B4-BE49-F238E27FC236}">
                <a16:creationId xmlns:a16="http://schemas.microsoft.com/office/drawing/2014/main" id="{A17028C5-C8C1-9C5C-A14D-A576299A500B}"/>
              </a:ext>
            </a:extLst>
          </p:cNvPr>
          <p:cNvSpPr txBox="1"/>
          <p:nvPr/>
        </p:nvSpPr>
        <p:spPr>
          <a:xfrm>
            <a:off x="4441567" y="6585418"/>
            <a:ext cx="53725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= größere, signifikante Abweichungen von der Gesamtstichprobe (mindestens 7 Prozentpunkte höher/niedriger)</a:t>
            </a:r>
          </a:p>
        </p:txBody>
      </p:sp>
      <p:sp>
        <p:nvSpPr>
          <p:cNvPr id="29" name="Textfeld 38">
            <a:extLst>
              <a:ext uri="{FF2B5EF4-FFF2-40B4-BE49-F238E27FC236}">
                <a16:creationId xmlns:a16="http://schemas.microsoft.com/office/drawing/2014/main" id="{7A038D2E-E688-D73C-AC70-305E3201A9F8}"/>
              </a:ext>
            </a:extLst>
          </p:cNvPr>
          <p:cNvSpPr txBox="1"/>
          <p:nvPr/>
        </p:nvSpPr>
        <p:spPr>
          <a:xfrm>
            <a:off x="4236176" y="6565779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30" name="Textfeld 38">
            <a:extLst>
              <a:ext uri="{FF2B5EF4-FFF2-40B4-BE49-F238E27FC236}">
                <a16:creationId xmlns:a16="http://schemas.microsoft.com/office/drawing/2014/main" id="{D58C04FC-D14D-1ED8-9E5E-1D44143E5F73}"/>
              </a:ext>
            </a:extLst>
          </p:cNvPr>
          <p:cNvSpPr txBox="1"/>
          <p:nvPr/>
        </p:nvSpPr>
        <p:spPr>
          <a:xfrm rot="10800000">
            <a:off x="4328015" y="6610935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43" name="Textfeld 38">
            <a:extLst>
              <a:ext uri="{FF2B5EF4-FFF2-40B4-BE49-F238E27FC236}">
                <a16:creationId xmlns:a16="http://schemas.microsoft.com/office/drawing/2014/main" id="{D21160E1-B10D-86E7-9862-E46C3A1BE55F}"/>
              </a:ext>
            </a:extLst>
          </p:cNvPr>
          <p:cNvSpPr txBox="1"/>
          <p:nvPr/>
        </p:nvSpPr>
        <p:spPr>
          <a:xfrm rot="10800000">
            <a:off x="898746" y="4719731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34" name="Textfeld 38">
            <a:extLst>
              <a:ext uri="{FF2B5EF4-FFF2-40B4-BE49-F238E27FC236}">
                <a16:creationId xmlns:a16="http://schemas.microsoft.com/office/drawing/2014/main" id="{1874DF3D-A4EF-CA47-CF29-973F0C9DE0A7}"/>
              </a:ext>
            </a:extLst>
          </p:cNvPr>
          <p:cNvSpPr txBox="1"/>
          <p:nvPr/>
        </p:nvSpPr>
        <p:spPr>
          <a:xfrm>
            <a:off x="6444850" y="4118540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36" name="Textfeld 38">
            <a:extLst>
              <a:ext uri="{FF2B5EF4-FFF2-40B4-BE49-F238E27FC236}">
                <a16:creationId xmlns:a16="http://schemas.microsoft.com/office/drawing/2014/main" id="{99C29546-5773-6A0B-938A-7583B7AA7EB2}"/>
              </a:ext>
            </a:extLst>
          </p:cNvPr>
          <p:cNvSpPr txBox="1"/>
          <p:nvPr/>
        </p:nvSpPr>
        <p:spPr>
          <a:xfrm>
            <a:off x="9359841" y="4116954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C239E8-6422-FE22-27DB-1F588208CFA4}"/>
              </a:ext>
            </a:extLst>
          </p:cNvPr>
          <p:cNvSpPr txBox="1"/>
          <p:nvPr/>
        </p:nvSpPr>
        <p:spPr>
          <a:xfrm>
            <a:off x="3220029" y="2661448"/>
            <a:ext cx="388231" cy="1525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62%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44" name="Textfeld 38">
            <a:extLst>
              <a:ext uri="{FF2B5EF4-FFF2-40B4-BE49-F238E27FC236}">
                <a16:creationId xmlns:a16="http://schemas.microsoft.com/office/drawing/2014/main" id="{60E61820-EDCB-72DE-7CE7-79ED2DC05FA4}"/>
              </a:ext>
            </a:extLst>
          </p:cNvPr>
          <p:cNvSpPr txBox="1"/>
          <p:nvPr/>
        </p:nvSpPr>
        <p:spPr>
          <a:xfrm>
            <a:off x="3456426" y="2606986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A973EBE-3EED-3F2F-F9EE-ADD3ADAFC50D}"/>
              </a:ext>
            </a:extLst>
          </p:cNvPr>
          <p:cNvSpPr txBox="1"/>
          <p:nvPr/>
        </p:nvSpPr>
        <p:spPr>
          <a:xfrm>
            <a:off x="7931185" y="2661448"/>
            <a:ext cx="388231" cy="1525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l" fontAlgn="b">
              <a:buNone/>
            </a:pPr>
            <a:r>
              <a:rPr lang="de-AT" sz="1000" b="1" u="none" strike="noStrike" noProof="1">
                <a:solidFill>
                  <a:srgbClr val="4DA685"/>
                </a:solidFill>
                <a:effectLst/>
              </a:rPr>
              <a:t> 65%</a:t>
            </a:r>
            <a:endParaRPr lang="de-AT" sz="1000" b="1" i="0" u="none" strike="noStrike" noProof="1">
              <a:solidFill>
                <a:srgbClr val="4DA685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46" name="Textfeld 38">
            <a:extLst>
              <a:ext uri="{FF2B5EF4-FFF2-40B4-BE49-F238E27FC236}">
                <a16:creationId xmlns:a16="http://schemas.microsoft.com/office/drawing/2014/main" id="{FBD73299-3D04-2CA8-BC17-C867B0369228}"/>
              </a:ext>
            </a:extLst>
          </p:cNvPr>
          <p:cNvSpPr txBox="1"/>
          <p:nvPr/>
        </p:nvSpPr>
        <p:spPr>
          <a:xfrm>
            <a:off x="8167582" y="2606986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>
                <a:solidFill>
                  <a:srgbClr val="4DA685"/>
                </a:solidFill>
              </a:rPr>
              <a:t>↑</a:t>
            </a:r>
          </a:p>
        </p:txBody>
      </p:sp>
      <p:graphicFrame>
        <p:nvGraphicFramePr>
          <p:cNvPr id="20" name="Diagramm 9">
            <a:extLst>
              <a:ext uri="{FF2B5EF4-FFF2-40B4-BE49-F238E27FC236}">
                <a16:creationId xmlns:a16="http://schemas.microsoft.com/office/drawing/2014/main" id="{4B4C518E-7591-3EC9-4D32-E10CDD3AA6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04879" y="425113"/>
          <a:ext cx="2019762" cy="1378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Textfeld 38">
            <a:extLst>
              <a:ext uri="{FF2B5EF4-FFF2-40B4-BE49-F238E27FC236}">
                <a16:creationId xmlns:a16="http://schemas.microsoft.com/office/drawing/2014/main" id="{923DC5C8-2812-84B2-778A-60068FDF9FA6}"/>
              </a:ext>
            </a:extLst>
          </p:cNvPr>
          <p:cNvSpPr txBox="1"/>
          <p:nvPr/>
        </p:nvSpPr>
        <p:spPr>
          <a:xfrm>
            <a:off x="2583296" y="3897662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26" name="Textfeld 38">
            <a:extLst>
              <a:ext uri="{FF2B5EF4-FFF2-40B4-BE49-F238E27FC236}">
                <a16:creationId xmlns:a16="http://schemas.microsoft.com/office/drawing/2014/main" id="{DB5EBD34-0E99-67F2-87AA-2AE047E27F0C}"/>
              </a:ext>
            </a:extLst>
          </p:cNvPr>
          <p:cNvSpPr txBox="1"/>
          <p:nvPr/>
        </p:nvSpPr>
        <p:spPr>
          <a:xfrm>
            <a:off x="2583296" y="4713148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27" name="Textfeld 38">
            <a:extLst>
              <a:ext uri="{FF2B5EF4-FFF2-40B4-BE49-F238E27FC236}">
                <a16:creationId xmlns:a16="http://schemas.microsoft.com/office/drawing/2014/main" id="{C3A6A6D6-BCF0-E6A2-2366-46B28C9214B5}"/>
              </a:ext>
            </a:extLst>
          </p:cNvPr>
          <p:cNvSpPr txBox="1"/>
          <p:nvPr/>
        </p:nvSpPr>
        <p:spPr>
          <a:xfrm rot="10800000">
            <a:off x="3299668" y="5755508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31" name="Textfeld 38">
            <a:extLst>
              <a:ext uri="{FF2B5EF4-FFF2-40B4-BE49-F238E27FC236}">
                <a16:creationId xmlns:a16="http://schemas.microsoft.com/office/drawing/2014/main" id="{CA813922-A065-BB6A-B69A-75D703175909}"/>
              </a:ext>
            </a:extLst>
          </p:cNvPr>
          <p:cNvSpPr txBox="1"/>
          <p:nvPr/>
        </p:nvSpPr>
        <p:spPr>
          <a:xfrm rot="10800000">
            <a:off x="6450562" y="3984950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41" name="Textfeld 38">
            <a:extLst>
              <a:ext uri="{FF2B5EF4-FFF2-40B4-BE49-F238E27FC236}">
                <a16:creationId xmlns:a16="http://schemas.microsoft.com/office/drawing/2014/main" id="{BDAD329E-5A26-35FD-A831-AF2E2ABA0DF7}"/>
              </a:ext>
            </a:extLst>
          </p:cNvPr>
          <p:cNvSpPr txBox="1"/>
          <p:nvPr/>
        </p:nvSpPr>
        <p:spPr>
          <a:xfrm>
            <a:off x="6444850" y="4315096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47" name="Textfeld 38">
            <a:extLst>
              <a:ext uri="{FF2B5EF4-FFF2-40B4-BE49-F238E27FC236}">
                <a16:creationId xmlns:a16="http://schemas.microsoft.com/office/drawing/2014/main" id="{79BC8F70-200A-72E8-5B5B-8556DDD0A062}"/>
              </a:ext>
            </a:extLst>
          </p:cNvPr>
          <p:cNvSpPr txBox="1"/>
          <p:nvPr/>
        </p:nvSpPr>
        <p:spPr>
          <a:xfrm>
            <a:off x="6444850" y="5047289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48" name="Textfeld 38">
            <a:extLst>
              <a:ext uri="{FF2B5EF4-FFF2-40B4-BE49-F238E27FC236}">
                <a16:creationId xmlns:a16="http://schemas.microsoft.com/office/drawing/2014/main" id="{4EFAA007-27CE-98D3-0570-2A07EEE8359E}"/>
              </a:ext>
            </a:extLst>
          </p:cNvPr>
          <p:cNvSpPr txBox="1"/>
          <p:nvPr/>
        </p:nvSpPr>
        <p:spPr>
          <a:xfrm>
            <a:off x="9359841" y="3915434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50" name="Textfeld 38">
            <a:extLst>
              <a:ext uri="{FF2B5EF4-FFF2-40B4-BE49-F238E27FC236}">
                <a16:creationId xmlns:a16="http://schemas.microsoft.com/office/drawing/2014/main" id="{FE8AEA13-1E62-6FF2-CD6E-7E67CFEE8A31}"/>
              </a:ext>
            </a:extLst>
          </p:cNvPr>
          <p:cNvSpPr txBox="1"/>
          <p:nvPr/>
        </p:nvSpPr>
        <p:spPr>
          <a:xfrm>
            <a:off x="9359841" y="4305970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51" name="Textfeld 38">
            <a:extLst>
              <a:ext uri="{FF2B5EF4-FFF2-40B4-BE49-F238E27FC236}">
                <a16:creationId xmlns:a16="http://schemas.microsoft.com/office/drawing/2014/main" id="{CE91E8B8-9839-AB13-E4C8-4A3EC82A0DC7}"/>
              </a:ext>
            </a:extLst>
          </p:cNvPr>
          <p:cNvSpPr txBox="1"/>
          <p:nvPr/>
        </p:nvSpPr>
        <p:spPr>
          <a:xfrm>
            <a:off x="9359841" y="4894881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7" name="Textfeld 38">
            <a:extLst>
              <a:ext uri="{FF2B5EF4-FFF2-40B4-BE49-F238E27FC236}">
                <a16:creationId xmlns:a16="http://schemas.microsoft.com/office/drawing/2014/main" id="{DE048BE3-4F4B-F2FD-1463-FDD00D29FB68}"/>
              </a:ext>
            </a:extLst>
          </p:cNvPr>
          <p:cNvSpPr txBox="1"/>
          <p:nvPr/>
        </p:nvSpPr>
        <p:spPr>
          <a:xfrm rot="10800000">
            <a:off x="6448344" y="4910366"/>
            <a:ext cx="198562" cy="2150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32" name="Textfeld 38">
            <a:extLst>
              <a:ext uri="{FF2B5EF4-FFF2-40B4-BE49-F238E27FC236}">
                <a16:creationId xmlns:a16="http://schemas.microsoft.com/office/drawing/2014/main" id="{F8867F26-B67E-8338-434C-4545567B73D7}"/>
              </a:ext>
            </a:extLst>
          </p:cNvPr>
          <p:cNvSpPr txBox="1"/>
          <p:nvPr/>
        </p:nvSpPr>
        <p:spPr>
          <a:xfrm>
            <a:off x="1548432" y="5882926"/>
            <a:ext cx="692979" cy="4513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4DA685"/>
                </a:solidFill>
              </a:rPr>
              <a:t>↑</a:t>
            </a:r>
          </a:p>
        </p:txBody>
      </p:sp>
      <p:sp>
        <p:nvSpPr>
          <p:cNvPr id="35" name="Textfeld 38">
            <a:extLst>
              <a:ext uri="{FF2B5EF4-FFF2-40B4-BE49-F238E27FC236}">
                <a16:creationId xmlns:a16="http://schemas.microsoft.com/office/drawing/2014/main" id="{20B66387-B506-F8CF-0841-68A611108E8C}"/>
              </a:ext>
            </a:extLst>
          </p:cNvPr>
          <p:cNvSpPr txBox="1"/>
          <p:nvPr/>
        </p:nvSpPr>
        <p:spPr>
          <a:xfrm rot="10800000">
            <a:off x="1606366" y="5512822"/>
            <a:ext cx="810679" cy="4677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20"/>
              </a:lnSpc>
              <a:buClr>
                <a:schemeClr val="tx2"/>
              </a:buClr>
            </a:pPr>
            <a:r>
              <a:rPr lang="de-DE" sz="1100" b="1" dirty="0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549A9C01-5C52-D43E-5CB4-5877262EA6C7}"/>
              </a:ext>
            </a:extLst>
          </p:cNvPr>
          <p:cNvSpPr txBox="1"/>
          <p:nvPr/>
        </p:nvSpPr>
        <p:spPr>
          <a:xfrm>
            <a:off x="7837457" y="3205872"/>
            <a:ext cx="4354544" cy="1992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  <a:buClr>
                <a:schemeClr val="tx2"/>
              </a:buClr>
            </a:pPr>
            <a:r>
              <a:rPr lang="de-DE" sz="800" spc="-30" dirty="0">
                <a:solidFill>
                  <a:schemeClr val="bg1">
                    <a:lumMod val="75000"/>
                  </a:schemeClr>
                </a:solidFill>
              </a:rPr>
              <a:t>Lebensmomente/Zukunftspläne mit Anteilen von mind. 30% angeführt. Zusätzlich signifikant häufigere Lebensmomente/Zukunftspläne (vgl. zur Gesamtstichprobe) mit Anteilen von mind. 15% angeführt. </a:t>
            </a:r>
          </a:p>
        </p:txBody>
      </p:sp>
      <p:sp>
        <p:nvSpPr>
          <p:cNvPr id="33" name="Datumsplatzhalter 1">
            <a:extLst>
              <a:ext uri="{FF2B5EF4-FFF2-40B4-BE49-F238E27FC236}">
                <a16:creationId xmlns:a16="http://schemas.microsoft.com/office/drawing/2014/main" id="{025C9586-ED1B-C149-B0CC-54EBBD22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875" y="6556875"/>
            <a:ext cx="588192" cy="219454"/>
          </a:xfrm>
        </p:spPr>
        <p:txBody>
          <a:bodyPr/>
          <a:lstStyle/>
          <a:p>
            <a:fld id="{72D77B36-95B7-FF43-8BF5-D80FC3958B26}" type="datetime1">
              <a:rPr lang="de-AT" noProof="0" smtClean="0"/>
              <a:t>28.05.26</a:t>
            </a:fld>
            <a:endParaRPr lang="de-AT" noProof="0" dirty="0"/>
          </a:p>
        </p:txBody>
      </p:sp>
      <p:sp>
        <p:nvSpPr>
          <p:cNvPr id="38" name="Fußzeilenplatzhalter 2">
            <a:extLst>
              <a:ext uri="{FF2B5EF4-FFF2-40B4-BE49-F238E27FC236}">
                <a16:creationId xmlns:a16="http://schemas.microsoft.com/office/drawing/2014/main" id="{5173E038-C3CF-96DD-61DA-4AECCD1BD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010" y="6556875"/>
            <a:ext cx="6127477" cy="219454"/>
          </a:xfrm>
        </p:spPr>
        <p:txBody>
          <a:bodyPr/>
          <a:lstStyle/>
          <a:p>
            <a:r>
              <a:rPr lang="de-AT" noProof="0" dirty="0"/>
              <a:t>Retail-Segmentierung Neu│ S. Stratula &amp; K. Preibisch</a:t>
            </a:r>
          </a:p>
        </p:txBody>
      </p:sp>
    </p:spTree>
    <p:extLst>
      <p:ext uri="{BB962C8B-B14F-4D97-AF65-F5344CB8AC3E}">
        <p14:creationId xmlns:p14="http://schemas.microsoft.com/office/powerpoint/2010/main" val="24323514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LANGUAGE_ID" val="3079"/>
  <p:tag name="SELECTEDLANGUAGE" val="German Austria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0y1QpuzJetlJHU.O98sMw"/>
</p:tagLst>
</file>

<file path=ppt/theme/theme1.xml><?xml version="1.0" encoding="utf-8"?>
<a:theme xmlns:a="http://schemas.openxmlformats.org/drawingml/2006/main" name="UNIQA Folienmaster 2025">
  <a:themeElements>
    <a:clrScheme name="Benutzerdefiniert 84">
      <a:dk1>
        <a:srgbClr val="005BA8"/>
      </a:dk1>
      <a:lt1>
        <a:srgbClr val="FFFFFF"/>
      </a:lt1>
      <a:dk2>
        <a:srgbClr val="005CA9"/>
      </a:dk2>
      <a:lt2>
        <a:srgbClr val="FEFFFF"/>
      </a:lt2>
      <a:accent1>
        <a:srgbClr val="71ADFF"/>
      </a:accent1>
      <a:accent2>
        <a:srgbClr val="A5C8FF"/>
      </a:accent2>
      <a:accent3>
        <a:srgbClr val="E8EFFF"/>
      </a:accent3>
      <a:accent4>
        <a:srgbClr val="E9EFF7"/>
      </a:accent4>
      <a:accent5>
        <a:srgbClr val="00A2DB"/>
      </a:accent5>
      <a:accent6>
        <a:srgbClr val="005BA8"/>
      </a:accent6>
      <a:hlink>
        <a:srgbClr val="005CA9"/>
      </a:hlink>
      <a:folHlink>
        <a:srgbClr val="005C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108000" tIns="108000" rIns="108000" bIns="108000" rtlCol="0" anchor="t" anchorCtr="0"/>
      <a:lstStyle>
        <a:defPPr algn="l">
          <a:spcAft>
            <a:spcPts val="10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marL="183600" indent="-183600" algn="l">
          <a:buClr>
            <a:schemeClr val="tx2"/>
          </a:buClr>
          <a:buFont typeface="Arial" panose="020B0604020202020204" pitchFamily="34" charset="0"/>
          <a:buChar char="•"/>
          <a:defRPr dirty="0" err="1" smtClean="0"/>
        </a:defPPr>
      </a:lstStyle>
    </a:txDef>
  </a:objectDefaults>
  <a:extraClrSchemeLst/>
  <a:custClrLst>
    <a:custClr name="Black">
      <a:srgbClr val="000000"/>
    </a:custClr>
    <a:custClr name="UNIQA Ble">
      <a:srgbClr val="005CA9"/>
    </a:custClr>
    <a:custClr name="UNIQA Blue shade 1">
      <a:srgbClr val="F7F9FF"/>
    </a:custClr>
    <a:custClr name="UNIQA Blue shade 2">
      <a:srgbClr val="E8EFFF"/>
    </a:custClr>
    <a:custClr name="UNIQA Blue shade 3">
      <a:srgbClr val="D4E3FF"/>
    </a:custClr>
    <a:custClr name="UNIQA Blue shade 4">
      <a:srgbClr val="A5C8FF"/>
    </a:custClr>
    <a:custClr name="UNIQA Blue shade 5">
      <a:srgbClr val="71ADFF"/>
    </a:custClr>
    <a:custClr name="UNIQA Blue shade 6">
      <a:srgbClr val="5492E3"/>
    </a:custClr>
    <a:custClr name="UNIQA Blue shade 7">
      <a:srgbClr val="3578C7"/>
    </a:custClr>
    <a:custClr name="UNIQA Blue shade 8">
      <a:srgbClr val="005399"/>
    </a:custClr>
    <a:custClr name="UNIQA Blue shade 9">
      <a:srgbClr val="004785"/>
    </a:custClr>
    <a:custClr name="UNIQA Blue shade 10">
      <a:srgbClr val="003C71"/>
    </a:custClr>
    <a:custClr name="UNIQA Blue shade 11">
      <a:srgbClr val="00315E"/>
    </a:custClr>
    <a:custClr name="UNIQA Blue shade 12">
      <a:srgbClr val="00264C"/>
    </a:custClr>
    <a:custClr name="UNIQA Blue shade 13">
      <a:srgbClr val="001C3A"/>
    </a:custClr>
    <a:custClr name="UNIQA Blue shade 14">
      <a:srgbClr val="001128"/>
    </a:custClr>
    <a:custClr name="Orange">
      <a:srgbClr val="CD4B16"/>
    </a:custClr>
    <a:custClr name="Orange shade 1">
      <a:srgbClr val="FFEFE5"/>
    </a:custClr>
    <a:custClr name="Orange shade 2">
      <a:srgbClr val="FFD8C2"/>
    </a:custClr>
    <a:custClr name="Orange shade 3">
      <a:srgbClr val="FFC8A8"/>
    </a:custClr>
    <a:custClr name="Orange shade 4">
      <a:srgbClr val="FFB285"/>
    </a:custClr>
    <a:custClr name="Orange shade 5">
      <a:srgbClr val="FF9E66"/>
    </a:custClr>
    <a:custClr name="Orange shade 6">
      <a:srgbClr val="FF7E33"/>
    </a:custClr>
    <a:custClr name="Orange shade 7">
      <a:srgbClr val="F2610D"/>
    </a:custClr>
    <a:custClr name="Magenta ">
      <a:srgbClr val="DC0073"/>
    </a:custClr>
    <a:custClr name="Magenta shade 1">
      <a:srgbClr val="FFEBF5"/>
    </a:custClr>
    <a:custClr name="Magenta shade 2">
      <a:srgbClr val="FBBBDD"/>
    </a:custClr>
    <a:custClr name="Magenta shade 3">
      <a:srgbClr val="F98BC4"/>
    </a:custClr>
    <a:custClr name="Magenta shade 4">
      <a:srgbClr val="F65AAC"/>
    </a:custClr>
    <a:custClr name="Magenta shade 5">
      <a:srgbClr val="EA3E98"/>
    </a:custClr>
    <a:custClr name="Magenta shade 6">
      <a:srgbClr val="B2005D"/>
    </a:custClr>
    <a:custClr name="Magenta shade 7">
      <a:srgbClr val="990050"/>
    </a:custClr>
    <a:custClr name="Magenta shade 8">
      <a:srgbClr val="660035"/>
    </a:custClr>
  </a:custClrLst>
  <a:extLst>
    <a:ext uri="{05A4C25C-085E-4340-85A3-A5531E510DB2}">
      <thm15:themeFamily xmlns:thm15="http://schemas.microsoft.com/office/thememl/2012/main" name="UQA_2025_PPT Template_DE.pptx" id="{3259E0DA-AA3C-41E3-992D-AA9AD988A26B}" vid="{DBBE9232-B67B-4E84-8051-8BB7CC42AF67}"/>
    </a:ext>
  </a:extLst>
</a:theme>
</file>

<file path=ppt/theme/theme2.xml><?xml version="1.0" encoding="utf-8"?>
<a:theme xmlns:a="http://schemas.openxmlformats.org/drawingml/2006/main" name="1_UNIQA Folienmaster 2025">
  <a:themeElements>
    <a:clrScheme name="Benutzerdefiniert 6">
      <a:dk1>
        <a:srgbClr val="005CA9"/>
      </a:dk1>
      <a:lt1>
        <a:srgbClr val="FFFFFF"/>
      </a:lt1>
      <a:dk2>
        <a:srgbClr val="005CA9"/>
      </a:dk2>
      <a:lt2>
        <a:srgbClr val="FEFFFF"/>
      </a:lt2>
      <a:accent1>
        <a:srgbClr val="71ADFF"/>
      </a:accent1>
      <a:accent2>
        <a:srgbClr val="4DA685"/>
      </a:accent2>
      <a:accent3>
        <a:srgbClr val="B3D9CB"/>
      </a:accent3>
      <a:accent4>
        <a:srgbClr val="F2610D"/>
      </a:accent4>
      <a:accent5>
        <a:srgbClr val="FF9E66"/>
      </a:accent5>
      <a:accent6>
        <a:srgbClr val="005CA9"/>
      </a:accent6>
      <a:hlink>
        <a:srgbClr val="005CA9"/>
      </a:hlink>
      <a:folHlink>
        <a:srgbClr val="005C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108000" tIns="108000" rIns="108000" bIns="108000" rtlCol="0" anchor="t" anchorCtr="0"/>
      <a:lstStyle>
        <a:defPPr algn="l">
          <a:spcAft>
            <a:spcPts val="10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marL="183600" indent="-183600" algn="l">
          <a:buClr>
            <a:schemeClr val="tx2"/>
          </a:buClr>
          <a:buFont typeface="Arial" panose="020B0604020202020204" pitchFamily="34" charset="0"/>
          <a:buChar char="•"/>
          <a:defRPr dirty="0" err="1" smtClean="0"/>
        </a:defPPr>
      </a:lstStyle>
    </a:txDef>
  </a:objectDefaults>
  <a:extraClrSchemeLst/>
  <a:custClrLst>
    <a:custClr name="Black">
      <a:srgbClr val="000000"/>
    </a:custClr>
    <a:custClr name="UNIQA Ble">
      <a:srgbClr val="005CA9"/>
    </a:custClr>
    <a:custClr name="UNIQA Blue shade 1">
      <a:srgbClr val="F7F9FF"/>
    </a:custClr>
    <a:custClr name="UNIQA Blue shade 2">
      <a:srgbClr val="E8EFFF"/>
    </a:custClr>
    <a:custClr name="UNIQA Blue shade 3">
      <a:srgbClr val="D4E3FF"/>
    </a:custClr>
    <a:custClr name="UNIQA Blue shade 4">
      <a:srgbClr val="A5C8FF"/>
    </a:custClr>
    <a:custClr name="UNIQA Blue shade 5">
      <a:srgbClr val="71ADFF"/>
    </a:custClr>
    <a:custClr name="UNIQA Blue shade 6">
      <a:srgbClr val="5492E3"/>
    </a:custClr>
    <a:custClr name="UNIQA Blue shade 7">
      <a:srgbClr val="3578C7"/>
    </a:custClr>
    <a:custClr name="UNIQA Blue shade 8">
      <a:srgbClr val="005399"/>
    </a:custClr>
    <a:custClr name="UNIQA Blue shade 9">
      <a:srgbClr val="004785"/>
    </a:custClr>
    <a:custClr name="UNIQA Blue shade 10">
      <a:srgbClr val="003C71"/>
    </a:custClr>
    <a:custClr name="UNIQA Blue shade 11">
      <a:srgbClr val="00315E"/>
    </a:custClr>
    <a:custClr name="UNIQA Blue shade 12">
      <a:srgbClr val="00264C"/>
    </a:custClr>
    <a:custClr name="UNIQA Blue shade 13">
      <a:srgbClr val="001C3A"/>
    </a:custClr>
    <a:custClr name="UNIQA Blue shade 14">
      <a:srgbClr val="001128"/>
    </a:custClr>
    <a:custClr name="Orange">
      <a:srgbClr val="CD4B16"/>
    </a:custClr>
    <a:custClr name="Orange shade 1">
      <a:srgbClr val="FFEFE5"/>
    </a:custClr>
    <a:custClr name="Orange shade 2">
      <a:srgbClr val="FFD8C2"/>
    </a:custClr>
    <a:custClr name="Orange shade 3">
      <a:srgbClr val="FFC8A8"/>
    </a:custClr>
    <a:custClr name="Orange shade 4">
      <a:srgbClr val="FFB285"/>
    </a:custClr>
    <a:custClr name="Orange shade 5">
      <a:srgbClr val="FF9E66"/>
    </a:custClr>
    <a:custClr name="Orange shade 6">
      <a:srgbClr val="FF7E33"/>
    </a:custClr>
    <a:custClr name="Orange shade 7">
      <a:srgbClr val="F2610D"/>
    </a:custClr>
    <a:custClr name="Magenta ">
      <a:srgbClr val="DC0073"/>
    </a:custClr>
    <a:custClr name="Magenta shade 1">
      <a:srgbClr val="FFEBF5"/>
    </a:custClr>
    <a:custClr name="Magenta shade 2">
      <a:srgbClr val="FBBBDD"/>
    </a:custClr>
    <a:custClr name="Magenta shade 3">
      <a:srgbClr val="F98BC4"/>
    </a:custClr>
    <a:custClr name="Magenta shade 4">
      <a:srgbClr val="F65AAC"/>
    </a:custClr>
    <a:custClr name="Magenta shade 5">
      <a:srgbClr val="EA3E98"/>
    </a:custClr>
    <a:custClr name="Magenta shade 6">
      <a:srgbClr val="B2005D"/>
    </a:custClr>
    <a:custClr name="Magenta shade 7">
      <a:srgbClr val="990050"/>
    </a:custClr>
    <a:custClr name="Magenta shade 8">
      <a:srgbClr val="660035"/>
    </a:custClr>
  </a:custClrLst>
  <a:extLst>
    <a:ext uri="{05A4C25C-085E-4340-85A3-A5531E510DB2}">
      <thm15:themeFamily xmlns:thm15="http://schemas.microsoft.com/office/thememl/2012/main" name="UQA_2025_PPT Template_DE.pptx" id="{3259E0DA-AA3C-41E3-992D-AA9AD988A26B}" vid="{DBBE9232-B67B-4E84-8051-8BB7CC42AF67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Benutzerdefiniert 1">
    <a:dk1>
      <a:srgbClr val="000000"/>
    </a:dk1>
    <a:lt1>
      <a:srgbClr val="FFFFFF"/>
    </a:lt1>
    <a:dk2>
      <a:srgbClr val="000000"/>
    </a:dk2>
    <a:lt2>
      <a:srgbClr val="FFFFFF"/>
    </a:lt2>
    <a:accent1>
      <a:srgbClr val="9F0C54"/>
    </a:accent1>
    <a:accent2>
      <a:srgbClr val="95BCBA"/>
    </a:accent2>
    <a:accent3>
      <a:srgbClr val="EFB83F"/>
    </a:accent3>
    <a:accent4>
      <a:srgbClr val="1E616F"/>
    </a:accent4>
    <a:accent5>
      <a:srgbClr val="8A869F"/>
    </a:accent5>
    <a:accent6>
      <a:srgbClr val="F67D8E"/>
    </a:accent6>
    <a:hlink>
      <a:srgbClr val="F67D8E"/>
    </a:hlink>
    <a:folHlink>
      <a:srgbClr val="8B879F"/>
    </a:folHlink>
  </a:clrScheme>
  <a:fontScheme name="ReppublikaResearch">
    <a:majorFont>
      <a:latin typeface="Montserrat SemiBold"/>
      <a:ea typeface="Arial"/>
      <a:cs typeface="Arial"/>
    </a:majorFont>
    <a:minorFont>
      <a:latin typeface="Montserrat Light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Benutzerdefiniert 1">
    <a:dk1>
      <a:srgbClr val="000000"/>
    </a:dk1>
    <a:lt1>
      <a:srgbClr val="FFFFFF"/>
    </a:lt1>
    <a:dk2>
      <a:srgbClr val="000000"/>
    </a:dk2>
    <a:lt2>
      <a:srgbClr val="FFFFFF"/>
    </a:lt2>
    <a:accent1>
      <a:srgbClr val="9F0C54"/>
    </a:accent1>
    <a:accent2>
      <a:srgbClr val="95BCBA"/>
    </a:accent2>
    <a:accent3>
      <a:srgbClr val="EFB83F"/>
    </a:accent3>
    <a:accent4>
      <a:srgbClr val="1E616F"/>
    </a:accent4>
    <a:accent5>
      <a:srgbClr val="8A869F"/>
    </a:accent5>
    <a:accent6>
      <a:srgbClr val="F67D8E"/>
    </a:accent6>
    <a:hlink>
      <a:srgbClr val="F67D8E"/>
    </a:hlink>
    <a:folHlink>
      <a:srgbClr val="8B879F"/>
    </a:folHlink>
  </a:clrScheme>
  <a:fontScheme name="ReppublikaResearch">
    <a:majorFont>
      <a:latin typeface="Montserrat SemiBold"/>
      <a:ea typeface="Arial"/>
      <a:cs typeface="Arial"/>
    </a:majorFont>
    <a:minorFont>
      <a:latin typeface="Montserrat Light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5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6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7.xml><?xml version="1.0" encoding="utf-8"?>
<a:themeOverride xmlns:a="http://schemas.openxmlformats.org/drawingml/2006/main">
  <a:clrScheme name="Benutzerdefiniert 1">
    <a:dk1>
      <a:srgbClr val="000000"/>
    </a:dk1>
    <a:lt1>
      <a:srgbClr val="FFFFFF"/>
    </a:lt1>
    <a:dk2>
      <a:srgbClr val="000000"/>
    </a:dk2>
    <a:lt2>
      <a:srgbClr val="FFFFFF"/>
    </a:lt2>
    <a:accent1>
      <a:srgbClr val="9F0C54"/>
    </a:accent1>
    <a:accent2>
      <a:srgbClr val="95BCBA"/>
    </a:accent2>
    <a:accent3>
      <a:srgbClr val="EFB83F"/>
    </a:accent3>
    <a:accent4>
      <a:srgbClr val="1E616F"/>
    </a:accent4>
    <a:accent5>
      <a:srgbClr val="8A869F"/>
    </a:accent5>
    <a:accent6>
      <a:srgbClr val="F67D8E"/>
    </a:accent6>
    <a:hlink>
      <a:srgbClr val="F67D8E"/>
    </a:hlink>
    <a:folHlink>
      <a:srgbClr val="8B879F"/>
    </a:folHlink>
  </a:clrScheme>
  <a:fontScheme name="ReppublikaResearch">
    <a:majorFont>
      <a:latin typeface="Montserrat SemiBold"/>
      <a:ea typeface="Arial"/>
      <a:cs typeface="Arial"/>
    </a:majorFont>
    <a:minorFont>
      <a:latin typeface="Montserrat Light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8.xml><?xml version="1.0" encoding="utf-8"?>
<a:themeOverride xmlns:a="http://schemas.openxmlformats.org/drawingml/2006/main">
  <a:clrScheme name="Benutzerdefiniert 1">
    <a:dk1>
      <a:srgbClr val="000000"/>
    </a:dk1>
    <a:lt1>
      <a:srgbClr val="FFFFFF"/>
    </a:lt1>
    <a:dk2>
      <a:srgbClr val="000000"/>
    </a:dk2>
    <a:lt2>
      <a:srgbClr val="FFFFFF"/>
    </a:lt2>
    <a:accent1>
      <a:srgbClr val="9F0C54"/>
    </a:accent1>
    <a:accent2>
      <a:srgbClr val="95BCBA"/>
    </a:accent2>
    <a:accent3>
      <a:srgbClr val="EFB83F"/>
    </a:accent3>
    <a:accent4>
      <a:srgbClr val="1E616F"/>
    </a:accent4>
    <a:accent5>
      <a:srgbClr val="8A869F"/>
    </a:accent5>
    <a:accent6>
      <a:srgbClr val="F67D8E"/>
    </a:accent6>
    <a:hlink>
      <a:srgbClr val="F67D8E"/>
    </a:hlink>
    <a:folHlink>
      <a:srgbClr val="8B879F"/>
    </a:folHlink>
  </a:clrScheme>
  <a:fontScheme name="ReppublikaResearch">
    <a:majorFont>
      <a:latin typeface="Montserrat SemiBold"/>
      <a:ea typeface="Arial"/>
      <a:cs typeface="Arial"/>
    </a:majorFont>
    <a:minorFont>
      <a:latin typeface="Montserrat Light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9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0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1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2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3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4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5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6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7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8.xml><?xml version="1.0" encoding="utf-8"?>
<a:themeOverride xmlns:a="http://schemas.openxmlformats.org/drawingml/2006/main">
  <a:clrScheme name="Benutzerdefiniert 1">
    <a:dk1>
      <a:srgbClr val="000000"/>
    </a:dk1>
    <a:lt1>
      <a:srgbClr val="FFFFFF"/>
    </a:lt1>
    <a:dk2>
      <a:srgbClr val="000000"/>
    </a:dk2>
    <a:lt2>
      <a:srgbClr val="FFFFFF"/>
    </a:lt2>
    <a:accent1>
      <a:srgbClr val="9F0C54"/>
    </a:accent1>
    <a:accent2>
      <a:srgbClr val="95BCBA"/>
    </a:accent2>
    <a:accent3>
      <a:srgbClr val="EFB83F"/>
    </a:accent3>
    <a:accent4>
      <a:srgbClr val="1E616F"/>
    </a:accent4>
    <a:accent5>
      <a:srgbClr val="8A869F"/>
    </a:accent5>
    <a:accent6>
      <a:srgbClr val="F67D8E"/>
    </a:accent6>
    <a:hlink>
      <a:srgbClr val="F67D8E"/>
    </a:hlink>
    <a:folHlink>
      <a:srgbClr val="8B879F"/>
    </a:folHlink>
  </a:clrScheme>
  <a:fontScheme name="ReppublikaResearch">
    <a:majorFont>
      <a:latin typeface="Montserrat SemiBold"/>
      <a:ea typeface="Arial"/>
      <a:cs typeface="Arial"/>
    </a:majorFont>
    <a:minorFont>
      <a:latin typeface="Montserrat Light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9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0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1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2.xml><?xml version="1.0" encoding="utf-8"?>
<a:themeOverride xmlns:a="http://schemas.openxmlformats.org/drawingml/2006/main">
  <a:clrScheme name="Benutzerdefiniert 1">
    <a:dk1>
      <a:srgbClr val="000000"/>
    </a:dk1>
    <a:lt1>
      <a:srgbClr val="FFFFFF"/>
    </a:lt1>
    <a:dk2>
      <a:srgbClr val="000000"/>
    </a:dk2>
    <a:lt2>
      <a:srgbClr val="FFFFFF"/>
    </a:lt2>
    <a:accent1>
      <a:srgbClr val="9F0C54"/>
    </a:accent1>
    <a:accent2>
      <a:srgbClr val="95BCBA"/>
    </a:accent2>
    <a:accent3>
      <a:srgbClr val="EFB83F"/>
    </a:accent3>
    <a:accent4>
      <a:srgbClr val="1E616F"/>
    </a:accent4>
    <a:accent5>
      <a:srgbClr val="8A869F"/>
    </a:accent5>
    <a:accent6>
      <a:srgbClr val="F67D8E"/>
    </a:accent6>
    <a:hlink>
      <a:srgbClr val="F67D8E"/>
    </a:hlink>
    <a:folHlink>
      <a:srgbClr val="8B879F"/>
    </a:folHlink>
  </a:clrScheme>
  <a:fontScheme name="ReppublikaResearch">
    <a:majorFont>
      <a:latin typeface="Montserrat SemiBold"/>
      <a:ea typeface="Arial"/>
      <a:cs typeface="Arial"/>
    </a:majorFont>
    <a:minorFont>
      <a:latin typeface="Montserrat Light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3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4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5.xml><?xml version="1.0" encoding="utf-8"?>
<a:themeOverride xmlns:a="http://schemas.openxmlformats.org/drawingml/2006/main">
  <a:clrScheme name="Benutzerdefiniert 1">
    <a:dk1>
      <a:srgbClr val="000000"/>
    </a:dk1>
    <a:lt1>
      <a:srgbClr val="FFFFFF"/>
    </a:lt1>
    <a:dk2>
      <a:srgbClr val="000000"/>
    </a:dk2>
    <a:lt2>
      <a:srgbClr val="FFFFFF"/>
    </a:lt2>
    <a:accent1>
      <a:srgbClr val="9F0C54"/>
    </a:accent1>
    <a:accent2>
      <a:srgbClr val="95BCBA"/>
    </a:accent2>
    <a:accent3>
      <a:srgbClr val="EFB83F"/>
    </a:accent3>
    <a:accent4>
      <a:srgbClr val="1E616F"/>
    </a:accent4>
    <a:accent5>
      <a:srgbClr val="8A869F"/>
    </a:accent5>
    <a:accent6>
      <a:srgbClr val="F67D8E"/>
    </a:accent6>
    <a:hlink>
      <a:srgbClr val="F67D8E"/>
    </a:hlink>
    <a:folHlink>
      <a:srgbClr val="8B879F"/>
    </a:folHlink>
  </a:clrScheme>
  <a:fontScheme name="ReppublikaResearch">
    <a:majorFont>
      <a:latin typeface="Montserrat SemiBold"/>
      <a:ea typeface="Arial"/>
      <a:cs typeface="Arial"/>
    </a:majorFont>
    <a:minorFont>
      <a:latin typeface="Montserrat Light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6.xml><?xml version="1.0" encoding="utf-8"?>
<a:themeOverride xmlns:a="http://schemas.openxmlformats.org/drawingml/2006/main">
  <a:clrScheme name="Benutzerdefiniert 1">
    <a:dk1>
      <a:srgbClr val="000000"/>
    </a:dk1>
    <a:lt1>
      <a:srgbClr val="FFFFFF"/>
    </a:lt1>
    <a:dk2>
      <a:srgbClr val="000000"/>
    </a:dk2>
    <a:lt2>
      <a:srgbClr val="FFFFFF"/>
    </a:lt2>
    <a:accent1>
      <a:srgbClr val="9F0C54"/>
    </a:accent1>
    <a:accent2>
      <a:srgbClr val="95BCBA"/>
    </a:accent2>
    <a:accent3>
      <a:srgbClr val="EFB83F"/>
    </a:accent3>
    <a:accent4>
      <a:srgbClr val="1E616F"/>
    </a:accent4>
    <a:accent5>
      <a:srgbClr val="8A869F"/>
    </a:accent5>
    <a:accent6>
      <a:srgbClr val="F67D8E"/>
    </a:accent6>
    <a:hlink>
      <a:srgbClr val="F67D8E"/>
    </a:hlink>
    <a:folHlink>
      <a:srgbClr val="8B879F"/>
    </a:folHlink>
  </a:clrScheme>
  <a:fontScheme name="ReppublikaResearch">
    <a:majorFont>
      <a:latin typeface="Montserrat SemiBold"/>
      <a:ea typeface="Arial"/>
      <a:cs typeface="Arial"/>
    </a:majorFont>
    <a:minorFont>
      <a:latin typeface="Montserrat Light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7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8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9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0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1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2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3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4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5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6.xml><?xml version="1.0" encoding="utf-8"?>
<a:themeOverride xmlns:a="http://schemas.openxmlformats.org/drawingml/2006/main">
  <a:clrScheme name="Benutzerdefiniert 1">
    <a:dk1>
      <a:srgbClr val="000000"/>
    </a:dk1>
    <a:lt1>
      <a:srgbClr val="FFFFFF"/>
    </a:lt1>
    <a:dk2>
      <a:srgbClr val="000000"/>
    </a:dk2>
    <a:lt2>
      <a:srgbClr val="FFFFFF"/>
    </a:lt2>
    <a:accent1>
      <a:srgbClr val="9F0C54"/>
    </a:accent1>
    <a:accent2>
      <a:srgbClr val="95BCBA"/>
    </a:accent2>
    <a:accent3>
      <a:srgbClr val="EFB83F"/>
    </a:accent3>
    <a:accent4>
      <a:srgbClr val="1E616F"/>
    </a:accent4>
    <a:accent5>
      <a:srgbClr val="8A869F"/>
    </a:accent5>
    <a:accent6>
      <a:srgbClr val="F67D8E"/>
    </a:accent6>
    <a:hlink>
      <a:srgbClr val="F67D8E"/>
    </a:hlink>
    <a:folHlink>
      <a:srgbClr val="8B879F"/>
    </a:folHlink>
  </a:clrScheme>
  <a:fontScheme name="ReppublikaResearch">
    <a:majorFont>
      <a:latin typeface="Montserrat SemiBold"/>
      <a:ea typeface="Arial"/>
      <a:cs typeface="Arial"/>
    </a:majorFont>
    <a:minorFont>
      <a:latin typeface="Montserrat Light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7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8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9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0.xml><?xml version="1.0" encoding="utf-8"?>
<a:themeOverride xmlns:a="http://schemas.openxmlformats.org/drawingml/2006/main">
  <a:clrScheme name="Benutzerdefiniert 1">
    <a:dk1>
      <a:srgbClr val="000000"/>
    </a:dk1>
    <a:lt1>
      <a:srgbClr val="FFFFFF"/>
    </a:lt1>
    <a:dk2>
      <a:srgbClr val="000000"/>
    </a:dk2>
    <a:lt2>
      <a:srgbClr val="FFFFFF"/>
    </a:lt2>
    <a:accent1>
      <a:srgbClr val="9F0C54"/>
    </a:accent1>
    <a:accent2>
      <a:srgbClr val="95BCBA"/>
    </a:accent2>
    <a:accent3>
      <a:srgbClr val="EFB83F"/>
    </a:accent3>
    <a:accent4>
      <a:srgbClr val="1E616F"/>
    </a:accent4>
    <a:accent5>
      <a:srgbClr val="8A869F"/>
    </a:accent5>
    <a:accent6>
      <a:srgbClr val="F67D8E"/>
    </a:accent6>
    <a:hlink>
      <a:srgbClr val="F67D8E"/>
    </a:hlink>
    <a:folHlink>
      <a:srgbClr val="8B879F"/>
    </a:folHlink>
  </a:clrScheme>
  <a:fontScheme name="ReppublikaResearch">
    <a:majorFont>
      <a:latin typeface="Montserrat SemiBold"/>
      <a:ea typeface="Arial"/>
      <a:cs typeface="Arial"/>
    </a:majorFont>
    <a:minorFont>
      <a:latin typeface="Montserrat Light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1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2.xml><?xml version="1.0" encoding="utf-8"?>
<a:themeOverride xmlns:a="http://schemas.openxmlformats.org/drawingml/2006/main">
  <a:clrScheme name="Reppublika Research Brand">
    <a:dk1>
      <a:srgbClr val="000000"/>
    </a:dk1>
    <a:lt1>
      <a:srgbClr val="FFFFFF"/>
    </a:lt1>
    <a:dk2>
      <a:srgbClr val="000000"/>
    </a:dk2>
    <a:lt2>
      <a:srgbClr val="FFFFFF"/>
    </a:lt2>
    <a:accent1>
      <a:srgbClr val="991350"/>
    </a:accent1>
    <a:accent2>
      <a:srgbClr val="8AADAC"/>
    </a:accent2>
    <a:accent3>
      <a:srgbClr val="F0BA3F"/>
    </a:accent3>
    <a:accent4>
      <a:srgbClr val="F47C8D"/>
    </a:accent4>
    <a:accent5>
      <a:srgbClr val="747086"/>
    </a:accent5>
    <a:accent6>
      <a:srgbClr val="1C5965"/>
    </a:accent6>
    <a:hlink>
      <a:srgbClr val="5F0732"/>
    </a:hlink>
    <a:folHlink>
      <a:srgbClr val="7DD0F5"/>
    </a:folHlink>
  </a:clrScheme>
  <a:fontScheme name="Century Gothic">
    <a:maj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entury Gothic" panose="020F0302020204030204"/>
      <a:ea typeface=""/>
      <a:cs typeface=""/>
      <a:font script="Jpan" typeface="メイリオ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3.xml><?xml version="1.0" encoding="utf-8"?>
<a:themeOverride xmlns:a="http://schemas.openxmlformats.org/drawingml/2006/main">
  <a:clrScheme name="Benutzerdefiniert 1">
    <a:dk1>
      <a:srgbClr val="000000"/>
    </a:dk1>
    <a:lt1>
      <a:srgbClr val="FFFFFF"/>
    </a:lt1>
    <a:dk2>
      <a:srgbClr val="000000"/>
    </a:dk2>
    <a:lt2>
      <a:srgbClr val="FFFFFF"/>
    </a:lt2>
    <a:accent1>
      <a:srgbClr val="9F0C54"/>
    </a:accent1>
    <a:accent2>
      <a:srgbClr val="95BCBA"/>
    </a:accent2>
    <a:accent3>
      <a:srgbClr val="EFB83F"/>
    </a:accent3>
    <a:accent4>
      <a:srgbClr val="1E616F"/>
    </a:accent4>
    <a:accent5>
      <a:srgbClr val="8A869F"/>
    </a:accent5>
    <a:accent6>
      <a:srgbClr val="F67D8E"/>
    </a:accent6>
    <a:hlink>
      <a:srgbClr val="F67D8E"/>
    </a:hlink>
    <a:folHlink>
      <a:srgbClr val="8B879F"/>
    </a:folHlink>
  </a:clrScheme>
  <a:fontScheme name="ReppublikaResearch">
    <a:majorFont>
      <a:latin typeface="Montserrat SemiBold"/>
      <a:ea typeface="Arial"/>
      <a:cs typeface="Arial"/>
    </a:majorFont>
    <a:minorFont>
      <a:latin typeface="Montserrat Light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4.xml><?xml version="1.0" encoding="utf-8"?>
<a:themeOverride xmlns:a="http://schemas.openxmlformats.org/drawingml/2006/main">
  <a:clrScheme name="Benutzerdefiniert 1">
    <a:dk1>
      <a:srgbClr val="000000"/>
    </a:dk1>
    <a:lt1>
      <a:srgbClr val="FFFFFF"/>
    </a:lt1>
    <a:dk2>
      <a:srgbClr val="000000"/>
    </a:dk2>
    <a:lt2>
      <a:srgbClr val="FFFFFF"/>
    </a:lt2>
    <a:accent1>
      <a:srgbClr val="9F0C54"/>
    </a:accent1>
    <a:accent2>
      <a:srgbClr val="95BCBA"/>
    </a:accent2>
    <a:accent3>
      <a:srgbClr val="EFB83F"/>
    </a:accent3>
    <a:accent4>
      <a:srgbClr val="1E616F"/>
    </a:accent4>
    <a:accent5>
      <a:srgbClr val="8A869F"/>
    </a:accent5>
    <a:accent6>
      <a:srgbClr val="F67D8E"/>
    </a:accent6>
    <a:hlink>
      <a:srgbClr val="F67D8E"/>
    </a:hlink>
    <a:folHlink>
      <a:srgbClr val="8B879F"/>
    </a:folHlink>
  </a:clrScheme>
  <a:fontScheme name="ReppublikaResearch">
    <a:majorFont>
      <a:latin typeface="Montserrat SemiBold"/>
      <a:ea typeface="Arial"/>
      <a:cs typeface="Arial"/>
    </a:majorFont>
    <a:minorFont>
      <a:latin typeface="Montserrat Light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53E82BF295F544B92A4FDEE678ED9DB" ma:contentTypeVersion="27" ma:contentTypeDescription="Ein neues Dokument erstellen." ma:contentTypeScope="" ma:versionID="346f69cc0b53b22ae40f35f7d03472e1">
  <xsd:schema xmlns:xsd="http://www.w3.org/2001/XMLSchema" xmlns:xs="http://www.w3.org/2001/XMLSchema" xmlns:p="http://schemas.microsoft.com/office/2006/metadata/properties" xmlns:ns2="7dc0d88c-8279-4eca-9077-fc5029645c8f" xmlns:ns3="20068199-af2c-4f7e-a8ff-aee5feb09649" targetNamespace="http://schemas.microsoft.com/office/2006/metadata/properties" ma:root="true" ma:fieldsID="c3d6a5e0d56bd7db49942f3af23c9d4f" ns2:_="" ns3:_="">
    <xsd:import namespace="7dc0d88c-8279-4eca-9077-fc5029645c8f"/>
    <xsd:import namespace="20068199-af2c-4f7e-a8ff-aee5feb096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Link" minOccurs="0"/>
                <xsd:element ref="ns2:MediaServiceObjectDetectorVersions" minOccurs="0"/>
                <xsd:element ref="ns2:MediaServiceSearchProperties" minOccurs="0"/>
                <xsd:element ref="ns2:Owner" minOccurs="0"/>
                <xsd:element ref="ns2:Owner2" minOccurs="0"/>
                <xsd:element ref="ns2:Year" minOccurs="0"/>
                <xsd:element ref="ns2:Topic2" minOccurs="0"/>
                <xsd:element ref="ns2:Languag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c0d88c-8279-4eca-9077-fc5029645c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c467b20d-6774-4c0f-8f22-e8af4b104a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Link" ma:index="24" nillable="true" ma:displayName="Link" ma:format="Hyperlink" ma:internalName="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Owner" ma:index="27" nillable="true" ma:displayName="Owner" ma:format="Dropdown" ma:list="UserInfo" ma:SharePointGroup="0" ma:internalName="Owner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Owner2" ma:index="28" nillable="true" ma:displayName="Country" ma:format="Dropdown" ma:internalName="Owner2">
      <xsd:simpleType>
        <xsd:restriction base="dms:Text">
          <xsd:maxLength value="255"/>
        </xsd:restriction>
      </xsd:simpleType>
    </xsd:element>
    <xsd:element name="Year" ma:index="29" nillable="true" ma:displayName="Year" ma:format="Dropdown" ma:internalName="Year">
      <xsd:simpleType>
        <xsd:restriction base="dms:Text">
          <xsd:maxLength value="255"/>
        </xsd:restriction>
      </xsd:simpleType>
    </xsd:element>
    <xsd:element name="Topic2" ma:index="30" nillable="true" ma:displayName="Topic" ma:format="Dropdown" ma:internalName="Topic2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JTBD"/>
                    <xsd:enumeration value="Advisor"/>
                    <xsd:enumeration value="Sales"/>
                    <xsd:enumeration value="Online Sales"/>
                    <xsd:enumeration value="Self-Service"/>
                    <xsd:enumeration value="Auswahl 6"/>
                  </xsd:restriction>
                </xsd:simpleType>
              </xsd:element>
            </xsd:sequence>
          </xsd:extension>
        </xsd:complexContent>
      </xsd:complexType>
    </xsd:element>
    <xsd:element name="Language" ma:index="31" nillable="true" ma:displayName="Language" ma:format="Dropdown" ma:internalName="Languag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068199-af2c-4f7e-a8ff-aee5feb09649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021d1b1-957f-4b59-adc5-81c9f0c595d9}" ma:internalName="TaxCatchAll" ma:showField="CatchAllData" ma:web="20068199-af2c-4f7e-a8ff-aee5feb096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dc0d88c-8279-4eca-9077-fc5029645c8f">
      <Terms xmlns="http://schemas.microsoft.com/office/infopath/2007/PartnerControls"/>
    </lcf76f155ced4ddcb4097134ff3c332f>
    <TaxCatchAll xmlns="20068199-af2c-4f7e-a8ff-aee5feb09649" xsi:nil="true"/>
    <Year xmlns="7dc0d88c-8279-4eca-9077-fc5029645c8f" xsi:nil="true"/>
    <Language xmlns="7dc0d88c-8279-4eca-9077-fc5029645c8f" xsi:nil="true"/>
    <Owner2 xmlns="7dc0d88c-8279-4eca-9077-fc5029645c8f" xsi:nil="true"/>
    <Owner xmlns="7dc0d88c-8279-4eca-9077-fc5029645c8f">
      <UserInfo>
        <DisplayName/>
        <AccountId xsi:nil="true"/>
        <AccountType/>
      </UserInfo>
    </Owner>
    <Topic2 xmlns="7dc0d88c-8279-4eca-9077-fc5029645c8f" xsi:nil="true"/>
    <Link xmlns="7dc0d88c-8279-4eca-9077-fc5029645c8f">
      <Url xsi:nil="true"/>
      <Description xsi:nil="true"/>
    </Link>
  </documentManagement>
</p:properties>
</file>

<file path=customXml/itemProps1.xml><?xml version="1.0" encoding="utf-8"?>
<ds:datastoreItem xmlns:ds="http://schemas.openxmlformats.org/officeDocument/2006/customXml" ds:itemID="{1996105F-4D20-44FC-BD51-8EBAD52257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c0d88c-8279-4eca-9077-fc5029645c8f"/>
    <ds:schemaRef ds:uri="20068199-af2c-4f7e-a8ff-aee5feb096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7DA25BF-CE66-401E-8FF6-548296B606C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7AD6263-FFDE-4E73-8058-40656BE3C9D2}">
  <ds:schemaRefs>
    <ds:schemaRef ds:uri="7dc0d88c-8279-4eca-9077-fc5029645c8f"/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20068199-af2c-4f7e-a8ff-aee5feb09649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9b345a9e-3537-4ac3-a0ea-e5ab4fe760bd}" enabled="1" method="Privileged" siteId="{bd9f112b-82b0-45f6-b02e-1175bb945e3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UQA_2025_PPT Template_DE</Template>
  <TotalTime>56</TotalTime>
  <Words>5913</Words>
  <Application>Microsoft Macintosh PowerPoint</Application>
  <PresentationFormat>Widescreen</PresentationFormat>
  <Paragraphs>1254</Paragraphs>
  <Slides>20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Cambria</vt:lpstr>
      <vt:lpstr>Times New Roman</vt:lpstr>
      <vt:lpstr>UNIQA Folienmaster 2025</vt:lpstr>
      <vt:lpstr>1_UNIQA Folienmaster 2025</vt:lpstr>
      <vt:lpstr>think-cell Slide</vt:lpstr>
      <vt:lpstr>think-cell Folie</vt:lpstr>
      <vt:lpstr>Retail-Segmentierung Neu Segment-Booklets  Customer Retail &amp; Corporate März 2026</vt:lpstr>
      <vt:lpstr>PowerPoint Presentation</vt:lpstr>
      <vt:lpstr>PowerPoint Presentation</vt:lpstr>
      <vt:lpstr>PowerPoint Presentation</vt:lpstr>
      <vt:lpstr>PowerPoint Presentation</vt:lpstr>
      <vt:lpstr>Segment 1 - Die aufsteigenden Hybriden </vt:lpstr>
      <vt:lpstr>Struktur und Charakteristika</vt:lpstr>
      <vt:lpstr>Versicherungseckdaten</vt:lpstr>
      <vt:lpstr>Versicherungspräferenzen und Bedürfnisse (1/2)</vt:lpstr>
      <vt:lpstr>Versicherungspräferenzen und Bedürfnisse (2/2)</vt:lpstr>
      <vt:lpstr>Segment 2 - Die Online Affinen</vt:lpstr>
      <vt:lpstr>Struktur und Charakteristika</vt:lpstr>
      <vt:lpstr>Versicherungseckdaten</vt:lpstr>
      <vt:lpstr>Versicherungspräferenzen und Bedürfnisse (1/2)</vt:lpstr>
      <vt:lpstr>Versicherungspräferenzen und Bedürfnisse (2/2)</vt:lpstr>
      <vt:lpstr>Segment 3 - Die Kundenservice Affinen</vt:lpstr>
      <vt:lpstr>Struktur und Charakteristika</vt:lpstr>
      <vt:lpstr>Versicherungseckdaten</vt:lpstr>
      <vt:lpstr>Versicherungspräferenzen und Bedürfnisse (1/2)</vt:lpstr>
      <vt:lpstr>Versicherungspräferenzen und Bedürfnisse (2/2)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Sorina Stratula</dc:creator>
  <cp:lastModifiedBy>Gerhard Karbeutz</cp:lastModifiedBy>
  <cp:revision>4</cp:revision>
  <dcterms:created xsi:type="dcterms:W3CDTF">2025-12-01T13:58:55Z</dcterms:created>
  <dcterms:modified xsi:type="dcterms:W3CDTF">2026-05-28T21:54:36Z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0x010100D53E82BF295F544B92A4FDEE678ED9DB</vt:lpwstr>
  </property>
  <property fmtid="{D5CDD505-2E9C-101B-9397-08002B2CF9AE}" pid="3" name="MediaServiceImageTags">
    <vt:lpwstr/>
  </property>
</Properties>
</file>