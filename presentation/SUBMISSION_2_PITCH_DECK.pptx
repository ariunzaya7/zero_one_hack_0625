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a1a61730dd4700" /><Relationship Type="http://schemas.openxmlformats.org/officeDocument/2006/relationships/extended-properties" Target="/docProps/app.xml" Id="R58a2bf66c8d54b1f" /><Relationship Type="http://schemas.openxmlformats.org/officeDocument/2006/relationships/officeDocument" Target="/ppt/presentation.xml" Id="R3892927c89d84e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50c98a7d55444e"/>
  </p:sldMasterIdLst>
  <p:notesMasterIdLst>
    <p:notesMasterId xmlns:r="http://schemas.openxmlformats.org/officeDocument/2006/relationships" r:id="R9860d9db30964a02"/>
  </p:notesMasterIdLst>
  <p:sldIdLst>
    <p:sldId xmlns:r="http://schemas.openxmlformats.org/officeDocument/2006/relationships" id="256" r:id="R60b77592d0b3485f"/>
    <p:sldId xmlns:r="http://schemas.openxmlformats.org/officeDocument/2006/relationships" id="257" r:id="Re5c7d2fa96d045ce"/>
    <p:sldId xmlns:r="http://schemas.openxmlformats.org/officeDocument/2006/relationships" id="258" r:id="Reaed449dce53414d"/>
    <p:sldId xmlns:r="http://schemas.openxmlformats.org/officeDocument/2006/relationships" id="259" r:id="R570817c42d864b3f"/>
    <p:sldId xmlns:r="http://schemas.openxmlformats.org/officeDocument/2006/relationships" id="260" r:id="R5c7e80cd9f5b4180"/>
    <p:sldId xmlns:r="http://schemas.openxmlformats.org/officeDocument/2006/relationships" id="261" r:id="R9eff55b0fdef4598"/>
    <p:sldId xmlns:r="http://schemas.openxmlformats.org/officeDocument/2006/relationships" id="262" r:id="R05b765997ee04883"/>
    <p:sldId xmlns:r="http://schemas.openxmlformats.org/officeDocument/2006/relationships" id="263" r:id="Rf82f87b294b24ff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50c98a7d55444e" /><Relationship Type="http://schemas.openxmlformats.org/officeDocument/2006/relationships/theme" Target="/ppt/theme/theme1.xml" Id="R10158c30d98c4ce8" /><Relationship Type="http://schemas.openxmlformats.org/officeDocument/2006/relationships/notesMaster" Target="/ppt/notesMasters/notesMaster1.xml" Id="R9860d9db30964a02" /><Relationship Type="http://schemas.openxmlformats.org/officeDocument/2006/relationships/presProps" Target="/ppt/presProps.xml" Id="Rdfa04ee4987a4b2f" /><Relationship Type="http://schemas.openxmlformats.org/officeDocument/2006/relationships/viewProps" Target="/ppt/viewProps.xml" Id="R3ed4c28ce2eb4ca4" /><Relationship Type="http://schemas.openxmlformats.org/officeDocument/2006/relationships/tableStyles" Target="/ppt/tableStyles.xml" Id="R250ba057e5e24ee7" /><Relationship Type="http://schemas.openxmlformats.org/officeDocument/2006/relationships/slide" Target="/ppt/slides/slide1.xml" Id="R60b77592d0b3485f" /><Relationship Type="http://schemas.openxmlformats.org/officeDocument/2006/relationships/slide" Target="/ppt/slides/slide2.xml" Id="Re5c7d2fa96d045ce" /><Relationship Type="http://schemas.openxmlformats.org/officeDocument/2006/relationships/slide" Target="/ppt/slides/slide3.xml" Id="Reaed449dce53414d" /><Relationship Type="http://schemas.openxmlformats.org/officeDocument/2006/relationships/slide" Target="/ppt/slides/slide4.xml" Id="R570817c42d864b3f" /><Relationship Type="http://schemas.openxmlformats.org/officeDocument/2006/relationships/slide" Target="/ppt/slides/slide5.xml" Id="R5c7e80cd9f5b4180" /><Relationship Type="http://schemas.openxmlformats.org/officeDocument/2006/relationships/slide" Target="/ppt/slides/slide6.xml" Id="R9eff55b0fdef4598" /><Relationship Type="http://schemas.openxmlformats.org/officeDocument/2006/relationships/slide" Target="/ppt/slides/slide7.xml" Id="R05b765997ee04883" /><Relationship Type="http://schemas.openxmlformats.org/officeDocument/2006/relationships/slide" Target="/ppt/slides/slide8.xml" Id="Rf82f87b294b24f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c9b73b76c534b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1fa478fa154858" /><Relationship Type="http://schemas.openxmlformats.org/officeDocument/2006/relationships/notesMaster" Target="/ppt/notesMasters/notesMaster1.xml" Id="R62f0e08ede4843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cea271ba2b414d" /><Relationship Type="http://schemas.openxmlformats.org/officeDocument/2006/relationships/notesMaster" Target="/ppt/notesMasters/notesMaster1.xml" Id="R4b98448062d64b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4ef63fc57e478b" /><Relationship Type="http://schemas.openxmlformats.org/officeDocument/2006/relationships/notesMaster" Target="/ppt/notesMasters/notesMaster1.xml" Id="Rf53dc6bc65fc4b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43d199cbeb4102" /><Relationship Type="http://schemas.openxmlformats.org/officeDocument/2006/relationships/notesMaster" Target="/ppt/notesMasters/notesMaster1.xml" Id="R333433d8958947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e724ca723c49fd" /><Relationship Type="http://schemas.openxmlformats.org/officeDocument/2006/relationships/notesMaster" Target="/ppt/notesMasters/notesMaster1.xml" Id="R9408d130be764f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2943b478f54a46" /><Relationship Type="http://schemas.openxmlformats.org/officeDocument/2006/relationships/notesMaster" Target="/ppt/notesMasters/notesMaster1.xml" Id="Rf94dd7976da143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798aec23c3415b" /><Relationship Type="http://schemas.openxmlformats.org/officeDocument/2006/relationships/notesMaster" Target="/ppt/notesMasters/notesMaster1.xml" Id="R2a8b4612c1a74c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6b46143c2c49f2" /><Relationship Type="http://schemas.openxmlformats.org/officeDocument/2006/relationships/notesMaster" Target="/ppt/notesMasters/notesMaster1.xml" Id="R0a6cd3ce1d2442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8a97b756eb4d0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dac966f02454008" /><Relationship Type="http://schemas.openxmlformats.org/officeDocument/2006/relationships/slideLayout" Target="/ppt/slideLayouts/slideLayout2.xml" Id="Rfdd49335537045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d49335537045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604108a4644240" /><Relationship Type="http://schemas.openxmlformats.org/officeDocument/2006/relationships/notesSlide" Target="/ppt/notesSlides/notesSlide1.xml" Id="Re644aa66502542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519ab9f3b64c67" /><Relationship Type="http://schemas.openxmlformats.org/officeDocument/2006/relationships/notesSlide" Target="/ppt/notesSlides/notesSlide2.xml" Id="R774ef2ef251048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165c6e76464d52" /><Relationship Type="http://schemas.openxmlformats.org/officeDocument/2006/relationships/notesSlide" Target="/ppt/notesSlides/notesSlide3.xml" Id="R12e515ac15834b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f6c90699174734" /><Relationship Type="http://schemas.openxmlformats.org/officeDocument/2006/relationships/notesSlide" Target="/ppt/notesSlides/notesSlide4.xml" Id="R40039f3d0b5c48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590d6ad3b54ab1" /><Relationship Type="http://schemas.openxmlformats.org/officeDocument/2006/relationships/notesSlide" Target="/ppt/notesSlides/notesSlide5.xml" Id="R8371758b73954a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ab442e316d4f2f" /><Relationship Type="http://schemas.openxmlformats.org/officeDocument/2006/relationships/notesSlide" Target="/ppt/notesSlides/notesSlide6.xml" Id="Ra1458c7f9c5a4d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75121cbba54ff6" /><Relationship Type="http://schemas.openxmlformats.org/officeDocument/2006/relationships/notesSlide" Target="/ppt/notesSlides/notesSlide7.xml" Id="R42404443a6bb4d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ff389837bf4ca5" /><Relationship Type="http://schemas.openxmlformats.org/officeDocument/2006/relationships/notesSlide" Target="/ppt/notesSlides/notesSlide8.xml" Id="Rf5b1df7b7c63456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A8666B-107D-4CD9-A8A7-60AC92B8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557BA-7956-4B1C-B350-5F1F26E3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F9451-658A-48B7-B14F-D4617D59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DFF5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C6E19-AAD7-4AFF-908E-2A86661C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TEAM KREMSIANS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32437-BFB6-4DC4-B10E-1B8E4065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57200"/>
            <a:ext cx="1285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0">
            <a:solidFill>
              <a:srgbClr val="DCEA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29619-3437-47C3-BB0E-C45FEF92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14350"/>
            <a:ext cx="1057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INDUSTRIAL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869CB-BE49-4A5F-A980-E26670E3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781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Learning semiconductor process logic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C8B9B-F64A-4D86-A1B0-81FD239E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 from-scratch, step-token GPT predicts next steps and completions; a rule validator handles anomalies with explicit process-rule attribution.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1B0D9-8A0E-446E-AFD1-563E1236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1619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63114-8970-4E40-95CD-B9518824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0.722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71B0C-1589-4902-AC57-470E1BB3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OOD Top-1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699D7-081F-4835-BEF9-8AEB784F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train 12 / test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DA392-F437-4979-93C7-57409B58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05250"/>
            <a:ext cx="1619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7D406-DE64-4FF7-BE7C-4C64CA56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7670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0.999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AE186-6F52-429D-A370-B7115347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05325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OOD Top-5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16B1E6-8F02-4F9F-9007-455410A4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053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family-wise avg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E24CC8-01C1-439B-9722-93E361B7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905250"/>
            <a:ext cx="1619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A3608A-C0FF-4095-B1F9-48CFF656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7670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0.263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AA1F59-2191-4A66-9379-1433C6DB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05325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Task 2 NED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335EF7-06A8-4C38-BFD4-8A45B0AE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053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lower is better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EA123A-F9FC-41FF-A855-51E2F022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05250"/>
            <a:ext cx="1619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E5D6B9-BB07-4E04-B79F-40351F65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7670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1.00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C4A88B-443A-4FAF-9AD8-EE2D11F5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05325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Task 3 F1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560C42-8DE5-4706-976B-75A96EA6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053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rule validator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072F38-9D38-45E5-AE9E-6E0F0D0D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5717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088CAA-FCA1-4100-BD56-79253778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28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Final package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882782-9708-4489-A49C-AB7C08FE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43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F8A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38D82D-41BD-4857-BD27-85DFC29A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95575"/>
            <a:ext cx="1666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nextstep.csv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A4DC9A-0D1C-4182-80E7-B0567802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24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F8A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101BF0-90DB-4D8A-A591-12B2176B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76575"/>
            <a:ext cx="1666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completion.csv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7E391E-C3B7-490C-A10E-60890B00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05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F8A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086242-AE60-4163-BEEE-763A1390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57575"/>
            <a:ext cx="1666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anomaly.csv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23FF2D-6A8E-4C1A-9375-EAE6D8AA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86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F8A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344F6F-999C-4B55-A5C5-76745D7B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38575"/>
            <a:ext cx="1666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trained checkpoint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62E902-B9A6-4BE4-8318-D4C4DF7B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67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F8A5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1FA11F-8FB7-4320-94C9-0C3055FE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19575"/>
            <a:ext cx="1666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score reports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160885-E888-46D1-AC71-241C5523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Team Kremsians | Industrial AI Infineon | May 31, 2026</a:t>
            </a:r>
          </a:p>
        </p:txBody>
      </p:sp>
    </p:spTree>
    <p:extLst>
      <p:ext uri="{BB962C8B-B14F-4D97-AF65-F5344CB8AC3E}">
        <p14:creationId xmlns:p14="http://schemas.microsoft.com/office/powerpoint/2010/main" val="9978940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69130C-6479-4E14-AC23-ECCD2D1A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15585-C1F8-4838-B27F-1EC36E5C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challenge is three outputs from one process prefix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9BD19-E2CA-440C-BFE2-7595B993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jury scores files, but the engineering problem is process grammar generalization.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D749A-07CF-48D9-9CA2-B3937962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F46658-F376-4685-AD83-D89F57D2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0E776-1FCA-4A2B-858B-D4BEA855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885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Partial process sequence</a:t>
            </a:r>
          </a:p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60% or 80% observed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3B08E-83E5-4D1D-B210-2B6862BE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9555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64248-7D7F-4624-95E1-68BDA1A0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479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8476A-748A-43FE-A9D2-5E27BD6F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383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19943-AB20-4355-9E76-0EF4950A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71650"/>
            <a:ext cx="1790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Task 1</a:t>
            </a:r>
          </a:p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next-step top-5</a:t>
            </a:r>
          </a:p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nextstep.csv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A18D0-F574-47F5-B927-2FEDCA17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09875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4FA0A-5C29-4918-9C56-510BA6DE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43225"/>
            <a:ext cx="1790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Task 2</a:t>
            </a:r>
          </a:p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remaining sequence</a:t>
            </a:r>
          </a:p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completion.csv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0964D6-2CD5-4107-AC01-2214763C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8145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901C0-8AC5-4E3A-86E4-5001F3AB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14800"/>
            <a:ext cx="1790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Task 3</a:t>
            </a:r>
          </a:p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validity + rule</a:t>
            </a:r>
          </a:p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anomaly.csv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3FAFD4-1354-4981-BD5F-3BEAB216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AE33E-B6B0-4223-8951-FD6F21C0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479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411FDE-3B23-47DB-B5BD-4CEAA8A6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335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3121AE-E59D-412C-8D22-6FB32487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383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Design principle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54C59F-5F83-4073-B6A1-6654323F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24125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Use learned sequence modeling where the output is probabilistic, and deterministic rule logic where the process rules are explicit.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53CDDD-ABBE-4136-96BF-4A8FCA6C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052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No official eval sequence is used as training data.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5C6805-83B3-4B3B-8A06-C48BB079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Team Kremsians | Industrial AI Infineon | May 31, 2026</a:t>
            </a:r>
          </a:p>
        </p:txBody>
      </p:sp>
    </p:spTree>
    <p:extLst>
      <p:ext uri="{BB962C8B-B14F-4D97-AF65-F5344CB8AC3E}">
        <p14:creationId xmlns:p14="http://schemas.microsoft.com/office/powerpoint/2010/main" val="20601724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916FED-2C5D-4447-ADA3-6D781EA3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CC32B-5605-444A-AE2D-41E7EC33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What we built: a small process model, not a generic LLM wrapper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420F1-DB90-4A25-8CAA-70CB4EC4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Each process step is one token, so training optimizes exactly the scored unit.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CC846-724F-484B-B993-B31CF2AB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B00ED-E056-4EE8-A555-844B0F93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39A93-89CB-49D4-96F0-AE3A67B2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28850"/>
            <a:ext cx="1695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Training data</a:t>
            </a:r>
          </a:p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 organizer families</a:t>
            </a:r>
          </a:p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+ 9 synthetic train families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0CBB3-D31A-41E6-BB9F-8B3F4E37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47950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B400E-AF9E-449D-908D-8881FEA8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003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06647-BC38-423F-A45F-66E810FD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1A44C-32A3-4149-82C6-3BE58402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228850"/>
            <a:ext cx="1885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Step tokenizer</a:t>
            </a:r>
          </a:p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 fab step = 1 token</a:t>
            </a:r>
          </a:p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closed process vocabulary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C752D0-3C8A-4740-AFD8-73616754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47950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A3B7E-32CF-4912-941B-721E2875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003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DC5D1-DFCA-49C5-8B83-8A5E0C23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414D6-18A3-4DDE-AD8A-03F48B78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28850"/>
            <a:ext cx="1790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GPT decoder</a:t>
            </a:r>
          </a:p>
          <a:p xmlns:a="http://schemas.openxmlformats.org/drawingml/2006/main">
            <a:pPr algn="l">
              <a:defRPr sz="1125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21.5M params</a:t>
            </a:r>
          </a:p>
          <a:p xmlns:a="http://schemas.openxmlformats.org/drawingml/2006/main">
            <a:pPr algn="l">
              <a:defRPr sz="1125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trained from scratch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3D1472-8716-429F-AB9E-A2DB35B1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47950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6F2551-1F86-4143-8095-E5F95F52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003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19BFA2-7674-4635-BF45-FE88A77C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83CC94-8F09-4F66-958A-5B2AAABE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228850"/>
            <a:ext cx="1314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CSV outputs</a:t>
            </a:r>
          </a:p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next-step</a:t>
            </a:r>
          </a:p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completion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4C55E1-776A-4296-8CD6-4941372C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95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3793EB-B9A2-49B3-A696-29508C77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43400"/>
            <a:ext cx="800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Anomaly path: organizer process rules -&gt; deterministic validator -&gt; validity, score, and official rule name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B8B192-D692-41C3-9937-A54F5ABE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863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n-gram baseline remains in the repo as a dependency-light fallback and an honest comparator.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90D22D-AFD3-4948-B0C6-F54B0E1C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Team Kremsians | Industrial AI Infineon | May 31, 2026</a:t>
            </a:r>
          </a:p>
        </p:txBody>
      </p:sp>
    </p:spTree>
    <p:extLst>
      <p:ext uri="{BB962C8B-B14F-4D97-AF65-F5344CB8AC3E}">
        <p14:creationId xmlns:p14="http://schemas.microsoft.com/office/powerpoint/2010/main" val="664948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9FCA34-4B92-46FE-9BFF-73BBB89C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F3795-3AA2-4FA7-A1D0-1A1B2CF6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What makes a process family different?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E5528-5F0F-47B6-B6B0-9B6C4770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Same vocabulary, different valid process routes. That is what makes the OOD test meaningful.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020D2-6588-4D08-A490-606FBAB3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34079-91EE-4EC9-968E-5C46E307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381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60C9B-2BA1-4D2C-952C-7E5C30DC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Litho levels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E8870-1AD1-43F8-93AC-88A35C2D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33575"/>
            <a:ext cx="2076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Number of mask / photoresist patterning cycles. More levels means a deeper route.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31DE3-7AFD-4C1C-AF4C-4AB5031D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2381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CD8A13-8413-4C73-B4AE-C2A6417E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573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Extra via block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2F598-6632-4566-868D-8DFC4E06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33575"/>
            <a:ext cx="2076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Some families repeat field oxide, via etch, via fill, and CMP.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6ACD9-1913-4DA6-946E-B8DDEEEE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24000"/>
            <a:ext cx="2381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D7DF7-623C-4741-B213-204F5740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573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Spacer 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30E477-E25C-4A81-95D5-0612320E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33575"/>
            <a:ext cx="2076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Probability that spacer dielectric and anisotropic spacer etch appear.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2F8CD-66E5-4A9A-8C69-63A04FF1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24000"/>
            <a:ext cx="2381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8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5C507-F40C-44D2-9AFF-34EA39EE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6573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Implant route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602E61-C869-43C8-81CE-0AE1BC59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33575"/>
            <a:ext cx="2076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 recombinations such as source/drain followed by N-buffer.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E36958-6081-4644-ABA1-8F3E4A2D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1571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A158DC-37E4-4BA5-81ED-E7EC8F23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Group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A59F7C-36A3-4131-9800-0FE361B6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71850"/>
            <a:ext cx="1571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E677C9-FC23-40B9-843C-5F3F2677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6710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Litho levels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8CA42E-F399-4C43-A17C-B88F9049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718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BEF176-23EE-498A-B051-6BF4C4C5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671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Extra via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9C680E-5258-49E9-98A1-C71BAE82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71850"/>
            <a:ext cx="1571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FCA33F-F003-4A12-97DF-CA67801B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6710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Spacer rate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AB7023-7AF4-457B-A67B-2FF71AF2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718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893820-13C9-4E3C-997A-193612F0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67100"/>
            <a:ext cx="1476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358D15-09CD-4E3C-9B80-109B8B62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7185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3643EF-4EDA-49A8-8D3F-F3C02109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67100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A70D63-0459-4B77-BC8C-0CB1238E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571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471C32-AF5E-453D-8E7B-A1262524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Organizer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336225-697F-47CE-B4F9-3EAE58D1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90950"/>
            <a:ext cx="1571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1F5E78-449C-4DC0-ABD4-075C7E33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8620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 / 6 / 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425506-C1D7-4BBC-AA64-518E4874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909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AE17BB-6C23-4B65-A9D9-E7AC84AC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862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native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354C06-63FB-4EF3-A115-07F6AFC5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90950"/>
            <a:ext cx="1571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03D662-492B-4B98-9C40-916AD9EF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8620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native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64600D-DC6E-46E3-97DD-44BE7418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909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884DFA-3B40-4FEA-97FB-4746E996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86200"/>
            <a:ext cx="1476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E95F6E-3870-4EED-BC5C-0875173F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9095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7DD763-CA13-4652-9261-80554B18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86200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Real known process families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CA2F87-B415-4E0C-BF24-D333DEEC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571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9C86B7-6A46-417D-9011-37E3B7AD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SCFAM01-09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C96D2C-52BA-472B-A302-06B2D37D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210050"/>
            <a:ext cx="1571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CB01BD-B93A-42F6-8431-FB738015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0530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4-6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C920F9-50A3-40E5-9491-C1AC528F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100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2DFED1-2F92-41CA-8539-EA8CE2FA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053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mixed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CA2D42-CDCA-4B93-AB29-6C25D561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10050"/>
            <a:ext cx="1571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EF50E1-85B6-471C-BC4F-DDE268FF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0530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0.25-0.80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DFF9626-671A-467F-9D35-95C66209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100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B9FF68-1F1C-4F64-A663-2EFA9490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05300"/>
            <a:ext cx="1476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4CBFAB2-B285-466A-8695-9B535EE2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005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3DDBA9-780D-4D48-BBAA-4CCCD4FB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05300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Teaches varied valid routes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7C62582-551C-45AC-929E-839604C5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571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E80B032-5A76-4C13-AA3D-2FEEC86F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SCFAM10-12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BBF5F30-3A93-4ACD-94C9-E7E61AF8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29150"/>
            <a:ext cx="1571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EE3AB9F-2C9F-4201-8E91-909E2E0A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72440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4-6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396C9EA-4915-48BE-A206-AFD01C3C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291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55AB6AA-7EB5-4103-81A2-27DD52D2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244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mixed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A9EB538-0330-4219-B7E6-5D72C066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29150"/>
            <a:ext cx="1571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48AD3C8-9889-4396-B419-03930773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2440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0.20-0.90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2D18A59-FA60-4692-B5E4-4B0C2295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291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C068CE9-822F-4F7F-8E2B-B235154D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724400"/>
            <a:ext cx="1476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unseen test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B456C2A-C948-4A77-89A3-6348FDD6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2915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69F694B-8889-44D5-B7B9-2FD7EC00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24400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Tests hidden-family behavior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92D88E4-9116-4A01-8177-2901ABDB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E7F1B65-409D-4425-927E-1441ED9A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0225"/>
            <a:ext cx="876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OOD claim: we keep the step vocabulary fixed, then vary structure, optional blocks, and route depth. The model must learn process order instead of memorizing one recipe.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9B18221-F111-443D-B321-B0F783A6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Team Kremsians | Industrial AI Infineon | May 31, 2026</a:t>
            </a:r>
          </a:p>
        </p:txBody>
      </p:sp>
    </p:spTree>
    <p:extLst>
      <p:ext uri="{BB962C8B-B14F-4D97-AF65-F5344CB8AC3E}">
        <p14:creationId xmlns:p14="http://schemas.microsoft.com/office/powerpoint/2010/main" val="19049622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6B7DA0-C3AF-40A3-96B5-AF33EB39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6B1D1-A6A3-4061-B4A4-DBF02564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trained model improves the scored tasks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C3872-AC94-4F6F-82B1-23F7984C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Organizer scorer on our self-eval split, plus the frozen 15-family OOD benchmark.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23371-3EBC-4A00-93FB-19935D8C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92A54-665E-4C13-A711-A2D82C4E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0970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0">
            <a:solidFill>
              <a:srgbClr val="FFF3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7BAFD-DE94-4674-932F-A0078A73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668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amber = n-gram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8B72C-DC2B-4E38-888C-6A63E6F7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4097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0">
            <a:solidFill>
              <a:srgbClr val="DCEA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A1836-12AA-4BAF-852D-DCC491E7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4668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blue = trained GPT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0B1BC-EAE6-4239-A926-3BFF5E08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Task 1 Top-1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269B0-BC3B-4AA4-9FFE-05BC463A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00250"/>
            <a:ext cx="3143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4"/>
          </a:solidFill>
          <a:ln xmlns:a="http://schemas.openxmlformats.org/drawingml/2006/main" w="0">
            <a:solidFill>
              <a:srgbClr val="E9ED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63570-9F80-48C4-9A9A-620FC91C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002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5A8B2-8162-4343-B27E-68B57729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09800"/>
            <a:ext cx="3143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4"/>
          </a:solidFill>
          <a:ln xmlns:a="http://schemas.openxmlformats.org/drawingml/2006/main" w="0">
            <a:solidFill>
              <a:srgbClr val="E9ED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39A5C2-02A5-4FA6-95A4-3697E73D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0980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192E9-26DD-49E1-8E6D-232C505D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71675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0.575 baseline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4DDA48-40F0-4CE0-BF21-9609E546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81225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0.661 GPT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6CC599-4D77-44FB-9603-133502CF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90825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Task 1 Top-5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0D9473-7AC7-4CB4-92F2-6B771EF4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09875"/>
            <a:ext cx="3143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4"/>
          </a:solidFill>
          <a:ln xmlns:a="http://schemas.openxmlformats.org/drawingml/2006/main" w="0">
            <a:solidFill>
              <a:srgbClr val="E9ED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AC15F4-ECE2-4863-9799-EB69482E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09875"/>
            <a:ext cx="3076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351BC1-1D03-4AA0-BEDE-07F4C8AD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19425"/>
            <a:ext cx="3143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4"/>
          </a:solidFill>
          <a:ln xmlns:a="http://schemas.openxmlformats.org/drawingml/2006/main" w="0">
            <a:solidFill>
              <a:srgbClr val="E9ED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D0FA49-C408-4CDA-AE98-73C5F7F8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19425"/>
            <a:ext cx="3143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FA15BA-18D4-4DA8-AE31-7C86C8B6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813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0.979 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B95C8E-92EF-4003-8188-E20C3898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908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0.999 GPT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5E49D0-F0A7-424C-9EFD-8A7E166F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Task 2 token accuracy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BFC7D8-116F-4A89-A16F-A8A96092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19500"/>
            <a:ext cx="3143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4"/>
          </a:solidFill>
          <a:ln xmlns:a="http://schemas.openxmlformats.org/drawingml/2006/main" w="0">
            <a:solidFill>
              <a:srgbClr val="E9EDF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5F4698-1994-449D-9FE5-DA343EAA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1950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1725A8-56F4-4348-AE64-4BB0433C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29050"/>
            <a:ext cx="3143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4"/>
          </a:solidFill>
          <a:ln xmlns:a="http://schemas.openxmlformats.org/drawingml/2006/main" w="0">
            <a:solidFill>
              <a:srgbClr val="E9EDF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E1F789-B806-4BDA-854F-6E2101C2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2905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59666C-6C4B-40EF-BD01-54B171AD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90925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0.164 baseline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70BA3C-94D6-44D6-9E44-B91C714C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00475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0.387 GPT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BB9BA9-5710-475F-92BD-90F68FF2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0075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Task 2 block accuracy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80E6D2-20B5-41C8-A2E1-4479832B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29125"/>
            <a:ext cx="3143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4"/>
          </a:solidFill>
          <a:ln xmlns:a="http://schemas.openxmlformats.org/drawingml/2006/main" w="0">
            <a:solidFill>
              <a:srgbClr val="E9EDF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7CBE89-DD51-4C5C-93DE-5BDE883B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29125"/>
            <a:ext cx="1733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6C36F3-26BD-43ED-8916-7D76A648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38675"/>
            <a:ext cx="3143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4"/>
          </a:solidFill>
          <a:ln xmlns:a="http://schemas.openxmlformats.org/drawingml/2006/main" w="0">
            <a:solidFill>
              <a:srgbClr val="E9EDF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DCC701-94E2-4D4E-B971-F23FFD8E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38675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500752-0E82-4B60-ADFC-FEDE4DDB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005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0.551 baseline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022D87-27E2-43D5-AAC2-21956EAF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101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0.605 GPT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075590-F00C-49A9-B1AB-ABF0E1B5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43125"/>
            <a:ext cx="3000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532D59-4564-4346-BAF3-99413DC4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09825"/>
            <a:ext cx="2333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Completion quality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9E18F6-7942-4C7A-9587-F5FD1B56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86075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NED drops from 0.336 to 0.263. Exact match stays low because one optional process choice can make a long sequence textually different while still close.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2F80A7-EA0A-4AEB-9E4F-D726D59D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048125"/>
            <a:ext cx="3000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DFF5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E0BE12-36D5-403F-B4DF-6EE13D1A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24350"/>
            <a:ext cx="2428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Task 3: F1, ROC-AUC, rule attribution = 1.00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6DE48B-AC9A-43F5-AE95-FBA97707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Team Kremsians | Industrial AI Infineon | May 31, 2026</a:t>
            </a:r>
          </a:p>
        </p:txBody>
      </p:sp>
    </p:spTree>
    <p:extLst>
      <p:ext uri="{BB962C8B-B14F-4D97-AF65-F5344CB8AC3E}">
        <p14:creationId xmlns:p14="http://schemas.microsoft.com/office/powerpoint/2010/main" val="12408433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08DC91-2BF0-4B19-9DF0-E43984A3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D979F-6D62-408F-8975-580DBB82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Same prefix, different model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B972E-A122-4104-8C4E-C8CDCC81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 real self-eval MOSFET prefix at the 80% cut.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33ED1-3157-4F1A-A32D-1E737EDF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DF57A-FED7-43D6-9A71-E57E1F7E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00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DDD20-DFB7-4653-A838-30FB34D2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9477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Prefix tail: DEPOSIT PASSIVATION | CURE PASSIVATION | MEASURE PASSIVATION QUALITY | OPEN PAD WINDOW | OPEN PAD WINDOW LITHO | DEVELOP PHOTORESIST | PASSIVATION ETCH PAD OPENING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D0CD5-3649-4A1D-B0CD-E14FAB48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14625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C65D6C-EB65-4D99-AB89-D4DCA761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47975"/>
            <a:ext cx="2838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Ground truth next step</a:t>
            </a:r>
          </a:p>
          <a:p xmlns:a="http://schemas.openxmlformats.org/drawingml/2006/main">
            <a:pPr algn="l">
              <a:defRPr sz="1350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STRIP PHOTORESIST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923E0-45AE-4095-B80F-6CB80791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44291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7EA97-DBB8-4240-99E5-BF55D389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N-gram baseline top-5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E5F09A-0332-41DB-AF11-C0A1A598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91050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 STRIP RESIST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 STRIP PHOTORESIST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3. DEVELOP PHOTORESIST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4. SOFT BAKE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5. SPIN COAT PHOTORESIST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A50EE-A52B-451A-877A-584542D0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44291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14609-3844-43FE-9752-7F46E5E6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3862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Trained GPT top-5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C1864-9D53-4D0D-9CA8-EC318038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591050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 STRIP PHOTORESIST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 STRIP RESIST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3. STRIP RESIST LEVEL 2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4. FINAL CLEAN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5. OPEN PAD WINDOW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E1D8E-C608-4BBE-A6EF-165A943C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24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AC501C-FCE6-453D-98E1-D90AB20D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6197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The GPT puts the exact next step at rank 1.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88B885-8B60-41FD-9EC0-50D53171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Team Kremsians | Industrial AI Infineon | May 31, 2026</a:t>
            </a:r>
          </a:p>
        </p:txBody>
      </p:sp>
    </p:spTree>
    <p:extLst>
      <p:ext uri="{BB962C8B-B14F-4D97-AF65-F5344CB8AC3E}">
        <p14:creationId xmlns:p14="http://schemas.microsoft.com/office/powerpoint/2010/main" val="7618828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D19603-754E-4C78-B1D8-9FEA0C58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A8D8F-E559-4BD5-9B1A-05F64DB9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Reproducible on a laptop or Leonardo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33A11-566D-44EA-BC27-67918AD8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repository contains the checkpoint, loss curve, scorer outputs, and exact commands.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ACCA9-3686-4569-A208-70937A27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31277-BDD6-4819-8477-D3B3AFC2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24288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ADBC5-11C8-4D96-82E5-A87E885A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76475"/>
            <a:ext cx="21240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MacBook M4 Pro</a:t>
            </a:r>
          </a:p>
          <a:p xmlns:a="http://schemas.openxmlformats.org/drawingml/2006/main">
            <a:pPr algn="l">
              <a:defRPr sz="1125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MPS auto-detected</a:t>
            </a:r>
          </a:p>
          <a:p xmlns:a="http://schemas.openxmlformats.org/drawingml/2006/main">
            <a:pPr algn="l">
              <a:defRPr sz="1125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checkpoint trained locally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45FE2-CCB7-49A8-A911-799AEC9C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860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12FD9-0654-4D47-871F-B7B056CB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384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70D52-6B2B-4CF9-BC08-E8C713A5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24288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311D0C-121E-47E6-B9C9-8C12B35F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76475"/>
            <a:ext cx="21240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Same scripts</a:t>
            </a:r>
          </a:p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train.py</a:t>
            </a:r>
          </a:p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eval_runner.py</a:t>
            </a:r>
          </a:p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score_selfeval.py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80314-4C4B-42BB-9947-BD6528EA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860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BB28A-7EF2-4747-BABF-E0FDFF1C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384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356A0-CFAB-453F-9E33-0CAD4DB7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24288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E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AC1F8-A598-4E1A-997D-22A0655F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76475"/>
            <a:ext cx="21240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Leonardo</a:t>
            </a:r>
          </a:p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CUDA auto-detected</a:t>
            </a:r>
          </a:p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job.slurm for A100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39DB42-8E3A-49AD-A937-4AAD53DA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876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6BC47-26E4-4448-9B5C-08C73C4C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33875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Submission-readiness checklist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9A27EA-86D9-4382-8B28-700DAFA6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006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F8A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4CCE42-77E2-4073-BFC7-9D97D558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762500"/>
            <a:ext cx="2333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Public GitHub repository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A7194F-965D-4566-82B7-7457E9C3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006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F8A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7BF708-1663-465A-8F24-AF506145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62500"/>
            <a:ext cx="2333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MIT license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F2D283-5169-4698-B313-D473E110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006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F8A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536F54-F915-4CEC-887D-76D37CC4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762500"/>
            <a:ext cx="2333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REPORT.md and requirements.txt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5033EB-2C95-4B97-A249-7A7B4D91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244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F8A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87B4A2-5FDA-4EBD-A7A9-F674AFD2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086350"/>
            <a:ext cx="2333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Official-format CSV IDs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27B918-E8BE-43E1-9C30-1AC276C0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244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F8A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F58958-E1BB-4C1A-A22A-779A12E8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86350"/>
            <a:ext cx="2333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 official eval sequences used for training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3971AE-F647-4878-BC2B-925226F4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Team Kremsians | Industrial AI Infineon | May 31, 2026</a:t>
            </a:r>
          </a:p>
        </p:txBody>
      </p:sp>
    </p:spTree>
    <p:extLst>
      <p:ext uri="{BB962C8B-B14F-4D97-AF65-F5344CB8AC3E}">
        <p14:creationId xmlns:p14="http://schemas.microsoft.com/office/powerpoint/2010/main" val="11600264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9FE0FA-E873-4573-9B0C-B8D68A39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E167B-9E34-4E1D-9380-0A0AC4D7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What we would trust in production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8057E-ED8D-4875-B6C6-EDFC7B32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Learned process probabilities, explicit rules, and measured OOD behavior.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2D949-8528-4496-9DDE-29276E2D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1D61D-389D-4894-8EF0-57869947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1619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8F791-63F5-4B0A-A31D-ECC451D8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98120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8A5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8A5F"/>
                </a:solidFill>
                <a:latin typeface="Aptos"/>
                <a:ea typeface="Aptos"/>
                <a:cs typeface="Aptos"/>
              </a:rPr>
              <a:t>0.999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16B45-204C-4E4B-854F-116E98A7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409825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Next-step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28CA90-DF54-4C27-A2A7-A491EA5E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6098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OOD Top-5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7620A-897D-4CF0-BD6B-6E016750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809750"/>
            <a:ext cx="1619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9A3A0-8F3C-42C6-A6DA-4C1D22D0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98120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0.263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C6E66-B306-4AA8-B3C0-2911DFD6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409825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Completion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14D51-BA11-4346-9A6E-E2D8DB42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6098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self-eval 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A38EF2-4242-4AF2-83F3-0B32549F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809750"/>
            <a:ext cx="1619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318A38-45B1-40B9-9126-04F29583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98120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1.00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1CB16-7598-478B-8C67-4E36D46C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409825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Anomaly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E1554A-7EF5-42B8-AC83-E569AFAB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6098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F1 + rules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C1850D-3B0A-41E4-B1F1-CF64BA7B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809750"/>
            <a:ext cx="1619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ABA7E1-2FE8-4A33-BEB3-FB748122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98120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CA1981-80F4-47E9-A631-14A9FA8D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409825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Families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B9D198-97FF-4E0E-8803-FCAF0653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098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12 train / 3 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0B34D6-E34E-4AF7-A08B-599AACC6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8191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1D2D31-A63A-44AD-909A-695A8D95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52875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Kremsians built this as a full benchmark, not just a single CSV: baseline, trained model, OOD protocol, official scorer reports, checkpoint, and demo are all in the repository.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B424DC-C4AE-40B0-8E65-F472BCFB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219700"/>
            <a:ext cx="514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Next engineering step: validator-guided beam search for completion.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10AD43-EED7-4E3B-AC8A-87D32CDA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Team Kremsians | Industrial AI Infineon | May 31, 2026</a:t>
            </a:r>
          </a:p>
        </p:txBody>
      </p:sp>
    </p:spTree>
    <p:extLst>
      <p:ext uri="{BB962C8B-B14F-4D97-AF65-F5344CB8AC3E}">
        <p14:creationId xmlns:p14="http://schemas.microsoft.com/office/powerpoint/2010/main" val="2788587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2026-05-31T07:22:31.4820000Z</dcterms:created>
  <dcterms:modified xsi:type="dcterms:W3CDTF">2026-05-31T07:22:31.4820000Z</dcterms:modified>
</coreProperties>
</file>