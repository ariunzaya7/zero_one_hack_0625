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bdcb98db947be" /><Relationship Type="http://schemas.openxmlformats.org/officeDocument/2006/relationships/extended-properties" Target="/docProps/app.xml" Id="R1fc3131b19084d1d" /><Relationship Type="http://schemas.openxmlformats.org/officeDocument/2006/relationships/officeDocument" Target="/ppt/presentation.xml" Id="Rac3e3823e17a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2e25713e094107"/>
  </p:sldMasterIdLst>
  <p:notesMasterIdLst>
    <p:notesMasterId xmlns:r="http://schemas.openxmlformats.org/officeDocument/2006/relationships" r:id="R03f979ae232b462f"/>
  </p:notesMasterIdLst>
  <p:sldIdLst>
    <p:sldId xmlns:r="http://schemas.openxmlformats.org/officeDocument/2006/relationships" id="256" r:id="R76e0c4bfd45b4bd6"/>
    <p:sldId xmlns:r="http://schemas.openxmlformats.org/officeDocument/2006/relationships" id="257" r:id="R7b747d4988e74de0"/>
    <p:sldId xmlns:r="http://schemas.openxmlformats.org/officeDocument/2006/relationships" id="258" r:id="R54d66e49b43f4911"/>
    <p:sldId xmlns:r="http://schemas.openxmlformats.org/officeDocument/2006/relationships" id="259" r:id="Re30ffdbf13864fd7"/>
    <p:sldId xmlns:r="http://schemas.openxmlformats.org/officeDocument/2006/relationships" id="260" r:id="Rb9b4ee65f5ee4a19"/>
    <p:sldId xmlns:r="http://schemas.openxmlformats.org/officeDocument/2006/relationships" id="261" r:id="Rebf21cbe49b24143"/>
    <p:sldId xmlns:r="http://schemas.openxmlformats.org/officeDocument/2006/relationships" id="262" r:id="Rfacf4c228e7e4fee"/>
    <p:sldId xmlns:r="http://schemas.openxmlformats.org/officeDocument/2006/relationships" id="263" r:id="R1ad078524ab84e22"/>
    <p:sldId xmlns:r="http://schemas.openxmlformats.org/officeDocument/2006/relationships" id="264" r:id="R3c78d7baaa924d05"/>
    <p:sldId xmlns:r="http://schemas.openxmlformats.org/officeDocument/2006/relationships" id="265" r:id="R7d8b5a2d0bca47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e25713e094107" /><Relationship Type="http://schemas.openxmlformats.org/officeDocument/2006/relationships/theme" Target="/ppt/theme/theme1.xml" Id="R95e52ecb597d4d39" /><Relationship Type="http://schemas.openxmlformats.org/officeDocument/2006/relationships/notesMaster" Target="/ppt/notesMasters/notesMaster1.xml" Id="R03f979ae232b462f" /><Relationship Type="http://schemas.openxmlformats.org/officeDocument/2006/relationships/presProps" Target="/ppt/presProps.xml" Id="R5e679011ef634148" /><Relationship Type="http://schemas.openxmlformats.org/officeDocument/2006/relationships/viewProps" Target="/ppt/viewProps.xml" Id="R097b3f8b55a54407" /><Relationship Type="http://schemas.openxmlformats.org/officeDocument/2006/relationships/tableStyles" Target="/ppt/tableStyles.xml" Id="Rd078850c839e417f" /><Relationship Type="http://schemas.openxmlformats.org/officeDocument/2006/relationships/slide" Target="/ppt/slides/slide1.xml" Id="R76e0c4bfd45b4bd6" /><Relationship Type="http://schemas.openxmlformats.org/officeDocument/2006/relationships/slide" Target="/ppt/slides/slide2.xml" Id="R7b747d4988e74de0" /><Relationship Type="http://schemas.openxmlformats.org/officeDocument/2006/relationships/slide" Target="/ppt/slides/slide3.xml" Id="R54d66e49b43f4911" /><Relationship Type="http://schemas.openxmlformats.org/officeDocument/2006/relationships/slide" Target="/ppt/slides/slide4.xml" Id="Re30ffdbf13864fd7" /><Relationship Type="http://schemas.openxmlformats.org/officeDocument/2006/relationships/slide" Target="/ppt/slides/slide5.xml" Id="Rb9b4ee65f5ee4a19" /><Relationship Type="http://schemas.openxmlformats.org/officeDocument/2006/relationships/slide" Target="/ppt/slides/slide6.xml" Id="Rebf21cbe49b24143" /><Relationship Type="http://schemas.openxmlformats.org/officeDocument/2006/relationships/slide" Target="/ppt/slides/slide7.xml" Id="Rfacf4c228e7e4fee" /><Relationship Type="http://schemas.openxmlformats.org/officeDocument/2006/relationships/slide" Target="/ppt/slides/slide8.xml" Id="R1ad078524ab84e22" /><Relationship Type="http://schemas.openxmlformats.org/officeDocument/2006/relationships/slide" Target="/ppt/slides/slide9.xml" Id="R3c78d7baaa924d05" /><Relationship Type="http://schemas.openxmlformats.org/officeDocument/2006/relationships/slide" Target="/ppt/slides/slide10.xml" Id="R7d8b5a2d0bca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bc33f8dfcb48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0916939665492d" /><Relationship Type="http://schemas.openxmlformats.org/officeDocument/2006/relationships/notesMaster" Target="/ppt/notesMasters/notesMaster1.xml" Id="Rd4343747d84548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9ad662924d47b4" /><Relationship Type="http://schemas.openxmlformats.org/officeDocument/2006/relationships/notesMaster" Target="/ppt/notesMasters/notesMaster1.xml" Id="Rb59c41a3ed6e46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478e41afa743c7" /><Relationship Type="http://schemas.openxmlformats.org/officeDocument/2006/relationships/notesMaster" Target="/ppt/notesMasters/notesMaster1.xml" Id="Rd57047543ae046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ea04ef17154911" /><Relationship Type="http://schemas.openxmlformats.org/officeDocument/2006/relationships/notesMaster" Target="/ppt/notesMasters/notesMaster1.xml" Id="R1241106b8be043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e32f51c34945ac" /><Relationship Type="http://schemas.openxmlformats.org/officeDocument/2006/relationships/notesMaster" Target="/ppt/notesMasters/notesMaster1.xml" Id="R9ec900d9644c47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820718121f45a2" /><Relationship Type="http://schemas.openxmlformats.org/officeDocument/2006/relationships/notesMaster" Target="/ppt/notesMasters/notesMaster1.xml" Id="Rc3b07de9554440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56bf50f81f4648" /><Relationship Type="http://schemas.openxmlformats.org/officeDocument/2006/relationships/notesMaster" Target="/ppt/notesMasters/notesMaster1.xml" Id="R6e5dd8c666c542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9a86e0781449d6" /><Relationship Type="http://schemas.openxmlformats.org/officeDocument/2006/relationships/notesMaster" Target="/ppt/notesMasters/notesMaster1.xml" Id="Rb7fa32d02aba4f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53ab3ab5d641f7" /><Relationship Type="http://schemas.openxmlformats.org/officeDocument/2006/relationships/notesMaster" Target="/ppt/notesMasters/notesMaster1.xml" Id="R95719611e8f042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fd8846ae144618" /><Relationship Type="http://schemas.openxmlformats.org/officeDocument/2006/relationships/notesMaster" Target="/ppt/notesMasters/notesMaster1.xml" Id="R1561015910ef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10f9e18e0439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dd884c6cdf44a82" /><Relationship Type="http://schemas.openxmlformats.org/officeDocument/2006/relationships/slideLayout" Target="/ppt/slideLayouts/slideLayout2.xml" Id="R7740acb7590c4d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40acb7590c4d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188f7da8674745" /><Relationship Type="http://schemas.openxmlformats.org/officeDocument/2006/relationships/notesSlide" Target="/ppt/notesSlides/notesSlide1.xml" Id="Rd9c7c388062a41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bd551bf84c41ef" /><Relationship Type="http://schemas.openxmlformats.org/officeDocument/2006/relationships/notesSlide" Target="/ppt/notesSlides/notesSlide2.xml" Id="Rf0f50f6e67ed4f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9dc503d9c249d5" /><Relationship Type="http://schemas.openxmlformats.org/officeDocument/2006/relationships/notesSlide" Target="/ppt/notesSlides/notesSlide3.xml" Id="R29da29e83f3c40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9af8656a594f34" /><Relationship Type="http://schemas.openxmlformats.org/officeDocument/2006/relationships/notesSlide" Target="/ppt/notesSlides/notesSlide4.xml" Id="R7991e02a4ab64a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afa06d43614266" /><Relationship Type="http://schemas.openxmlformats.org/officeDocument/2006/relationships/notesSlide" Target="/ppt/notesSlides/notesSlide5.xml" Id="R21f302cb372e40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e20f271f746a3" /><Relationship Type="http://schemas.openxmlformats.org/officeDocument/2006/relationships/notesSlide" Target="/ppt/notesSlides/notesSlide6.xml" Id="Rfd8b83b6419b4a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b972f902bf4b19" /><Relationship Type="http://schemas.openxmlformats.org/officeDocument/2006/relationships/notesSlide" Target="/ppt/notesSlides/notesSlide7.xml" Id="R22f7e88f8f7a4a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14b0e51a444137" /><Relationship Type="http://schemas.openxmlformats.org/officeDocument/2006/relationships/notesSlide" Target="/ppt/notesSlides/notesSlide8.xml" Id="R267878aba9f64e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40c5083664bc5" /><Relationship Type="http://schemas.openxmlformats.org/officeDocument/2006/relationships/notesSlide" Target="/ppt/notesSlides/notesSlide9.xml" Id="R1a660b14388843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c083ca482842e5" /><Relationship Type="http://schemas.openxmlformats.org/officeDocument/2006/relationships/notesSlide" Target="/ppt/notesSlides/notesSlide10.xml" Id="Rc6a6035a87e442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E2F62F-14AA-4E2E-8946-7E8A7166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373AF-919A-49B4-B1D3-70A77760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Diagram bank: what varies between process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92A6D-DF4A-4661-A877-1AC58BF6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any of these visuals in the final pitch to make the 15-family OOD story concrete.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B773-F17B-4D5E-85E9-56D68CC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3421B-D12E-4B80-9053-D4459BB6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DFF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34063-24D5-4518-8207-6B2FB8A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05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same vocabulary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13E87-DB92-4BBC-9C68-ECB08B00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04950"/>
            <a:ext cx="1571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0">
            <a:solidFill>
              <a:srgbClr val="DCEA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7833D-12CA-4771-9543-3BBC6200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62100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different valid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A03BC-7F07-48C8-92D7-64117187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04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solidFill>
              <a:srgbClr val="FFF3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7B471-928E-4B79-9E47-F98F20D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held-out families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DF66B-4F86-4BB3-8BA9-82CC4C3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0C118-6AA8-4848-AA4E-BFBDA335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Litho levels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951A4-F284-4C9F-80BB-37EF6424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many mask / photoresist patterning cycles the route needs: 4, 5, or 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EDE55-3D65-4749-A11F-61F44382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73E2F-423E-4823-832C-51A87473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Extra via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829F4-EAB6-4D24-88C4-27E90279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0325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Some families repeat field oxide, via etch, via fill, and CMP.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E36E5-7287-486C-A49B-767F6176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6C838-4B56-448F-B75B-4DD5AD9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241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Spacer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5B1F8-D74D-44FB-B88D-31CB7AF2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00325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often spacer dielectric and anisotropic spacer etch appear.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E6016-FEAF-43DE-BB5A-FC62D17B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8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4D833-42BB-444A-A0FF-DA8EA389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Implant 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93FB1-14E1-4485-95C6-51A6C1A3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0325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 route recombinations, e.g. source/drain followed by N-buffer.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5CEB4-8AE7-4B28-87CC-09B8032C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F97D4-AE7F-4380-B77D-0F92A63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19600"/>
            <a:ext cx="693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Pitch 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6ED5A-D462-4E77-BA34-FD8886AF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95825"/>
            <a:ext cx="6934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family is not only a label. It is a different valid manufacturing route over the same process-step vocabulary. Holding out families therefore tests route logic instead of recipe memorization.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3D378-B028-4EE5-AB1C-CA4B9B6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overview</a:t>
            </a:r>
          </a:p>
        </p:txBody>
      </p:sp>
    </p:spTree>
    <p:extLst>
      <p:ext uri="{BB962C8B-B14F-4D97-AF65-F5344CB8AC3E}">
        <p14:creationId xmlns:p14="http://schemas.microsoft.com/office/powerpoint/2010/main" val="13171537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4D69A-D9BD-4E60-92EA-D158338C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5EDA0-A4F3-4F33-B29C-04ECD21C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Family variation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05442-777F-4D41-AE55-12FD60CD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compact table to explain the experimental design in one slide.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B8817-7F14-49B5-BDA3-A78D2F5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C3B29-956D-4A15-ADB0-ECAA0D71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0E0DE-D85E-4EFB-B4BC-6A1C567C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0AAC7-CD9D-4082-8ADB-001F1829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192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3563C-379D-4C59-970D-D8AC90A6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33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Litho levels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77036-E821-46D4-BD8A-A6CC4D43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1925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434D6-2A0C-4E5F-8BE6-EF282346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335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Extra via 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4EE10-D1FB-42FC-A70D-7EEAE138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D34BB-EFC7-42C5-87AE-608BF01D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335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Spacer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3DAC9-BE8F-4D89-8736-3281AD65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0BF4A-B6D3-433C-8E95-AF4BDCEA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335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46417-BCE8-48D0-995A-4C07D04E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428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471C3-9EC5-4A9E-9CCE-FE34004B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3550"/>
            <a:ext cx="2238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5CDF2-0334-4CDA-9C43-2C29293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F7836-6FA9-4352-8FB3-F41831DC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MOSFET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B24CD-EC55-44F0-A476-644E7F78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955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4484F-F3AD-4E5F-B5C9-CF17FB2B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098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9474B-1A06-4884-AB1D-51189A08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83DCC-E4DF-410A-8A10-19DEB30B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0980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532AA-12EE-4C5D-9BFD-78FF828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3D745-D23B-4F88-8DB2-33B752CF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0980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F7DEA-3B3E-4653-8AE4-6B88F37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C735D-3BA4-4D20-8693-15432969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0980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6C82E-E21C-4798-BF46-7992AAB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428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97C91F-88C4-4D46-9522-07C35337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238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Known organizer route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5587DE-40D4-4660-9375-048A2C11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9E5A8-4AB8-4FCC-B4AE-D7618DC6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IGBT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04CB4-B888-4C85-87E7-6F55716E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DBD3D5-26C3-4375-9BC4-4C73370F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340DDE-4ED9-41FB-982F-617501DD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37EBAC-01D5-4771-8FF5-F02F07B7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860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8CEB07-B2D6-49B7-85FB-5E0F4460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46B632-B73B-4FB3-8D57-CF71ACF8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063093-CE53-46B8-A3F9-5549C02C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5A5C22-0D93-475F-ACD0-BC2DE188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1655C8-F9AE-486F-AA14-BD1A933C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428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1EDB12-5DA6-4E6F-8204-CFB27142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2238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Longer known route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14B4C0-16D4-44B6-8AFF-CEE36C18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DC24BA-F524-4387-AF5B-B050E5C4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733D76-D9B0-4E5A-8279-7C2E167D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48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D130D4-8B56-438D-A6B9-01BCA344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62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0C6FED-6D6D-4512-9E33-FE9EB56D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417A6A-8EAF-420A-97BD-44959D41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6230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5E1F14-7D43-4CF9-840F-773084B4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E2C8CB-E4F8-4D02-9EB6-0538E406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6230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native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68CD9F-4F33-4917-873E-340C6294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800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63CAAF-F3A7-411E-A909-755BC927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6230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E84077-0106-4FE7-99DF-F6CE881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428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DE6234-4394-489A-B5B6-1A0428B6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238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Different known route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69140D-086A-4B15-AB76-C3EBA6F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CF3637-ECFC-4BE4-A0C5-8921AF1E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SCFAM01-09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A52869-0E25-48AE-9FD7-22691FEF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242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8002CD-011A-458F-9459-BA234527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38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4-6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1454CB-C8DB-45E2-A0A7-40E69AA9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2425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03AA5C-83E3-488E-9FF8-A342E848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385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0ECA68-2907-4884-B34C-24145C94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CB7B63-CAD9-4FE5-9293-4ECDA474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0.25-0.80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89DDB1-0753-452C-BA7E-BC212D4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2425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A7696F-7E97-4C86-840B-9E880859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ACF381-15E2-4A6B-A7F4-F0FB291D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428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DAA727-C4C6-4543-B57C-AC94698B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238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Teaches route diversity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A12AC9-ACBB-4C3B-B201-BC77E4FC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C5A882B-7761-4385-BEDA-01E4AA4B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SCFAM10-12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0E1CD3-1FCE-4086-8D5D-9D253903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005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F09B49-626C-4317-8CFE-0A9E323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148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4-6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C8028E-9F8A-4ED4-8809-82BFAD2C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E6B82E-1760-4561-845F-A61799DF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1480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D5C106D-EF4C-4FF6-A5A1-40DC879C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1666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1F6A880-1194-4FC7-B954-F86FA1A4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1480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0.20-0.90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03D71A-2F58-47B5-A046-EBA2A9F9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DC2159F-B271-415A-ACDF-833D369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1480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unseen test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9BF933-E1DA-4523-B96B-FAD867FD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428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E19F336-EA1F-4EC7-8E8E-62515FE7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238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Hidden-family proxy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35B4FC0-2922-451C-A228-62AB922E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34C00E-A548-428F-8930-159216C3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340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important control: no new step tokens. The model sees familiar process words in unfamiliar valid structures.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9D1116-4DE4-4760-9293-CE9878B0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matrix</a:t>
            </a:r>
          </a:p>
        </p:txBody>
      </p:sp>
    </p:spTree>
    <p:extLst>
      <p:ext uri="{BB962C8B-B14F-4D97-AF65-F5344CB8AC3E}">
        <p14:creationId xmlns:p14="http://schemas.microsoft.com/office/powerpoint/2010/main" val="6876074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38D22D-C30B-4FED-AF3A-70301025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500E6-D583-47F7-9116-79F4FDB2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Litho levels = repeated mask patterning cycles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8E322-1628-4DC9-AAEC-7D54058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More litho levels mean deeper process routes and more opportunities for valid optional branches.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632A6-E131-49F2-BDCD-58D90AF2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3E908-5E96-499A-BD0C-AB70BB5A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240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4-level family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C9227-BA03-4084-932E-57ACFD22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3CE24-5774-4DEF-B4F8-14C82DF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240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59CE8-A9C5-4C83-8ACB-BAACB399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955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A8AA4-BA08-4A71-A48C-40BC57FB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47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87F62-8E2F-4C65-9E2B-0B121B23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47EBB-968C-42CE-B2F9-B981A647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240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56B6B-087E-4FB5-9E88-4C675927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955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7DF82-318A-40C9-85EE-8AC70AF4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47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5BB50-2B8A-4B3B-AA7F-D6249967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D5AB0-D674-4DF7-9F25-71F58D90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240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3A791-D5C2-4048-9230-F808EF58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955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DE4F1-5E75-4DB1-AC59-6CC2B297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47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803BE-2164-47AD-961D-708EC4A2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478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B5FDB-7F33-4069-B7DA-C6EDC614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240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BDF6C-BB7C-45F8-87B7-D7517655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4 mask / lithography cycles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0EE88-CD8D-4BE1-A6C8-CE173C59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5-level family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E98ED-6173-435A-9683-97DD6E65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88DE4-AA6B-4E3D-865E-944AABCE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575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L1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AE7EC-DC8C-450C-80A4-895E1977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290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CE165-C720-4C43-8FA9-C4BDB9D0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814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ADAA8-B2D9-4811-95EE-4F674428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813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B240CA-DD8A-4442-BA4D-18955C38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575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L2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CC656A-7005-498F-A715-B56CF7F3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290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E3F51-2233-4B6B-8097-0F5F62D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814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0749C-DFDD-4B64-98DD-E08A9ED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813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0D0412-6AB0-401F-AA22-24569673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575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L3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1F1070-0DDA-42DE-B12A-4FA89E65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290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C3ED93-5635-4CEC-B1FB-1B1CA930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814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533B48-F0DE-487D-82AB-6253EB59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813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30CC63-7BFF-4247-AD41-BC645FB2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575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L4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E0253B-B36E-467B-8C98-EE50E23B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290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C978FE-782E-4322-9EA6-8667E965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5814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97A3B1-3EE9-4536-AC5A-283BD39A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13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A6B012-2CA6-428D-86FB-F8E9DE5E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575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L5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F6FB5F-4F1D-4F3B-B633-651C2894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5 mask / lithography cycles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463B06-6AFB-4450-B89A-447B5B2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6-level family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235ED3-3094-4E5B-AD84-A21E31EB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404737-B005-412A-B937-6657FE6C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863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837683-82D7-4E2D-9ADD-86DB9B79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5777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4DAEB5-6C17-42BF-8DE5-2F0FCD7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01015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3EB280-BFF1-41FE-B15C-9D311A34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4E2465-BB82-4E38-9D0B-A98F4BD5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863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BC2975-63D9-4115-8EFA-5BDFBFA9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5777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1EA0FF-79C2-496E-BED0-54DFD0B1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01015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A00B99-01CE-4948-BA29-5070623D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101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5152AE-F65C-4FCF-AA74-6A17A671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863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3167C0-7D6F-4623-BAE4-DCA869B9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5777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9E3FB5-52F1-4DC0-B249-2F3971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1015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5612D5-3B2F-42B8-ACA7-6829DB49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01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AE2C75-8896-49D3-8510-761C63EC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863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36801B-1EF8-4979-917E-4E6634C1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5777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CD2BB4-B2E2-43C1-A0EA-EDE46BEC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01015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D15D6F-BF30-4F90-A00D-8B3EDAF6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101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1D6E98-BE0B-4015-B8BD-6DC7798A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863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520B89-FEE6-44A8-A84F-0D4C0BA9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A1A0D3-AF37-41B4-8010-14A87396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1015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1B8F69-973E-4690-8029-EE4BEB75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F80309-4ABD-4952-9A5C-781DF7B7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863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0449FD-59D4-42A3-ACF6-6D3B3F5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9592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6 mask / lithography cycles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E04D58-4BB6-4894-A2E6-1F69AE0B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AD94AC-741A-41EC-9A90-E1578B89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 litho cycle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926AF4-3EE8-437E-A080-C3A589EE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146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1. spin resist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54D9A4-BDF7-4895-98F6-F1F2F5F6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33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2. align mask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00A290-A569-420E-BAF4-894B3B3E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527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3. expose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8D817E-369F-4D75-9052-BE32CF9B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4. develop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4EAB39-C925-4321-8E26-49F3481A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909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5. inspect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9BA71A-04CD-40DD-B042-B98DEC5A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10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6. etch / implant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01408C-1B10-4532-84D3-3FD904EF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290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7. strip + clean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83D8E9-8985-4AB7-8E99-EA27D579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litho levels</a:t>
            </a:r>
          </a:p>
        </p:txBody>
      </p:sp>
    </p:spTree>
    <p:extLst>
      <p:ext uri="{BB962C8B-B14F-4D97-AF65-F5344CB8AC3E}">
        <p14:creationId xmlns:p14="http://schemas.microsoft.com/office/powerpoint/2010/main" val="7974726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8F4485-5A1A-48D7-86FE-E1256593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8F9A8-B367-4609-96E9-7FD32E1E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Extra via block = a repeated interconnect sub-route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D0DA4-49AA-4C0B-A26E-2B5D36DA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Some families include one via stack; others repeat it, changing valid order and sequence length.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47AE6-5D36-4D04-806A-6A4B66C8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4713D-D7B2-4C2B-BBE3-824C1C8A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66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Single via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A8CF2-93A2-4D11-8959-405A1E5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DA79D-44CA-4B96-9C54-B31E53A2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669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field oxide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F3A7F-11EC-48C9-A9F6-97562322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57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634B4-9246-409B-86C7-92AF2500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098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0EDE1-6465-4A61-9F31-D29BE238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9075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720E1-FF2F-4879-8B9D-64227CC5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2669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via litho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07636-7439-45F9-9773-B5E2CE0A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57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D34BC-DF84-4BFC-A35A-B1825FFF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98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492EE-7ACD-40E5-B714-3C115B8D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9075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24608-00E8-4999-9ECB-FB97B2D1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2669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via 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FD940-9A7F-4D51-B10D-A49B4745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457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0211F-F522-40AD-AA56-0A0AE762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98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5631A-46CE-46AC-A65B-5CE297C7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19075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7748F-E7F0-484D-AE6C-7E1116C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669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barrier/seed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FA7B3-E818-4088-B435-13447F58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57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A46830-8E0E-4149-AD7F-B189B43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98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DA625-5A7F-4C32-B3A5-6A9BF294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9075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6F294-CDDB-4517-9E08-A6077AED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2669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via fill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BA2C2-C445-43F2-8031-13FBBD16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57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CF267-0D22-456D-BE56-65808BBF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98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8EACB-5543-4D46-90F3-6DF9D1DE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0CCDD-85EA-47C8-AD4F-1C42BD9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CMP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5D751-772C-4F59-A544-A3106F99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Repeated via block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17DB1-9C62-4CFF-ADDC-63170D2C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E562A-9F59-418F-BDDC-DE2F02D0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33825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field oxide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CC1A5-F0AE-4F4E-93E3-2A2478F0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243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9009DF-1912-4903-87AE-F96C3A68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767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41CF68-0707-4195-9574-B455DAB8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576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E1330F-4924-4735-99C7-9DE64484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33825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via litho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F6B8F0-1589-4308-8A9D-41047F0D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1243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F5528A-143D-496D-885D-13646BA0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2CED1-1FB3-402C-B53E-12E6891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8576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6017A8-3CBE-4630-AD0F-318113BB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933825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via etch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1A5BC0-3F68-49F7-8FE1-5B96F826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243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997D3B-510B-4C7E-BCC8-97CE4E3C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767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0D5E79-9F6E-46E7-86CF-39925C1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8576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162D05-A893-4EB5-A496-11A0FABA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933825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barrier/seed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7D1FD0-4706-4535-AD7C-A582B7A2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243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F757E2-5C55-4D72-B6D4-95D87952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439C17-3C36-431F-BA43-3FFC8C95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576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CEB4DA-F29F-407F-9428-380C84A4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33825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via fill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D622BE-22B8-4584-9DFF-49ED370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243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80A928-C570-4C49-AC8A-FD0560DC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6B3EA7-DD7D-4A22-AF47-0460A0E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AEB582-417A-4884-871E-F68A5BD3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33825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CMP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2107FB-F951-4978-967F-620E9DFA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842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0">
            <a:solidFill>
              <a:srgbClr val="DCEAF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C9472A-2A4E-4E39-BB63-24EEFF04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529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second pass through field oxide / via / CMP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FA2ED1-A0D9-4EE6-8102-3179FE26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48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E9B697-6CA5-481F-B3B5-C532E178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it matters: the next correct step depends on whether the family is entering, repeating, or leaving this sub-route.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6DD178-BE87-40D6-973C-C7EE7F2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extra via block</a:t>
            </a:r>
          </a:p>
        </p:txBody>
      </p:sp>
    </p:spTree>
    <p:extLst>
      <p:ext uri="{BB962C8B-B14F-4D97-AF65-F5344CB8AC3E}">
        <p14:creationId xmlns:p14="http://schemas.microsoft.com/office/powerpoint/2010/main" val="20736540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48A39-A761-4B0D-AA3F-EF985DF2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081FB-F074-4CBB-9F4D-4B0ECDB2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Spacer rate = optional block frequency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F9F58-9308-4A12-BFA6-6E94E4A5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spacer block is valid but optional. Families differ by how often it appears.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B8F45-1911-4E10-B429-8766429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E8A4D-2FCF-40F6-A2ED-66E5BD25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Probability that spacer dielectric + anisotropic spacer etch are inserted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2A928-ACBA-4E47-8372-6DF13A00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33575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65D74-5D10-410C-99BD-1A290AA0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52625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51B75-C14E-4E10-88E3-399AB097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52625"/>
            <a:ext cx="1219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A61D6-B32E-442E-A74C-C7BA4C9F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3B391-228E-42A0-AC49-B1856437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26725-F5BD-43F0-A48E-638A6888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2885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4C737-3E08-474D-9E4C-C4DB51C2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47900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6C2BD-4581-4666-BD8B-BAAE29C3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47900"/>
            <a:ext cx="1524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1EDF9-1A68-48E1-AF81-8B684B68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1932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1AC77-9DEA-4179-A957-1377A204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193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81286-0668-424F-B070-C10F2E53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C7F6B-0C4B-4E1C-B766-63DD8DE9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43175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4C25E-093A-415C-9599-A93FA5AC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43175"/>
            <a:ext cx="2133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BC4BC-C503-41DF-A645-7FAC991E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A32AF-F8FB-4F8F-B54D-B254A5C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9C7E2-7BB5-4900-B8D4-F2DA2C5F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CE95E-C911-41E3-8AF5-2510EEF4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8450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10C0F-C923-4153-9468-3FA09D9A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8450"/>
            <a:ext cx="2438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4D4D7-DF59-4E67-9056-020523A9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987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AB2A90-88F6-40D7-93AC-0454CD43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98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F87AC-AC31-4366-93B3-C8773E17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4675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02086-675B-4E4B-BBB8-8E1B7262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190D6-6F3E-45E6-85B0-7FDC8AC2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2743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D985F9-310E-4909-B51C-A681E4B9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73DCB-7EE2-4BE2-99F3-21D62567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E424C2-9AA9-4ECE-B58E-5C726FF5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995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CAAEC9-E4E4-4A66-A0CA-3606D29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29000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FD0548-07BE-4652-A9EF-BAA81F85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29000"/>
            <a:ext cx="3048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E6C676-B4A6-4901-AE53-9A4DCFE8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042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A7C0BA-8383-428D-9488-40B7492F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0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16BEF-195E-41DF-8098-328290F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242EFD-4DDB-4E5B-892F-9D44F4F1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4275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2AA80F-7D38-4CC6-A5ED-72DB4728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4275"/>
            <a:ext cx="3352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63C34E-4056-4791-B492-730E53A3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A9B2DA-281F-497E-B72F-07C07CF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CFF40E-20E7-4CA5-BF75-85E4D9E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A8E675-3BE5-466A-8C6E-0C39279A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521567-4A6B-4450-AE5A-6891E8C4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3962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998D3A-DAB6-4ED2-805D-ADEC53C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9097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F16B06-9AC1-4E25-AAE6-F4585255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90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524C26-CFD2-47F6-A032-18959E5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4A1EC9-7533-442B-9618-D14962D3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14825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AFA0AA-1C24-4438-B27F-6CEA22D2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14825"/>
            <a:ext cx="426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5417BB-229B-409D-8733-FB61050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65BD74-CF79-457F-BBEB-E595F8D2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4E8E71-9922-497D-8FA7-344906F9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9105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80329C-B72D-4E15-9ADF-4F843F9B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0100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E61695-3B30-446A-9499-5BA4B873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0100"/>
            <a:ext cx="457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3AE37D-E5D8-4194-BC33-2B948963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8152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A09F99-7303-4EEF-8F06-26B9E974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815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OOD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19B19E-DD75-4742-8E14-51A78630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86325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4860B0-3434-4E1C-A07A-E5AC7590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05375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E87361-AEF5-48D2-BB24-96636026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05375"/>
            <a:ext cx="4876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EB967B-BD42-4B1C-9903-F23B762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768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0.80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262DF9-2D52-4462-A87C-C2CFEF18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EFD599-1697-44BE-9F60-8A29B12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816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C3008B-75CE-482C-863A-606BBA6D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00650"/>
            <a:ext cx="609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AA33B1-94FB-432E-B3C3-8BB46DA4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00650"/>
            <a:ext cx="5486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1ED914-EB39-4B35-88A1-47F1AF30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7207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373E22-DD98-48B7-B6E8-E27B3D0B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720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OOD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8BCF851-873D-4AC8-B5FF-71B58BA5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171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87B649-7B57-4FF8-B454-FAC70BC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is OOD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B7277B-8771-4488-893E-61B20FF8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9875"/>
            <a:ext cx="123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Held-out families sit at low, medium-high, and high spacer rates. The model must handle optional blocks without seeing these exact family profiles.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0E7EB6-C7BF-4CD8-B913-4139664D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spacer rate</a:t>
            </a:r>
          </a:p>
        </p:txBody>
      </p:sp>
    </p:spTree>
    <p:extLst>
      <p:ext uri="{BB962C8B-B14F-4D97-AF65-F5344CB8AC3E}">
        <p14:creationId xmlns:p14="http://schemas.microsoft.com/office/powerpoint/2010/main" val="4693994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8AB444-2D62-4445-B560-5F97F542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AE7B0-2BBC-4823-AF32-42B2A1DF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Implant route = valid recombination of process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8BB52-0985-4F4A-9316-EE343069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Synthetic families combine known implant logic in new valid routes.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F59BF-81E3-4C60-80C7-2A61E8CB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72E98-706D-4079-963F-752312E9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62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MOSFET-like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3CBFB-F07D-4B8F-BA74-B0837824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097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DE992-3AEB-4129-9311-EA03FEC9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859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poly etch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6086F-2D03-46A8-8EBC-364557B5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76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D6497-5861-4FD8-B862-73036471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288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9B09A-D102-48D2-BC0C-8B5BBE7C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8097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A7166-F7DB-4C40-8E10-9CCE88DD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859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source / drain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8EC3F-62F2-4662-8FD6-5B2F365E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76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3301F-122B-432A-B732-ACF5608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288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76E85-EC31-4972-BEBA-6E63287D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097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56816-5BE2-46C6-9F20-14D861A5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8859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anneal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293FC-9F8B-455D-91B0-D671704B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76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C9E91-0E7C-4498-AA40-068554CC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288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AB76D-23D1-4EF2-AAC5-FB921537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097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E6F67-6A67-482F-817D-207A8376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8859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spacer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0BE25-51FE-4D81-984E-C232C689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IGBT-like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DFF81-C5B9-4986-9F0E-2D77404E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480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19B4E-D5E4-44D1-AF4D-10B8D516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242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poly etch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45584-B1BF-40A6-8232-8E691407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147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3E681-CFF8-4128-9D0A-735775CF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6707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41CD6-95BF-4D33-8376-19CFCA49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480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00159-5040-4F30-B25D-F89563AC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242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channel stop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36A829-FB72-4769-A685-61D53D0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3147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2EC9C7-8B9E-44E6-A369-6A389BD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6707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65B574-CEE5-4D5E-AE79-92FF9471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480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FE23D-A81F-4A86-A5F6-88732D08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242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N-buffer later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3F5E0-B7C5-4E6A-AB15-990AE61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147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104C7-C714-4CC3-88FA-7EDDC4D6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6707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CF8FAC-5A1A-4CFE-AE93-DBD054ED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480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DFD211-DB42-4776-B6B2-56E2D85B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242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anneal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ABE167-41AC-4842-98D1-0D25F14A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Synthetic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FCB15-4644-447B-8D92-6D703A70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862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B0D9BB-A18E-4065-AA8A-61C7BB9B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624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poly etch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A7578A-2861-4951-AE77-DE77D916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52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05A60C-697B-413D-80AC-475C0A6C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053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C1F9CE-F4E1-49FD-99A2-176D4630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862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B03257-D176-4B35-B967-CE18FE01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624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source / drain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1938BE-76D9-4974-89D7-48828A3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552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2F5B0E-9C11-41DF-8FCB-32F73A03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053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74A3FC-2D23-44AA-9306-64B4FA56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862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34AEE0-AD25-4750-B33B-5F7909A7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N-buffer same cycle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7542D5-558F-4A89-9D38-C989679B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552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3EC6EF-15DC-491E-90CF-5A79D58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05325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B65358-7412-4530-B6C9-9DC43C33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2862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F94E6D-C95A-4045-BD3C-4E03394B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3624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anneal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847852-DDC9-44BC-A51A-05B03A9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29250"/>
            <a:ext cx="728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5B6418-0502-4855-9957-4E15DB3A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vocabulary is known, but the transition SOURCE/DRAIN -&gt; N-BUFFER in the same cycle is a new route pattern.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0C1AF3-E4DA-4DC1-BB7C-039B19DC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implant route</a:t>
            </a:r>
          </a:p>
        </p:txBody>
      </p:sp>
    </p:spTree>
    <p:extLst>
      <p:ext uri="{BB962C8B-B14F-4D97-AF65-F5344CB8AC3E}">
        <p14:creationId xmlns:p14="http://schemas.microsoft.com/office/powerpoint/2010/main" val="14254733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73F4F4-60D6-4E3E-BD26-B156AE9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56893-9D9D-417A-8281-A4842598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Feature heatmap across synthetic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333B8-DE01-4C18-AF57-55A6134A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This is the concrete family profile used by the 12-train / 3-held-out protocol.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60FAB-7212-47C9-AE06-495E3529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ECE13-DBC8-4284-9191-C0229BE5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B6694-17CB-453C-9588-96A7F4B9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724025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3BA1F-F8CB-4805-9CC0-464D73A5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19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3D65E-FCF9-4F00-BD07-D530894C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24025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A263A-1110-4FBD-8C56-044330BA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19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312E2-B8E8-49DB-8FB0-BA721D0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24025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Litho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11BEA-125E-4509-8B7E-81736EF2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34E07-40BA-4D6F-82E4-156B174D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24025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2nd via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B9961-8135-4553-85F0-8D6EB2C0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F3C94-F505-443F-9595-DB1B0A40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724025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Spacer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FA639-C129-4E39-83E6-2BD907F3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0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66AE3-165C-4AB1-AE67-720754EC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764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D274C-7F43-4B07-B6B6-3A9B3EC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B2159-4560-490E-A094-F52E8661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764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D7444-2524-4C73-AFEB-D9BCD25F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00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CB457-4AF3-40FD-980A-7286B157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764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44161-036B-4CE1-9622-25B87E7D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C4ECB-2CE1-4690-9A69-032018AD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764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13148-F7AA-4E55-8C71-F8CFD29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67F6D-E3AB-4DB7-8879-5B15E7F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764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A6A32-E0B4-4645-8512-4F22DB5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24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4F7B3-43D2-4179-807F-45EA60EC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003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F87B2-05BF-4685-B4AC-3BE9DAC6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24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AD082-0E3B-410E-96B1-D3552196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03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7F121-2F7F-4FDC-8DCD-4A28C4E7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15EB5-B320-4FE4-A596-FCE5435D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003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6D60E-FC97-4B45-BA11-9B26C1C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24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1C965E-7EDC-4E13-9730-71E1D156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03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19395B-0AE8-49F0-8088-72F9CF4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24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2853DD-62CE-4023-94AA-AFD4C19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0.35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35C45F-B90D-455F-B757-9C792DE7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47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D13E6F-2C4A-468F-B384-6E96531F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7241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1850E9-062D-4027-8700-DCF63DBD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47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DB1C4B-96C6-498A-B83F-84B2A495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241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882E3A-997E-4C80-B0D0-97607926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47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AE24A3-FFB5-4C02-AE7C-0B51E9B7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241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A4D3DF-6E9A-4A24-8897-3441D7D3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3FC2C2-98E8-48F4-9148-0065888C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241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99CE55-4D5A-46CD-A6D1-E3A129A5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E9A41B-D345-42AC-A483-39C9B9D6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241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0.45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B8759E-55A1-4DB2-8A77-4A52ACD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71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D2661C-6DDA-498F-A815-041CFB0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480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31097A-902D-4953-9A21-31A3A87E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71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728F18-B431-4867-82FB-014DC742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480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88E29C-898E-42D3-BA1F-FF8CC490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71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5080CD-11C1-4032-BD96-8CD3550E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480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1005EF-294D-46D0-B22E-41F7958F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71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D4D9C6-E7B0-455F-88C2-49574B47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480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D7FFC3-60CF-46D7-AE5C-55874E55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71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5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793D07-97CA-431F-9E74-C2357B53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480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1BA285-DCC9-413D-BDA4-5BDE6120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95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DC7107-E0C3-467E-8776-1EDEBAF8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68BC72-4C28-4A9A-BA3A-2861127C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95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7FF131-4F3C-4078-8B88-962427E5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3718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9B0E2B-BC97-4514-A6C1-61E5AC07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95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5FF318-E89A-426E-9134-283C4ED2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718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AE2D71-2187-4B64-9502-FD12E0C9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95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4F0A50-B732-4507-912F-1659A676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718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8DCF26-AFFD-433D-B43F-056A0193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95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5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7B00C5-170F-4254-AB18-64E5B3EC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718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D86BD3-C129-4E48-A203-463ED154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19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693FAB-D81D-4ED7-A30C-C430633E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957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E19FC37-9E88-4060-8BA1-F7C470AC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19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EA30FC-98BF-4E0A-8D6F-A8FFB098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957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379826-85B8-4EE1-A2CD-E8C9AD07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19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5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9A11CF-D357-4798-946E-83DF6159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6957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443A2C-4455-41A5-9630-79423F0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E38D2E-0325-45EC-8445-EB8C119B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957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39B504-3193-45E8-BAEE-8F131B58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19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B79E3B-C4CC-4FE0-B3B0-A9CF41D8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957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0.40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54FA6F-F9CD-4F56-9EC6-330B8CDD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43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018B17-5311-430E-AA39-EAA0998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195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SCFAM07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F581DF-9835-4533-A0D3-9225650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43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4D0D34-06C4-4C9A-A798-8C36A088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195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6BFAD1-2628-44D8-B542-1400749B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43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5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750DD4-9EA4-44FD-B66D-E52C3BAA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195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3421CE4-B47B-4887-B13D-342E6F31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43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ABF0380-CE99-476C-B7F7-F0931995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195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0286444-58A5-443D-8087-0D921C42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43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492910-D98A-4C26-9C69-81397D8B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195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715730C-628B-4368-992F-16946676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67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880092E-BEDA-47BD-9250-558D55C6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434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SCFAM08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94902C-0E8D-42BE-94C4-2762504D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67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EC1333D-DF1C-4E61-A1F2-A3FB313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434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38D842-A913-4411-AC15-8812AA4F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67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5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333D9A-1A57-4535-839C-D2D34CDC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3434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E360566-3874-4596-BABF-175225C0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67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56C4A14-CCEF-4867-9B38-BF7AD4B4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434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0911E04-70A7-42AA-A3E0-474B35AB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67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5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849EBF1-BFF0-4B56-A528-7C36ADDC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3434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129AB2E-A0E2-4635-886A-9D6AB64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91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006C10-7B96-4DA3-9E6A-D865A05B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6672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58A0F08-E373-4208-8368-853798A3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91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F9EE547-6984-43BF-A115-AB14817A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672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C2C87A-3B0E-44E1-B0DF-6E62179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91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CC5B877-CD65-4141-9EE1-200EACC5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672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8FC8049-6E1A-42D5-AE0B-969E0FCE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91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5949E0D-AC6D-47CD-8C29-D692FD6C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672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D43C9ED-F067-4572-89A2-6E325ABA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91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E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CB0C7E0-EC91-4643-B94E-F1DD6232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672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0.80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5894601-73C1-4570-9C81-BF250519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F4CD88C-CC31-48FA-88AF-5F4A7326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911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SCFAM10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E49D62A-B88F-4C82-B5E9-FDD7C048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14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7545A08-0A2E-43CE-ADB4-022255B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9911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OOD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E946B0B-C762-4A01-896A-2A4AE1BB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14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CBA6D74-1A53-4E9E-B929-68B79BDE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911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601DEAF-3012-4887-9735-80FDDF30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14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97FC131-E0FB-4238-B22E-C06E81A5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9911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B6D54EB-379D-4E39-8D3D-6435B3C9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14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E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2783D6F-6FAB-4C67-9512-16AE8683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9911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B37359C-9D91-4CA5-AC35-DFD6957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5FBF622-17DE-48EF-9D45-FE65E17E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3149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SCFAM11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6EDF654-F270-44CA-8D50-BD996189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38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EB5CE34-F962-4BB2-8E18-89B735D0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149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OOD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6679734-E05B-4E1F-8A41-0B78D859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238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2145EC8-49BB-4B99-8F22-FF4343F8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3149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BA4060-2411-41B5-B2C0-8113B143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F12726-08C8-4780-8B97-A8A2E4F7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3149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B2438D5-9490-488C-AC12-F16EDE9F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38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4CC8E52-E986-4D55-9342-CACC1FA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3149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0.20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3A818BD-AC67-4B01-A5E6-7D0AFA07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62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0BEB473-914B-4609-9805-67023D9A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6388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SCFAM12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E385F79-4F14-439B-9558-185D0761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562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DE07D43-1BA0-4779-A839-315710BC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6388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OOD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4C8CBA7-785D-4427-989C-524D74CB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562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5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2D1A157-A510-4A05-B641-FD64D8E9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6388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56F780D-E970-47B6-B5E0-CBE274AB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62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7C22476-9C0E-4782-896F-D4CDB891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6388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5D95C9C-7479-48BA-BE87-AA354DE6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562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E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68D9FEA-51FC-40D6-B2D2-6A58ABC8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6388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6B1ED6F-5CE7-4208-8175-38046D22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heatmap</a:t>
            </a:r>
          </a:p>
        </p:txBody>
      </p:sp>
    </p:spTree>
    <p:extLst>
      <p:ext uri="{BB962C8B-B14F-4D97-AF65-F5344CB8AC3E}">
        <p14:creationId xmlns:p14="http://schemas.microsoft.com/office/powerpoint/2010/main" val="14151749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21F1E-843B-44AD-8BD9-64E246B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F0362-6792-4F37-B12C-8665CD26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Feature-space view of held-out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A2F1F-9A93-4399-AA93-2037E327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OOD families are withheld profiles, not random rows from the same profile.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DCBEB-0D73-4904-A8E0-C8BF1726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D48F0-3B13-4FF9-A8AA-6963A5A6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7429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9EAC0-2A2F-450C-A890-63990279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E5EA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0BEBA-A357-43D5-8DD4-9BAE18B1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435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DDA28-EFE6-4075-8722-59C736F1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E5EA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D6127-05A9-414A-8E85-4F11871C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435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1BA97-A621-452E-99A2-F5A1A172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E5EA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6A282-6C57-4EE7-B1DC-FC724E26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435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80821-8C0A-4E18-9BC8-B70F4DF6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E5EA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70C2F-30A9-4E3C-8A78-A1FD7A87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530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02AEB-BEC4-40D6-9479-89E30F2B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59679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E5EA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C9B54-DA59-49B4-8B4B-481FCF4F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3479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4F037-13CF-4296-81D2-FFC18FE8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0107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E5EA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92DEB-CD77-4664-B1CE-CA2BDC9F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3907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B4E61-22D7-45BF-AE8D-EE6166FF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E5EA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1BAFF-ACE7-461A-9E03-1825B7CE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0.9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50A78-308A-4CF5-B6ED-B54F5F87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079546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B2E2B-A051-46A8-88FF-2F80353D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117646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C79D6-DD08-4758-8F7E-805DA99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51589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CA170-F5DF-4666-AF54-59424D88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627789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73749-950F-4034-92BE-CEABFB5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099832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1C86F-3AD9-4175-B8FD-85617FFB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137932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D992D-711A-4129-BC2C-2ED73939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718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A142A-15BC-4594-84A5-3D0D8E39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480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A60E2-1ADA-424C-8C83-3D51A16E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20118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3CB02-5078-4219-A61F-490605E1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158218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1495A-A941-42FE-BAAA-259B15D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44761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F175F9-F29E-46BF-96A5-9C52DE79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82861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315F2D-6D02-4BFE-BA12-DB414DF0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6804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A1C941-A934-40BD-9728-02D81C05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93004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040ED9-FF43-4466-BB82-09B99A10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75189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A82723-4665-433A-B82F-E2C9AB2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13289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79825-D08C-49BB-9164-0D787C9F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47232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D425FC-EB7C-4C4F-B226-9F53CC08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423432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7ED6F0-D389-4BC6-948D-64D31D49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92161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5FBA50-BE88-48B1-959E-A1F8A51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68361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167011-0E68-4057-98C6-0A6575F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324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F7CEA1-F3FA-41AB-90E8-BF9CAF00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3625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C059EE-55B0-4F89-8FAB-2ADA4DC5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573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5A23FD-AB17-4635-B37C-18CB138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335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A6EE85-3F61-4282-9FC5-DB7FE43C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293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litho levels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615E60-1271-4218-87D5-5648EA9F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spacer rate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525FB3-364E-44E2-889B-92627E6F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D3EADC-91A8-44D5-8BDF-80F2FECC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57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 family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4FFEA8-2F03-457E-9D21-A9D797DB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476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8ED535-8BAF-4E34-8AD7-DDBE0659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57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held-out OOD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9ADEDC-5303-437E-B73E-A1074881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051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larger marker = extra via block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60A8FF-9E4B-444F-877F-3188A653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feature space</a:t>
            </a:r>
          </a:p>
        </p:txBody>
      </p:sp>
    </p:spTree>
    <p:extLst>
      <p:ext uri="{BB962C8B-B14F-4D97-AF65-F5344CB8AC3E}">
        <p14:creationId xmlns:p14="http://schemas.microsoft.com/office/powerpoint/2010/main" val="6769147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725DB-10F1-49D6-B18E-164D4CD5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F75C0-8585-4EF7-ACAC-C7EEF3F4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Same tokens, different valid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3A534-BB23-475C-9703-AE8739DF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model is not asked to invent new process words. It must learn route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730F3-0FB1-477A-BADB-D55654D1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2246D-48D1-4EBC-93F9-9B67730A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Shared process vocabulary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6157C-EE4A-421E-8F2B-63808666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0AE20-B74B-435F-A67C-E349FA9D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764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60DEF-0B29-4E78-BD30-92FAE0FB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02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C3219-D093-468D-893A-A16C9DBC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764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oxidize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760F4-8830-420C-AC9D-6B2B43F1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002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D6B05-C6F4-44F9-8940-5C756EF2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litho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84A24-6A82-4C42-80F1-F0E1B224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3DE33-D109-4083-8106-789B3050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764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07CBE-9616-4BFD-8AD5-8C2DB3FD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002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54814-8825-47D9-901A-C564D847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764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implant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3307C-2AA6-4544-BE76-65A961AF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02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CA336-33A4-4C1F-9EE6-9F97AA41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764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anneal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38F84-9F08-4BFA-86E6-17C4F942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002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BB34A-7B7E-4030-B148-EB3C340D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764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DF05E-D12F-4569-8291-B1D6F23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002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6AA3B-A4FB-4B7A-9B47-5B552F47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764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7671F-A62D-4009-9265-5866B307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Known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C2FFC-D0E2-4469-8B75-CC125103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90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403E3-1B1A-4034-87E1-CCE6CFDD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67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D637A-2B51-4134-83F9-766E263D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38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62D485-1AEA-496B-93F9-494647A5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90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3BE4E-DFF5-4500-87DE-BFEF30DC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90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57CC8C-2F29-427E-AEFE-3B748BF2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67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oxidize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3207C-2F74-4A1E-8EE1-AFCEB576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38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087C3A-4CA6-4BF5-AF07-0448A6ED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90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EF8E9-9BAE-4F1D-9014-D06D4F11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90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B69B3-7806-41C4-B93F-C5B1C037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67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litho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05004C-FB57-42BB-B65E-3058CB74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38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A67AB1-7F6D-4680-8D07-8B10A49A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64B0BF-9843-467D-A7A2-2F5FCA2A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90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B6EFF-0368-4E3E-BBD2-E3AE8B14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67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implant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07419-9558-47E6-9EE8-AB20B413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38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06639E-8207-4497-B38E-17DB9082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5CE181-A09E-4E66-A5EE-DC212C56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90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4879EC-9A19-46D3-86C7-02568D39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67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anneal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816988-D7BD-4755-84D1-8EFF8200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38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9CF585-B91D-4201-91F9-2816A3BE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90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1CBADB-6FCE-4FA4-91FA-D3132D60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90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C24715-18F7-4A8E-9936-CBF8D20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67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metal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DD3B2F-BFAB-4F55-9880-6F0FDB10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OOD route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89D362-0E3D-4DB0-9B2C-617F944D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33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BEC1F2-C282-4684-978A-E800082F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10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5CCAFF-9775-4F11-AE4A-0091DD2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81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B2C511-457E-4DFC-B48C-6BA5921A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33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A58FD5-6108-4813-9ABA-3571A06F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333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C780F6-ED87-4617-9D3E-6A50D219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10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oxidize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CBFF18-2644-4D5F-AF48-6CA89B24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81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F828DD-25B9-48D6-B251-DD797956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33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9851F3-14C8-4D48-A19F-A9055847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333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0F1B93-F46B-4A8F-9499-79E36AE1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410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litho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90BA97-633E-44C2-8107-6C8F96A7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81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78E6E5-8EE6-4720-A857-9CB3E92D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33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639DC3-8811-44E7-9598-ED3B7DD7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33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93D066-5BC3-4D07-979D-90C96210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10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implant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2C927F-455D-4659-B532-0C433C14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81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9CB0FF-F51D-46A5-84A9-6E6D255F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433AF31-44F5-423E-8908-65DA9A1F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33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40B272-4E3C-45A1-9A77-96D9A53B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0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implant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042C3E-96AC-4A35-8076-19D6B3B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581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9D476B-D1C7-4F26-A4C6-1EA8A54D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33900"/>
            <a:ext cx="1047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80B934-BB09-49E2-BEC3-CCB24D95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33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8A798E-7B8F-4B5E-9E6F-718C9046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1007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via repeat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84D676-F4F3-4941-829D-D43C6F9C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76875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66CFF4-06CE-47E4-B97E-11C073D7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388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This is why fixed-vocabulary OOD is fair: failures reflect process-order generalization, not unknown-token handling.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8AF565-0778-4C19-8BAD-55E5DCBE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same vocabulary</a:t>
            </a:r>
          </a:p>
        </p:txBody>
      </p:sp>
    </p:spTree>
    <p:extLst>
      <p:ext uri="{BB962C8B-B14F-4D97-AF65-F5344CB8AC3E}">
        <p14:creationId xmlns:p14="http://schemas.microsoft.com/office/powerpoint/2010/main" val="4404886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9161D-AC9D-482B-98FC-1CE6A0A8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D3717-DEC5-4B9F-B4E9-C3580DB3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Copyable pitch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4B56A-DD3B-443A-82CF-2A0E4A2E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short verbal bridge for whichever diagram you choose.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6FB1E-5685-487F-880E-5928BADB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90F9E-FE93-4727-9527-E044780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952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CE76E-5AE4-4A42-87C0-D2E00DC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0225"/>
            <a:ext cx="922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One-sentence 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D799A-6B03-4AA7-A498-8D4EB80A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922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process family is a route profile: it changes lithography depth, repeated via blocks, spacer frequency, and implant order while keeping the same process vocabulary.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C8068-A8EF-4DF1-B274-C352BFA0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52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BE299-F7A4-43BC-989E-A0D944DC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922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20-second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B4019-2B25-4539-A83E-BD764394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52825"/>
            <a:ext cx="9220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 did not just add more rows. We generated family profiles that vary real process structure: 4/5/6 lithography levels, optional second via stacks, different spacer probabilities, and implant-route recombinations. Then we trained on 12 families and tested on 3 unseen family profiles. That makes the benchmark closer to the hidden-family question.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530A7-A2A8-48A9-ACFE-4F5ED2DD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12AF7-3954-4F0C-864B-8176AD75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33975"/>
            <a:ext cx="922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Defensive wording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AC7A8-3132-4B9E-B0DF-949C069B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922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synthetic families reuse the existing vocabulary and are validated by the organizer rule checker, so the OOD test measures route logic rather than new-token handling.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F9596-8E05-4F59-9999-C3D3161E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Family variation diagram bank | talk track</a:t>
            </a:r>
          </a:p>
        </p:txBody>
      </p:sp>
    </p:spTree>
    <p:extLst>
      <p:ext uri="{BB962C8B-B14F-4D97-AF65-F5344CB8AC3E}">
        <p14:creationId xmlns:p14="http://schemas.microsoft.com/office/powerpoint/2010/main" val="1185812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2026-05-31T07:34:32.5680000Z</dcterms:created>
  <dcterms:modified xsi:type="dcterms:W3CDTF">2026-05-31T07:34:32.5680000Z</dcterms:modified>
</coreProperties>
</file>