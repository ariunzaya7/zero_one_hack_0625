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6771008e8e14466" /><Relationship Type="http://schemas.openxmlformats.org/officeDocument/2006/relationships/extended-properties" Target="/docProps/app.xml" Id="R26aa73368c8340e5" /><Relationship Type="http://schemas.openxmlformats.org/officeDocument/2006/relationships/officeDocument" Target="/ppt/presentation.xml" Id="Recc8c27e6321453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22070b3b1314420"/>
  </p:sldMasterIdLst>
  <p:notesMasterIdLst>
    <p:notesMasterId xmlns:r="http://schemas.openxmlformats.org/officeDocument/2006/relationships" r:id="Red7e24101ce04844"/>
  </p:notesMasterIdLst>
  <p:sldIdLst>
    <p:sldId xmlns:r="http://schemas.openxmlformats.org/officeDocument/2006/relationships" id="256" r:id="R6117e6095a724b7f"/>
    <p:sldId xmlns:r="http://schemas.openxmlformats.org/officeDocument/2006/relationships" id="257" r:id="R48b0e20cacb34e11"/>
    <p:sldId xmlns:r="http://schemas.openxmlformats.org/officeDocument/2006/relationships" id="258" r:id="R2298f8081fc3481a"/>
    <p:sldId xmlns:r="http://schemas.openxmlformats.org/officeDocument/2006/relationships" id="259" r:id="R7c2ea62890cd4d7a"/>
    <p:sldId xmlns:r="http://schemas.openxmlformats.org/officeDocument/2006/relationships" id="260" r:id="R6285760552cf4e12"/>
    <p:sldId xmlns:r="http://schemas.openxmlformats.org/officeDocument/2006/relationships" id="261" r:id="Rbcf657cbace64afe"/>
    <p:sldId xmlns:r="http://schemas.openxmlformats.org/officeDocument/2006/relationships" id="262" r:id="Rbef7707fc05f40ed"/>
    <p:sldId xmlns:r="http://schemas.openxmlformats.org/officeDocument/2006/relationships" id="263" r:id="R043270d71c324d5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2070b3b1314420" /><Relationship Type="http://schemas.openxmlformats.org/officeDocument/2006/relationships/theme" Target="/ppt/theme/theme1.xml" Id="R4133e91fc3d54e7c" /><Relationship Type="http://schemas.openxmlformats.org/officeDocument/2006/relationships/notesMaster" Target="/ppt/notesMasters/notesMaster1.xml" Id="Red7e24101ce04844" /><Relationship Type="http://schemas.openxmlformats.org/officeDocument/2006/relationships/presProps" Target="/ppt/presProps.xml" Id="Rd4a53bdad5c64a81" /><Relationship Type="http://schemas.openxmlformats.org/officeDocument/2006/relationships/viewProps" Target="/ppt/viewProps.xml" Id="R5040e0b38afe42e0" /><Relationship Type="http://schemas.openxmlformats.org/officeDocument/2006/relationships/tableStyles" Target="/ppt/tableStyles.xml" Id="Rfc1bf87224e84a44" /><Relationship Type="http://schemas.openxmlformats.org/officeDocument/2006/relationships/slide" Target="/ppt/slides/slide1.xml" Id="R6117e6095a724b7f" /><Relationship Type="http://schemas.openxmlformats.org/officeDocument/2006/relationships/slide" Target="/ppt/slides/slide2.xml" Id="R48b0e20cacb34e11" /><Relationship Type="http://schemas.openxmlformats.org/officeDocument/2006/relationships/slide" Target="/ppt/slides/slide3.xml" Id="R2298f8081fc3481a" /><Relationship Type="http://schemas.openxmlformats.org/officeDocument/2006/relationships/slide" Target="/ppt/slides/slide4.xml" Id="R7c2ea62890cd4d7a" /><Relationship Type="http://schemas.openxmlformats.org/officeDocument/2006/relationships/slide" Target="/ppt/slides/slide5.xml" Id="R6285760552cf4e12" /><Relationship Type="http://schemas.openxmlformats.org/officeDocument/2006/relationships/slide" Target="/ppt/slides/slide6.xml" Id="Rbcf657cbace64afe" /><Relationship Type="http://schemas.openxmlformats.org/officeDocument/2006/relationships/slide" Target="/ppt/slides/slide7.xml" Id="Rbef7707fc05f40ed" /><Relationship Type="http://schemas.openxmlformats.org/officeDocument/2006/relationships/slide" Target="/ppt/slides/slide8.xml" Id="R043270d71c324d5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e4debc9aa49c44c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4b3550fe761469f" /><Relationship Type="http://schemas.openxmlformats.org/officeDocument/2006/relationships/notesMaster" Target="/ppt/notesMasters/notesMaster1.xml" Id="R17e2fe369ee4473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95545c4895a45d8" /><Relationship Type="http://schemas.openxmlformats.org/officeDocument/2006/relationships/notesMaster" Target="/ppt/notesMasters/notesMaster1.xml" Id="Reb559ce548c744b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8332fb8dc4945eb" /><Relationship Type="http://schemas.openxmlformats.org/officeDocument/2006/relationships/notesMaster" Target="/ppt/notesMasters/notesMaster1.xml" Id="R1ccaef6bd660421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2d9f8c6de0944c4" /><Relationship Type="http://schemas.openxmlformats.org/officeDocument/2006/relationships/notesMaster" Target="/ppt/notesMasters/notesMaster1.xml" Id="R76980164a73f460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7a182a123b94eee" /><Relationship Type="http://schemas.openxmlformats.org/officeDocument/2006/relationships/notesMaster" Target="/ppt/notesMasters/notesMaster1.xml" Id="R1c92bfaa0c9642c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c856065ddd54a90" /><Relationship Type="http://schemas.openxmlformats.org/officeDocument/2006/relationships/notesMaster" Target="/ppt/notesMasters/notesMaster1.xml" Id="R99e13bbd0a5141a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307b94fe92c470c" /><Relationship Type="http://schemas.openxmlformats.org/officeDocument/2006/relationships/notesMaster" Target="/ppt/notesMasters/notesMaster1.xml" Id="R2f34f12e035a4ba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80ee1be533d42af" /><Relationship Type="http://schemas.openxmlformats.org/officeDocument/2006/relationships/notesMaster" Target="/ppt/notesMasters/notesMaster1.xml" Id="Raf1a8a1e80fa4c3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499dedaefb4019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12facf88edb24a2b" /><Relationship Type="http://schemas.openxmlformats.org/officeDocument/2006/relationships/slideLayout" Target="/ppt/slideLayouts/slideLayout2.xml" Id="Rd055b97df662439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055b97df662439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8fad25220a246a4" /><Relationship Type="http://schemas.openxmlformats.org/officeDocument/2006/relationships/notesSlide" Target="/ppt/notesSlides/notesSlide1.xml" Id="R38c155fb2a6b466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9170971675740d0" /><Relationship Type="http://schemas.openxmlformats.org/officeDocument/2006/relationships/notesSlide" Target="/ppt/notesSlides/notesSlide2.xml" Id="R59424b8f79a640f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d1e086407fc4a53" /><Relationship Type="http://schemas.openxmlformats.org/officeDocument/2006/relationships/notesSlide" Target="/ppt/notesSlides/notesSlide3.xml" Id="R007302febde849d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09cc01d272043fb" /><Relationship Type="http://schemas.openxmlformats.org/officeDocument/2006/relationships/notesSlide" Target="/ppt/notesSlides/notesSlide4.xml" Id="R60296d6331b3465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2be10f90b09421b" /><Relationship Type="http://schemas.openxmlformats.org/officeDocument/2006/relationships/notesSlide" Target="/ppt/notesSlides/notesSlide5.xml" Id="R44b6c1e5629f46b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6fa53b1d8a64769" /><Relationship Type="http://schemas.openxmlformats.org/officeDocument/2006/relationships/notesSlide" Target="/ppt/notesSlides/notesSlide6.xml" Id="R57e8ab0baaca4c1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7ff5637249341cf" /><Relationship Type="http://schemas.openxmlformats.org/officeDocument/2006/relationships/notesSlide" Target="/ppt/notesSlides/notesSlide7.xml" Id="R7e696fcd6d344c7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2df84e9c3204049" /><Relationship Type="http://schemas.openxmlformats.org/officeDocument/2006/relationships/notesSlide" Target="/ppt/notesSlides/notesSlide8.xml" Id="R6741fec174b74747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F4C6277-C406-4EEB-BF30-B83A0CF49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2C8DE7-320F-4D33-929D-8C2F5F0A2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33"/>
          </a:solidFill>
          <a:ln xmlns:a="http://schemas.openxmlformats.org/drawingml/2006/main" w="0">
            <a:solidFill>
              <a:srgbClr val="172033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898E65-12BF-4ACB-B768-32F530819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7200"/>
            <a:ext cx="1143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5EC"/>
          </a:solidFill>
          <a:ln xmlns:a="http://schemas.openxmlformats.org/drawingml/2006/main" w="0">
            <a:solidFill>
              <a:srgbClr val="DFF5E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54DDEF-D152-4476-98D9-11070F768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914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F8A5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F8A5F"/>
                </a:solidFill>
                <a:latin typeface="Aptos"/>
                <a:ea typeface="Aptos"/>
                <a:cs typeface="Aptos"/>
              </a:rPr>
              <a:t>FINAL PACKAGE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066404-5F47-4B9E-B13F-BF50FA771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57200"/>
            <a:ext cx="1619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AFE"/>
          </a:solidFill>
          <a:ln xmlns:a="http://schemas.openxmlformats.org/drawingml/2006/main" w="0">
            <a:solidFill>
              <a:srgbClr val="DCEAF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ECF2CD-FD79-4078-80C9-4F88B48AC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514350"/>
            <a:ext cx="1390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LEGAL OOD PROTOCOL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FEE89D-C257-4D98-9ACF-470872207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33550"/>
            <a:ext cx="6858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SUBMISSION_1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F1A390-157B-48D0-ADA0-92F6DE140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7810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Train on 12 families, test on 3 unseen families, ship official-format GPT outputs.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E59416-FA60-48BD-AD38-9C64CC544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24250"/>
            <a:ext cx="1619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675C20-E72B-41F2-86EC-2AF4EEE49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95700"/>
            <a:ext cx="1276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0.722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751843-1123-4E3D-B630-D915F10EB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24325"/>
            <a:ext cx="1276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OOD3 Top-1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6436E5-0E84-48A1-9F99-0DA269884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24350"/>
            <a:ext cx="1276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family-wise avg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5FF1DA-87F1-487C-A99E-541849607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524250"/>
            <a:ext cx="1619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4205A4-28A0-485E-A99C-F76BBE617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695700"/>
            <a:ext cx="1276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8A5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F8A5F"/>
                </a:solidFill>
                <a:latin typeface="Aptos"/>
                <a:ea typeface="Aptos"/>
                <a:cs typeface="Aptos"/>
              </a:rPr>
              <a:t>0.999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924D90-B87B-44E1-BD03-0E260D366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124325"/>
            <a:ext cx="1276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OOD3 Top-5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63B47B-6540-439F-8582-F0DF167B2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324350"/>
            <a:ext cx="1276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family-wise avg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292A92-9294-4478-A9BE-20FA9AF2F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524250"/>
            <a:ext cx="1619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A5CEBD-4726-4DD4-B002-832C4435E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695700"/>
            <a:ext cx="1276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891B2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891B2"/>
                </a:solidFill>
                <a:latin typeface="Aptos"/>
                <a:ea typeface="Aptos"/>
                <a:cs typeface="Aptos"/>
              </a:rPr>
              <a:t>0.847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835FDA-6EEC-440C-B9F8-7AE6875C1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124325"/>
            <a:ext cx="1276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OOD3 MRR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782AEE-301F-45A8-804E-7632B5D2D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324350"/>
            <a:ext cx="1276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family-wise avg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96208F6-E98F-47E1-A854-0369A872F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524250"/>
            <a:ext cx="1619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3F340E8-D1D3-43FD-9F29-9EC787E6B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695700"/>
            <a:ext cx="1276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B7791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B7791F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79163B0-FBFE-418A-868D-4EB4EBDC1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24325"/>
            <a:ext cx="1276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Families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E78CF5E-BE64-49B3-8EE7-B59BE544F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24350"/>
            <a:ext cx="1276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12 train / 3 test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DE84378-8CF4-4BE5-8C6A-434A22E0E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809750"/>
            <a:ext cx="24765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39D5488-C0C6-464E-94A1-201A1C52C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0764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Submission surface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BEA41B2-0DE2-4286-9D37-F99CFF2AE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57175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A5F"/>
          </a:solidFill>
          <a:ln xmlns:a="http://schemas.openxmlformats.org/drawingml/2006/main" w="0">
            <a:solidFill>
              <a:srgbClr val="0F8A5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515F07A-8D79-42DC-A020-2E2FA05DC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533650"/>
            <a:ext cx="16668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nextstep.csv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9A8248E-0568-4009-9421-AFF974067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9718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A5F"/>
          </a:solidFill>
          <a:ln xmlns:a="http://schemas.openxmlformats.org/drawingml/2006/main" w="0">
            <a:solidFill>
              <a:srgbClr val="0F8A5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303528E-497E-4A1B-B896-DB9F88A91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933700"/>
            <a:ext cx="16668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completion.csv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5ED975A-E6F4-44FF-B827-FF267A490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37185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A5F"/>
          </a:solidFill>
          <a:ln xmlns:a="http://schemas.openxmlformats.org/drawingml/2006/main" w="0">
            <a:solidFill>
              <a:srgbClr val="0F8A5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54B68E3-3745-486B-8BB6-51C4EE37F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333750"/>
            <a:ext cx="16668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anomaly.csv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B0E3DD7-7CF8-42C8-808B-64C974EF1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77190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A5F"/>
          </a:solidFill>
          <a:ln xmlns:a="http://schemas.openxmlformats.org/drawingml/2006/main" w="0">
            <a:solidFill>
              <a:srgbClr val="0F8A5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4498833-1E19-4DF8-ABB0-2D2B6D281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733800"/>
            <a:ext cx="16668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outputs/gpt_large_train12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70A1A91-B426-4F78-9E8B-B2597B06E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4171950"/>
            <a:ext cx="15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A5F"/>
          </a:solidFill>
          <a:ln xmlns:a="http://schemas.openxmlformats.org/drawingml/2006/main" w="0">
            <a:solidFill>
              <a:srgbClr val="0F8A5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6BEAE42-2C33-460D-9B1B-69B3BBC67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133850"/>
            <a:ext cx="16668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n-gram fallback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FC4E2DB-C2DD-4E13-AF24-93CBCE8A2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7620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7B8494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7B8494"/>
                </a:solidFill>
                <a:latin typeface="Aptos"/>
                <a:ea typeface="Aptos"/>
                <a:cs typeface="Aptos"/>
              </a:rPr>
              <a:t>SUBMISSION_1 | Industrial AI Infineon | May 31, 2026</a:t>
            </a:r>
          </a:p>
        </p:txBody>
      </p:sp>
    </p:spTree>
    <p:extLst>
      <p:ext uri="{BB962C8B-B14F-4D97-AF65-F5344CB8AC3E}">
        <p14:creationId xmlns:p14="http://schemas.microsoft.com/office/powerpoint/2010/main" val="152935880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AE398AB-A552-468A-BE77-FF7A8C38E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E17447-FB94-40BC-BE37-7BD273688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8572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Score exactly where the jury scores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F3B2F5-72AD-43DE-A7C6-F5E0758DF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57250"/>
            <a:ext cx="8572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Each official task has a generated CSV, a legal source path, and an auditable local proof.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204ECC-6817-4986-BA18-DF42B1607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38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BAB729-5396-4BB9-B96F-B3C891CAB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19250"/>
            <a:ext cx="10858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33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2C0D5C-4C67-4B3E-81FF-2A96330C2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33550"/>
            <a:ext cx="219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Jury task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7417C1-F67F-4548-89D1-A9CEC24D6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733550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Submitted file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741498-6C56-445D-A4C2-97E348073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1733550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What it scores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C0738C-E0F5-44AF-8E77-A650A74E4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73355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SUBMISSION_1 proof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C0EE34-70F3-477C-BB97-45B027E62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1733550"/>
            <a:ext cx="1619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Risk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B1EDD2-5D7D-4BCC-8BB5-1B394C293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52650"/>
            <a:ext cx="10858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F7E0C6-7D8A-4AD6-93DE-BE9613D2B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66950"/>
            <a:ext cx="219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1. Next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F50E04-F3A5-4F4E-B469-F2EFF18B4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266950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nextstep.csv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77A567-7349-4859-9640-681068F50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2266950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Top-1 / Top-3 / Top-5 / MRR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A7B394-74B8-4FD3-A67F-D578661A2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26695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GPT large OOD3 Top-1 0.722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166EF8-7491-491E-868E-8EFD49C56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266950"/>
            <a:ext cx="1619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Low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CE6940-CD30-4993-9264-5504E063F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86050"/>
            <a:ext cx="10858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1027C64-F5B3-4159-B727-8C4829B48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00350"/>
            <a:ext cx="219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2. Completion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8CB753-0FD1-4035-B076-C26ED81E5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800350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completion.csv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E151BEA-7B03-453A-871A-4A492CF3E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2800350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Normalized edit distance plus exact/token/block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DDCAD12-86E6-4833-B0CF-1DF4B7904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80035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Same checkpoint, official IDs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8EA4E3-8E96-4AC7-8FC7-568030707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800350"/>
            <a:ext cx="1619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Medium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630D29E-8C08-4E3F-8A1E-A1BA704FC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19450"/>
            <a:ext cx="10858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654D8E5-D77B-4EF4-A6D9-00F7D4B60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33750"/>
            <a:ext cx="219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3. Anomaly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71F3CC3-175B-466C-B9BE-BB2F7C45B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333750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anomaly.csv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6045E21-2598-4501-9410-DDA99409A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3333750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Validity, score, violated rule name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9F1C9B8-2811-45A2-9A35-F8ABCA674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33375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Rule validator, official rule strings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639F700-EF37-4A6F-9662-AEF6B0830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33750"/>
            <a:ext cx="1619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Low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2EE7010-C976-41DF-ADC4-A53710743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52850"/>
            <a:ext cx="10858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4500E6D-0899-4CC3-86CC-E7A6DB066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67150"/>
            <a:ext cx="219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Legality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D8E8A19-840A-4C99-B2EB-1D3E850AD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867150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repo evidence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BC90310-0130-4173-BA7F-D79BDB23A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3867150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No hidden eval training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5E933D4-CA9C-4657-B099-B543D5889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86715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Official eval only used for inference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ABD3B6B-27DB-451D-B495-F9E95B038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867150"/>
            <a:ext cx="1619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Low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167231D-F336-423A-950A-AF97B3F17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0"/>
            <a:ext cx="10858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2074238-9608-4B63-B82A-9B2FEDB0E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00550"/>
            <a:ext cx="219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Reproducibility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95CC908-55D2-4D00-B693-5D21A4F63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400550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REPORT + README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86F5B14-B222-433D-86F2-B8B88E7DE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4400550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Run path and dependencies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956B976-D8AE-4225-9A56-A5F788BE4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40055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Checkpoint + n-gram fallback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852F4E2-B34C-4A12-9914-2B08F28A1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400550"/>
            <a:ext cx="1619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Low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561AE33-22FC-43B7-9A58-0D5E4EBDA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191125"/>
            <a:ext cx="10096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AFE"/>
          </a:solidFill>
          <a:ln xmlns:a="http://schemas.openxmlformats.org/drawingml/2006/main" w="0">
            <a:solidFill>
              <a:srgbClr val="DCEAFE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9B61E23-8374-4DC9-94AF-8DA83414D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410200"/>
            <a:ext cx="9525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Decision: freeze the number-improvement path here. Polish presentation, not model behavior, unless a format bug is found.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15D0CCD-0FFA-4FB3-A6D7-311F0C0C6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7620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7B8494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7B8494"/>
                </a:solidFill>
                <a:latin typeface="Aptos"/>
                <a:ea typeface="Aptos"/>
                <a:cs typeface="Aptos"/>
              </a:rPr>
              <a:t>SUBMISSION_1 | Industrial AI Infineon | May 31, 2026</a:t>
            </a:r>
          </a:p>
        </p:txBody>
      </p:sp>
    </p:spTree>
    <p:extLst>
      <p:ext uri="{BB962C8B-B14F-4D97-AF65-F5344CB8AC3E}">
        <p14:creationId xmlns:p14="http://schemas.microsoft.com/office/powerpoint/2010/main" val="56625448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A0F965F-8428-413A-ABEA-4682D22E4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0D4C30-0E0E-44CD-ABC4-E6334CC05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8572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Why this branch ranks first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2E59CA-6F6E-4651-9BF5-9EC8FF1AF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57250"/>
            <a:ext cx="8572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The best winning chance is the strongest legal OOD result that also ships clean official-format artifacts.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7152C8-4F42-4645-9BED-F28CC6FD3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38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9F3F77-1A02-40F1-BA9F-1ADCF709D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85925"/>
            <a:ext cx="1809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SUBMISSION_1 GPT large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2F28A5-6F0E-46C6-A603-2A9A3B9B7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714500"/>
            <a:ext cx="590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4"/>
          </a:solidFill>
          <a:ln xmlns:a="http://schemas.openxmlformats.org/drawingml/2006/main" w="0">
            <a:solidFill>
              <a:srgbClr val="E9EDF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87AF51-1E71-4AA8-BF2B-C642ED028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714500"/>
            <a:ext cx="56864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A5F"/>
          </a:solidFill>
          <a:ln xmlns:a="http://schemas.openxmlformats.org/drawingml/2006/main" w="0">
            <a:solidFill>
              <a:srgbClr val="0F8A5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5FC7CE-9A69-419C-AEC4-E1F19A934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704975"/>
            <a:ext cx="666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F8A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8A5F"/>
                </a:solidFill>
                <a:latin typeface="Aptos"/>
                <a:ea typeface="Aptos"/>
                <a:cs typeface="Aptos"/>
              </a:rPr>
              <a:t>0.722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E66999-6807-4E61-BB68-65D1B9E66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94310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15 families; train 12; test 3; final CSVs and checkpoint present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A73204-FF41-4083-929A-BA6B739CA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05050"/>
            <a:ext cx="1809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Prior GPT self-eval path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22D2F8-ABCB-4418-A840-BBA5BB79E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333625"/>
            <a:ext cx="590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4"/>
          </a:solidFill>
          <a:ln xmlns:a="http://schemas.openxmlformats.org/drawingml/2006/main" w="0">
            <a:solidFill>
              <a:srgbClr val="E9EDF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7C7864-AF25-4881-913F-FB8356639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333625"/>
            <a:ext cx="555307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C30866-5083-443E-8102-69AE9489A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324100"/>
            <a:ext cx="666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0.705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8C0B32-6355-43EE-8D7B-72ADEE31C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562225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Strong self-eval, but weaker OOD framing than SUBMISSION_1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31B588-37E4-40E3-AC5E-F97BD92D3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24175"/>
            <a:ext cx="1809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Single-family OOD proxy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EC75BD-6F06-4283-AE2B-EC566F7C5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952750"/>
            <a:ext cx="590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4"/>
          </a:solidFill>
          <a:ln xmlns:a="http://schemas.openxmlformats.org/drawingml/2006/main" w="0">
            <a:solidFill>
              <a:srgbClr val="E9EDF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EB8A74-CCDD-4924-876E-DECAB46D5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952750"/>
            <a:ext cx="45815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CDD191-6B1E-4B20-9436-5BD830C01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943225"/>
            <a:ext cx="666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B7791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B7791F"/>
                </a:solidFill>
                <a:latin typeface="Aptos"/>
                <a:ea typeface="Aptos"/>
                <a:cs typeface="Aptos"/>
              </a:rPr>
              <a:t>0.582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871FD0E-4406-4E8D-9562-865C33FCF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18135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Useful single-family stress test; less robust than OOD3 average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77D7558-0F85-49AA-A8B8-F912B2F99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43300"/>
            <a:ext cx="1809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N-gram fallback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3ABD3CA-98C3-424C-8CE3-03E9C17AF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571875"/>
            <a:ext cx="590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4"/>
          </a:solidFill>
          <a:ln xmlns:a="http://schemas.openxmlformats.org/drawingml/2006/main" w="0">
            <a:solidFill>
              <a:srgbClr val="E9EDF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783401B-364A-4B6D-8FF0-635BA638B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571875"/>
            <a:ext cx="521017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891B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B14D06A-CF63-4A90-B057-4B3BFCF91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562350"/>
            <a:ext cx="666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891B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891B2"/>
                </a:solidFill>
                <a:latin typeface="Aptos"/>
                <a:ea typeface="Aptos"/>
                <a:cs typeface="Aptos"/>
              </a:rPr>
              <a:t>0.662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67F5AD8-26A3-4E42-B741-8AFD75AB0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800475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Dependency-free safety baseline; not the primary winning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249902C-A480-454C-97DC-37505288C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95450"/>
            <a:ext cx="2857500" cy="255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50C4FE5-15DA-47C4-814B-6538DA044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52625"/>
            <a:ext cx="2190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Selection logic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AD73995-926C-489C-8B65-A362C5C65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40030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A5F"/>
          </a:solidFill>
          <a:ln xmlns:a="http://schemas.openxmlformats.org/drawingml/2006/main" w="0">
            <a:solidFill>
              <a:srgbClr val="0F8A5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5A01C66-6D76-429F-BBC6-426CD56A5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352675"/>
            <a:ext cx="20478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Higher OOD confidence than inherited single-family proxy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496D78C-8779-47EB-B9BA-2F75429E6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3845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A5F"/>
          </a:solidFill>
          <a:ln xmlns:a="http://schemas.openxmlformats.org/drawingml/2006/main" w="0">
            <a:solidFill>
              <a:srgbClr val="0F8A5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62FBF18-458F-4085-AE81-36F8589F9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790825"/>
            <a:ext cx="20478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No eval_input_anomaly training leakage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DBEE554-0D50-4C8B-88C5-6F748BC16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27660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A5F"/>
          </a:solidFill>
          <a:ln xmlns:a="http://schemas.openxmlformats.org/drawingml/2006/main" w="0">
            <a:solidFill>
              <a:srgbClr val="0F8A5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0923DF2-72ED-4723-AE02-BD5F40835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228975"/>
            <a:ext cx="20478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Official IDs generated from participant files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336841C-8077-4281-B2B8-96562B194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71475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A5F"/>
          </a:solidFill>
          <a:ln xmlns:a="http://schemas.openxmlformats.org/drawingml/2006/main" w="0">
            <a:solidFill>
              <a:srgbClr val="0F8A5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F503BA8-D6F6-4779-B6E2-C24953E1B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667125"/>
            <a:ext cx="20478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Checkpoint included; fallback remains runnable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B5A6718-F93C-41B7-9695-93C4DDED8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905375"/>
            <a:ext cx="9810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Counterargument handled: if the hidden OOD family differs from our synthetic families, the 3-family average is still a better proxy than optimizing on known-format self-eval alone.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E931F4D-1B4B-4157-A4C9-E621E885A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7620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7B8494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7B8494"/>
                </a:solidFill>
                <a:latin typeface="Aptos"/>
                <a:ea typeface="Aptos"/>
                <a:cs typeface="Aptos"/>
              </a:rPr>
              <a:t>SUBMISSION_1 | Industrial AI Infineon | May 31, 2026</a:t>
            </a:r>
          </a:p>
        </p:txBody>
      </p:sp>
    </p:spTree>
    <p:extLst>
      <p:ext uri="{BB962C8B-B14F-4D97-AF65-F5344CB8AC3E}">
        <p14:creationId xmlns:p14="http://schemas.microsoft.com/office/powerpoint/2010/main" val="43005280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0406826-9182-49FE-B7B5-A2A32E9CB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935C84-9CFB-40F1-B0C8-41AA8745A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8572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OOD protocol is explicit and judge-aligned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F94FA0-5900-48DD-9C55-9B1457FE6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57250"/>
            <a:ext cx="8572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SUBMISSION_1 tests whether the model learned process grammar, not just known family routes.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71DF19-2C3E-44EC-8977-995BDC871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38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4CB3FD-A2D1-4DDE-8659-122E517E9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09750"/>
            <a:ext cx="2000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B389F9-53BF-4099-AEA6-511DDDF1A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7335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15 total families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E179BB-F90C-4C17-A2C0-DA6BDD189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247900"/>
            <a:ext cx="8191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solidFill>
              <a:srgbClr val="D9DE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626771-290A-4825-A5FD-1F6C68FAD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200275"/>
            <a:ext cx="952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solidFill>
              <a:srgbClr val="D9DE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EB7163-B6FE-4736-A803-527645328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1695450"/>
            <a:ext cx="2476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5EC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F1761C-80F5-455B-A557-669B27AA6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828800"/>
            <a:ext cx="22098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F8A5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F8A5F"/>
                </a:solidFill>
                <a:latin typeface="Aptos"/>
                <a:ea typeface="Aptos"/>
                <a:cs typeface="Aptos"/>
              </a:rPr>
              <a:t>12 train families</a:t>
            </a:r>
          </a:p>
          <a:p xmlns:a="http://schemas.openxmlformats.org/drawingml/2006/main">
            <a:pPr algn="l">
              <a:defRPr sz="1050" b="1">
                <a:solidFill>
                  <a:srgbClr val="0F8A5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F8A5F"/>
                </a:solidFill>
                <a:latin typeface="Aptos"/>
                <a:ea typeface="Aptos"/>
                <a:cs typeface="Aptos"/>
              </a:rPr>
              <a:t>mosfet, igbt, ic</a:t>
            </a:r>
          </a:p>
          <a:p xmlns:a="http://schemas.openxmlformats.org/drawingml/2006/main">
            <a:pPr algn="l">
              <a:defRPr sz="1050" b="1">
                <a:solidFill>
                  <a:srgbClr val="0F8A5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F8A5F"/>
                </a:solidFill>
                <a:latin typeface="Aptos"/>
                <a:ea typeface="Aptos"/>
                <a:cs typeface="Aptos"/>
              </a:rPr>
              <a:t>+ scfam01-09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AAE840-30A0-4A51-9807-AD1D8B187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247900"/>
            <a:ext cx="800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solidFill>
              <a:srgbClr val="D9DE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C68F32-DA36-4EC6-8A81-A4FBEFD06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200275"/>
            <a:ext cx="952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solidFill>
              <a:srgbClr val="D9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4EE2C1-AA65-4A26-A38E-397DDB920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1695450"/>
            <a:ext cx="27813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AFE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C3CADE-EEE7-4A50-B3BD-7E7E592B9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1828800"/>
            <a:ext cx="25146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3 held-out OOD families</a:t>
            </a:r>
          </a:p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scfam10, scfam11, scfam12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71C1BE-C3A7-406C-A403-4075F0066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247900"/>
            <a:ext cx="685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solidFill>
              <a:srgbClr val="D9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D8CFF0-BAD8-4523-9E6C-972CA708B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2200275"/>
            <a:ext cx="952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solidFill>
              <a:srgbClr val="D9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0739EC-0677-4F50-A2C1-E809D95C8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1809750"/>
            <a:ext cx="12001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43E42B-6233-4A82-88C0-872EC6344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943100"/>
            <a:ext cx="9334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Report family-wise average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06CC8E-0D0B-44C4-AD42-7086B8033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67125"/>
            <a:ext cx="4762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8824794-D7A0-457E-BDC5-014B9D547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943350"/>
            <a:ext cx="400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Why this matters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69C37E5-24DF-46F8-A3EF-BC28C116C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333875"/>
            <a:ext cx="3905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A hidden fourth family rewards transfer. The local score must therefore penalize family memorization before the final submission is frozen.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B1BB226-B122-44A1-B44B-AD058BC51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667125"/>
            <a:ext cx="44767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D6"/>
          </a:solidFill>
          <a:ln xmlns:a="http://schemas.openxmlformats.org/drawingml/2006/main" w="0">
            <a:solidFill>
              <a:srgbClr val="FFF3D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EAE111F-8E91-4BA4-A38C-2B94B2D85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943350"/>
            <a:ext cx="3619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7791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B7791F"/>
                </a:solidFill>
                <a:latin typeface="Aptos"/>
                <a:ea typeface="Aptos"/>
                <a:cs typeface="Aptos"/>
              </a:rPr>
              <a:t>Legal boundary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44035CB-C758-48C6-A1B2-A687E2122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333875"/>
            <a:ext cx="3714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Official eval_input_valid.csv and eval_input_anomaly.csv are used only to produce final CSVs, not as training data.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5B9DEC8-AC8C-4DB1-820B-61CADAAE4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7620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7B8494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7B8494"/>
                </a:solidFill>
                <a:latin typeface="Aptos"/>
                <a:ea typeface="Aptos"/>
                <a:cs typeface="Aptos"/>
              </a:rPr>
              <a:t>SUBMISSION_1 | Industrial AI Infineon | May 31, 2026</a:t>
            </a:r>
          </a:p>
        </p:txBody>
      </p:sp>
    </p:spTree>
    <p:extLst>
      <p:ext uri="{BB962C8B-B14F-4D97-AF65-F5344CB8AC3E}">
        <p14:creationId xmlns:p14="http://schemas.microsoft.com/office/powerpoint/2010/main" val="68481155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8104954-CAB4-47CA-9AA6-3713B4913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E32717-C2D6-4CFC-A585-6C9A3685C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8572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System design stays simple enough to trust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4B0740-17E5-4978-BC65-56FF0CFD3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57250"/>
            <a:ext cx="8572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The model improves sequence predictions; the validator owns hard rule compliance.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E23743-F068-4A7B-BA44-BAC236F40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38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5EE845-6AD0-4831-8786-629284630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52625"/>
            <a:ext cx="1619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859FBC-21B8-4AD9-B550-E46E4CF3E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085975"/>
            <a:ext cx="13525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Training CSVs</a:t>
            </a:r>
          </a:p>
          <a:p xmlns:a="http://schemas.openxmlformats.org/drawingml/2006/main">
            <a:pPr algn="l">
              <a:defRPr sz="10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15-family manifest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0FD2A9-9D79-4CFF-A14E-8834AA2B7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381250"/>
            <a:ext cx="552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solidFill>
              <a:srgbClr val="D9DE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E83827-610D-4C42-8361-F62287261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333625"/>
            <a:ext cx="952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solidFill>
              <a:srgbClr val="D9DE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C85CE4-E452-4D4A-8B61-320A79909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866900"/>
            <a:ext cx="19240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AFE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9E9048-28B8-4E34-9484-6FFC67F43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000250"/>
            <a:ext cx="16573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Step tokenizer</a:t>
            </a:r>
          </a:p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one process step = one token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26E366-F8F4-4593-BB92-5FB8AC1D5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381250"/>
            <a:ext cx="552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solidFill>
              <a:srgbClr val="D9DE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AA87B8-C601-4D56-859A-A8FBF4D46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33625"/>
            <a:ext cx="952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solidFill>
              <a:srgbClr val="D9DEE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1C6CCA-5C33-46DD-A4C2-964CCC460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1952625"/>
            <a:ext cx="16954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5EC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626584-28C7-4304-9B76-BFAF8E099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085975"/>
            <a:ext cx="1428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F8A5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F8A5F"/>
                </a:solidFill>
                <a:latin typeface="Aptos"/>
                <a:ea typeface="Aptos"/>
                <a:cs typeface="Aptos"/>
              </a:rPr>
              <a:t>GPT large</a:t>
            </a:r>
          </a:p>
          <a:p xmlns:a="http://schemas.openxmlformats.org/drawingml/2006/main">
            <a:pPr algn="l">
              <a:defRPr sz="1050" b="1">
                <a:solidFill>
                  <a:srgbClr val="0F8A5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F8A5F"/>
                </a:solidFill>
                <a:latin typeface="Aptos"/>
                <a:ea typeface="Aptos"/>
                <a:cs typeface="Aptos"/>
              </a:rPr>
              <a:t>21.47M parameters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17EB4C-C1E9-414B-AAAA-3F82A640B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381250"/>
            <a:ext cx="552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solidFill>
              <a:srgbClr val="D9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97E99B-E4C9-4AB6-8E0D-D766D10A2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333625"/>
            <a:ext cx="952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solidFill>
              <a:srgbClr val="D9DEE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F583D4-8F1E-4DD6-A58D-5CEF05E1F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866900"/>
            <a:ext cx="18097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04DC38-0DCE-4D30-900F-AA7C032CC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00250"/>
            <a:ext cx="15430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Ranked next steps</a:t>
            </a:r>
          </a:p>
          <a:p xmlns:a="http://schemas.openxmlformats.org/drawingml/2006/main">
            <a:pPr algn="l">
              <a:defRPr sz="10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completion beam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C530402-E747-4B99-8997-977237862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381250"/>
            <a:ext cx="552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solidFill>
              <a:srgbClr val="D9DE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3DF2554-6093-47D7-B3E5-36D48B536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333625"/>
            <a:ext cx="952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solidFill>
              <a:srgbClr val="D9DEE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CD7CA2F-CCEB-4A1E-99FA-3B03EDFAB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1952625"/>
            <a:ext cx="13811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33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8BF37DB-4833-488E-A31A-F93A90EBF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2085975"/>
            <a:ext cx="11144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Official CSVs</a:t>
            </a:r>
          </a:p>
          <a:p xmlns:a="http://schemas.openxmlformats.org/drawingml/2006/main">
            <a: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root + final_submission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E904014-5C4C-4099-BAE6-3539ADA9F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857625"/>
            <a:ext cx="4191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AF4A55D-FBC4-4911-8040-607FCA3E7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057650"/>
            <a:ext cx="171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Fallback path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EDB4B32-E644-424E-AB4A-91B068C4B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362450"/>
            <a:ext cx="3333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Trigram n-gram runs without torch and can regenerate official-shaped CSVs from a clean checkout.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E9A0299-0E50-4857-82DD-31ADAAA61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857625"/>
            <a:ext cx="4191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378476A-9DBF-4C11-9B3F-7BBA9A718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9425" y="4057650"/>
            <a:ext cx="171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Safety path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3791515-5D57-4E6E-A945-730D8C329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9425" y="4362450"/>
            <a:ext cx="3333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GPT runner refuses random-init submissions unless explicitly overridden, preventing silent bad CSVs.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B29A75C-4868-42DA-88AE-22A0DA87A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7620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7B8494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7B8494"/>
                </a:solidFill>
                <a:latin typeface="Aptos"/>
                <a:ea typeface="Aptos"/>
                <a:cs typeface="Aptos"/>
              </a:rPr>
              <a:t>SUBMISSION_1 | Industrial AI Infineon | May 31, 2026</a:t>
            </a:r>
          </a:p>
        </p:txBody>
      </p:sp>
    </p:spTree>
    <p:extLst>
      <p:ext uri="{BB962C8B-B14F-4D97-AF65-F5344CB8AC3E}">
        <p14:creationId xmlns:p14="http://schemas.microsoft.com/office/powerpoint/2010/main" val="42133819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834B183-8BEE-461E-B214-FD89C6AB8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DFA3F7-F01A-49F8-9354-9AD7C097D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8572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Evidence: GPT beats the safe baseline on OOD3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944404-08D7-4F6B-9EF0-6870A23E0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57250"/>
            <a:ext cx="8572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The measured lift is on the train-12/test-3 protocol, not on the final hidden eval files.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465469-B40E-419C-B5BB-CA8E9CE6B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38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976EE7-B2CB-4510-9397-88A0103D4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5260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Top-1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776BC2-D374-4D02-9D14-67BDF6790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809750"/>
            <a:ext cx="7239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4"/>
          </a:solidFill>
          <a:ln xmlns:a="http://schemas.openxmlformats.org/drawingml/2006/main" w="0">
            <a:solidFill>
              <a:srgbClr val="E9EDF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068512-15EC-4DF1-B553-3CB730581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809750"/>
            <a:ext cx="4791075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73DAA0-7EFE-4B84-9B58-187BA6596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771650"/>
            <a:ext cx="1047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B7791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B7791F"/>
                </a:solidFill>
                <a:latin typeface="Aptos"/>
                <a:ea typeface="Aptos"/>
                <a:cs typeface="Aptos"/>
              </a:rPr>
              <a:t>n-gram 0.662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41E5B7-F0A4-4B00-AF72-57FCD216B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095500"/>
            <a:ext cx="7239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4"/>
          </a:solidFill>
          <a:ln xmlns:a="http://schemas.openxmlformats.org/drawingml/2006/main" w="0">
            <a:solidFill>
              <a:srgbClr val="E9EDF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18C006-8EA0-4E9D-A962-0B2A14F07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095500"/>
            <a:ext cx="5210175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A5F"/>
          </a:solidFill>
          <a:ln xmlns:a="http://schemas.openxmlformats.org/drawingml/2006/main" w="0">
            <a:solidFill>
              <a:srgbClr val="0F8A5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D26DB0-9D59-4FDC-92DB-166A2DB9C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057400"/>
            <a:ext cx="1047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F8A5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F8A5F"/>
                </a:solidFill>
                <a:latin typeface="Aptos"/>
                <a:ea typeface="Aptos"/>
                <a:cs typeface="Aptos"/>
              </a:rPr>
              <a:t>GPT 0.720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C32444-352D-456B-BC77-4A2B04691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0985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Top-3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65633B-2C90-46CD-9E78-AA20BCA0B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667000"/>
            <a:ext cx="7239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4"/>
          </a:solidFill>
          <a:ln xmlns:a="http://schemas.openxmlformats.org/drawingml/2006/main" w="0">
            <a:solidFill>
              <a:srgbClr val="E9EDF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0DF491-C099-419F-B400-C20D8BF98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667000"/>
            <a:ext cx="67818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727FC0-E3B3-4B3B-8E10-122D8069D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628900"/>
            <a:ext cx="1047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B7791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B7791F"/>
                </a:solidFill>
                <a:latin typeface="Aptos"/>
                <a:ea typeface="Aptos"/>
                <a:cs typeface="Aptos"/>
              </a:rPr>
              <a:t>n-gram 0.937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D752CA-C2FA-47E9-900C-04920072D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952750"/>
            <a:ext cx="7239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4"/>
          </a:solidFill>
          <a:ln xmlns:a="http://schemas.openxmlformats.org/drawingml/2006/main" w="0">
            <a:solidFill>
              <a:srgbClr val="E9EDF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8FA5DC-EA24-4DFB-93D1-EA6566EF2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952750"/>
            <a:ext cx="71056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A5F"/>
          </a:solidFill>
          <a:ln xmlns:a="http://schemas.openxmlformats.org/drawingml/2006/main" w="0">
            <a:solidFill>
              <a:srgbClr val="0F8A5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1B3C858-6AE2-41F7-BD46-5817BB246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914650"/>
            <a:ext cx="1047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F8A5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F8A5F"/>
                </a:solidFill>
                <a:latin typeface="Aptos"/>
                <a:ea typeface="Aptos"/>
                <a:cs typeface="Aptos"/>
              </a:rPr>
              <a:t>GPT 0.981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CA8DA8-363F-4C20-A35E-A984A4E1A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46710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Top-5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F30CD9-94FA-48C4-8C5D-E85CE4193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524250"/>
            <a:ext cx="7239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4"/>
          </a:solidFill>
          <a:ln xmlns:a="http://schemas.openxmlformats.org/drawingml/2006/main" w="0">
            <a:solidFill>
              <a:srgbClr val="E9EDF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9E97035-A880-48FD-874D-FF88FEA00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524250"/>
            <a:ext cx="70675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0ADC54F-2E20-470C-9C38-B7B5F1868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486150"/>
            <a:ext cx="1047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B7791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B7791F"/>
                </a:solidFill>
                <a:latin typeface="Aptos"/>
                <a:ea typeface="Aptos"/>
                <a:cs typeface="Aptos"/>
              </a:rPr>
              <a:t>n-gram 0.976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CD05AEC-4B8B-4557-A2B8-1854F7AAE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810000"/>
            <a:ext cx="7239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4"/>
          </a:solidFill>
          <a:ln xmlns:a="http://schemas.openxmlformats.org/drawingml/2006/main" w="0">
            <a:solidFill>
              <a:srgbClr val="E9EDF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E9FFAC6-24CA-4BC4-88DC-37935ED0C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810000"/>
            <a:ext cx="7229475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A5F"/>
          </a:solidFill>
          <a:ln xmlns:a="http://schemas.openxmlformats.org/drawingml/2006/main" w="0">
            <a:solidFill>
              <a:srgbClr val="0F8A5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505EAE7-F130-4C54-BB2A-6E0368581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771900"/>
            <a:ext cx="1047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F8A5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F8A5F"/>
                </a:solidFill>
                <a:latin typeface="Aptos"/>
                <a:ea typeface="Aptos"/>
                <a:cs typeface="Aptos"/>
              </a:rPr>
              <a:t>GPT 0.999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C79858E-884B-46D8-BED8-5A21D3C9A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32435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MRR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5D7A8B8-2D62-4EEE-B366-EB1220C5A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381500"/>
            <a:ext cx="7239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4"/>
          </a:solidFill>
          <a:ln xmlns:a="http://schemas.openxmlformats.org/drawingml/2006/main" w="0">
            <a:solidFill>
              <a:srgbClr val="E9EDF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C790CAD-4992-4230-88A6-C7CEF8DEC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381500"/>
            <a:ext cx="5781675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4163556-FCA7-48D3-AB46-1D99CAC99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343400"/>
            <a:ext cx="1047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B7791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B7791F"/>
                </a:solidFill>
                <a:latin typeface="Aptos"/>
                <a:ea typeface="Aptos"/>
                <a:cs typeface="Aptos"/>
              </a:rPr>
              <a:t>n-gram 0.799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F4BA591-BDE2-451B-A359-B3861320C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667250"/>
            <a:ext cx="7239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4"/>
          </a:solidFill>
          <a:ln xmlns:a="http://schemas.openxmlformats.org/drawingml/2006/main" w="0">
            <a:solidFill>
              <a:srgbClr val="E9EDF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9FC7F88-4098-460E-BFDF-4CC99E66A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667250"/>
            <a:ext cx="61341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A5F"/>
          </a:solidFill>
          <a:ln xmlns:a="http://schemas.openxmlformats.org/drawingml/2006/main" w="0">
            <a:solidFill>
              <a:srgbClr val="0F8A5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613426E-1642-4C84-A495-6930B4A59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629150"/>
            <a:ext cx="1047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F8A5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F8A5F"/>
                </a:solidFill>
                <a:latin typeface="Aptos"/>
                <a:ea typeface="Aptos"/>
                <a:cs typeface="Aptos"/>
              </a:rPr>
              <a:t>GPT 0.847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DE58141-E95C-4AFF-BFEA-3AF9249F0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286375"/>
            <a:ext cx="3143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5EC"/>
          </a:solidFill>
          <a:ln xmlns:a="http://schemas.openxmlformats.org/drawingml/2006/main" w="0">
            <a:solidFill>
              <a:srgbClr val="DFF5EC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0546CA1-293A-4193-8C49-DAE675481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429250"/>
            <a:ext cx="266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8A5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8A5F"/>
                </a:solidFill>
                <a:latin typeface="Aptos"/>
                <a:ea typeface="Aptos"/>
                <a:cs typeface="Aptos"/>
              </a:rPr>
              <a:t>+0.058 Top-1 lift vs n-gram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7992512-FC27-46C3-9B99-6F25DA7FA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286375"/>
            <a:ext cx="4953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AFE"/>
          </a:solidFill>
          <a:ln xmlns:a="http://schemas.openxmlformats.org/drawingml/2006/main" w="0">
            <a:solidFill>
              <a:srgbClr val="DCEAFE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3579AAC-B9E2-4CA0-92DB-5FCF103D1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5429250"/>
            <a:ext cx="45243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Family-wise OOD3 average: Top-1 0.7216, Top-5 0.9989, MRR 0.8474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28BCFCE-38A7-46F8-B843-6E37F0ADA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7620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7B8494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7B8494"/>
                </a:solidFill>
                <a:latin typeface="Aptos"/>
                <a:ea typeface="Aptos"/>
                <a:cs typeface="Aptos"/>
              </a:rPr>
              <a:t>SUBMISSION_1 | Industrial AI Infineon | May 31, 2026</a:t>
            </a:r>
          </a:p>
        </p:txBody>
      </p:sp>
    </p:spTree>
    <p:extLst>
      <p:ext uri="{BB962C8B-B14F-4D97-AF65-F5344CB8AC3E}">
        <p14:creationId xmlns:p14="http://schemas.microsoft.com/office/powerpoint/2010/main" val="66597815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6F13B8B-D58C-41F6-B5BF-71FE97F0F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7ABCDE-9F50-4433-9485-FA8BAD298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8572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Blockers closed before final polish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8A8083-6AAA-4E62-A4C8-B723F29C0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57250"/>
            <a:ext cx="8572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The package now fails closed on format, legality, and checkpoint availability.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FC6ED6-4FD5-4A42-87DA-B3750DCE2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38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316CCB-7D3C-4E8A-8874-121DC1152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19250"/>
            <a:ext cx="342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A5F"/>
          </a:solidFill>
          <a:ln xmlns:a="http://schemas.openxmlformats.org/drawingml/2006/main" w="0">
            <a:solidFill>
              <a:srgbClr val="0F8A5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6BAC22-DEE8-4876-BE03-A2CAEB156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14500"/>
            <a:ext cx="228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0E2CF7-9B9E-4836-BCC4-D19120671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600200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Official IDs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D51588-88C0-4DEE-8542-0613BA4AD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876425"/>
            <a:ext cx="8382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Root CSVs use valid_0001... and anomaly_... copied through from participant inputs.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B6D466-87D3-4793-96C1-D7A5D76DE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00300"/>
            <a:ext cx="342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A5F"/>
          </a:solidFill>
          <a:ln xmlns:a="http://schemas.openxmlformats.org/drawingml/2006/main" w="0">
            <a:solidFill>
              <a:srgbClr val="0F8A5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1172AB-CA7F-44A2-9AEB-551BAFAF4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95550"/>
            <a:ext cx="228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449FD7-D2D6-4FFF-9241-AD8407462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381250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Checkpoint present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AD5AFE-BB70-4B09-91D9-A7AC5BF4A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657475"/>
            <a:ext cx="8382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outputs/gpt_large_train12 contains config, generation config, and model.safetensors.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CC5112-6871-4505-B439-B74396E6A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81350"/>
            <a:ext cx="342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A5F"/>
          </a:solidFill>
          <a:ln xmlns:a="http://schemas.openxmlformats.org/drawingml/2006/main" w="0">
            <a:solidFill>
              <a:srgbClr val="0F8A5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5C5E63-2267-49BE-AC7E-4A8CDD15F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276600"/>
            <a:ext cx="228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F96868-A8CE-4E6F-BAA6-DAE045668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62300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Required docs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ACEF92-9C02-4753-B863-9ABF844DF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438525"/>
            <a:ext cx="8382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REPORT.md, README.md, LICENSE, requirements.txt are present at repo root.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9311A2-9D8A-4121-8D45-00B72DA1B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62400"/>
            <a:ext cx="342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A5F"/>
          </a:solidFill>
          <a:ln xmlns:a="http://schemas.openxmlformats.org/drawingml/2006/main" w="0">
            <a:solidFill>
              <a:srgbClr val="0F8A5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A5C789-0D8C-4A9F-A783-7F0D87EEF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57650"/>
            <a:ext cx="228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60C3DE3-8E01-4D7B-B321-700D027E5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943350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Legal usage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AC5DC0-9103-4D69-B2B4-C1E3681EF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219575"/>
            <a:ext cx="8382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Official eval inputs are used only for final inference; not for training.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AB81C7-2326-4B86-9319-9F5FFEBF1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43450"/>
            <a:ext cx="342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A5F"/>
          </a:solidFill>
          <a:ln xmlns:a="http://schemas.openxmlformats.org/drawingml/2006/main" w="0">
            <a:solidFill>
              <a:srgbClr val="0F8A5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4835F8D-9E3B-4ABC-B8A5-8EDA40265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38700"/>
            <a:ext cx="228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E33B9E7-3E8C-4D2B-9516-264441047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24400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Fallback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4E82309-DDF3-4C22-A4E8-E88F3D808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000625"/>
            <a:ext cx="8382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n-gram official bundle remains available if checkpoint transfer fails.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B47875F-D87B-414F-9CAE-D105B49C3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619250"/>
            <a:ext cx="2762250" cy="190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F459A1A-F3CB-4532-B1ED-C7254EACF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885950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Final files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B4A4076-B3A3-4ACF-A87E-47F71F147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333625"/>
            <a:ext cx="1905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nextstep.csv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C84B1A9-4AA0-49D1-8100-32958B3B0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95575"/>
            <a:ext cx="1905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completion.csv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CCDCDD9-2A79-4685-9A84-DEACE12A9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057525"/>
            <a:ext cx="1905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anomaly.csv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D1E2A65-29AD-481A-A72F-EA5B7AA2F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7620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7B8494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7B8494"/>
                </a:solidFill>
                <a:latin typeface="Aptos"/>
                <a:ea typeface="Aptos"/>
                <a:cs typeface="Aptos"/>
              </a:rPr>
              <a:t>SUBMISSION_1 | Industrial AI Infineon | May 31, 2026</a:t>
            </a:r>
          </a:p>
        </p:txBody>
      </p:sp>
    </p:spTree>
    <p:extLst>
      <p:ext uri="{BB962C8B-B14F-4D97-AF65-F5344CB8AC3E}">
        <p14:creationId xmlns:p14="http://schemas.microsoft.com/office/powerpoint/2010/main" val="1753153196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3870173-D5C9-4A29-BA3B-10BD13F31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3E7C91-A515-467B-BBF7-79C4C8BF2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8572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Two-minute demo: show trust first, score second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2A313B-1A05-4E99-859D-7E356E5B2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57250"/>
            <a:ext cx="8572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The pitch should make judges comfortable that the result is legal, reproducible, and OOD-aware.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7EE0FD-F44E-4CD7-B43D-C2B9437ED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38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93DFE8-ADE3-4951-B073-3F4398779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52625"/>
            <a:ext cx="1809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B3B966-D380-4700-A953-07CC17C02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71700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0:00-0:20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11E26F-ABA1-4985-8B75-23FF26B1F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28900"/>
            <a:ext cx="1428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Open with the final package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FA37FB-FC06-4412-A631-D49EB0DA1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81375"/>
            <a:ext cx="1428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Show root CSVs, REPORT.md, and checkpoint path.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607A3D-F8BB-4E53-A830-2B8BD2781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1952625"/>
            <a:ext cx="1809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AFE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181C3C-A65E-48C4-A3BC-3D4C51B18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171700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0:20-0:45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53C793-BD29-485F-937F-CE5FF38B0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628900"/>
            <a:ext cx="1428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Explain train-12/test-3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D6439C-0954-47FF-9B7B-B9D9EDC2D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381375"/>
            <a:ext cx="1428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Point to SUBMISSION_1 manifest and family-wise OOD average.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6DB741-66BE-414E-B7BC-30D628C73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1952625"/>
            <a:ext cx="1809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F71DDD-A623-4E6F-A66F-F0DDB048A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171700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0:45-1:15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F9CD94-E4ED-49CB-BAED-9F3C5321F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628900"/>
            <a:ext cx="1428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Compare baseline vs GPT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B49B3F-0A55-41A0-8EC7-231FDB43E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381375"/>
            <a:ext cx="1428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Show n-gram Top-1 0.662 vs GPT Top-1 0.722 on OOD3.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E467AE-AA70-42BF-84A1-F21D8F699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952625"/>
            <a:ext cx="1809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AFE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8C94E7-9A02-4C4C-96D0-8B684A05E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171700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1:15-1:40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B79A087-C1D5-495B-8F17-8EA5A0EA3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628900"/>
            <a:ext cx="1428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Show anomaly safety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AD35F7-EE56-4132-99B7-C4B011410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381375"/>
            <a:ext cx="1428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Explain rule validator and official rule strings.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AD5EDD-8D1D-402E-86F8-BD37FE65C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952625"/>
            <a:ext cx="18097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BC2471E-B09E-4157-8BCD-5D8FD2D9D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171700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1:40-2:00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45486AD-A082-4704-917F-1F7E13610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628900"/>
            <a:ext cx="1428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Close on submission readiness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74F4A63-6028-4751-856D-21AFBCBFC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381375"/>
            <a:ext cx="1428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B64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B6472"/>
                </a:solidFill>
                <a:latin typeface="Aptos"/>
                <a:ea typeface="Aptos"/>
                <a:cs typeface="Aptos"/>
              </a:rPr>
              <a:t>Official IDs, final CSVs, fallback, no eval training leakage.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48FA241-9610-4513-813B-063392CE5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095875"/>
            <a:ext cx="914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33"/>
          </a:solidFill>
          <a:ln xmlns:a="http://schemas.openxmlformats.org/drawingml/2006/main" w="0">
            <a:solidFill>
              <a:srgbClr val="17203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1D3540A-E80A-481F-9598-023FC9D52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257800"/>
            <a:ext cx="8572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Winning claim: SUBMISSION_1 is the best legal bet because it optimizes for hidden-family generalization and ships a complete, reproducible final package.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08CAADD-7D12-42E0-AF76-3D1E43496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7620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7B8494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7B8494"/>
                </a:solidFill>
                <a:latin typeface="Aptos"/>
                <a:ea typeface="Aptos"/>
                <a:cs typeface="Aptos"/>
              </a:rPr>
              <a:t>SUBMISSION_1 | Industrial AI Infineon | May 31, 2026</a:t>
            </a:r>
          </a:p>
        </p:txBody>
      </p:sp>
    </p:spTree>
    <p:extLst>
      <p:ext uri="{BB962C8B-B14F-4D97-AF65-F5344CB8AC3E}">
        <p14:creationId xmlns:p14="http://schemas.microsoft.com/office/powerpoint/2010/main" val="65799803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2026-05-31T01:01:44.4060000Z</dcterms:created>
  <dcterms:modified xsi:type="dcterms:W3CDTF">2026-05-31T01:01:44.4060000Z</dcterms:modified>
</coreProperties>
</file>