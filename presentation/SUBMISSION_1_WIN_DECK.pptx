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Aptos Bold" charset="1" panose="020B0004020202020204"/>
      <p:regular r:id="rId14"/>
    </p:embeddedFont>
    <p:embeddedFont>
      <p:font typeface="Aptos" charset="1" panose="020B00040202020202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8F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2143125"/>
            <a:chOff x="0" y="0"/>
            <a:chExt cx="24384000" cy="28575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2857500"/>
            </a:xfrm>
            <a:custGeom>
              <a:avLst/>
              <a:gdLst/>
              <a:ahLst/>
              <a:cxnLst/>
              <a:rect r="r" b="b" t="t" l="l"/>
              <a:pathLst>
                <a:path h="28575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857500"/>
                  </a:lnTo>
                  <a:lnTo>
                    <a:pt x="0" y="2857500"/>
                  </a:lnTo>
                  <a:close/>
                </a:path>
              </a:pathLst>
            </a:custGeom>
            <a:solidFill>
              <a:srgbClr val="172033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857250" y="685800"/>
            <a:ext cx="1714500" cy="400050"/>
            <a:chOff x="0" y="0"/>
            <a:chExt cx="2286000" cy="533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86000" cy="533400"/>
            </a:xfrm>
            <a:custGeom>
              <a:avLst/>
              <a:gdLst/>
              <a:ahLst/>
              <a:cxnLst/>
              <a:rect r="r" b="b" t="t" l="l"/>
              <a:pathLst>
                <a:path h="5334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533400"/>
                  </a:lnTo>
                  <a:lnTo>
                    <a:pt x="0" y="533400"/>
                  </a:lnTo>
                  <a:close/>
                </a:path>
              </a:pathLst>
            </a:custGeom>
            <a:solidFill>
              <a:srgbClr val="DFF5EC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771525"/>
            <a:ext cx="13716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7" b="true">
                <a:solidFill>
                  <a:srgbClr val="0F8A5F"/>
                </a:solidFill>
                <a:latin typeface="Aptos Bold"/>
                <a:ea typeface="Aptos Bold"/>
                <a:cs typeface="Aptos Bold"/>
                <a:sym typeface="Aptos Bold"/>
              </a:rPr>
              <a:t>FINAL PACKAGE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714625" y="685800"/>
            <a:ext cx="2428875" cy="400050"/>
            <a:chOff x="0" y="0"/>
            <a:chExt cx="3238500" cy="533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238500" cy="533400"/>
            </a:xfrm>
            <a:custGeom>
              <a:avLst/>
              <a:gdLst/>
              <a:ahLst/>
              <a:cxnLst/>
              <a:rect r="r" b="b" t="t" l="l"/>
              <a:pathLst>
                <a:path h="533400" w="3238500">
                  <a:moveTo>
                    <a:pt x="0" y="0"/>
                  </a:moveTo>
                  <a:lnTo>
                    <a:pt x="3238500" y="0"/>
                  </a:lnTo>
                  <a:lnTo>
                    <a:pt x="3238500" y="533400"/>
                  </a:lnTo>
                  <a:lnTo>
                    <a:pt x="0" y="533400"/>
                  </a:lnTo>
                  <a:close/>
                </a:path>
              </a:pathLst>
            </a:custGeom>
            <a:solidFill>
              <a:srgbClr val="DCEAFE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2886075" y="771525"/>
            <a:ext cx="208597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7" b="true">
                <a:solidFill>
                  <a:srgbClr val="2563EB"/>
                </a:solidFill>
                <a:latin typeface="Aptos Bold"/>
                <a:ea typeface="Aptos Bold"/>
                <a:cs typeface="Aptos Bold"/>
                <a:sym typeface="Aptos Bold"/>
              </a:rPr>
              <a:t>LEGAL OOD PROTOCOL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57250" y="2609850"/>
            <a:ext cx="10287000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9"/>
              </a:lnSpc>
            </a:pPr>
            <a:r>
              <a:rPr lang="en-US" sz="6075" b="true">
                <a:solidFill>
                  <a:srgbClr val="111827"/>
                </a:solidFill>
                <a:latin typeface="Aptos Bold"/>
                <a:ea typeface="Aptos Bold"/>
                <a:cs typeface="Aptos Bold"/>
                <a:sym typeface="Aptos Bold"/>
              </a:rPr>
              <a:t>SUBMISSION_1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" y="3714750"/>
            <a:ext cx="11715750" cy="1057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362">
                <a:solidFill>
                  <a:srgbClr val="5B6472"/>
                </a:solidFill>
                <a:latin typeface="Aptos"/>
                <a:ea typeface="Aptos"/>
                <a:cs typeface="Aptos"/>
                <a:sym typeface="Aptos"/>
              </a:rPr>
              <a:t>Our solution trains the GPT2-large model on the provided training data, with a twist:</a:t>
            </a:r>
          </a:p>
          <a:p>
            <a:pPr algn="l" marL="510064" indent="-255032" lvl="1">
              <a:lnSpc>
                <a:spcPts val="2835"/>
              </a:lnSpc>
              <a:buFont typeface="Arial"/>
              <a:buChar char="•"/>
            </a:pPr>
            <a:r>
              <a:rPr lang="en-US" sz="2362">
                <a:solidFill>
                  <a:srgbClr val="5B6472"/>
                </a:solidFill>
                <a:latin typeface="Aptos"/>
                <a:ea typeface="Aptos"/>
                <a:cs typeface="Aptos"/>
                <a:sym typeface="Aptos"/>
              </a:rPr>
              <a:t>We synthesize self-built novel additional family data for further training for our model</a:t>
            </a:r>
          </a:p>
          <a:p>
            <a:pPr algn="l" marL="510064" indent="-255032" lvl="1">
              <a:lnSpc>
                <a:spcPts val="2835"/>
              </a:lnSpc>
              <a:buFont typeface="Arial"/>
              <a:buChar char="•"/>
            </a:pPr>
            <a:r>
              <a:rPr lang="en-US" sz="2362">
                <a:solidFill>
                  <a:srgbClr val="5B6472"/>
                </a:solidFill>
                <a:latin typeface="Aptos"/>
                <a:ea typeface="Aptos"/>
                <a:cs typeface="Aptos"/>
                <a:sym typeface="Aptos"/>
              </a:rPr>
              <a:t>These results come from t</a:t>
            </a:r>
            <a:r>
              <a:rPr lang="en-US" sz="2362">
                <a:solidFill>
                  <a:srgbClr val="5B6472"/>
                </a:solidFill>
                <a:latin typeface="Aptos"/>
                <a:ea typeface="Aptos"/>
                <a:cs typeface="Aptos"/>
                <a:sym typeface="Aptos"/>
              </a:rPr>
              <a:t>raining on 12 families, testing on 3 unseen families: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78681" y="5279231"/>
            <a:ext cx="2443162" cy="1585912"/>
            <a:chOff x="0" y="0"/>
            <a:chExt cx="3257550" cy="21145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257550" cy="2114550"/>
            </a:xfrm>
            <a:custGeom>
              <a:avLst/>
              <a:gdLst/>
              <a:ahLst/>
              <a:cxnLst/>
              <a:rect r="r" b="b" t="t" l="l"/>
              <a:pathLst>
                <a:path h="2114550" w="3257550">
                  <a:moveTo>
                    <a:pt x="0" y="0"/>
                  </a:moveTo>
                  <a:lnTo>
                    <a:pt x="3257550" y="0"/>
                  </a:lnTo>
                  <a:lnTo>
                    <a:pt x="3257550" y="2114550"/>
                  </a:lnTo>
                  <a:lnTo>
                    <a:pt x="0" y="2114550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9DEE7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143000" y="5543550"/>
            <a:ext cx="1914525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b="true">
                <a:solidFill>
                  <a:srgbClr val="2563EB"/>
                </a:solidFill>
                <a:latin typeface="Aptos Bold"/>
                <a:ea typeface="Aptos Bold"/>
                <a:cs typeface="Aptos Bold"/>
                <a:sym typeface="Aptos Bold"/>
              </a:rPr>
              <a:t>0.722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43000" y="6176963"/>
            <a:ext cx="1914525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111827"/>
                </a:solidFill>
                <a:latin typeface="Aptos Bold"/>
                <a:ea typeface="Aptos Bold"/>
                <a:cs typeface="Aptos Bold"/>
                <a:sym typeface="Aptos Bold"/>
              </a:rPr>
              <a:t>OOD3 Top-1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43000" y="6477000"/>
            <a:ext cx="191452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5"/>
              </a:lnSpc>
            </a:pPr>
            <a:r>
              <a:rPr lang="en-US" sz="1012">
                <a:solidFill>
                  <a:srgbClr val="5B6472"/>
                </a:solidFill>
                <a:latin typeface="Aptos"/>
                <a:ea typeface="Aptos"/>
                <a:cs typeface="Aptos"/>
                <a:sym typeface="Aptos"/>
              </a:rPr>
              <a:t>family-wise avg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3593306" y="5279231"/>
            <a:ext cx="2443162" cy="1585912"/>
            <a:chOff x="0" y="0"/>
            <a:chExt cx="3257550" cy="211455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257550" cy="2114550"/>
            </a:xfrm>
            <a:custGeom>
              <a:avLst/>
              <a:gdLst/>
              <a:ahLst/>
              <a:cxnLst/>
              <a:rect r="r" b="b" t="t" l="l"/>
              <a:pathLst>
                <a:path h="2114550" w="3257550">
                  <a:moveTo>
                    <a:pt x="0" y="0"/>
                  </a:moveTo>
                  <a:lnTo>
                    <a:pt x="3257550" y="0"/>
                  </a:lnTo>
                  <a:lnTo>
                    <a:pt x="3257550" y="2114550"/>
                  </a:lnTo>
                  <a:lnTo>
                    <a:pt x="0" y="2114550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9DEE7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3857625" y="5543550"/>
            <a:ext cx="1914525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b="true">
                <a:solidFill>
                  <a:srgbClr val="0F8A5F"/>
                </a:solidFill>
                <a:latin typeface="Aptos Bold"/>
                <a:ea typeface="Aptos Bold"/>
                <a:cs typeface="Aptos Bold"/>
                <a:sym typeface="Aptos Bold"/>
              </a:rPr>
              <a:t>0.999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857625" y="6176963"/>
            <a:ext cx="1914525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111827"/>
                </a:solidFill>
                <a:latin typeface="Aptos Bold"/>
                <a:ea typeface="Aptos Bold"/>
                <a:cs typeface="Aptos Bold"/>
                <a:sym typeface="Aptos Bold"/>
              </a:rPr>
              <a:t>OOD3 Top-5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857625" y="6477000"/>
            <a:ext cx="191452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5"/>
              </a:lnSpc>
            </a:pPr>
            <a:r>
              <a:rPr lang="en-US" sz="1012">
                <a:solidFill>
                  <a:srgbClr val="5B6472"/>
                </a:solidFill>
                <a:latin typeface="Aptos"/>
                <a:ea typeface="Aptos"/>
                <a:cs typeface="Aptos"/>
                <a:sym typeface="Aptos"/>
              </a:rPr>
              <a:t>family-wise avg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307931" y="5279231"/>
            <a:ext cx="2443162" cy="1585912"/>
            <a:chOff x="0" y="0"/>
            <a:chExt cx="3257550" cy="21145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257550" cy="2114550"/>
            </a:xfrm>
            <a:custGeom>
              <a:avLst/>
              <a:gdLst/>
              <a:ahLst/>
              <a:cxnLst/>
              <a:rect r="r" b="b" t="t" l="l"/>
              <a:pathLst>
                <a:path h="2114550" w="3257550">
                  <a:moveTo>
                    <a:pt x="0" y="0"/>
                  </a:moveTo>
                  <a:lnTo>
                    <a:pt x="3257550" y="0"/>
                  </a:lnTo>
                  <a:lnTo>
                    <a:pt x="3257550" y="2114550"/>
                  </a:lnTo>
                  <a:lnTo>
                    <a:pt x="0" y="2114550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9DEE7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6572250" y="5543550"/>
            <a:ext cx="1914525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b="true">
                <a:solidFill>
                  <a:srgbClr val="0891B2"/>
                </a:solidFill>
                <a:latin typeface="Aptos Bold"/>
                <a:ea typeface="Aptos Bold"/>
                <a:cs typeface="Aptos Bold"/>
                <a:sym typeface="Aptos Bold"/>
              </a:rPr>
              <a:t>0.847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572250" y="6176963"/>
            <a:ext cx="1914525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111827"/>
                </a:solidFill>
                <a:latin typeface="Aptos Bold"/>
                <a:ea typeface="Aptos Bold"/>
                <a:cs typeface="Aptos Bold"/>
                <a:sym typeface="Aptos Bold"/>
              </a:rPr>
              <a:t>OOD3 MRR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572250" y="6477000"/>
            <a:ext cx="191452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5"/>
              </a:lnSpc>
            </a:pPr>
            <a:r>
              <a:rPr lang="en-US" sz="1012">
                <a:solidFill>
                  <a:srgbClr val="5B6472"/>
                </a:solidFill>
                <a:latin typeface="Aptos"/>
                <a:ea typeface="Aptos"/>
                <a:cs typeface="Aptos"/>
                <a:sym typeface="Aptos"/>
              </a:rPr>
              <a:t>family-wise avg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022556" y="5279231"/>
            <a:ext cx="2443162" cy="1585912"/>
            <a:chOff x="0" y="0"/>
            <a:chExt cx="3257550" cy="21145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257550" cy="2114550"/>
            </a:xfrm>
            <a:custGeom>
              <a:avLst/>
              <a:gdLst/>
              <a:ahLst/>
              <a:cxnLst/>
              <a:rect r="r" b="b" t="t" l="l"/>
              <a:pathLst>
                <a:path h="2114550" w="3257550">
                  <a:moveTo>
                    <a:pt x="0" y="0"/>
                  </a:moveTo>
                  <a:lnTo>
                    <a:pt x="3257550" y="0"/>
                  </a:lnTo>
                  <a:lnTo>
                    <a:pt x="3257550" y="2114550"/>
                  </a:lnTo>
                  <a:lnTo>
                    <a:pt x="0" y="2114550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9DEE7"/>
              </a:solidFill>
              <a:prstDash val="solid"/>
              <a:miter/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9286875" y="5543550"/>
            <a:ext cx="1914525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b="true">
                <a:solidFill>
                  <a:srgbClr val="B7791F"/>
                </a:solidFill>
                <a:latin typeface="Aptos Bold"/>
                <a:ea typeface="Aptos Bold"/>
                <a:cs typeface="Aptos Bold"/>
                <a:sym typeface="Aptos Bold"/>
              </a:rPr>
              <a:t>15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286875" y="6176963"/>
            <a:ext cx="1914525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111827"/>
                </a:solidFill>
                <a:latin typeface="Aptos Bold"/>
                <a:ea typeface="Aptos Bold"/>
                <a:cs typeface="Aptos Bold"/>
                <a:sym typeface="Aptos Bold"/>
              </a:rPr>
              <a:t>Families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286875" y="6477000"/>
            <a:ext cx="191452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5"/>
              </a:lnSpc>
            </a:pPr>
            <a:r>
              <a:rPr lang="en-US" sz="1012">
                <a:solidFill>
                  <a:srgbClr val="5B6472"/>
                </a:solidFill>
                <a:latin typeface="Aptos"/>
                <a:ea typeface="Aptos"/>
                <a:cs typeface="Aptos"/>
                <a:sym typeface="Aptos"/>
              </a:rPr>
              <a:t>12 train / 3 test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2851606" y="2707481"/>
            <a:ext cx="3729038" cy="4729162"/>
            <a:chOff x="0" y="0"/>
            <a:chExt cx="4972050" cy="630555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972050" cy="6305550"/>
            </a:xfrm>
            <a:custGeom>
              <a:avLst/>
              <a:gdLst/>
              <a:ahLst/>
              <a:cxnLst/>
              <a:rect r="r" b="b" t="t" l="l"/>
              <a:pathLst>
                <a:path h="630555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6305550"/>
                  </a:lnTo>
                  <a:lnTo>
                    <a:pt x="0" y="6305550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9DEE7"/>
              </a:solidFill>
              <a:prstDash val="solid"/>
              <a:miter/>
            </a:ln>
          </p:spPr>
        </p:sp>
      </p:grpSp>
      <p:sp>
        <p:nvSpPr>
          <p:cNvPr name="TextBox 36" id="36"/>
          <p:cNvSpPr txBox="true"/>
          <p:nvPr/>
        </p:nvSpPr>
        <p:spPr>
          <a:xfrm rot="0">
            <a:off x="13215938" y="3114675"/>
            <a:ext cx="3000375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11827"/>
                </a:solidFill>
                <a:latin typeface="Aptos Bold"/>
                <a:ea typeface="Aptos Bold"/>
                <a:cs typeface="Aptos Bold"/>
                <a:sym typeface="Aptos Bold"/>
              </a:rPr>
              <a:t>Submission surface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3215938" y="3857625"/>
            <a:ext cx="228600" cy="228600"/>
            <a:chOff x="0" y="0"/>
            <a:chExt cx="304800" cy="304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0F8A5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39" id="39"/>
          <p:cNvSpPr txBox="true"/>
          <p:nvPr/>
        </p:nvSpPr>
        <p:spPr>
          <a:xfrm rot="0">
            <a:off x="13601700" y="3800475"/>
            <a:ext cx="2500312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111827"/>
                </a:solidFill>
                <a:latin typeface="Aptos"/>
                <a:ea typeface="Aptos"/>
                <a:cs typeface="Aptos"/>
                <a:sym typeface="Aptos"/>
              </a:rPr>
              <a:t>nextstep.csv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3215938" y="4457700"/>
            <a:ext cx="228600" cy="228600"/>
            <a:chOff x="0" y="0"/>
            <a:chExt cx="304800" cy="304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0F8A5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42" id="42"/>
          <p:cNvSpPr txBox="true"/>
          <p:nvPr/>
        </p:nvSpPr>
        <p:spPr>
          <a:xfrm rot="0">
            <a:off x="13601700" y="4400550"/>
            <a:ext cx="2500312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111827"/>
                </a:solidFill>
                <a:latin typeface="Aptos"/>
                <a:ea typeface="Aptos"/>
                <a:cs typeface="Aptos"/>
                <a:sym typeface="Aptos"/>
              </a:rPr>
              <a:t>completion.csv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3215938" y="5057775"/>
            <a:ext cx="228600" cy="228600"/>
            <a:chOff x="0" y="0"/>
            <a:chExt cx="304800" cy="304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0F8A5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45" id="45"/>
          <p:cNvSpPr txBox="true"/>
          <p:nvPr/>
        </p:nvSpPr>
        <p:spPr>
          <a:xfrm rot="0">
            <a:off x="13601700" y="5000625"/>
            <a:ext cx="2500312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111827"/>
                </a:solidFill>
                <a:latin typeface="Aptos"/>
                <a:ea typeface="Aptos"/>
                <a:cs typeface="Aptos"/>
                <a:sym typeface="Aptos"/>
              </a:rPr>
              <a:t>anomaly.csv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3215938" y="5657850"/>
            <a:ext cx="228600" cy="228600"/>
            <a:chOff x="0" y="0"/>
            <a:chExt cx="304800" cy="304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0F8A5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48" id="48"/>
          <p:cNvSpPr txBox="true"/>
          <p:nvPr/>
        </p:nvSpPr>
        <p:spPr>
          <a:xfrm rot="0">
            <a:off x="13601700" y="5600700"/>
            <a:ext cx="2500312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111827"/>
                </a:solidFill>
                <a:latin typeface="Aptos"/>
                <a:ea typeface="Aptos"/>
                <a:cs typeface="Aptos"/>
                <a:sym typeface="Aptos"/>
              </a:rPr>
              <a:t>outputs/gpt_large_train12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13215938" y="6257925"/>
            <a:ext cx="228600" cy="228600"/>
            <a:chOff x="0" y="0"/>
            <a:chExt cx="304800" cy="3048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0F8A5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51" id="51"/>
          <p:cNvSpPr txBox="true"/>
          <p:nvPr/>
        </p:nvSpPr>
        <p:spPr>
          <a:xfrm rot="0">
            <a:off x="13601700" y="6200775"/>
            <a:ext cx="2500312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111827"/>
                </a:solidFill>
                <a:latin typeface="Aptos"/>
                <a:ea typeface="Aptos"/>
                <a:cs typeface="Aptos"/>
                <a:sym typeface="Aptos"/>
              </a:rPr>
              <a:t>n-gram fallback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857250" y="9715500"/>
            <a:ext cx="1143000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>
                <a:solidFill>
                  <a:srgbClr val="7B8494"/>
                </a:solidFill>
                <a:latin typeface="Aptos"/>
                <a:ea typeface="Aptos"/>
                <a:cs typeface="Aptos"/>
                <a:sym typeface="Aptos"/>
              </a:rPr>
              <a:t>SUBMISSION_1 | Industrial AI Infineon | May 31,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856908" y="2218054"/>
            <a:ext cx="7402392" cy="4561724"/>
          </a:xfrm>
          <a:custGeom>
            <a:avLst/>
            <a:gdLst/>
            <a:ahLst/>
            <a:cxnLst/>
            <a:rect r="r" b="b" t="t" l="l"/>
            <a:pathLst>
              <a:path h="4561724" w="7402392">
                <a:moveTo>
                  <a:pt x="0" y="0"/>
                </a:moveTo>
                <a:lnTo>
                  <a:pt x="7402392" y="0"/>
                </a:lnTo>
                <a:lnTo>
                  <a:pt x="7402392" y="4561724"/>
                </a:lnTo>
                <a:lnTo>
                  <a:pt x="0" y="45617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757604" y="828650"/>
            <a:ext cx="277279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9"/>
              </a:lnSpc>
              <a:spcBef>
                <a:spcPct val="0"/>
              </a:spcBef>
            </a:pPr>
            <a:r>
              <a:rPr lang="en-US" sz="284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The Data Problem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13991" y="2218054"/>
            <a:ext cx="7893931" cy="266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0539" indent="-275269" lvl="1">
              <a:lnSpc>
                <a:spcPts val="3059"/>
              </a:lnSpc>
              <a:buFont typeface="Arial"/>
              <a:buChar char="•"/>
            </a:pPr>
            <a:r>
              <a:rPr lang="en-US" sz="254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With most model solutions, performance  drops when tested on unseen families</a:t>
            </a:r>
          </a:p>
          <a:p>
            <a:pPr algn="l" marL="550539" indent="-275269" lvl="1">
              <a:lnSpc>
                <a:spcPts val="3059"/>
              </a:lnSpc>
              <a:buFont typeface="Arial"/>
              <a:buChar char="•"/>
            </a:pPr>
            <a:r>
              <a:rPr lang="en-US" sz="254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It is hard to distinguish if models learn the process grammar or if they memorization the grammar of the families</a:t>
            </a:r>
          </a:p>
          <a:p>
            <a:pPr algn="l" marL="550539" indent="-275269" lvl="1">
              <a:lnSpc>
                <a:spcPts val="3059"/>
              </a:lnSpc>
              <a:buFont typeface="Arial"/>
              <a:buChar char="•"/>
            </a:pPr>
            <a:r>
              <a:rPr lang="en-US" sz="254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All baseline performance scores are not satisfactory for semiconductor chip production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57250" y="600075"/>
            <a:ext cx="12858750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 b="true">
                <a:solidFill>
                  <a:srgbClr val="111827"/>
                </a:solidFill>
                <a:latin typeface="Aptos Bold"/>
                <a:ea typeface="Aptos Bold"/>
                <a:cs typeface="Aptos Bold"/>
                <a:sym typeface="Aptos Bold"/>
              </a:rPr>
              <a:t>Score exactly where the jury scores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7250" y="1276350"/>
            <a:ext cx="1285875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5B6472"/>
                </a:solidFill>
                <a:latin typeface="Aptos"/>
                <a:ea typeface="Aptos"/>
                <a:cs typeface="Aptos"/>
                <a:sym typeface="Aptos"/>
              </a:rPr>
              <a:t>Each official task has a generated CSV, a legal source path, and an auditable local proof.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57250" y="1857375"/>
            <a:ext cx="16573500" cy="14288"/>
            <a:chOff x="0" y="0"/>
            <a:chExt cx="22098000" cy="190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098000" cy="19050"/>
            </a:xfrm>
            <a:custGeom>
              <a:avLst/>
              <a:gdLst/>
              <a:ahLst/>
              <a:cxnLst/>
              <a:rect r="r" b="b" t="t" l="l"/>
              <a:pathLst>
                <a:path h="1905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9DEE7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850106" y="2421731"/>
            <a:ext cx="16302038" cy="671512"/>
            <a:chOff x="0" y="0"/>
            <a:chExt cx="21736050" cy="8953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736050" cy="895350"/>
            </a:xfrm>
            <a:custGeom>
              <a:avLst/>
              <a:gdLst/>
              <a:ahLst/>
              <a:cxnLst/>
              <a:rect r="r" b="b" t="t" l="l"/>
              <a:pathLst>
                <a:path h="895350" w="21736050">
                  <a:moveTo>
                    <a:pt x="0" y="0"/>
                  </a:moveTo>
                  <a:lnTo>
                    <a:pt x="21736050" y="0"/>
                  </a:lnTo>
                  <a:lnTo>
                    <a:pt x="21736050" y="895350"/>
                  </a:lnTo>
                  <a:lnTo>
                    <a:pt x="0" y="895350"/>
                  </a:lnTo>
                  <a:close/>
                </a:path>
              </a:pathLst>
            </a:custGeom>
            <a:solidFill>
              <a:srgbClr val="172033"/>
            </a:solidFill>
            <a:ln w="14288" cap="sq">
              <a:solidFill>
                <a:srgbClr val="D9DEE7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000125" y="2590800"/>
            <a:ext cx="3286125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Jury task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572000" y="2590800"/>
            <a:ext cx="314325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Submitted file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072438" y="2590800"/>
            <a:ext cx="314325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What it scores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572875" y="2590800"/>
            <a:ext cx="2714625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SUBMISSION_1 proof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573250" y="2590800"/>
            <a:ext cx="2428875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Risk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50106" y="3221831"/>
            <a:ext cx="16302038" cy="671512"/>
            <a:chOff x="0" y="0"/>
            <a:chExt cx="21736050" cy="8953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736050" cy="895350"/>
            </a:xfrm>
            <a:custGeom>
              <a:avLst/>
              <a:gdLst/>
              <a:ahLst/>
              <a:cxnLst/>
              <a:rect r="r" b="b" t="t" l="l"/>
              <a:pathLst>
                <a:path h="895350" w="21736050">
                  <a:moveTo>
                    <a:pt x="0" y="0"/>
                  </a:moveTo>
                  <a:lnTo>
                    <a:pt x="21736050" y="0"/>
                  </a:lnTo>
                  <a:lnTo>
                    <a:pt x="21736050" y="895350"/>
                  </a:lnTo>
                  <a:lnTo>
                    <a:pt x="0" y="895350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9DEE7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000125" y="3390900"/>
            <a:ext cx="3286125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111827"/>
                </a:solidFill>
                <a:latin typeface="Aptos"/>
                <a:ea typeface="Aptos"/>
                <a:cs typeface="Aptos"/>
                <a:sym typeface="Aptos"/>
              </a:rPr>
              <a:t>1. Next step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572000" y="3390900"/>
            <a:ext cx="314325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111827"/>
                </a:solidFill>
                <a:latin typeface="Aptos"/>
                <a:ea typeface="Aptos"/>
                <a:cs typeface="Aptos"/>
                <a:sym typeface="Aptos"/>
              </a:rPr>
              <a:t>nextstep.csv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072438" y="3390900"/>
            <a:ext cx="314325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111827"/>
                </a:solidFill>
                <a:latin typeface="Aptos"/>
                <a:ea typeface="Aptos"/>
                <a:cs typeface="Aptos"/>
                <a:sym typeface="Aptos"/>
              </a:rPr>
              <a:t>Top-1 / Top-3 / Top-5 / MRR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572875" y="3390900"/>
            <a:ext cx="2714625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111827"/>
                </a:solidFill>
                <a:latin typeface="Aptos"/>
                <a:ea typeface="Aptos"/>
                <a:cs typeface="Aptos"/>
                <a:sym typeface="Aptos"/>
              </a:rPr>
              <a:t>GPT large OOD3 Top-1 0.722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573250" y="3390900"/>
            <a:ext cx="2428875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111827"/>
                </a:solidFill>
                <a:latin typeface="Aptos"/>
                <a:ea typeface="Aptos"/>
                <a:cs typeface="Aptos"/>
                <a:sym typeface="Aptos"/>
              </a:rPr>
              <a:t>Low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50106" y="4021931"/>
            <a:ext cx="16302038" cy="671512"/>
            <a:chOff x="0" y="0"/>
            <a:chExt cx="21736050" cy="8953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736050" cy="895350"/>
            </a:xfrm>
            <a:custGeom>
              <a:avLst/>
              <a:gdLst/>
              <a:ahLst/>
              <a:cxnLst/>
              <a:rect r="r" b="b" t="t" l="l"/>
              <a:pathLst>
                <a:path h="895350" w="21736050">
                  <a:moveTo>
                    <a:pt x="0" y="0"/>
                  </a:moveTo>
                  <a:lnTo>
                    <a:pt x="21736050" y="0"/>
                  </a:lnTo>
                  <a:lnTo>
                    <a:pt x="21736050" y="895350"/>
                  </a:lnTo>
                  <a:lnTo>
                    <a:pt x="0" y="895350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9DEE7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1000125" y="4191000"/>
            <a:ext cx="3286125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111827"/>
                </a:solidFill>
                <a:latin typeface="Aptos"/>
                <a:ea typeface="Aptos"/>
                <a:cs typeface="Aptos"/>
                <a:sym typeface="Aptos"/>
              </a:rPr>
              <a:t>2. Completion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572000" y="4191000"/>
            <a:ext cx="314325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111827"/>
                </a:solidFill>
                <a:latin typeface="Aptos"/>
                <a:ea typeface="Aptos"/>
                <a:cs typeface="Aptos"/>
                <a:sym typeface="Aptos"/>
              </a:rPr>
              <a:t>completion.csv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072438" y="4191000"/>
            <a:ext cx="314325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111827"/>
                </a:solidFill>
                <a:latin typeface="Aptos"/>
                <a:ea typeface="Aptos"/>
                <a:cs typeface="Aptos"/>
                <a:sym typeface="Aptos"/>
              </a:rPr>
              <a:t>Normalized edit distance plus exact/token/block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572875" y="4191000"/>
            <a:ext cx="2714625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111827"/>
                </a:solidFill>
                <a:latin typeface="Aptos"/>
                <a:ea typeface="Aptos"/>
                <a:cs typeface="Aptos"/>
                <a:sym typeface="Aptos"/>
              </a:rPr>
              <a:t>Same checkpoint, official IDs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573250" y="4191000"/>
            <a:ext cx="2428875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111827"/>
                </a:solidFill>
                <a:latin typeface="Aptos"/>
                <a:ea typeface="Aptos"/>
                <a:cs typeface="Aptos"/>
                <a:sym typeface="Aptos"/>
              </a:rPr>
              <a:t>Medium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850106" y="4822031"/>
            <a:ext cx="16302038" cy="671512"/>
            <a:chOff x="0" y="0"/>
            <a:chExt cx="21736050" cy="8953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1736050" cy="895350"/>
            </a:xfrm>
            <a:custGeom>
              <a:avLst/>
              <a:gdLst/>
              <a:ahLst/>
              <a:cxnLst/>
              <a:rect r="r" b="b" t="t" l="l"/>
              <a:pathLst>
                <a:path h="895350" w="21736050">
                  <a:moveTo>
                    <a:pt x="0" y="0"/>
                  </a:moveTo>
                  <a:lnTo>
                    <a:pt x="21736050" y="0"/>
                  </a:lnTo>
                  <a:lnTo>
                    <a:pt x="21736050" y="895350"/>
                  </a:lnTo>
                  <a:lnTo>
                    <a:pt x="0" y="895350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9DEE7"/>
              </a:solidFill>
              <a:prstDash val="solid"/>
              <a:miter/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1000125" y="4991100"/>
            <a:ext cx="3286125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111827"/>
                </a:solidFill>
                <a:latin typeface="Aptos"/>
                <a:ea typeface="Aptos"/>
                <a:cs typeface="Aptos"/>
                <a:sym typeface="Aptos"/>
              </a:rPr>
              <a:t>3. Anomaly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572000" y="4991100"/>
            <a:ext cx="314325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111827"/>
                </a:solidFill>
                <a:latin typeface="Aptos"/>
                <a:ea typeface="Aptos"/>
                <a:cs typeface="Aptos"/>
                <a:sym typeface="Aptos"/>
              </a:rPr>
              <a:t>anomaly.csv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072438" y="4991100"/>
            <a:ext cx="314325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111827"/>
                </a:solidFill>
                <a:latin typeface="Aptos"/>
                <a:ea typeface="Aptos"/>
                <a:cs typeface="Aptos"/>
                <a:sym typeface="Aptos"/>
              </a:rPr>
              <a:t>Validity, score, violated rule name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572875" y="4991100"/>
            <a:ext cx="2714625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111827"/>
                </a:solidFill>
                <a:latin typeface="Aptos"/>
                <a:ea typeface="Aptos"/>
                <a:cs typeface="Aptos"/>
                <a:sym typeface="Aptos"/>
              </a:rPr>
              <a:t>Rule validator, official rule strings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573250" y="4991100"/>
            <a:ext cx="2428875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111827"/>
                </a:solidFill>
                <a:latin typeface="Aptos"/>
                <a:ea typeface="Aptos"/>
                <a:cs typeface="Aptos"/>
                <a:sym typeface="Aptos"/>
              </a:rPr>
              <a:t>Low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850106" y="5622131"/>
            <a:ext cx="16302038" cy="671512"/>
            <a:chOff x="0" y="0"/>
            <a:chExt cx="21736050" cy="89535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736050" cy="895350"/>
            </a:xfrm>
            <a:custGeom>
              <a:avLst/>
              <a:gdLst/>
              <a:ahLst/>
              <a:cxnLst/>
              <a:rect r="r" b="b" t="t" l="l"/>
              <a:pathLst>
                <a:path h="895350" w="21736050">
                  <a:moveTo>
                    <a:pt x="0" y="0"/>
                  </a:moveTo>
                  <a:lnTo>
                    <a:pt x="21736050" y="0"/>
                  </a:lnTo>
                  <a:lnTo>
                    <a:pt x="21736050" y="895350"/>
                  </a:lnTo>
                  <a:lnTo>
                    <a:pt x="0" y="895350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9DEE7"/>
              </a:solidFill>
              <a:prstDash val="solid"/>
              <a:miter/>
            </a:ln>
          </p:spPr>
        </p:sp>
      </p:grpSp>
      <p:sp>
        <p:nvSpPr>
          <p:cNvPr name="TextBox 38" id="38"/>
          <p:cNvSpPr txBox="true"/>
          <p:nvPr/>
        </p:nvSpPr>
        <p:spPr>
          <a:xfrm rot="0">
            <a:off x="1000125" y="5791200"/>
            <a:ext cx="3286125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111827"/>
                </a:solidFill>
                <a:latin typeface="Aptos"/>
                <a:ea typeface="Aptos"/>
                <a:cs typeface="Aptos"/>
                <a:sym typeface="Aptos"/>
              </a:rPr>
              <a:t>Legality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4572000" y="5791200"/>
            <a:ext cx="314325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111827"/>
                </a:solidFill>
                <a:latin typeface="Aptos"/>
                <a:ea typeface="Aptos"/>
                <a:cs typeface="Aptos"/>
                <a:sym typeface="Aptos"/>
              </a:rPr>
              <a:t>repo evidence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072438" y="5791200"/>
            <a:ext cx="314325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111827"/>
                </a:solidFill>
                <a:latin typeface="Aptos"/>
                <a:ea typeface="Aptos"/>
                <a:cs typeface="Aptos"/>
                <a:sym typeface="Aptos"/>
              </a:rPr>
              <a:t>No hidden eval training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572875" y="5791200"/>
            <a:ext cx="2714625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111827"/>
                </a:solidFill>
                <a:latin typeface="Aptos"/>
                <a:ea typeface="Aptos"/>
                <a:cs typeface="Aptos"/>
                <a:sym typeface="Aptos"/>
              </a:rPr>
              <a:t>Official eval only used for inference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4573250" y="5791200"/>
            <a:ext cx="2428875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111827"/>
                </a:solidFill>
                <a:latin typeface="Aptos"/>
                <a:ea typeface="Aptos"/>
                <a:cs typeface="Aptos"/>
                <a:sym typeface="Aptos"/>
              </a:rPr>
              <a:t>Low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850106" y="6422231"/>
            <a:ext cx="16302038" cy="671512"/>
            <a:chOff x="0" y="0"/>
            <a:chExt cx="21736050" cy="89535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1736050" cy="895350"/>
            </a:xfrm>
            <a:custGeom>
              <a:avLst/>
              <a:gdLst/>
              <a:ahLst/>
              <a:cxnLst/>
              <a:rect r="r" b="b" t="t" l="l"/>
              <a:pathLst>
                <a:path h="895350" w="21736050">
                  <a:moveTo>
                    <a:pt x="0" y="0"/>
                  </a:moveTo>
                  <a:lnTo>
                    <a:pt x="21736050" y="0"/>
                  </a:lnTo>
                  <a:lnTo>
                    <a:pt x="21736050" y="895350"/>
                  </a:lnTo>
                  <a:lnTo>
                    <a:pt x="0" y="895350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9DEE7"/>
              </a:solidFill>
              <a:prstDash val="solid"/>
              <a:miter/>
            </a:ln>
          </p:spPr>
        </p:sp>
      </p:grpSp>
      <p:sp>
        <p:nvSpPr>
          <p:cNvPr name="TextBox 45" id="45"/>
          <p:cNvSpPr txBox="true"/>
          <p:nvPr/>
        </p:nvSpPr>
        <p:spPr>
          <a:xfrm rot="0">
            <a:off x="1000125" y="6591300"/>
            <a:ext cx="3286125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111827"/>
                </a:solidFill>
                <a:latin typeface="Aptos"/>
                <a:ea typeface="Aptos"/>
                <a:cs typeface="Aptos"/>
                <a:sym typeface="Aptos"/>
              </a:rPr>
              <a:t>Reproducibility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4572000" y="6591300"/>
            <a:ext cx="314325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111827"/>
                </a:solidFill>
                <a:latin typeface="Aptos"/>
                <a:ea typeface="Aptos"/>
                <a:cs typeface="Aptos"/>
                <a:sym typeface="Aptos"/>
              </a:rPr>
              <a:t>REPORT + README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8072438" y="6591300"/>
            <a:ext cx="314325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111827"/>
                </a:solidFill>
                <a:latin typeface="Aptos"/>
                <a:ea typeface="Aptos"/>
                <a:cs typeface="Aptos"/>
                <a:sym typeface="Aptos"/>
              </a:rPr>
              <a:t>Run path and dependencies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572875" y="6591300"/>
            <a:ext cx="2714625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111827"/>
                </a:solidFill>
                <a:latin typeface="Aptos"/>
                <a:ea typeface="Aptos"/>
                <a:cs typeface="Aptos"/>
                <a:sym typeface="Aptos"/>
              </a:rPr>
              <a:t>Checkpoint + n-gram fallback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4573250" y="6591300"/>
            <a:ext cx="2428875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111827"/>
                </a:solidFill>
                <a:latin typeface="Aptos"/>
                <a:ea typeface="Aptos"/>
                <a:cs typeface="Aptos"/>
                <a:sym typeface="Aptos"/>
              </a:rPr>
              <a:t>Low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857250" y="9715500"/>
            <a:ext cx="1143000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>
                <a:solidFill>
                  <a:srgbClr val="7B8494"/>
                </a:solidFill>
                <a:latin typeface="Aptos"/>
                <a:ea typeface="Aptos"/>
                <a:cs typeface="Aptos"/>
                <a:sym typeface="Aptos"/>
              </a:rPr>
              <a:t>SUBMISSION_1 | Industrial AI Infineon | May 31, 2026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250" y="-57150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57250" y="600075"/>
            <a:ext cx="12858750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 b="true">
                <a:solidFill>
                  <a:srgbClr val="111827"/>
                </a:solidFill>
                <a:latin typeface="Aptos Bold"/>
                <a:ea typeface="Aptos Bold"/>
                <a:cs typeface="Aptos Bold"/>
                <a:sym typeface="Aptos Bold"/>
              </a:rPr>
              <a:t>Why this branch ranks first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7250" y="1276350"/>
            <a:ext cx="1285875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5B6472"/>
                </a:solidFill>
                <a:latin typeface="Aptos"/>
                <a:ea typeface="Aptos"/>
                <a:cs typeface="Aptos"/>
                <a:sym typeface="Aptos"/>
              </a:rPr>
              <a:t>The best winning chance is the strongest legal OOD result that also ships clean official-format artifacts.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57250" y="1857375"/>
            <a:ext cx="16573500" cy="14288"/>
            <a:chOff x="0" y="0"/>
            <a:chExt cx="22098000" cy="190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098000" cy="19050"/>
            </a:xfrm>
            <a:custGeom>
              <a:avLst/>
              <a:gdLst/>
              <a:ahLst/>
              <a:cxnLst/>
              <a:rect r="r" b="b" t="t" l="l"/>
              <a:pathLst>
                <a:path h="1905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9DEE7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85875" y="2519363"/>
            <a:ext cx="2714625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111827"/>
                </a:solidFill>
                <a:latin typeface="Aptos Bold"/>
                <a:ea typeface="Aptos Bold"/>
                <a:cs typeface="Aptos Bold"/>
                <a:sym typeface="Aptos Bold"/>
              </a:rPr>
              <a:t>SUBMISSION_1 GPT large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143375" y="2571750"/>
            <a:ext cx="8858250" cy="285750"/>
            <a:chOff x="0" y="0"/>
            <a:chExt cx="11811000" cy="381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81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11811000">
                  <a:moveTo>
                    <a:pt x="0" y="0"/>
                  </a:moveTo>
                  <a:lnTo>
                    <a:pt x="11811000" y="0"/>
                  </a:lnTo>
                  <a:lnTo>
                    <a:pt x="11811000" y="381000"/>
                  </a:lnTo>
                  <a:lnTo>
                    <a:pt x="0" y="381000"/>
                  </a:lnTo>
                  <a:close/>
                </a:path>
              </a:pathLst>
            </a:custGeom>
            <a:solidFill>
              <a:srgbClr val="E9EDF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4143375" y="2571750"/>
            <a:ext cx="8529638" cy="285750"/>
            <a:chOff x="0" y="0"/>
            <a:chExt cx="11372850" cy="381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372850" cy="381000"/>
            </a:xfrm>
            <a:custGeom>
              <a:avLst/>
              <a:gdLst/>
              <a:ahLst/>
              <a:cxnLst/>
              <a:rect r="r" b="b" t="t" l="l"/>
              <a:pathLst>
                <a:path h="381000" w="11372850">
                  <a:moveTo>
                    <a:pt x="0" y="0"/>
                  </a:moveTo>
                  <a:lnTo>
                    <a:pt x="11372850" y="0"/>
                  </a:lnTo>
                  <a:lnTo>
                    <a:pt x="11372850" y="381000"/>
                  </a:lnTo>
                  <a:lnTo>
                    <a:pt x="0" y="381000"/>
                  </a:lnTo>
                  <a:close/>
                </a:path>
              </a:pathLst>
            </a:custGeom>
            <a:solidFill>
              <a:srgbClr val="0F8A5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3144500" y="2547937"/>
            <a:ext cx="1000125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0F8A5F"/>
                </a:solidFill>
                <a:latin typeface="Aptos Bold"/>
                <a:ea typeface="Aptos Bold"/>
                <a:cs typeface="Aptos Bold"/>
                <a:sym typeface="Aptos Bold"/>
              </a:rPr>
              <a:t>0.722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143375" y="2905125"/>
            <a:ext cx="88582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5"/>
              </a:lnSpc>
            </a:pPr>
            <a:r>
              <a:rPr lang="en-US" sz="1012">
                <a:solidFill>
                  <a:srgbClr val="5B6472"/>
                </a:solidFill>
                <a:latin typeface="Aptos"/>
                <a:ea typeface="Aptos"/>
                <a:cs typeface="Aptos"/>
                <a:sym typeface="Aptos"/>
              </a:rPr>
              <a:t>15 families; train 12; test 3; final CSVs and checkpoint present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85875" y="3448050"/>
            <a:ext cx="2714625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111827"/>
                </a:solidFill>
                <a:latin typeface="Aptos Bold"/>
                <a:ea typeface="Aptos Bold"/>
                <a:cs typeface="Aptos Bold"/>
                <a:sym typeface="Aptos Bold"/>
              </a:rPr>
              <a:t>Prior GPT self-eval path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4143375" y="3500438"/>
            <a:ext cx="8858250" cy="285750"/>
            <a:chOff x="0" y="0"/>
            <a:chExt cx="11811000" cy="381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81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11811000">
                  <a:moveTo>
                    <a:pt x="0" y="0"/>
                  </a:moveTo>
                  <a:lnTo>
                    <a:pt x="11811000" y="0"/>
                  </a:lnTo>
                  <a:lnTo>
                    <a:pt x="11811000" y="381000"/>
                  </a:lnTo>
                  <a:lnTo>
                    <a:pt x="0" y="381000"/>
                  </a:lnTo>
                  <a:close/>
                </a:path>
              </a:pathLst>
            </a:custGeom>
            <a:solidFill>
              <a:srgbClr val="E9EDF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4143375" y="3500438"/>
            <a:ext cx="8329612" cy="285750"/>
            <a:chOff x="0" y="0"/>
            <a:chExt cx="11106150" cy="381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106150" cy="381000"/>
            </a:xfrm>
            <a:custGeom>
              <a:avLst/>
              <a:gdLst/>
              <a:ahLst/>
              <a:cxnLst/>
              <a:rect r="r" b="b" t="t" l="l"/>
              <a:pathLst>
                <a:path h="381000" w="11106150">
                  <a:moveTo>
                    <a:pt x="0" y="0"/>
                  </a:moveTo>
                  <a:lnTo>
                    <a:pt x="11106150" y="0"/>
                  </a:lnTo>
                  <a:lnTo>
                    <a:pt x="11106150" y="381000"/>
                  </a:lnTo>
                  <a:lnTo>
                    <a:pt x="0" y="381000"/>
                  </a:lnTo>
                  <a:close/>
                </a:path>
              </a:pathLst>
            </a:custGeom>
            <a:solidFill>
              <a:srgbClr val="2563EB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3144500" y="3476625"/>
            <a:ext cx="1000125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2563EB"/>
                </a:solidFill>
                <a:latin typeface="Aptos Bold"/>
                <a:ea typeface="Aptos Bold"/>
                <a:cs typeface="Aptos Bold"/>
                <a:sym typeface="Aptos Bold"/>
              </a:rPr>
              <a:t>0.705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143375" y="3833813"/>
            <a:ext cx="88582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5"/>
              </a:lnSpc>
            </a:pPr>
            <a:r>
              <a:rPr lang="en-US" sz="1012">
                <a:solidFill>
                  <a:srgbClr val="5B6472"/>
                </a:solidFill>
                <a:latin typeface="Aptos"/>
                <a:ea typeface="Aptos"/>
                <a:cs typeface="Aptos"/>
                <a:sym typeface="Aptos"/>
              </a:rPr>
              <a:t>Strong self-eval, but weaker OOD framing than SUBMISSION_1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85875" y="4376737"/>
            <a:ext cx="2714625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111827"/>
                </a:solidFill>
                <a:latin typeface="Aptos Bold"/>
                <a:ea typeface="Aptos Bold"/>
                <a:cs typeface="Aptos Bold"/>
                <a:sym typeface="Aptos Bold"/>
              </a:rPr>
              <a:t>Single-family OOD proxy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4143375" y="4429125"/>
            <a:ext cx="8858250" cy="285750"/>
            <a:chOff x="0" y="0"/>
            <a:chExt cx="11811000" cy="381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81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11811000">
                  <a:moveTo>
                    <a:pt x="0" y="0"/>
                  </a:moveTo>
                  <a:lnTo>
                    <a:pt x="11811000" y="0"/>
                  </a:lnTo>
                  <a:lnTo>
                    <a:pt x="11811000" y="381000"/>
                  </a:lnTo>
                  <a:lnTo>
                    <a:pt x="0" y="381000"/>
                  </a:lnTo>
                  <a:close/>
                </a:path>
              </a:pathLst>
            </a:custGeom>
            <a:solidFill>
              <a:srgbClr val="E9EDF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4143375" y="4429125"/>
            <a:ext cx="6872288" cy="285750"/>
            <a:chOff x="0" y="0"/>
            <a:chExt cx="9163050" cy="381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163050" cy="381000"/>
            </a:xfrm>
            <a:custGeom>
              <a:avLst/>
              <a:gdLst/>
              <a:ahLst/>
              <a:cxnLst/>
              <a:rect r="r" b="b" t="t" l="l"/>
              <a:pathLst>
                <a:path h="381000" w="9163050">
                  <a:moveTo>
                    <a:pt x="0" y="0"/>
                  </a:moveTo>
                  <a:lnTo>
                    <a:pt x="9163050" y="0"/>
                  </a:lnTo>
                  <a:lnTo>
                    <a:pt x="9163050" y="381000"/>
                  </a:lnTo>
                  <a:lnTo>
                    <a:pt x="0" y="381000"/>
                  </a:lnTo>
                  <a:close/>
                </a:path>
              </a:pathLst>
            </a:custGeom>
            <a:solidFill>
              <a:srgbClr val="B77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13144500" y="4405313"/>
            <a:ext cx="1000125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B7791F"/>
                </a:solidFill>
                <a:latin typeface="Aptos Bold"/>
                <a:ea typeface="Aptos Bold"/>
                <a:cs typeface="Aptos Bold"/>
                <a:sym typeface="Aptos Bold"/>
              </a:rPr>
              <a:t>0.582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143375" y="4762500"/>
            <a:ext cx="88582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5"/>
              </a:lnSpc>
            </a:pPr>
            <a:r>
              <a:rPr lang="en-US" sz="1012">
                <a:solidFill>
                  <a:srgbClr val="5B6472"/>
                </a:solidFill>
                <a:latin typeface="Aptos"/>
                <a:ea typeface="Aptos"/>
                <a:cs typeface="Aptos"/>
                <a:sym typeface="Aptos"/>
              </a:rPr>
              <a:t>Useful single-family stress test; less robust than OOD3 average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85875" y="5305425"/>
            <a:ext cx="2714625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111827"/>
                </a:solidFill>
                <a:latin typeface="Aptos Bold"/>
                <a:ea typeface="Aptos Bold"/>
                <a:cs typeface="Aptos Bold"/>
                <a:sym typeface="Aptos Bold"/>
              </a:rPr>
              <a:t>N-gram fallback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4143375" y="5357812"/>
            <a:ext cx="8858250" cy="285750"/>
            <a:chOff x="0" y="0"/>
            <a:chExt cx="11811000" cy="381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81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11811000">
                  <a:moveTo>
                    <a:pt x="0" y="0"/>
                  </a:moveTo>
                  <a:lnTo>
                    <a:pt x="11811000" y="0"/>
                  </a:lnTo>
                  <a:lnTo>
                    <a:pt x="11811000" y="381000"/>
                  </a:lnTo>
                  <a:lnTo>
                    <a:pt x="0" y="381000"/>
                  </a:lnTo>
                  <a:close/>
                </a:path>
              </a:pathLst>
            </a:custGeom>
            <a:solidFill>
              <a:srgbClr val="E9EDF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4143375" y="5357812"/>
            <a:ext cx="7815262" cy="285750"/>
            <a:chOff x="0" y="0"/>
            <a:chExt cx="10420350" cy="381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420350" cy="381000"/>
            </a:xfrm>
            <a:custGeom>
              <a:avLst/>
              <a:gdLst/>
              <a:ahLst/>
              <a:cxnLst/>
              <a:rect r="r" b="b" t="t" l="l"/>
              <a:pathLst>
                <a:path h="381000" w="10420350">
                  <a:moveTo>
                    <a:pt x="0" y="0"/>
                  </a:moveTo>
                  <a:lnTo>
                    <a:pt x="10420350" y="0"/>
                  </a:lnTo>
                  <a:lnTo>
                    <a:pt x="10420350" y="381000"/>
                  </a:lnTo>
                  <a:lnTo>
                    <a:pt x="0" y="381000"/>
                  </a:lnTo>
                  <a:close/>
                </a:path>
              </a:pathLst>
            </a:custGeom>
            <a:solidFill>
              <a:srgbClr val="0891B2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34" id="34"/>
          <p:cNvSpPr txBox="true"/>
          <p:nvPr/>
        </p:nvSpPr>
        <p:spPr>
          <a:xfrm rot="0">
            <a:off x="13144500" y="5334000"/>
            <a:ext cx="1000125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0891B2"/>
                </a:solidFill>
                <a:latin typeface="Aptos Bold"/>
                <a:ea typeface="Aptos Bold"/>
                <a:cs typeface="Aptos Bold"/>
                <a:sym typeface="Aptos Bold"/>
              </a:rPr>
              <a:t>0.662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143375" y="5691187"/>
            <a:ext cx="88582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5"/>
              </a:lnSpc>
            </a:pPr>
            <a:r>
              <a:rPr lang="en-US" sz="1012">
                <a:solidFill>
                  <a:srgbClr val="5B6472"/>
                </a:solidFill>
                <a:latin typeface="Aptos"/>
                <a:ea typeface="Aptos"/>
                <a:cs typeface="Aptos"/>
                <a:sym typeface="Aptos"/>
              </a:rPr>
              <a:t>Dependency-free safety baseline; not the primary winning path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620875" y="2343150"/>
            <a:ext cx="1780416" cy="3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11827"/>
                </a:solidFill>
                <a:latin typeface="Aptos Bold"/>
                <a:ea typeface="Aptos Bold"/>
                <a:cs typeface="Aptos Bold"/>
                <a:sym typeface="Aptos Bold"/>
              </a:rPr>
              <a:t>Selection logic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3716000" y="3028950"/>
            <a:ext cx="200025" cy="200025"/>
            <a:chOff x="0" y="0"/>
            <a:chExt cx="266700" cy="2667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66700" cy="266700"/>
            </a:xfrm>
            <a:custGeom>
              <a:avLst/>
              <a:gdLst/>
              <a:ahLst/>
              <a:cxnLst/>
              <a:rect r="r" b="b" t="t" l="l"/>
              <a:pathLst>
                <a:path h="26670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26670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rgbClr val="0F8A5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39" id="39"/>
          <p:cNvSpPr txBox="true"/>
          <p:nvPr/>
        </p:nvSpPr>
        <p:spPr>
          <a:xfrm rot="0">
            <a:off x="14030325" y="2776537"/>
            <a:ext cx="3071812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111827"/>
                </a:solidFill>
                <a:latin typeface="Aptos"/>
                <a:ea typeface="Aptos"/>
                <a:cs typeface="Aptos"/>
                <a:sym typeface="Aptos"/>
              </a:rPr>
              <a:t>Higher OOD confidence than inherited single-family proxy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3716000" y="3686175"/>
            <a:ext cx="200025" cy="200025"/>
            <a:chOff x="0" y="0"/>
            <a:chExt cx="266700" cy="2667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66700" cy="266700"/>
            </a:xfrm>
            <a:custGeom>
              <a:avLst/>
              <a:gdLst/>
              <a:ahLst/>
              <a:cxnLst/>
              <a:rect r="r" b="b" t="t" l="l"/>
              <a:pathLst>
                <a:path h="26670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26670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rgbClr val="0F8A5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42" id="42"/>
          <p:cNvSpPr txBox="true"/>
          <p:nvPr/>
        </p:nvSpPr>
        <p:spPr>
          <a:xfrm rot="0">
            <a:off x="14030325" y="3433763"/>
            <a:ext cx="3071812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111827"/>
                </a:solidFill>
                <a:latin typeface="Aptos"/>
                <a:ea typeface="Aptos"/>
                <a:cs typeface="Aptos"/>
                <a:sym typeface="Aptos"/>
              </a:rPr>
              <a:t>No eval_input_anomaly training leakage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3716000" y="4343400"/>
            <a:ext cx="200025" cy="200025"/>
            <a:chOff x="0" y="0"/>
            <a:chExt cx="266700" cy="2667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66700" cy="266700"/>
            </a:xfrm>
            <a:custGeom>
              <a:avLst/>
              <a:gdLst/>
              <a:ahLst/>
              <a:cxnLst/>
              <a:rect r="r" b="b" t="t" l="l"/>
              <a:pathLst>
                <a:path h="26670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26670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rgbClr val="0F8A5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45" id="45"/>
          <p:cNvSpPr txBox="true"/>
          <p:nvPr/>
        </p:nvSpPr>
        <p:spPr>
          <a:xfrm rot="0">
            <a:off x="14030325" y="4262437"/>
            <a:ext cx="3071812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111827"/>
                </a:solidFill>
                <a:latin typeface="Aptos"/>
                <a:ea typeface="Aptos"/>
                <a:cs typeface="Aptos"/>
                <a:sym typeface="Aptos"/>
              </a:rPr>
              <a:t>Official IDs generated from participant files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3716000" y="5000625"/>
            <a:ext cx="200025" cy="200025"/>
            <a:chOff x="0" y="0"/>
            <a:chExt cx="266700" cy="2667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66700" cy="266700"/>
            </a:xfrm>
            <a:custGeom>
              <a:avLst/>
              <a:gdLst/>
              <a:ahLst/>
              <a:cxnLst/>
              <a:rect r="r" b="b" t="t" l="l"/>
              <a:pathLst>
                <a:path h="26670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26670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rgbClr val="0F8A5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48" id="48"/>
          <p:cNvSpPr txBox="true"/>
          <p:nvPr/>
        </p:nvSpPr>
        <p:spPr>
          <a:xfrm rot="0">
            <a:off x="14030325" y="4919663"/>
            <a:ext cx="3071812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111827"/>
                </a:solidFill>
                <a:latin typeface="Aptos"/>
                <a:ea typeface="Aptos"/>
                <a:cs typeface="Aptos"/>
                <a:sym typeface="Aptos"/>
              </a:rPr>
              <a:t>Checkpoint included; fallback remains runnable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85875" y="7358062"/>
            <a:ext cx="14716125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B6472"/>
                </a:solidFill>
                <a:latin typeface="Aptos"/>
                <a:ea typeface="Aptos"/>
                <a:cs typeface="Aptos"/>
                <a:sym typeface="Aptos"/>
              </a:rPr>
              <a:t>Counterargument handled: if the hidden OOD family differs from our synthetic families, the 3-family average is still a better proxy than optimizing on known-format self-eval alone.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857250" y="9715500"/>
            <a:ext cx="1143000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>
                <a:solidFill>
                  <a:srgbClr val="7B8494"/>
                </a:solidFill>
                <a:latin typeface="Aptos"/>
                <a:ea typeface="Aptos"/>
                <a:cs typeface="Aptos"/>
                <a:sym typeface="Aptos"/>
              </a:rPr>
              <a:t>SUBMISSION_1 | Industrial AI Infineon | May 31, 2026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57250" y="600075"/>
            <a:ext cx="12858750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 b="true">
                <a:solidFill>
                  <a:srgbClr val="111827"/>
                </a:solidFill>
                <a:latin typeface="Aptos Bold"/>
                <a:ea typeface="Aptos Bold"/>
                <a:cs typeface="Aptos Bold"/>
                <a:sym typeface="Aptos Bold"/>
              </a:rPr>
              <a:t>OOD protocol is explicit and judge-aligned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7250" y="1276350"/>
            <a:ext cx="1285875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5B6472"/>
                </a:solidFill>
                <a:latin typeface="Aptos"/>
                <a:ea typeface="Aptos"/>
                <a:cs typeface="Aptos"/>
                <a:sym typeface="Aptos"/>
              </a:rPr>
              <a:t>SUBMISSION_1 tests whether the model learned process grammar, not just known family routes.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57250" y="1857375"/>
            <a:ext cx="16573500" cy="14288"/>
            <a:chOff x="0" y="0"/>
            <a:chExt cx="22098000" cy="190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098000" cy="19050"/>
            </a:xfrm>
            <a:custGeom>
              <a:avLst/>
              <a:gdLst/>
              <a:ahLst/>
              <a:cxnLst/>
              <a:rect r="r" b="b" t="t" l="l"/>
              <a:pathLst>
                <a:path h="1905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9DEE7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64431" y="2707481"/>
            <a:ext cx="3014662" cy="1328738"/>
            <a:chOff x="0" y="0"/>
            <a:chExt cx="4019550" cy="17716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19550" cy="1771650"/>
            </a:xfrm>
            <a:custGeom>
              <a:avLst/>
              <a:gdLst/>
              <a:ahLst/>
              <a:cxnLst/>
              <a:rect r="r" b="b" t="t" l="l"/>
              <a:pathLst>
                <a:path h="1771650" w="4019550">
                  <a:moveTo>
                    <a:pt x="0" y="0"/>
                  </a:moveTo>
                  <a:lnTo>
                    <a:pt x="4019550" y="0"/>
                  </a:lnTo>
                  <a:lnTo>
                    <a:pt x="4019550" y="1771650"/>
                  </a:lnTo>
                  <a:lnTo>
                    <a:pt x="0" y="1771650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9DEE7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371600" y="2914650"/>
            <a:ext cx="2600325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111827"/>
                </a:solidFill>
                <a:latin typeface="Aptos Bold"/>
                <a:ea typeface="Aptos Bold"/>
                <a:cs typeface="Aptos Bold"/>
                <a:sym typeface="Aptos Bold"/>
              </a:rPr>
              <a:t>15 total families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4171950" y="3371850"/>
            <a:ext cx="1228725" cy="42862"/>
            <a:chOff x="0" y="0"/>
            <a:chExt cx="1638300" cy="571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38300" cy="57150"/>
            </a:xfrm>
            <a:custGeom>
              <a:avLst/>
              <a:gdLst/>
              <a:ahLst/>
              <a:cxnLst/>
              <a:rect r="r" b="b" t="t" l="l"/>
              <a:pathLst>
                <a:path h="57150" w="1638300">
                  <a:moveTo>
                    <a:pt x="0" y="0"/>
                  </a:moveTo>
                  <a:lnTo>
                    <a:pt x="1638300" y="0"/>
                  </a:lnTo>
                  <a:lnTo>
                    <a:pt x="16383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D9DEE7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5257800" y="3300412"/>
            <a:ext cx="142875" cy="185738"/>
            <a:chOff x="0" y="0"/>
            <a:chExt cx="190500" cy="2476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0500" cy="247650"/>
            </a:xfrm>
            <a:custGeom>
              <a:avLst/>
              <a:gdLst/>
              <a:ahLst/>
              <a:cxnLst/>
              <a:rect r="r" b="b" t="t" l="l"/>
              <a:pathLst>
                <a:path h="247650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247650"/>
                  </a:lnTo>
                  <a:lnTo>
                    <a:pt x="0" y="247650"/>
                  </a:lnTo>
                  <a:close/>
                </a:path>
              </a:pathLst>
            </a:custGeom>
            <a:solidFill>
              <a:srgbClr val="D9DEE7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5393531" y="2536031"/>
            <a:ext cx="3729038" cy="1671638"/>
            <a:chOff x="0" y="0"/>
            <a:chExt cx="4972050" cy="22288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972050" cy="2228850"/>
            </a:xfrm>
            <a:custGeom>
              <a:avLst/>
              <a:gdLst/>
              <a:ahLst/>
              <a:cxnLst/>
              <a:rect r="r" b="b" t="t" l="l"/>
              <a:pathLst>
                <a:path h="222885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228850"/>
                  </a:lnTo>
                  <a:lnTo>
                    <a:pt x="0" y="2228850"/>
                  </a:lnTo>
                  <a:close/>
                </a:path>
              </a:pathLst>
            </a:custGeom>
            <a:solidFill>
              <a:srgbClr val="DFF5EC"/>
            </a:solidFill>
            <a:ln w="14288" cap="sq">
              <a:solidFill>
                <a:srgbClr val="D9DEE7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5600700" y="2743200"/>
            <a:ext cx="3314700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F8A5F"/>
                </a:solidFill>
                <a:latin typeface="Aptos Bold"/>
                <a:ea typeface="Aptos Bold"/>
                <a:cs typeface="Aptos Bold"/>
                <a:sym typeface="Aptos Bold"/>
              </a:rPr>
              <a:t>12 train families</a:t>
            </a:r>
          </a:p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F8A5F"/>
                </a:solidFill>
                <a:latin typeface="Aptos Bold"/>
                <a:ea typeface="Aptos Bold"/>
                <a:cs typeface="Aptos Bold"/>
                <a:sym typeface="Aptos Bold"/>
              </a:rPr>
              <a:t>mosfet, igbt, ic</a:t>
            </a:r>
          </a:p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F8A5F"/>
                </a:solidFill>
                <a:latin typeface="Aptos Bold"/>
                <a:ea typeface="Aptos Bold"/>
                <a:cs typeface="Aptos Bold"/>
                <a:sym typeface="Aptos Bold"/>
              </a:rPr>
              <a:t>+ scfam01-09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115425" y="3371850"/>
            <a:ext cx="1200150" cy="42862"/>
            <a:chOff x="0" y="0"/>
            <a:chExt cx="1600200" cy="571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00200" cy="57150"/>
            </a:xfrm>
            <a:custGeom>
              <a:avLst/>
              <a:gdLst/>
              <a:ahLst/>
              <a:cxnLst/>
              <a:rect r="r" b="b" t="t" l="l"/>
              <a:pathLst>
                <a:path h="57150" w="1600200">
                  <a:moveTo>
                    <a:pt x="0" y="0"/>
                  </a:moveTo>
                  <a:lnTo>
                    <a:pt x="1600200" y="0"/>
                  </a:lnTo>
                  <a:lnTo>
                    <a:pt x="16002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D9DEE7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0172700" y="3300412"/>
            <a:ext cx="142875" cy="185738"/>
            <a:chOff x="0" y="0"/>
            <a:chExt cx="190500" cy="2476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0500" cy="247650"/>
            </a:xfrm>
            <a:custGeom>
              <a:avLst/>
              <a:gdLst/>
              <a:ahLst/>
              <a:cxnLst/>
              <a:rect r="r" b="b" t="t" l="l"/>
              <a:pathLst>
                <a:path h="247650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247650"/>
                  </a:lnTo>
                  <a:lnTo>
                    <a:pt x="0" y="247650"/>
                  </a:lnTo>
                  <a:close/>
                </a:path>
              </a:pathLst>
            </a:custGeom>
            <a:solidFill>
              <a:srgbClr val="D9DEE7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0308431" y="2536031"/>
            <a:ext cx="4186238" cy="1671638"/>
            <a:chOff x="0" y="0"/>
            <a:chExt cx="5581650" cy="22288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581650" cy="2228850"/>
            </a:xfrm>
            <a:custGeom>
              <a:avLst/>
              <a:gdLst/>
              <a:ahLst/>
              <a:cxnLst/>
              <a:rect r="r" b="b" t="t" l="l"/>
              <a:pathLst>
                <a:path h="2228850" w="5581650">
                  <a:moveTo>
                    <a:pt x="0" y="0"/>
                  </a:moveTo>
                  <a:lnTo>
                    <a:pt x="5581650" y="0"/>
                  </a:lnTo>
                  <a:lnTo>
                    <a:pt x="5581650" y="2228850"/>
                  </a:lnTo>
                  <a:lnTo>
                    <a:pt x="0" y="2228850"/>
                  </a:lnTo>
                  <a:close/>
                </a:path>
              </a:pathLst>
            </a:custGeom>
            <a:solidFill>
              <a:srgbClr val="DCEAFE"/>
            </a:solidFill>
            <a:ln w="14288" cap="sq">
              <a:solidFill>
                <a:srgbClr val="D9DEE7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10515600" y="2743200"/>
            <a:ext cx="3771900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2563EB"/>
                </a:solidFill>
                <a:latin typeface="Aptos Bold"/>
                <a:ea typeface="Aptos Bold"/>
                <a:cs typeface="Aptos Bold"/>
                <a:sym typeface="Aptos Bold"/>
              </a:rPr>
              <a:t>3 held-out OOD families</a:t>
            </a:r>
          </a:p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2563EB"/>
                </a:solidFill>
                <a:latin typeface="Aptos Bold"/>
                <a:ea typeface="Aptos Bold"/>
                <a:cs typeface="Aptos Bold"/>
                <a:sym typeface="Aptos Bold"/>
              </a:rPr>
              <a:t>scfam10, scfam11, scfam12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4487525" y="3371850"/>
            <a:ext cx="1028700" cy="42862"/>
            <a:chOff x="0" y="0"/>
            <a:chExt cx="1371600" cy="571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71600" cy="57150"/>
            </a:xfrm>
            <a:custGeom>
              <a:avLst/>
              <a:gdLst/>
              <a:ahLst/>
              <a:cxnLst/>
              <a:rect r="r" b="b" t="t" l="l"/>
              <a:pathLst>
                <a:path h="57150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D9DEE7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5373350" y="3300412"/>
            <a:ext cx="142875" cy="185738"/>
            <a:chOff x="0" y="0"/>
            <a:chExt cx="190500" cy="24765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90500" cy="247650"/>
            </a:xfrm>
            <a:custGeom>
              <a:avLst/>
              <a:gdLst/>
              <a:ahLst/>
              <a:cxnLst/>
              <a:rect r="r" b="b" t="t" l="l"/>
              <a:pathLst>
                <a:path h="247650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247650"/>
                  </a:lnTo>
                  <a:lnTo>
                    <a:pt x="0" y="247650"/>
                  </a:lnTo>
                  <a:close/>
                </a:path>
              </a:pathLst>
            </a:custGeom>
            <a:solidFill>
              <a:srgbClr val="D9DEE7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5509081" y="2707481"/>
            <a:ext cx="1814512" cy="1328738"/>
            <a:chOff x="0" y="0"/>
            <a:chExt cx="2419350" cy="17716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419350" cy="1771650"/>
            </a:xfrm>
            <a:custGeom>
              <a:avLst/>
              <a:gdLst/>
              <a:ahLst/>
              <a:cxnLst/>
              <a:rect r="r" b="b" t="t" l="l"/>
              <a:pathLst>
                <a:path h="1771650" w="2419350">
                  <a:moveTo>
                    <a:pt x="0" y="0"/>
                  </a:moveTo>
                  <a:lnTo>
                    <a:pt x="2419350" y="0"/>
                  </a:lnTo>
                  <a:lnTo>
                    <a:pt x="2419350" y="1771650"/>
                  </a:lnTo>
                  <a:lnTo>
                    <a:pt x="0" y="1771650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9DEE7"/>
              </a:solidFill>
              <a:prstDash val="solid"/>
              <a:miter/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15716250" y="2914650"/>
            <a:ext cx="1400175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111827"/>
                </a:solidFill>
                <a:latin typeface="Aptos Bold"/>
                <a:ea typeface="Aptos Bold"/>
                <a:cs typeface="Aptos Bold"/>
                <a:sym typeface="Aptos Bold"/>
              </a:rPr>
              <a:t>Report family-wise average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421606" y="5493544"/>
            <a:ext cx="7158038" cy="1728788"/>
            <a:chOff x="0" y="0"/>
            <a:chExt cx="9544050" cy="230505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544050" cy="2305050"/>
            </a:xfrm>
            <a:custGeom>
              <a:avLst/>
              <a:gdLst/>
              <a:ahLst/>
              <a:cxnLst/>
              <a:rect r="r" b="b" t="t" l="l"/>
              <a:pathLst>
                <a:path h="2305050" w="9544050">
                  <a:moveTo>
                    <a:pt x="0" y="0"/>
                  </a:moveTo>
                  <a:lnTo>
                    <a:pt x="9544050" y="0"/>
                  </a:lnTo>
                  <a:lnTo>
                    <a:pt x="9544050" y="2305050"/>
                  </a:lnTo>
                  <a:lnTo>
                    <a:pt x="0" y="2305050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9DEE7"/>
              </a:solidFill>
              <a:prstDash val="solid"/>
              <a:miter/>
            </a:ln>
          </p:spPr>
        </p:sp>
      </p:grpSp>
      <p:sp>
        <p:nvSpPr>
          <p:cNvPr name="TextBox 34" id="34"/>
          <p:cNvSpPr txBox="true"/>
          <p:nvPr/>
        </p:nvSpPr>
        <p:spPr>
          <a:xfrm rot="0">
            <a:off x="1828800" y="5915025"/>
            <a:ext cx="600075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11827"/>
                </a:solidFill>
                <a:latin typeface="Aptos Bold"/>
                <a:ea typeface="Aptos Bold"/>
                <a:cs typeface="Aptos Bold"/>
                <a:sym typeface="Aptos Bold"/>
              </a:rPr>
              <a:t>Why this matters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828800" y="6491287"/>
            <a:ext cx="5857875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5B6472"/>
                </a:solidFill>
                <a:latin typeface="Aptos"/>
                <a:ea typeface="Aptos"/>
                <a:cs typeface="Aptos"/>
                <a:sym typeface="Aptos"/>
              </a:rPr>
              <a:t>A hidden fourth family rewards transfer. The local score must therefore penalize family memorization before the final submission is frozen.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715500" y="5500688"/>
            <a:ext cx="6715125" cy="1714500"/>
            <a:chOff x="0" y="0"/>
            <a:chExt cx="8953500" cy="22860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9535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8953500">
                  <a:moveTo>
                    <a:pt x="0" y="0"/>
                  </a:moveTo>
                  <a:lnTo>
                    <a:pt x="8953500" y="0"/>
                  </a:lnTo>
                  <a:lnTo>
                    <a:pt x="89535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FFF3D6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38" id="38"/>
          <p:cNvSpPr txBox="true"/>
          <p:nvPr/>
        </p:nvSpPr>
        <p:spPr>
          <a:xfrm rot="0">
            <a:off x="10115550" y="5915025"/>
            <a:ext cx="542925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B7791F"/>
                </a:solidFill>
                <a:latin typeface="Aptos Bold"/>
                <a:ea typeface="Aptos Bold"/>
                <a:cs typeface="Aptos Bold"/>
                <a:sym typeface="Aptos Bold"/>
              </a:rPr>
              <a:t>Legal boundary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115550" y="6491287"/>
            <a:ext cx="5572125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111827"/>
                </a:solidFill>
                <a:latin typeface="Aptos"/>
                <a:ea typeface="Aptos"/>
                <a:cs typeface="Aptos"/>
                <a:sym typeface="Aptos"/>
              </a:rPr>
              <a:t>Official eval_input_valid.csv and eval_input_anomaly.csv are used only to produce final CSVs, not as training data.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57250" y="9715500"/>
            <a:ext cx="1143000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>
                <a:solidFill>
                  <a:srgbClr val="7B8494"/>
                </a:solidFill>
                <a:latin typeface="Aptos"/>
                <a:ea typeface="Aptos"/>
                <a:cs typeface="Aptos"/>
                <a:sym typeface="Aptos"/>
              </a:rPr>
              <a:t>SUBMISSION_1 | Industrial AI Infineon | May 31, 2026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57250" y="600075"/>
            <a:ext cx="12858750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 b="true">
                <a:solidFill>
                  <a:srgbClr val="111827"/>
                </a:solidFill>
                <a:latin typeface="Aptos Bold"/>
                <a:ea typeface="Aptos Bold"/>
                <a:cs typeface="Aptos Bold"/>
                <a:sym typeface="Aptos Bold"/>
              </a:rPr>
              <a:t>System design stays simple enough to trust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7250" y="1276350"/>
            <a:ext cx="1285875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5B6472"/>
                </a:solidFill>
                <a:latin typeface="Aptos"/>
                <a:ea typeface="Aptos"/>
                <a:cs typeface="Aptos"/>
                <a:sym typeface="Aptos"/>
              </a:rPr>
              <a:t>The model improves sequence predictions; the validator owns hard rule compliance.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57250" y="1857375"/>
            <a:ext cx="16573500" cy="14288"/>
            <a:chOff x="0" y="0"/>
            <a:chExt cx="22098000" cy="190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098000" cy="19050"/>
            </a:xfrm>
            <a:custGeom>
              <a:avLst/>
              <a:gdLst/>
              <a:ahLst/>
              <a:cxnLst/>
              <a:rect r="r" b="b" t="t" l="l"/>
              <a:pathLst>
                <a:path h="1905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9DEE7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07306" y="2921794"/>
            <a:ext cx="2443162" cy="1328738"/>
            <a:chOff x="0" y="0"/>
            <a:chExt cx="3257550" cy="17716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57550" cy="1771650"/>
            </a:xfrm>
            <a:custGeom>
              <a:avLst/>
              <a:gdLst/>
              <a:ahLst/>
              <a:cxnLst/>
              <a:rect r="r" b="b" t="t" l="l"/>
              <a:pathLst>
                <a:path h="1771650" w="3257550">
                  <a:moveTo>
                    <a:pt x="0" y="0"/>
                  </a:moveTo>
                  <a:lnTo>
                    <a:pt x="3257550" y="0"/>
                  </a:lnTo>
                  <a:lnTo>
                    <a:pt x="3257550" y="1771650"/>
                  </a:lnTo>
                  <a:lnTo>
                    <a:pt x="0" y="1771650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9DEE7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514475" y="3128962"/>
            <a:ext cx="2028825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111827"/>
                </a:solidFill>
                <a:latin typeface="Aptos Bold"/>
                <a:ea typeface="Aptos Bold"/>
                <a:cs typeface="Aptos Bold"/>
                <a:sym typeface="Aptos Bold"/>
              </a:rPr>
              <a:t>Training CSVs</a:t>
            </a:r>
          </a:p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111827"/>
                </a:solidFill>
                <a:latin typeface="Aptos Bold"/>
                <a:ea typeface="Aptos Bold"/>
                <a:cs typeface="Aptos Bold"/>
                <a:sym typeface="Aptos Bold"/>
              </a:rPr>
              <a:t>15-family manifest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3743325" y="3571875"/>
            <a:ext cx="828675" cy="42862"/>
            <a:chOff x="0" y="0"/>
            <a:chExt cx="1104900" cy="571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04900" cy="57150"/>
            </a:xfrm>
            <a:custGeom>
              <a:avLst/>
              <a:gdLst/>
              <a:ahLst/>
              <a:cxnLst/>
              <a:rect r="r" b="b" t="t" l="l"/>
              <a:pathLst>
                <a:path h="57150" w="1104900">
                  <a:moveTo>
                    <a:pt x="0" y="0"/>
                  </a:moveTo>
                  <a:lnTo>
                    <a:pt x="1104900" y="0"/>
                  </a:lnTo>
                  <a:lnTo>
                    <a:pt x="11049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D9DEE7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4429125" y="3500438"/>
            <a:ext cx="142875" cy="185738"/>
            <a:chOff x="0" y="0"/>
            <a:chExt cx="190500" cy="2476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0500" cy="247650"/>
            </a:xfrm>
            <a:custGeom>
              <a:avLst/>
              <a:gdLst/>
              <a:ahLst/>
              <a:cxnLst/>
              <a:rect r="r" b="b" t="t" l="l"/>
              <a:pathLst>
                <a:path h="247650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247650"/>
                  </a:lnTo>
                  <a:lnTo>
                    <a:pt x="0" y="247650"/>
                  </a:lnTo>
                  <a:close/>
                </a:path>
              </a:pathLst>
            </a:custGeom>
            <a:solidFill>
              <a:srgbClr val="D9DEE7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4564856" y="2793206"/>
            <a:ext cx="2900362" cy="1585912"/>
            <a:chOff x="0" y="0"/>
            <a:chExt cx="3867150" cy="21145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867150" cy="2114550"/>
            </a:xfrm>
            <a:custGeom>
              <a:avLst/>
              <a:gdLst/>
              <a:ahLst/>
              <a:cxnLst/>
              <a:rect r="r" b="b" t="t" l="l"/>
              <a:pathLst>
                <a:path h="2114550" w="3867150">
                  <a:moveTo>
                    <a:pt x="0" y="0"/>
                  </a:moveTo>
                  <a:lnTo>
                    <a:pt x="3867150" y="0"/>
                  </a:lnTo>
                  <a:lnTo>
                    <a:pt x="3867150" y="2114550"/>
                  </a:lnTo>
                  <a:lnTo>
                    <a:pt x="0" y="2114550"/>
                  </a:lnTo>
                  <a:close/>
                </a:path>
              </a:pathLst>
            </a:custGeom>
            <a:solidFill>
              <a:srgbClr val="DCEAFE"/>
            </a:solidFill>
            <a:ln w="14288" cap="sq">
              <a:solidFill>
                <a:srgbClr val="D9DEE7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4772025" y="3000375"/>
            <a:ext cx="2486025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2563EB"/>
                </a:solidFill>
                <a:latin typeface="Aptos Bold"/>
                <a:ea typeface="Aptos Bold"/>
                <a:cs typeface="Aptos Bold"/>
                <a:sym typeface="Aptos Bold"/>
              </a:rPr>
              <a:t>Step tokenizer</a:t>
            </a:r>
          </a:p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2563EB"/>
                </a:solidFill>
                <a:latin typeface="Aptos Bold"/>
                <a:ea typeface="Aptos Bold"/>
                <a:cs typeface="Aptos Bold"/>
                <a:sym typeface="Aptos Bold"/>
              </a:rPr>
              <a:t>one process step = one token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458075" y="3571875"/>
            <a:ext cx="828675" cy="42862"/>
            <a:chOff x="0" y="0"/>
            <a:chExt cx="1104900" cy="571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04900" cy="57150"/>
            </a:xfrm>
            <a:custGeom>
              <a:avLst/>
              <a:gdLst/>
              <a:ahLst/>
              <a:cxnLst/>
              <a:rect r="r" b="b" t="t" l="l"/>
              <a:pathLst>
                <a:path h="57150" w="1104900">
                  <a:moveTo>
                    <a:pt x="0" y="0"/>
                  </a:moveTo>
                  <a:lnTo>
                    <a:pt x="1104900" y="0"/>
                  </a:lnTo>
                  <a:lnTo>
                    <a:pt x="11049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D9DEE7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8143875" y="3500438"/>
            <a:ext cx="142875" cy="185738"/>
            <a:chOff x="0" y="0"/>
            <a:chExt cx="190500" cy="2476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0500" cy="247650"/>
            </a:xfrm>
            <a:custGeom>
              <a:avLst/>
              <a:gdLst/>
              <a:ahLst/>
              <a:cxnLst/>
              <a:rect r="r" b="b" t="t" l="l"/>
              <a:pathLst>
                <a:path h="247650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247650"/>
                  </a:lnTo>
                  <a:lnTo>
                    <a:pt x="0" y="247650"/>
                  </a:lnTo>
                  <a:close/>
                </a:path>
              </a:pathLst>
            </a:custGeom>
            <a:solidFill>
              <a:srgbClr val="D9DEE7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8279606" y="2921794"/>
            <a:ext cx="2557462" cy="1328738"/>
            <a:chOff x="0" y="0"/>
            <a:chExt cx="3409950" cy="17716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409950" cy="1771650"/>
            </a:xfrm>
            <a:custGeom>
              <a:avLst/>
              <a:gdLst/>
              <a:ahLst/>
              <a:cxnLst/>
              <a:rect r="r" b="b" t="t" l="l"/>
              <a:pathLst>
                <a:path h="1771650" w="3409950">
                  <a:moveTo>
                    <a:pt x="0" y="0"/>
                  </a:moveTo>
                  <a:lnTo>
                    <a:pt x="3409950" y="0"/>
                  </a:lnTo>
                  <a:lnTo>
                    <a:pt x="3409950" y="1771650"/>
                  </a:lnTo>
                  <a:lnTo>
                    <a:pt x="0" y="1771650"/>
                  </a:lnTo>
                  <a:close/>
                </a:path>
              </a:pathLst>
            </a:custGeom>
            <a:solidFill>
              <a:srgbClr val="DFF5EC"/>
            </a:solidFill>
            <a:ln w="14288" cap="sq">
              <a:solidFill>
                <a:srgbClr val="D9DEE7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8486775" y="3128962"/>
            <a:ext cx="2143125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F8A5F"/>
                </a:solidFill>
                <a:latin typeface="Aptos Bold"/>
                <a:ea typeface="Aptos Bold"/>
                <a:cs typeface="Aptos Bold"/>
                <a:sym typeface="Aptos Bold"/>
              </a:rPr>
              <a:t>GPT large</a:t>
            </a:r>
          </a:p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F8A5F"/>
                </a:solidFill>
                <a:latin typeface="Aptos Bold"/>
                <a:ea typeface="Aptos Bold"/>
                <a:cs typeface="Aptos Bold"/>
                <a:sym typeface="Aptos Bold"/>
              </a:rPr>
              <a:t>21.47M parameters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0829925" y="3571875"/>
            <a:ext cx="828675" cy="42862"/>
            <a:chOff x="0" y="0"/>
            <a:chExt cx="1104900" cy="571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04900" cy="57150"/>
            </a:xfrm>
            <a:custGeom>
              <a:avLst/>
              <a:gdLst/>
              <a:ahLst/>
              <a:cxnLst/>
              <a:rect r="r" b="b" t="t" l="l"/>
              <a:pathLst>
                <a:path h="57150" w="1104900">
                  <a:moveTo>
                    <a:pt x="0" y="0"/>
                  </a:moveTo>
                  <a:lnTo>
                    <a:pt x="1104900" y="0"/>
                  </a:lnTo>
                  <a:lnTo>
                    <a:pt x="11049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D9DEE7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1515725" y="3500438"/>
            <a:ext cx="142875" cy="185738"/>
            <a:chOff x="0" y="0"/>
            <a:chExt cx="190500" cy="24765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90500" cy="247650"/>
            </a:xfrm>
            <a:custGeom>
              <a:avLst/>
              <a:gdLst/>
              <a:ahLst/>
              <a:cxnLst/>
              <a:rect r="r" b="b" t="t" l="l"/>
              <a:pathLst>
                <a:path h="247650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247650"/>
                  </a:lnTo>
                  <a:lnTo>
                    <a:pt x="0" y="247650"/>
                  </a:lnTo>
                  <a:close/>
                </a:path>
              </a:pathLst>
            </a:custGeom>
            <a:solidFill>
              <a:srgbClr val="D9DEE7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1651456" y="2793206"/>
            <a:ext cx="2728912" cy="1585912"/>
            <a:chOff x="0" y="0"/>
            <a:chExt cx="3638550" cy="21145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638550" cy="2114550"/>
            </a:xfrm>
            <a:custGeom>
              <a:avLst/>
              <a:gdLst/>
              <a:ahLst/>
              <a:cxnLst/>
              <a:rect r="r" b="b" t="t" l="l"/>
              <a:pathLst>
                <a:path h="2114550" w="3638550">
                  <a:moveTo>
                    <a:pt x="0" y="0"/>
                  </a:moveTo>
                  <a:lnTo>
                    <a:pt x="3638550" y="0"/>
                  </a:lnTo>
                  <a:lnTo>
                    <a:pt x="3638550" y="2114550"/>
                  </a:lnTo>
                  <a:lnTo>
                    <a:pt x="0" y="2114550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9DEE7"/>
              </a:solidFill>
              <a:prstDash val="solid"/>
              <a:miter/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11858625" y="3000375"/>
            <a:ext cx="2314575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111827"/>
                </a:solidFill>
                <a:latin typeface="Aptos Bold"/>
                <a:ea typeface="Aptos Bold"/>
                <a:cs typeface="Aptos Bold"/>
                <a:sym typeface="Aptos Bold"/>
              </a:rPr>
              <a:t>Ranked next steps</a:t>
            </a:r>
          </a:p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111827"/>
                </a:solidFill>
                <a:latin typeface="Aptos Bold"/>
                <a:ea typeface="Aptos Bold"/>
                <a:cs typeface="Aptos Bold"/>
                <a:sym typeface="Aptos Bold"/>
              </a:rPr>
              <a:t>completion beam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4373225" y="3571875"/>
            <a:ext cx="828675" cy="42862"/>
            <a:chOff x="0" y="0"/>
            <a:chExt cx="1104900" cy="5715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04900" cy="57150"/>
            </a:xfrm>
            <a:custGeom>
              <a:avLst/>
              <a:gdLst/>
              <a:ahLst/>
              <a:cxnLst/>
              <a:rect r="r" b="b" t="t" l="l"/>
              <a:pathLst>
                <a:path h="57150" w="1104900">
                  <a:moveTo>
                    <a:pt x="0" y="0"/>
                  </a:moveTo>
                  <a:lnTo>
                    <a:pt x="1104900" y="0"/>
                  </a:lnTo>
                  <a:lnTo>
                    <a:pt x="11049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D9DEE7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5059025" y="3500438"/>
            <a:ext cx="142875" cy="185738"/>
            <a:chOff x="0" y="0"/>
            <a:chExt cx="190500" cy="24765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90500" cy="247650"/>
            </a:xfrm>
            <a:custGeom>
              <a:avLst/>
              <a:gdLst/>
              <a:ahLst/>
              <a:cxnLst/>
              <a:rect r="r" b="b" t="t" l="l"/>
              <a:pathLst>
                <a:path h="247650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247650"/>
                  </a:lnTo>
                  <a:lnTo>
                    <a:pt x="0" y="247650"/>
                  </a:lnTo>
                  <a:close/>
                </a:path>
              </a:pathLst>
            </a:custGeom>
            <a:solidFill>
              <a:srgbClr val="D9DEE7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5194756" y="2921794"/>
            <a:ext cx="2085975" cy="1328738"/>
            <a:chOff x="0" y="0"/>
            <a:chExt cx="2781300" cy="177165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781300" cy="1771650"/>
            </a:xfrm>
            <a:custGeom>
              <a:avLst/>
              <a:gdLst/>
              <a:ahLst/>
              <a:cxnLst/>
              <a:rect r="r" b="b" t="t" l="l"/>
              <a:pathLst>
                <a:path h="1771650" w="2781300">
                  <a:moveTo>
                    <a:pt x="0" y="0"/>
                  </a:moveTo>
                  <a:lnTo>
                    <a:pt x="2781300" y="0"/>
                  </a:lnTo>
                  <a:lnTo>
                    <a:pt x="2781300" y="1771650"/>
                  </a:lnTo>
                  <a:lnTo>
                    <a:pt x="0" y="1771650"/>
                  </a:lnTo>
                  <a:close/>
                </a:path>
              </a:pathLst>
            </a:custGeom>
            <a:solidFill>
              <a:srgbClr val="172033"/>
            </a:solidFill>
            <a:ln w="14288" cap="sq">
              <a:solidFill>
                <a:srgbClr val="D9DEE7"/>
              </a:solidFill>
              <a:prstDash val="solid"/>
              <a:miter/>
            </a:ln>
          </p:spPr>
        </p:sp>
      </p:grpSp>
      <p:sp>
        <p:nvSpPr>
          <p:cNvPr name="TextBox 38" id="38"/>
          <p:cNvSpPr txBox="true"/>
          <p:nvPr/>
        </p:nvSpPr>
        <p:spPr>
          <a:xfrm rot="0">
            <a:off x="15401925" y="3128962"/>
            <a:ext cx="1671638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Official CSVs</a:t>
            </a:r>
          </a:p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root + final_submission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2064544" y="5779294"/>
            <a:ext cx="6300788" cy="1328738"/>
            <a:chOff x="0" y="0"/>
            <a:chExt cx="8401050" cy="177165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401050" cy="1771650"/>
            </a:xfrm>
            <a:custGeom>
              <a:avLst/>
              <a:gdLst/>
              <a:ahLst/>
              <a:cxnLst/>
              <a:rect r="r" b="b" t="t" l="l"/>
              <a:pathLst>
                <a:path h="1771650" w="8401050">
                  <a:moveTo>
                    <a:pt x="0" y="0"/>
                  </a:moveTo>
                  <a:lnTo>
                    <a:pt x="8401050" y="0"/>
                  </a:lnTo>
                  <a:lnTo>
                    <a:pt x="8401050" y="1771650"/>
                  </a:lnTo>
                  <a:lnTo>
                    <a:pt x="0" y="1771650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9DEE7"/>
              </a:solidFill>
              <a:prstDash val="solid"/>
              <a:miter/>
            </a:ln>
          </p:spPr>
        </p:sp>
      </p:grpSp>
      <p:sp>
        <p:nvSpPr>
          <p:cNvPr name="TextBox 41" id="41"/>
          <p:cNvSpPr txBox="true"/>
          <p:nvPr/>
        </p:nvSpPr>
        <p:spPr>
          <a:xfrm rot="0">
            <a:off x="2457450" y="6086475"/>
            <a:ext cx="257175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 b="true">
                <a:solidFill>
                  <a:srgbClr val="111827"/>
                </a:solidFill>
                <a:latin typeface="Aptos Bold"/>
                <a:ea typeface="Aptos Bold"/>
                <a:cs typeface="Aptos Bold"/>
                <a:sym typeface="Aptos Bold"/>
              </a:rPr>
              <a:t>Fallback path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457450" y="6543675"/>
            <a:ext cx="500062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5B6472"/>
                </a:solidFill>
                <a:latin typeface="Aptos"/>
                <a:ea typeface="Aptos"/>
                <a:cs typeface="Aptos"/>
                <a:sym typeface="Aptos"/>
              </a:rPr>
              <a:t>Trigram n-gram runs without torch and can regenerate official-shaped CSVs from a clean checkout.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9851231" y="5779294"/>
            <a:ext cx="6300788" cy="1328738"/>
            <a:chOff x="0" y="0"/>
            <a:chExt cx="8401050" cy="177165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401050" cy="1771650"/>
            </a:xfrm>
            <a:custGeom>
              <a:avLst/>
              <a:gdLst/>
              <a:ahLst/>
              <a:cxnLst/>
              <a:rect r="r" b="b" t="t" l="l"/>
              <a:pathLst>
                <a:path h="1771650" w="8401050">
                  <a:moveTo>
                    <a:pt x="0" y="0"/>
                  </a:moveTo>
                  <a:lnTo>
                    <a:pt x="8401050" y="0"/>
                  </a:lnTo>
                  <a:lnTo>
                    <a:pt x="8401050" y="1771650"/>
                  </a:lnTo>
                  <a:lnTo>
                    <a:pt x="0" y="1771650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9DEE7"/>
              </a:solidFill>
              <a:prstDash val="solid"/>
              <a:miter/>
            </a:ln>
          </p:spPr>
        </p:sp>
      </p:grpSp>
      <p:sp>
        <p:nvSpPr>
          <p:cNvPr name="TextBox 45" id="45"/>
          <p:cNvSpPr txBox="true"/>
          <p:nvPr/>
        </p:nvSpPr>
        <p:spPr>
          <a:xfrm rot="0">
            <a:off x="10244138" y="6086475"/>
            <a:ext cx="257175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 b="true">
                <a:solidFill>
                  <a:srgbClr val="111827"/>
                </a:solidFill>
                <a:latin typeface="Aptos Bold"/>
                <a:ea typeface="Aptos Bold"/>
                <a:cs typeface="Aptos Bold"/>
                <a:sym typeface="Aptos Bold"/>
              </a:rPr>
              <a:t>Safety path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244138" y="6543675"/>
            <a:ext cx="500062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5B6472"/>
                </a:solidFill>
                <a:latin typeface="Aptos"/>
                <a:ea typeface="Aptos"/>
                <a:cs typeface="Aptos"/>
                <a:sym typeface="Aptos"/>
              </a:rPr>
              <a:t>GPT runner refuses random-init submissions unless explicitly overridden, preventing silent bad CSVs.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857250" y="9715500"/>
            <a:ext cx="1143000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>
                <a:solidFill>
                  <a:srgbClr val="7B8494"/>
                </a:solidFill>
                <a:latin typeface="Aptos"/>
                <a:ea typeface="Aptos"/>
                <a:cs typeface="Aptos"/>
                <a:sym typeface="Aptos"/>
              </a:rPr>
              <a:t>SUBMISSION_1 | Industrial AI Infineon | May 31, 2026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57250" y="600075"/>
            <a:ext cx="12858750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 b="true">
                <a:solidFill>
                  <a:srgbClr val="111827"/>
                </a:solidFill>
                <a:latin typeface="Aptos Bold"/>
                <a:ea typeface="Aptos Bold"/>
                <a:cs typeface="Aptos Bold"/>
                <a:sym typeface="Aptos Bold"/>
              </a:rPr>
              <a:t>Evidence: GPT beats the safe baseline on OOD3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7250" y="1276350"/>
            <a:ext cx="1285875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5B6472"/>
                </a:solidFill>
                <a:latin typeface="Aptos"/>
                <a:ea typeface="Aptos"/>
                <a:cs typeface="Aptos"/>
                <a:sym typeface="Aptos"/>
              </a:rPr>
              <a:t>The measured lift is on the train-12/test-3 protocol, not on the final hidden eval files.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57250" y="1857375"/>
            <a:ext cx="16573500" cy="14288"/>
            <a:chOff x="0" y="0"/>
            <a:chExt cx="22098000" cy="190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098000" cy="19050"/>
            </a:xfrm>
            <a:custGeom>
              <a:avLst/>
              <a:gdLst/>
              <a:ahLst/>
              <a:cxnLst/>
              <a:rect r="r" b="b" t="t" l="l"/>
              <a:pathLst>
                <a:path h="1905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9DEE7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571625" y="2628900"/>
            <a:ext cx="17145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111827"/>
                </a:solidFill>
                <a:latin typeface="Aptos Bold"/>
                <a:ea typeface="Aptos Bold"/>
                <a:cs typeface="Aptos Bold"/>
                <a:sym typeface="Aptos Bold"/>
              </a:rPr>
              <a:t>Top-1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714750" y="2714625"/>
            <a:ext cx="10858500" cy="228600"/>
            <a:chOff x="0" y="0"/>
            <a:chExt cx="14478000" cy="304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478000" cy="304800"/>
            </a:xfrm>
            <a:custGeom>
              <a:avLst/>
              <a:gdLst/>
              <a:ahLst/>
              <a:cxnLst/>
              <a:rect r="r" b="b" t="t" l="l"/>
              <a:pathLst>
                <a:path h="304800" w="14478000">
                  <a:moveTo>
                    <a:pt x="0" y="0"/>
                  </a:moveTo>
                  <a:lnTo>
                    <a:pt x="14478000" y="0"/>
                  </a:lnTo>
                  <a:lnTo>
                    <a:pt x="14478000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E9EDF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3714750" y="2714625"/>
            <a:ext cx="7186612" cy="228600"/>
            <a:chOff x="0" y="0"/>
            <a:chExt cx="9582150" cy="304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582150" cy="304800"/>
            </a:xfrm>
            <a:custGeom>
              <a:avLst/>
              <a:gdLst/>
              <a:ahLst/>
              <a:cxnLst/>
              <a:rect r="r" b="b" t="t" l="l"/>
              <a:pathLst>
                <a:path h="304800" w="9582150">
                  <a:moveTo>
                    <a:pt x="0" y="0"/>
                  </a:moveTo>
                  <a:lnTo>
                    <a:pt x="9582150" y="0"/>
                  </a:lnTo>
                  <a:lnTo>
                    <a:pt x="9582150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B77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4859000" y="2657475"/>
            <a:ext cx="1571625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7" b="true">
                <a:solidFill>
                  <a:srgbClr val="B7791F"/>
                </a:solidFill>
                <a:latin typeface="Aptos Bold"/>
                <a:ea typeface="Aptos Bold"/>
                <a:cs typeface="Aptos Bold"/>
                <a:sym typeface="Aptos Bold"/>
              </a:rPr>
              <a:t>n-gram 0.662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3714750" y="3143250"/>
            <a:ext cx="10858500" cy="228600"/>
            <a:chOff x="0" y="0"/>
            <a:chExt cx="14478000" cy="304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478000" cy="304800"/>
            </a:xfrm>
            <a:custGeom>
              <a:avLst/>
              <a:gdLst/>
              <a:ahLst/>
              <a:cxnLst/>
              <a:rect r="r" b="b" t="t" l="l"/>
              <a:pathLst>
                <a:path h="304800" w="14478000">
                  <a:moveTo>
                    <a:pt x="0" y="0"/>
                  </a:moveTo>
                  <a:lnTo>
                    <a:pt x="14478000" y="0"/>
                  </a:lnTo>
                  <a:lnTo>
                    <a:pt x="14478000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E9EDF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3714750" y="3143250"/>
            <a:ext cx="7815262" cy="228600"/>
            <a:chOff x="0" y="0"/>
            <a:chExt cx="10420350" cy="304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420350" cy="304800"/>
            </a:xfrm>
            <a:custGeom>
              <a:avLst/>
              <a:gdLst/>
              <a:ahLst/>
              <a:cxnLst/>
              <a:rect r="r" b="b" t="t" l="l"/>
              <a:pathLst>
                <a:path h="304800" w="10420350">
                  <a:moveTo>
                    <a:pt x="0" y="0"/>
                  </a:moveTo>
                  <a:lnTo>
                    <a:pt x="10420350" y="0"/>
                  </a:lnTo>
                  <a:lnTo>
                    <a:pt x="10420350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0F8A5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4859000" y="3086100"/>
            <a:ext cx="1571625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7" b="true">
                <a:solidFill>
                  <a:srgbClr val="0F8A5F"/>
                </a:solidFill>
                <a:latin typeface="Aptos Bold"/>
                <a:ea typeface="Aptos Bold"/>
                <a:cs typeface="Aptos Bold"/>
                <a:sym typeface="Aptos Bold"/>
              </a:rPr>
              <a:t>GPT 0.720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71625" y="3914775"/>
            <a:ext cx="17145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111827"/>
                </a:solidFill>
                <a:latin typeface="Aptos Bold"/>
                <a:ea typeface="Aptos Bold"/>
                <a:cs typeface="Aptos Bold"/>
                <a:sym typeface="Aptos Bold"/>
              </a:rPr>
              <a:t>Top-3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3714750" y="4000500"/>
            <a:ext cx="10858500" cy="228600"/>
            <a:chOff x="0" y="0"/>
            <a:chExt cx="14478000" cy="304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478000" cy="304800"/>
            </a:xfrm>
            <a:custGeom>
              <a:avLst/>
              <a:gdLst/>
              <a:ahLst/>
              <a:cxnLst/>
              <a:rect r="r" b="b" t="t" l="l"/>
              <a:pathLst>
                <a:path h="304800" w="14478000">
                  <a:moveTo>
                    <a:pt x="0" y="0"/>
                  </a:moveTo>
                  <a:lnTo>
                    <a:pt x="14478000" y="0"/>
                  </a:lnTo>
                  <a:lnTo>
                    <a:pt x="14478000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E9EDF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3714750" y="4000500"/>
            <a:ext cx="10172700" cy="228600"/>
            <a:chOff x="0" y="0"/>
            <a:chExt cx="13563600" cy="304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563600" cy="304800"/>
            </a:xfrm>
            <a:custGeom>
              <a:avLst/>
              <a:gdLst/>
              <a:ahLst/>
              <a:cxnLst/>
              <a:rect r="r" b="b" t="t" l="l"/>
              <a:pathLst>
                <a:path h="304800" w="13563600">
                  <a:moveTo>
                    <a:pt x="0" y="0"/>
                  </a:moveTo>
                  <a:lnTo>
                    <a:pt x="13563600" y="0"/>
                  </a:lnTo>
                  <a:lnTo>
                    <a:pt x="13563600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B77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14859000" y="3943350"/>
            <a:ext cx="1571625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7" b="true">
                <a:solidFill>
                  <a:srgbClr val="B7791F"/>
                </a:solidFill>
                <a:latin typeface="Aptos Bold"/>
                <a:ea typeface="Aptos Bold"/>
                <a:cs typeface="Aptos Bold"/>
                <a:sym typeface="Aptos Bold"/>
              </a:rPr>
              <a:t>n-gram 0.937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3714750" y="4429125"/>
            <a:ext cx="10858500" cy="228600"/>
            <a:chOff x="0" y="0"/>
            <a:chExt cx="14478000" cy="304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478000" cy="304800"/>
            </a:xfrm>
            <a:custGeom>
              <a:avLst/>
              <a:gdLst/>
              <a:ahLst/>
              <a:cxnLst/>
              <a:rect r="r" b="b" t="t" l="l"/>
              <a:pathLst>
                <a:path h="304800" w="14478000">
                  <a:moveTo>
                    <a:pt x="0" y="0"/>
                  </a:moveTo>
                  <a:lnTo>
                    <a:pt x="14478000" y="0"/>
                  </a:lnTo>
                  <a:lnTo>
                    <a:pt x="14478000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E9EDF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3714750" y="4429125"/>
            <a:ext cx="10658475" cy="228600"/>
            <a:chOff x="0" y="0"/>
            <a:chExt cx="14211300" cy="304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4211300" cy="304800"/>
            </a:xfrm>
            <a:custGeom>
              <a:avLst/>
              <a:gdLst/>
              <a:ahLst/>
              <a:cxnLst/>
              <a:rect r="r" b="b" t="t" l="l"/>
              <a:pathLst>
                <a:path h="304800" w="14211300">
                  <a:moveTo>
                    <a:pt x="0" y="0"/>
                  </a:moveTo>
                  <a:lnTo>
                    <a:pt x="14211300" y="0"/>
                  </a:lnTo>
                  <a:lnTo>
                    <a:pt x="14211300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0F8A5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14859000" y="4371975"/>
            <a:ext cx="1571625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7" b="true">
                <a:solidFill>
                  <a:srgbClr val="0F8A5F"/>
                </a:solidFill>
                <a:latin typeface="Aptos Bold"/>
                <a:ea typeface="Aptos Bold"/>
                <a:cs typeface="Aptos Bold"/>
                <a:sym typeface="Aptos Bold"/>
              </a:rPr>
              <a:t>GPT 0.981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571625" y="5200650"/>
            <a:ext cx="17145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111827"/>
                </a:solidFill>
                <a:latin typeface="Aptos Bold"/>
                <a:ea typeface="Aptos Bold"/>
                <a:cs typeface="Aptos Bold"/>
                <a:sym typeface="Aptos Bold"/>
              </a:rPr>
              <a:t>Top-5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3714750" y="5286375"/>
            <a:ext cx="10858500" cy="228600"/>
            <a:chOff x="0" y="0"/>
            <a:chExt cx="14478000" cy="304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4478000" cy="304800"/>
            </a:xfrm>
            <a:custGeom>
              <a:avLst/>
              <a:gdLst/>
              <a:ahLst/>
              <a:cxnLst/>
              <a:rect r="r" b="b" t="t" l="l"/>
              <a:pathLst>
                <a:path h="304800" w="14478000">
                  <a:moveTo>
                    <a:pt x="0" y="0"/>
                  </a:moveTo>
                  <a:lnTo>
                    <a:pt x="14478000" y="0"/>
                  </a:lnTo>
                  <a:lnTo>
                    <a:pt x="14478000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E9EDF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3714750" y="5286375"/>
            <a:ext cx="10601325" cy="228600"/>
            <a:chOff x="0" y="0"/>
            <a:chExt cx="14135100" cy="304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4135100" cy="304800"/>
            </a:xfrm>
            <a:custGeom>
              <a:avLst/>
              <a:gdLst/>
              <a:ahLst/>
              <a:cxnLst/>
              <a:rect r="r" b="b" t="t" l="l"/>
              <a:pathLst>
                <a:path h="304800" w="14135100">
                  <a:moveTo>
                    <a:pt x="0" y="0"/>
                  </a:moveTo>
                  <a:lnTo>
                    <a:pt x="14135100" y="0"/>
                  </a:lnTo>
                  <a:lnTo>
                    <a:pt x="14135100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B77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35" id="35"/>
          <p:cNvSpPr txBox="true"/>
          <p:nvPr/>
        </p:nvSpPr>
        <p:spPr>
          <a:xfrm rot="0">
            <a:off x="14859000" y="5229225"/>
            <a:ext cx="1571625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7" b="true">
                <a:solidFill>
                  <a:srgbClr val="B7791F"/>
                </a:solidFill>
                <a:latin typeface="Aptos Bold"/>
                <a:ea typeface="Aptos Bold"/>
                <a:cs typeface="Aptos Bold"/>
                <a:sym typeface="Aptos Bold"/>
              </a:rPr>
              <a:t>n-gram 0.976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3714750" y="5715000"/>
            <a:ext cx="10858500" cy="228600"/>
            <a:chOff x="0" y="0"/>
            <a:chExt cx="14478000" cy="304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4478000" cy="304800"/>
            </a:xfrm>
            <a:custGeom>
              <a:avLst/>
              <a:gdLst/>
              <a:ahLst/>
              <a:cxnLst/>
              <a:rect r="r" b="b" t="t" l="l"/>
              <a:pathLst>
                <a:path h="304800" w="14478000">
                  <a:moveTo>
                    <a:pt x="0" y="0"/>
                  </a:moveTo>
                  <a:lnTo>
                    <a:pt x="14478000" y="0"/>
                  </a:lnTo>
                  <a:lnTo>
                    <a:pt x="14478000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E9EDF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3714750" y="5715000"/>
            <a:ext cx="10844212" cy="228600"/>
            <a:chOff x="0" y="0"/>
            <a:chExt cx="14458950" cy="304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4458950" cy="304800"/>
            </a:xfrm>
            <a:custGeom>
              <a:avLst/>
              <a:gdLst/>
              <a:ahLst/>
              <a:cxnLst/>
              <a:rect r="r" b="b" t="t" l="l"/>
              <a:pathLst>
                <a:path h="304800" w="14458950">
                  <a:moveTo>
                    <a:pt x="0" y="0"/>
                  </a:moveTo>
                  <a:lnTo>
                    <a:pt x="14458950" y="0"/>
                  </a:lnTo>
                  <a:lnTo>
                    <a:pt x="14458950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0F8A5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40" id="40"/>
          <p:cNvSpPr txBox="true"/>
          <p:nvPr/>
        </p:nvSpPr>
        <p:spPr>
          <a:xfrm rot="0">
            <a:off x="14859000" y="5657850"/>
            <a:ext cx="1571625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7" b="true">
                <a:solidFill>
                  <a:srgbClr val="0F8A5F"/>
                </a:solidFill>
                <a:latin typeface="Aptos Bold"/>
                <a:ea typeface="Aptos Bold"/>
                <a:cs typeface="Aptos Bold"/>
                <a:sym typeface="Aptos Bold"/>
              </a:rPr>
              <a:t>GPT 0.999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571625" y="6486525"/>
            <a:ext cx="17145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111827"/>
                </a:solidFill>
                <a:latin typeface="Aptos Bold"/>
                <a:ea typeface="Aptos Bold"/>
                <a:cs typeface="Aptos Bold"/>
                <a:sym typeface="Aptos Bold"/>
              </a:rPr>
              <a:t>MRR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3714750" y="6572250"/>
            <a:ext cx="10858500" cy="228600"/>
            <a:chOff x="0" y="0"/>
            <a:chExt cx="14478000" cy="304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4478000" cy="304800"/>
            </a:xfrm>
            <a:custGeom>
              <a:avLst/>
              <a:gdLst/>
              <a:ahLst/>
              <a:cxnLst/>
              <a:rect r="r" b="b" t="t" l="l"/>
              <a:pathLst>
                <a:path h="304800" w="14478000">
                  <a:moveTo>
                    <a:pt x="0" y="0"/>
                  </a:moveTo>
                  <a:lnTo>
                    <a:pt x="14478000" y="0"/>
                  </a:lnTo>
                  <a:lnTo>
                    <a:pt x="14478000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E9EDF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3714750" y="6572250"/>
            <a:ext cx="8672512" cy="228600"/>
            <a:chOff x="0" y="0"/>
            <a:chExt cx="11563350" cy="304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1563350" cy="304800"/>
            </a:xfrm>
            <a:custGeom>
              <a:avLst/>
              <a:gdLst/>
              <a:ahLst/>
              <a:cxnLst/>
              <a:rect r="r" b="b" t="t" l="l"/>
              <a:pathLst>
                <a:path h="304800" w="11563350">
                  <a:moveTo>
                    <a:pt x="0" y="0"/>
                  </a:moveTo>
                  <a:lnTo>
                    <a:pt x="11563350" y="0"/>
                  </a:lnTo>
                  <a:lnTo>
                    <a:pt x="11563350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B779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46" id="46"/>
          <p:cNvSpPr txBox="true"/>
          <p:nvPr/>
        </p:nvSpPr>
        <p:spPr>
          <a:xfrm rot="0">
            <a:off x="14859000" y="6515100"/>
            <a:ext cx="1571625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7" b="true">
                <a:solidFill>
                  <a:srgbClr val="B7791F"/>
                </a:solidFill>
                <a:latin typeface="Aptos Bold"/>
                <a:ea typeface="Aptos Bold"/>
                <a:cs typeface="Aptos Bold"/>
                <a:sym typeface="Aptos Bold"/>
              </a:rPr>
              <a:t>n-gram 0.799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3714750" y="7000875"/>
            <a:ext cx="10858500" cy="228600"/>
            <a:chOff x="0" y="0"/>
            <a:chExt cx="14478000" cy="304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4478000" cy="304800"/>
            </a:xfrm>
            <a:custGeom>
              <a:avLst/>
              <a:gdLst/>
              <a:ahLst/>
              <a:cxnLst/>
              <a:rect r="r" b="b" t="t" l="l"/>
              <a:pathLst>
                <a:path h="304800" w="14478000">
                  <a:moveTo>
                    <a:pt x="0" y="0"/>
                  </a:moveTo>
                  <a:lnTo>
                    <a:pt x="14478000" y="0"/>
                  </a:lnTo>
                  <a:lnTo>
                    <a:pt x="14478000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E9EDF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3714750" y="7000875"/>
            <a:ext cx="9201150" cy="228600"/>
            <a:chOff x="0" y="0"/>
            <a:chExt cx="12268200" cy="3048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2268200" cy="304800"/>
            </a:xfrm>
            <a:custGeom>
              <a:avLst/>
              <a:gdLst/>
              <a:ahLst/>
              <a:cxnLst/>
              <a:rect r="r" b="b" t="t" l="l"/>
              <a:pathLst>
                <a:path h="304800" w="12268200">
                  <a:moveTo>
                    <a:pt x="0" y="0"/>
                  </a:moveTo>
                  <a:lnTo>
                    <a:pt x="12268200" y="0"/>
                  </a:lnTo>
                  <a:lnTo>
                    <a:pt x="12268200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0F8A5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51" id="51"/>
          <p:cNvSpPr txBox="true"/>
          <p:nvPr/>
        </p:nvSpPr>
        <p:spPr>
          <a:xfrm rot="0">
            <a:off x="14859000" y="6943725"/>
            <a:ext cx="1571625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7" b="true">
                <a:solidFill>
                  <a:srgbClr val="0F8A5F"/>
                </a:solidFill>
                <a:latin typeface="Aptos Bold"/>
                <a:ea typeface="Aptos Bold"/>
                <a:cs typeface="Aptos Bold"/>
                <a:sym typeface="Aptos Bold"/>
              </a:rPr>
              <a:t>GPT 0.847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1500188" y="7929562"/>
            <a:ext cx="4714875" cy="714375"/>
            <a:chOff x="0" y="0"/>
            <a:chExt cx="6286500" cy="9525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286500" cy="952500"/>
            </a:xfrm>
            <a:custGeom>
              <a:avLst/>
              <a:gdLst/>
              <a:ahLst/>
              <a:cxnLst/>
              <a:rect r="r" b="b" t="t" l="l"/>
              <a:pathLst>
                <a:path h="952500" w="6286500">
                  <a:moveTo>
                    <a:pt x="0" y="0"/>
                  </a:moveTo>
                  <a:lnTo>
                    <a:pt x="6286500" y="0"/>
                  </a:lnTo>
                  <a:lnTo>
                    <a:pt x="6286500" y="952500"/>
                  </a:lnTo>
                  <a:lnTo>
                    <a:pt x="0" y="952500"/>
                  </a:lnTo>
                  <a:close/>
                </a:path>
              </a:pathLst>
            </a:custGeom>
            <a:solidFill>
              <a:srgbClr val="DFF5EC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54" id="54"/>
          <p:cNvSpPr txBox="true"/>
          <p:nvPr/>
        </p:nvSpPr>
        <p:spPr>
          <a:xfrm rot="0">
            <a:off x="1857375" y="8143875"/>
            <a:ext cx="40005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8A5F"/>
                </a:solidFill>
                <a:latin typeface="Aptos Bold"/>
                <a:ea typeface="Aptos Bold"/>
                <a:cs typeface="Aptos Bold"/>
                <a:sym typeface="Aptos Bold"/>
              </a:rPr>
              <a:t>+0.058 Top-1 lift vs n-gram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6929438" y="7929562"/>
            <a:ext cx="7429500" cy="714375"/>
            <a:chOff x="0" y="0"/>
            <a:chExt cx="9906000" cy="9525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906000" cy="952500"/>
            </a:xfrm>
            <a:custGeom>
              <a:avLst/>
              <a:gdLst/>
              <a:ahLst/>
              <a:cxnLst/>
              <a:rect r="r" b="b" t="t" l="l"/>
              <a:pathLst>
                <a:path h="952500" w="9906000">
                  <a:moveTo>
                    <a:pt x="0" y="0"/>
                  </a:moveTo>
                  <a:lnTo>
                    <a:pt x="9906000" y="0"/>
                  </a:lnTo>
                  <a:lnTo>
                    <a:pt x="9906000" y="952500"/>
                  </a:lnTo>
                  <a:lnTo>
                    <a:pt x="0" y="952500"/>
                  </a:lnTo>
                  <a:close/>
                </a:path>
              </a:pathLst>
            </a:custGeom>
            <a:solidFill>
              <a:srgbClr val="DCEAFE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57" id="57"/>
          <p:cNvSpPr txBox="true"/>
          <p:nvPr/>
        </p:nvSpPr>
        <p:spPr>
          <a:xfrm rot="0">
            <a:off x="7286625" y="8134350"/>
            <a:ext cx="6786562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b="true">
                <a:solidFill>
                  <a:srgbClr val="2563EB"/>
                </a:solidFill>
                <a:latin typeface="Aptos Bold"/>
                <a:ea typeface="Aptos Bold"/>
                <a:cs typeface="Aptos Bold"/>
                <a:sym typeface="Aptos Bold"/>
              </a:rPr>
              <a:t>Family-wise OOD3 average: Top-1 0.7216, Top-5 0.9989, MRR 0.8474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857250" y="9715500"/>
            <a:ext cx="1143000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>
                <a:solidFill>
                  <a:srgbClr val="7B8494"/>
                </a:solidFill>
                <a:latin typeface="Aptos"/>
                <a:ea typeface="Aptos"/>
                <a:cs typeface="Aptos"/>
                <a:sym typeface="Aptos"/>
              </a:rPr>
              <a:t>SUBMISSION_1 | Industrial AI Infineon | May 31, 2026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9525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8FA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57250" y="600075"/>
            <a:ext cx="12858750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 b="true">
                <a:solidFill>
                  <a:srgbClr val="111827"/>
                </a:solidFill>
                <a:latin typeface="Aptos Bold"/>
                <a:ea typeface="Aptos Bold"/>
                <a:cs typeface="Aptos Bold"/>
                <a:sym typeface="Aptos Bold"/>
              </a:rPr>
              <a:t>Blockers closed before final polish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7250" y="1276350"/>
            <a:ext cx="1285875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5B6472"/>
                </a:solidFill>
                <a:latin typeface="Aptos"/>
                <a:ea typeface="Aptos"/>
                <a:cs typeface="Aptos"/>
                <a:sym typeface="Aptos"/>
              </a:rPr>
              <a:t>The package now fails closed on format, legality, and checkpoint availability.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57250" y="1857375"/>
            <a:ext cx="16573500" cy="14288"/>
            <a:chOff x="0" y="0"/>
            <a:chExt cx="22098000" cy="190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098000" cy="19050"/>
            </a:xfrm>
            <a:custGeom>
              <a:avLst/>
              <a:gdLst/>
              <a:ahLst/>
              <a:cxnLst/>
              <a:rect r="r" b="b" t="t" l="l"/>
              <a:pathLst>
                <a:path h="1905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9DEE7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57300" y="2428875"/>
            <a:ext cx="514350" cy="514350"/>
            <a:chOff x="0" y="0"/>
            <a:chExt cx="685800" cy="685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0F8A5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343025" y="2571750"/>
            <a:ext cx="342900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0"/>
              </a:lnSpc>
            </a:pPr>
            <a:r>
              <a:rPr lang="en-US" sz="1125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OK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43125" y="2400300"/>
            <a:ext cx="3286125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 b="true">
                <a:solidFill>
                  <a:srgbClr val="111827"/>
                </a:solidFill>
                <a:latin typeface="Aptos Bold"/>
                <a:ea typeface="Aptos Bold"/>
                <a:cs typeface="Aptos Bold"/>
                <a:sym typeface="Aptos Bold"/>
              </a:rPr>
              <a:t>Official IDs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43125" y="2814638"/>
            <a:ext cx="125730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5B6472"/>
                </a:solidFill>
                <a:latin typeface="Aptos"/>
                <a:ea typeface="Aptos"/>
                <a:cs typeface="Aptos"/>
                <a:sym typeface="Aptos"/>
              </a:rPr>
              <a:t>Root CSVs use valid_0001... and anomaly_... copied through from participant inputs.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57300" y="3600450"/>
            <a:ext cx="514350" cy="514350"/>
            <a:chOff x="0" y="0"/>
            <a:chExt cx="685800" cy="685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0F8A5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343025" y="3743325"/>
            <a:ext cx="342900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0"/>
              </a:lnSpc>
            </a:pPr>
            <a:r>
              <a:rPr lang="en-US" sz="1125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OK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143125" y="3571875"/>
            <a:ext cx="3286125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 b="true">
                <a:solidFill>
                  <a:srgbClr val="111827"/>
                </a:solidFill>
                <a:latin typeface="Aptos Bold"/>
                <a:ea typeface="Aptos Bold"/>
                <a:cs typeface="Aptos Bold"/>
                <a:sym typeface="Aptos Bold"/>
              </a:rPr>
              <a:t>Checkpoint present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143125" y="3986212"/>
            <a:ext cx="125730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5B6472"/>
                </a:solidFill>
                <a:latin typeface="Aptos"/>
                <a:ea typeface="Aptos"/>
                <a:cs typeface="Aptos"/>
                <a:sym typeface="Aptos"/>
              </a:rPr>
              <a:t>outputs/gpt_large_train12 contains config, generation config, and model.safetensors.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57300" y="4772025"/>
            <a:ext cx="514350" cy="514350"/>
            <a:chOff x="0" y="0"/>
            <a:chExt cx="685800" cy="685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0F8A5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343025" y="4914900"/>
            <a:ext cx="342900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0"/>
              </a:lnSpc>
            </a:pPr>
            <a:r>
              <a:rPr lang="en-US" sz="1125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OK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143125" y="4743450"/>
            <a:ext cx="3286125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 b="true">
                <a:solidFill>
                  <a:srgbClr val="111827"/>
                </a:solidFill>
                <a:latin typeface="Aptos Bold"/>
                <a:ea typeface="Aptos Bold"/>
                <a:cs typeface="Aptos Bold"/>
                <a:sym typeface="Aptos Bold"/>
              </a:rPr>
              <a:t>Required docs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143125" y="5157788"/>
            <a:ext cx="125730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5B6472"/>
                </a:solidFill>
                <a:latin typeface="Aptos"/>
                <a:ea typeface="Aptos"/>
                <a:cs typeface="Aptos"/>
                <a:sym typeface="Aptos"/>
              </a:rPr>
              <a:t>REPORT.md, README.md, LICENSE, requirements.txt are present at repo root.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57300" y="5943600"/>
            <a:ext cx="514350" cy="514350"/>
            <a:chOff x="0" y="0"/>
            <a:chExt cx="685800" cy="685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0F8A5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343025" y="6086475"/>
            <a:ext cx="342900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0"/>
              </a:lnSpc>
            </a:pPr>
            <a:r>
              <a:rPr lang="en-US" sz="1125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OK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143125" y="5915025"/>
            <a:ext cx="3286125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 b="true">
                <a:solidFill>
                  <a:srgbClr val="111827"/>
                </a:solidFill>
                <a:latin typeface="Aptos Bold"/>
                <a:ea typeface="Aptos Bold"/>
                <a:cs typeface="Aptos Bold"/>
                <a:sym typeface="Aptos Bold"/>
              </a:rPr>
              <a:t>Legal usage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143125" y="6329362"/>
            <a:ext cx="125730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5B6472"/>
                </a:solidFill>
                <a:latin typeface="Aptos"/>
                <a:ea typeface="Aptos"/>
                <a:cs typeface="Aptos"/>
                <a:sym typeface="Aptos"/>
              </a:rPr>
              <a:t>Official eval inputs are used only for final inference; not for training.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257300" y="7115175"/>
            <a:ext cx="514350" cy="514350"/>
            <a:chOff x="0" y="0"/>
            <a:chExt cx="685800" cy="685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0F8A5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1343025" y="7258050"/>
            <a:ext cx="342900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0"/>
              </a:lnSpc>
            </a:pPr>
            <a:r>
              <a:rPr lang="en-US" sz="1125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OK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143125" y="7086600"/>
            <a:ext cx="3286125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 b="true">
                <a:solidFill>
                  <a:srgbClr val="111827"/>
                </a:solidFill>
                <a:latin typeface="Aptos Bold"/>
                <a:ea typeface="Aptos Bold"/>
                <a:cs typeface="Aptos Bold"/>
                <a:sym typeface="Aptos Bold"/>
              </a:rPr>
              <a:t>Fallback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143125" y="7500938"/>
            <a:ext cx="125730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5B6472"/>
                </a:solidFill>
                <a:latin typeface="Aptos"/>
                <a:ea typeface="Aptos"/>
                <a:cs typeface="Aptos"/>
                <a:sym typeface="Aptos"/>
              </a:rPr>
              <a:t>n-gram official bundle remains available if checkpoint transfer fails.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2065794" y="2421731"/>
            <a:ext cx="4157662" cy="2871788"/>
            <a:chOff x="0" y="0"/>
            <a:chExt cx="5543550" cy="382905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543550" cy="3829050"/>
            </a:xfrm>
            <a:custGeom>
              <a:avLst/>
              <a:gdLst/>
              <a:ahLst/>
              <a:cxnLst/>
              <a:rect r="r" b="b" t="t" l="l"/>
              <a:pathLst>
                <a:path h="3829050" w="5543550">
                  <a:moveTo>
                    <a:pt x="0" y="0"/>
                  </a:moveTo>
                  <a:lnTo>
                    <a:pt x="5543550" y="0"/>
                  </a:lnTo>
                  <a:lnTo>
                    <a:pt x="5543550" y="3829050"/>
                  </a:lnTo>
                  <a:lnTo>
                    <a:pt x="0" y="3829050"/>
                  </a:ln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9DEE7"/>
              </a:solidFill>
              <a:prstDash val="solid"/>
              <a:miter/>
            </a:ln>
          </p:spPr>
        </p:sp>
      </p:grpSp>
      <p:sp>
        <p:nvSpPr>
          <p:cNvPr name="TextBox 35" id="35"/>
          <p:cNvSpPr txBox="true"/>
          <p:nvPr/>
        </p:nvSpPr>
        <p:spPr>
          <a:xfrm rot="0">
            <a:off x="12501562" y="2828925"/>
            <a:ext cx="3286125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11827"/>
                </a:solidFill>
                <a:latin typeface="Aptos Bold"/>
                <a:ea typeface="Aptos Bold"/>
                <a:cs typeface="Aptos Bold"/>
                <a:sym typeface="Aptos Bold"/>
              </a:rPr>
              <a:t>Final files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501562" y="3500438"/>
            <a:ext cx="28575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2563EB"/>
                </a:solidFill>
                <a:latin typeface="Aptos Bold"/>
                <a:ea typeface="Aptos Bold"/>
                <a:cs typeface="Aptos Bold"/>
                <a:sym typeface="Aptos Bold"/>
              </a:rPr>
              <a:t>nextstep.csv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501562" y="4043362"/>
            <a:ext cx="28575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2563EB"/>
                </a:solidFill>
                <a:latin typeface="Aptos Bold"/>
                <a:ea typeface="Aptos Bold"/>
                <a:cs typeface="Aptos Bold"/>
                <a:sym typeface="Aptos Bold"/>
              </a:rPr>
              <a:t>completion.csv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501562" y="4586288"/>
            <a:ext cx="28575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2563EB"/>
                </a:solidFill>
                <a:latin typeface="Aptos Bold"/>
                <a:ea typeface="Aptos Bold"/>
                <a:cs typeface="Aptos Bold"/>
                <a:sym typeface="Aptos Bold"/>
              </a:rPr>
              <a:t>anomaly.csv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57250" y="9715500"/>
            <a:ext cx="1143000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>
                <a:solidFill>
                  <a:srgbClr val="7B8494"/>
                </a:solidFill>
                <a:latin typeface="Aptos"/>
                <a:ea typeface="Aptos"/>
                <a:cs typeface="Aptos"/>
                <a:sym typeface="Aptos"/>
              </a:rPr>
              <a:t>SUBMISSION_1 | Industrial AI Infineon | May 31,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DAHLNiB03g8</dc:identifier>
  <dcterms:modified xsi:type="dcterms:W3CDTF">2011-08-01T06:04:30Z</dcterms:modified>
  <cp:revision>1</cp:revision>
  <dc:title>Our solution trains the GPT2-large model on the provided training data, with a twist. We synthesize self-built novel additional family data for further training for our model Train on 12 families, test on 3 unseen families, ship official-format GPT</dc:title>
</cp:coreProperties>
</file>